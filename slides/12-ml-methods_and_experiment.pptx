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bd60d6832149d2" /><Relationship Type="http://schemas.openxmlformats.org/officeDocument/2006/relationships/extended-properties" Target="/docProps/app.xml" Id="R280b41849e9b4c48" /><Relationship Type="http://schemas.openxmlformats.org/officeDocument/2006/relationships/officeDocument" Target="/ppt/presentation.xml" Id="R01637c6060064d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9db56535f64958"/>
  </p:sldMasterIdLst>
  <p:notesMasterIdLst>
    <p:notesMasterId xmlns:r="http://schemas.openxmlformats.org/officeDocument/2006/relationships" r:id="Rc3b1a3bc0b17464e"/>
  </p:notesMasterIdLst>
  <p:sldIdLst>
    <p:sldId xmlns:r="http://schemas.openxmlformats.org/officeDocument/2006/relationships" id="256" r:id="Rb84052d678914a3b"/>
    <p:sldId xmlns:r="http://schemas.openxmlformats.org/officeDocument/2006/relationships" id="257" r:id="Re17866d54e174c30"/>
    <p:sldId xmlns:r="http://schemas.openxmlformats.org/officeDocument/2006/relationships" id="258" r:id="R1c1c9e9ee8bf4950"/>
    <p:sldId xmlns:r="http://schemas.openxmlformats.org/officeDocument/2006/relationships" id="259" r:id="R0baa31646469420c"/>
    <p:sldId xmlns:r="http://schemas.openxmlformats.org/officeDocument/2006/relationships" id="260" r:id="R9a882a748c7b442b"/>
    <p:sldId xmlns:r="http://schemas.openxmlformats.org/officeDocument/2006/relationships" id="261" r:id="R747896084aa24546"/>
    <p:sldId xmlns:r="http://schemas.openxmlformats.org/officeDocument/2006/relationships" id="262" r:id="Rcd2a6659ce444671"/>
    <p:sldId xmlns:r="http://schemas.openxmlformats.org/officeDocument/2006/relationships" id="263" r:id="R91ee489702dc4e06"/>
    <p:sldId xmlns:r="http://schemas.openxmlformats.org/officeDocument/2006/relationships" id="264" r:id="Rd79fd48484e64371"/>
    <p:sldId xmlns:r="http://schemas.openxmlformats.org/officeDocument/2006/relationships" id="265" r:id="Raf2dafb018e34c69"/>
    <p:sldId xmlns:r="http://schemas.openxmlformats.org/officeDocument/2006/relationships" id="266" r:id="Rec383123fb134c7b"/>
    <p:sldId xmlns:r="http://schemas.openxmlformats.org/officeDocument/2006/relationships" id="267" r:id="Rbe39367fb1f84814"/>
    <p:sldId xmlns:r="http://schemas.openxmlformats.org/officeDocument/2006/relationships" id="268" r:id="Rcba157f8fec34d6e"/>
    <p:sldId xmlns:r="http://schemas.openxmlformats.org/officeDocument/2006/relationships" id="269" r:id="Raf758160daec4fdf"/>
    <p:sldId xmlns:r="http://schemas.openxmlformats.org/officeDocument/2006/relationships" id="270" r:id="R2671dd2221ae4ea4"/>
    <p:sldId xmlns:r="http://schemas.openxmlformats.org/officeDocument/2006/relationships" id="271" r:id="R286265ae3dee4c63"/>
    <p:sldId xmlns:r="http://schemas.openxmlformats.org/officeDocument/2006/relationships" id="272" r:id="Rfa38ed9254c1442d"/>
    <p:sldId xmlns:r="http://schemas.openxmlformats.org/officeDocument/2006/relationships" id="273" r:id="R610d9081a8cc434f"/>
    <p:sldId xmlns:r="http://schemas.openxmlformats.org/officeDocument/2006/relationships" id="274" r:id="Rc197a32d76d34fdf"/>
    <p:sldId xmlns:r="http://schemas.openxmlformats.org/officeDocument/2006/relationships" id="275" r:id="R4e8766b7331b4c42"/>
    <p:sldId xmlns:r="http://schemas.openxmlformats.org/officeDocument/2006/relationships" id="276" r:id="Rb3d4a2d4d0614d92"/>
    <p:sldId xmlns:r="http://schemas.openxmlformats.org/officeDocument/2006/relationships" id="277" r:id="R37639fc2698a481d"/>
    <p:sldId xmlns:r="http://schemas.openxmlformats.org/officeDocument/2006/relationships" id="278" r:id="R820b3a84cb1e4872"/>
    <p:sldId xmlns:r="http://schemas.openxmlformats.org/officeDocument/2006/relationships" id="279" r:id="R217c23b57b144e83"/>
    <p:sldId xmlns:r="http://schemas.openxmlformats.org/officeDocument/2006/relationships" id="280" r:id="Ra436d49edf6041c3"/>
    <p:sldId xmlns:r="http://schemas.openxmlformats.org/officeDocument/2006/relationships" id="281" r:id="R144b62c6aa974cf0"/>
    <p:sldId xmlns:r="http://schemas.openxmlformats.org/officeDocument/2006/relationships" id="282" r:id="Raaf8512284034d0d"/>
    <p:sldId xmlns:r="http://schemas.openxmlformats.org/officeDocument/2006/relationships" id="283" r:id="R488ad412b6e1447f"/>
    <p:sldId xmlns:r="http://schemas.openxmlformats.org/officeDocument/2006/relationships" id="284" r:id="R99c449e250524277"/>
    <p:sldId xmlns:r="http://schemas.openxmlformats.org/officeDocument/2006/relationships" id="285" r:id="Ra9da022a3d364e6c"/>
    <p:sldId xmlns:r="http://schemas.openxmlformats.org/officeDocument/2006/relationships" id="286" r:id="R2e75d5271faa421d"/>
    <p:sldId xmlns:r="http://schemas.openxmlformats.org/officeDocument/2006/relationships" id="287" r:id="Re3a3d9a5ce774bc0"/>
    <p:sldId xmlns:r="http://schemas.openxmlformats.org/officeDocument/2006/relationships" id="288" r:id="Rb320bda52f2a4e04"/>
    <p:sldId xmlns:r="http://schemas.openxmlformats.org/officeDocument/2006/relationships" id="289" r:id="R2b605b8cf6f441ac"/>
    <p:sldId xmlns:r="http://schemas.openxmlformats.org/officeDocument/2006/relationships" id="290" r:id="R36ff1288cdad4761"/>
    <p:sldId xmlns:r="http://schemas.openxmlformats.org/officeDocument/2006/relationships" id="291" r:id="R4919086dec904a75"/>
    <p:sldId xmlns:r="http://schemas.openxmlformats.org/officeDocument/2006/relationships" id="292" r:id="R6f88b81791114cbc"/>
    <p:sldId xmlns:r="http://schemas.openxmlformats.org/officeDocument/2006/relationships" id="293" r:id="R3a5799a59b41408c"/>
    <p:sldId xmlns:r="http://schemas.openxmlformats.org/officeDocument/2006/relationships" id="294" r:id="R65b6339f6e434730"/>
    <p:sldId xmlns:r="http://schemas.openxmlformats.org/officeDocument/2006/relationships" id="295" r:id="R86316e9e00da40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33e5fc2cbe4aed" /><Relationship Type="http://schemas.openxmlformats.org/officeDocument/2006/relationships/slideMaster" Target="/ppt/slideMasters/slideMaster1.xml" Id="Rb39db56535f64958" /><Relationship Type="http://schemas.openxmlformats.org/officeDocument/2006/relationships/notesMaster" Target="/ppt/notesMasters/notesMaster1.xml" Id="Rc3b1a3bc0b17464e" /><Relationship Type="http://schemas.openxmlformats.org/officeDocument/2006/relationships/presProps" Target="/ppt/presProps.xml" Id="R8e4138b5ab1543b9" /><Relationship Type="http://schemas.openxmlformats.org/officeDocument/2006/relationships/tableStyles" Target="/ppt/tableStyles.xml" Id="R4ce556fee2004e01" /><Relationship Type="http://schemas.openxmlformats.org/officeDocument/2006/relationships/slide" Target="/ppt/slides/slide1.xml" Id="Rb84052d678914a3b" /><Relationship Type="http://schemas.openxmlformats.org/officeDocument/2006/relationships/slide" Target="/ppt/slides/slide2.xml" Id="Re17866d54e174c30" /><Relationship Type="http://schemas.openxmlformats.org/officeDocument/2006/relationships/slide" Target="/ppt/slides/slide3.xml" Id="R1c1c9e9ee8bf4950" /><Relationship Type="http://schemas.openxmlformats.org/officeDocument/2006/relationships/slide" Target="/ppt/slides/slide4.xml" Id="R0baa31646469420c" /><Relationship Type="http://schemas.openxmlformats.org/officeDocument/2006/relationships/slide" Target="/ppt/slides/slide5.xml" Id="R9a882a748c7b442b" /><Relationship Type="http://schemas.openxmlformats.org/officeDocument/2006/relationships/slide" Target="/ppt/slides/slide6.xml" Id="R747896084aa24546" /><Relationship Type="http://schemas.openxmlformats.org/officeDocument/2006/relationships/slide" Target="/ppt/slides/slide7.xml" Id="Rcd2a6659ce444671" /><Relationship Type="http://schemas.openxmlformats.org/officeDocument/2006/relationships/slide" Target="/ppt/slides/slide8.xml" Id="R91ee489702dc4e06" /><Relationship Type="http://schemas.openxmlformats.org/officeDocument/2006/relationships/slide" Target="/ppt/slides/slide9.xml" Id="Rd79fd48484e64371" /><Relationship Type="http://schemas.openxmlformats.org/officeDocument/2006/relationships/slide" Target="/ppt/slides/slide10.xml" Id="Raf2dafb018e34c69" /><Relationship Type="http://schemas.openxmlformats.org/officeDocument/2006/relationships/slide" Target="/ppt/slides/slide11.xml" Id="Rec383123fb134c7b" /><Relationship Type="http://schemas.openxmlformats.org/officeDocument/2006/relationships/slide" Target="/ppt/slides/slide12.xml" Id="Rbe39367fb1f84814" /><Relationship Type="http://schemas.openxmlformats.org/officeDocument/2006/relationships/slide" Target="/ppt/slides/slide13.xml" Id="Rcba157f8fec34d6e" /><Relationship Type="http://schemas.openxmlformats.org/officeDocument/2006/relationships/slide" Target="/ppt/slides/slide14.xml" Id="Raf758160daec4fdf" /><Relationship Type="http://schemas.openxmlformats.org/officeDocument/2006/relationships/slide" Target="/ppt/slides/slide15.xml" Id="R2671dd2221ae4ea4" /><Relationship Type="http://schemas.openxmlformats.org/officeDocument/2006/relationships/slide" Target="/ppt/slides/slide16.xml" Id="R286265ae3dee4c63" /><Relationship Type="http://schemas.openxmlformats.org/officeDocument/2006/relationships/slide" Target="/ppt/slides/slide17.xml" Id="Rfa38ed9254c1442d" /><Relationship Type="http://schemas.openxmlformats.org/officeDocument/2006/relationships/slide" Target="/ppt/slides/slide18.xml" Id="R610d9081a8cc434f" /><Relationship Type="http://schemas.openxmlformats.org/officeDocument/2006/relationships/slide" Target="/ppt/slides/slide19.xml" Id="Rc197a32d76d34fdf" /><Relationship Type="http://schemas.openxmlformats.org/officeDocument/2006/relationships/slide" Target="/ppt/slides/slide20.xml" Id="R4e8766b7331b4c42" /><Relationship Type="http://schemas.openxmlformats.org/officeDocument/2006/relationships/slide" Target="/ppt/slides/slide21.xml" Id="Rb3d4a2d4d0614d92" /><Relationship Type="http://schemas.openxmlformats.org/officeDocument/2006/relationships/slide" Target="/ppt/slides/slide22.xml" Id="R37639fc2698a481d" /><Relationship Type="http://schemas.openxmlformats.org/officeDocument/2006/relationships/slide" Target="/ppt/slides/slide23.xml" Id="R820b3a84cb1e4872" /><Relationship Type="http://schemas.openxmlformats.org/officeDocument/2006/relationships/slide" Target="/ppt/slides/slide24.xml" Id="R217c23b57b144e83" /><Relationship Type="http://schemas.openxmlformats.org/officeDocument/2006/relationships/slide" Target="/ppt/slides/slide25.xml" Id="Ra436d49edf6041c3" /><Relationship Type="http://schemas.openxmlformats.org/officeDocument/2006/relationships/slide" Target="/ppt/slides/slide26.xml" Id="R144b62c6aa974cf0" /><Relationship Type="http://schemas.openxmlformats.org/officeDocument/2006/relationships/slide" Target="/ppt/slides/slide27.xml" Id="Raaf8512284034d0d" /><Relationship Type="http://schemas.openxmlformats.org/officeDocument/2006/relationships/slide" Target="/ppt/slides/slide28.xml" Id="R488ad412b6e1447f" /><Relationship Type="http://schemas.openxmlformats.org/officeDocument/2006/relationships/slide" Target="/ppt/slides/slide29.xml" Id="R99c449e250524277" /><Relationship Type="http://schemas.openxmlformats.org/officeDocument/2006/relationships/slide" Target="/ppt/slides/slide30.xml" Id="Ra9da022a3d364e6c" /><Relationship Type="http://schemas.openxmlformats.org/officeDocument/2006/relationships/slide" Target="/ppt/slides/slide31.xml" Id="R2e75d5271faa421d" /><Relationship Type="http://schemas.openxmlformats.org/officeDocument/2006/relationships/slide" Target="/ppt/slides/slide32.xml" Id="Re3a3d9a5ce774bc0" /><Relationship Type="http://schemas.openxmlformats.org/officeDocument/2006/relationships/slide" Target="/ppt/slides/slide33.xml" Id="Rb320bda52f2a4e04" /><Relationship Type="http://schemas.openxmlformats.org/officeDocument/2006/relationships/slide" Target="/ppt/slides/slide34.xml" Id="R2b605b8cf6f441ac" /><Relationship Type="http://schemas.openxmlformats.org/officeDocument/2006/relationships/slide" Target="/ppt/slides/slide35.xml" Id="R36ff1288cdad4761" /><Relationship Type="http://schemas.openxmlformats.org/officeDocument/2006/relationships/slide" Target="/ppt/slides/slide36.xml" Id="R4919086dec904a75" /><Relationship Type="http://schemas.openxmlformats.org/officeDocument/2006/relationships/slide" Target="/ppt/slides/slide37.xml" Id="R6f88b81791114cbc" /><Relationship Type="http://schemas.openxmlformats.org/officeDocument/2006/relationships/slide" Target="/ppt/slides/slide38.xml" Id="R3a5799a59b41408c" /><Relationship Type="http://schemas.openxmlformats.org/officeDocument/2006/relationships/slide" Target="/ppt/slides/slide39.xml" Id="R65b6339f6e434730" /><Relationship Type="http://schemas.openxmlformats.org/officeDocument/2006/relationships/slide" Target="/ppt/slides/slide40.xml" Id="R86316e9e00da40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582fe7e54345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8d88762d154cc7" /><Relationship Type="http://schemas.openxmlformats.org/officeDocument/2006/relationships/notesMaster" Target="/ppt/notesMasters/notesMaster1.xml" Id="R450a6271506d40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b7c2938a764506" /><Relationship Type="http://schemas.openxmlformats.org/officeDocument/2006/relationships/notesMaster" Target="/ppt/notesMasters/notesMaster1.xml" Id="Rc3a96c8cc16446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100ed560434276" /><Relationship Type="http://schemas.openxmlformats.org/officeDocument/2006/relationships/notesMaster" Target="/ppt/notesMasters/notesMaster1.xml" Id="Rb5ace99130894b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9d1b5b0dac4686" /><Relationship Type="http://schemas.openxmlformats.org/officeDocument/2006/relationships/notesMaster" Target="/ppt/notesMasters/notesMaster1.xml" Id="R29387beea23b46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cef6ddecd84b4e" /><Relationship Type="http://schemas.openxmlformats.org/officeDocument/2006/relationships/notesMaster" Target="/ppt/notesMasters/notesMaster1.xml" Id="R0596a2bfcc6c47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f060542a234358" /><Relationship Type="http://schemas.openxmlformats.org/officeDocument/2006/relationships/notesMaster" Target="/ppt/notesMasters/notesMaster1.xml" Id="Red088397647845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ba377cffd5470d" /><Relationship Type="http://schemas.openxmlformats.org/officeDocument/2006/relationships/notesMaster" Target="/ppt/notesMasters/notesMaster1.xml" Id="R4f43dea067a64f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c3c0a471954f5a" /><Relationship Type="http://schemas.openxmlformats.org/officeDocument/2006/relationships/notesMaster" Target="/ppt/notesMasters/notesMaster1.xml" Id="R8cdba009d4cb43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2e1db107e945c7" /><Relationship Type="http://schemas.openxmlformats.org/officeDocument/2006/relationships/notesMaster" Target="/ppt/notesMasters/notesMaster1.xml" Id="R65f1f6f7d70948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9e07e8770b4eed" /><Relationship Type="http://schemas.openxmlformats.org/officeDocument/2006/relationships/notesMaster" Target="/ppt/notesMasters/notesMaster1.xml" Id="Rc8f41c8ee8c046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05ca1b8011494c" /><Relationship Type="http://schemas.openxmlformats.org/officeDocument/2006/relationships/notesMaster" Target="/ppt/notesMasters/notesMaster1.xml" Id="R7a3c1bcd2a164e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4ec7105e9f4d23" /><Relationship Type="http://schemas.openxmlformats.org/officeDocument/2006/relationships/notesMaster" Target="/ppt/notesMasters/notesMaster1.xml" Id="R2ee054cc55b943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fdbc53b02f4b8e" /><Relationship Type="http://schemas.openxmlformats.org/officeDocument/2006/relationships/notesMaster" Target="/ppt/notesMasters/notesMaster1.xml" Id="Rb2a55dbf44c74a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7e7afae4a34588" /><Relationship Type="http://schemas.openxmlformats.org/officeDocument/2006/relationships/notesMaster" Target="/ppt/notesMasters/notesMaster1.xml" Id="R744be40fda544b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fcaa4e09394d06" /><Relationship Type="http://schemas.openxmlformats.org/officeDocument/2006/relationships/notesMaster" Target="/ppt/notesMasters/notesMaster1.xml" Id="R299f188069d54d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8d0ac0d70b4121" /><Relationship Type="http://schemas.openxmlformats.org/officeDocument/2006/relationships/notesMaster" Target="/ppt/notesMasters/notesMaster1.xml" Id="Rdedd344458d64d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349daf4d7b6411b" /><Relationship Type="http://schemas.openxmlformats.org/officeDocument/2006/relationships/notesMaster" Target="/ppt/notesMasters/notesMaster1.xml" Id="R18943202381b4c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1346be1aab4056" /><Relationship Type="http://schemas.openxmlformats.org/officeDocument/2006/relationships/notesMaster" Target="/ppt/notesMasters/notesMaster1.xml" Id="R3584cb23031446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34807dd26d43fa" /><Relationship Type="http://schemas.openxmlformats.org/officeDocument/2006/relationships/notesMaster" Target="/ppt/notesMasters/notesMaster1.xml" Id="R310233c8d94140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ac218592c34a74" /><Relationship Type="http://schemas.openxmlformats.org/officeDocument/2006/relationships/notesMaster" Target="/ppt/notesMasters/notesMaster1.xml" Id="Rba5be4a3318a459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4267d9983e41f2" /><Relationship Type="http://schemas.openxmlformats.org/officeDocument/2006/relationships/notesMaster" Target="/ppt/notesMasters/notesMaster1.xml" Id="R10faff0cc5ee4f1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5f464b6a7464e20" /><Relationship Type="http://schemas.openxmlformats.org/officeDocument/2006/relationships/notesMaster" Target="/ppt/notesMasters/notesMaster1.xml" Id="R066654cf10194a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b7f7c9eefaa4ef3" /><Relationship Type="http://schemas.openxmlformats.org/officeDocument/2006/relationships/notesMaster" Target="/ppt/notesMasters/notesMaster1.xml" Id="Rda9f7186971d40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1e8001637fe4732" /><Relationship Type="http://schemas.openxmlformats.org/officeDocument/2006/relationships/notesMaster" Target="/ppt/notesMasters/notesMaster1.xml" Id="Rddeade7f84ff489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57962e24b404a71" /><Relationship Type="http://schemas.openxmlformats.org/officeDocument/2006/relationships/notesMaster" Target="/ppt/notesMasters/notesMaster1.xml" Id="R368687c5109a40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2076b0726fa4cd2" /><Relationship Type="http://schemas.openxmlformats.org/officeDocument/2006/relationships/notesMaster" Target="/ppt/notesMasters/notesMaster1.xml" Id="Ra81b8ba6cee443d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36a7440a3f0408f" /><Relationship Type="http://schemas.openxmlformats.org/officeDocument/2006/relationships/notesMaster" Target="/ppt/notesMasters/notesMaster1.xml" Id="Ra7f67f29618a457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d672826a48047be" /><Relationship Type="http://schemas.openxmlformats.org/officeDocument/2006/relationships/notesMaster" Target="/ppt/notesMasters/notesMaster1.xml" Id="Rc93723e3e82c4b7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398d9ef9a394f00" /><Relationship Type="http://schemas.openxmlformats.org/officeDocument/2006/relationships/notesMaster" Target="/ppt/notesMasters/notesMaster1.xml" Id="R7789a74b6c59446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9d294e917124785" /><Relationship Type="http://schemas.openxmlformats.org/officeDocument/2006/relationships/notesMaster" Target="/ppt/notesMasters/notesMaster1.xml" Id="Rb2880ea7ff6848b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e3bbcbff5e941bb" /><Relationship Type="http://schemas.openxmlformats.org/officeDocument/2006/relationships/notesMaster" Target="/ppt/notesMasters/notesMaster1.xml" Id="Radcb9af0c68b4dc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31607f1d8894079" /><Relationship Type="http://schemas.openxmlformats.org/officeDocument/2006/relationships/notesMaster" Target="/ppt/notesMasters/notesMaster1.xml" Id="Rd3cc3c8e5ff64db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e4608d216c04643" /><Relationship Type="http://schemas.openxmlformats.org/officeDocument/2006/relationships/notesMaster" Target="/ppt/notesMasters/notesMaster1.xml" Id="Rdf920c4ca227480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b0709e76b964811" /><Relationship Type="http://schemas.openxmlformats.org/officeDocument/2006/relationships/notesMaster" Target="/ppt/notesMasters/notesMaster1.xml" Id="Re1455b816fe3413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e300c896256437e" /><Relationship Type="http://schemas.openxmlformats.org/officeDocument/2006/relationships/notesMaster" Target="/ppt/notesMasters/notesMaster1.xml" Id="R093fa44370744f1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126a3ed0b614eef" /><Relationship Type="http://schemas.openxmlformats.org/officeDocument/2006/relationships/notesMaster" Target="/ppt/notesMasters/notesMaster1.xml" Id="Rf5d173f4dd4146c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b51a0c78e664eb0" /><Relationship Type="http://schemas.openxmlformats.org/officeDocument/2006/relationships/notesMaster" Target="/ppt/notesMasters/notesMaster1.xml" Id="R77afe96a601a456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d652d0280bc4b0a" /><Relationship Type="http://schemas.openxmlformats.org/officeDocument/2006/relationships/notesMaster" Target="/ppt/notesMasters/notesMaster1.xml" Id="R0061497c3ecc4d8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825ed37b8a24add" /><Relationship Type="http://schemas.openxmlformats.org/officeDocument/2006/relationships/notesMaster" Target="/ppt/notesMasters/notesMaster1.xml" Id="R1558d02f790c4a2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adcacfa16e440d3" /><Relationship Type="http://schemas.openxmlformats.org/officeDocument/2006/relationships/notesMaster" Target="/ppt/notesMasters/notesMaster1.xml" Id="R48f551ea75914c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лекция по машинному обучению в нанонауке. Иллюстрация на титуле схематична; не отображает результаты эксперимента. Подробный конспект: machine_learning/12-ml-methods_and_experiment.md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 вопроса к набору методов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Тип данных: табличные рецептуры или спектры</a:t>
            </a:r>
          </a:p>
          <a:p xmlns:a="http://schemas.openxmlformats.org/drawingml/2006/main">
            <a:r>
              <a:t>2. Цель: прогноз свойства либо описание структуры</a:t>
            </a:r>
          </a:p>
          <a:p xmlns:a="http://schemas.openxmlformats.org/drawingml/2006/main">
            <a:r>
              <a:t>3. Проверка: те же независимые группы для всех методов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Сложность оправдана выигрышем на будущих партиях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Лестница моделей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Лабораторное правило и константа</a:t>
            </a:r>
          </a:p>
          <a:p xmlns:a="http://schemas.openxmlformats.org/drawingml/2006/main">
            <a:r>
              <a:t>2. Ridge или Lasso для числовых признаков</a:t>
            </a:r>
          </a:p>
          <a:p xmlns:a="http://schemas.openxmlformats.org/drawingml/2006/main">
            <a:r>
              <a:t>3. PLS для спектров; деревья и лес для нелинейности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У одного набора данных не должно быть четырёх разных тестов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Линейная модель как отправная точка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Коэффициенты связывают признаки с прогнозом</a:t>
            </a:r>
          </a:p>
          <a:p xmlns:a="http://schemas.openxmlformats.org/drawingml/2006/main">
            <a:r>
              <a:t>2. Масштабы признаков влияют на штраф регуляризации</a:t>
            </a:r>
          </a:p>
          <a:p xmlns:a="http://schemas.openxmlformats.org/drawingml/2006/main">
            <a:r>
              <a:t>3. Остатки выявляют недостающую структуру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Коэффициент модели сам по себе не доказывает механизм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Ridge сдерживает нестабильные коэффициенты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Штраф L2 ограничивает большие коэффициенты</a:t>
            </a:r>
          </a:p>
          <a:p xmlns:a="http://schemas.openxmlformats.org/drawingml/2006/main">
            <a:r>
              <a:t>2. Коррелированные признаки делят вклад между собой</a:t>
            </a:r>
          </a:p>
          <a:p xmlns:a="http://schemas.openxmlformats.org/drawingml/2006/main">
            <a:r>
              <a:t>3. α подбирают внутри групповой CV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Масштабирование должно быть частью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Lasso выбирает разреженное решение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Штраф L1 может занулить коэффициенты</a:t>
            </a:r>
          </a:p>
          <a:p xmlns:a="http://schemas.openxmlformats.org/drawingml/2006/main">
            <a:r>
              <a:t>2. При коррелированных переменных выбор неустойчив</a:t>
            </a:r>
          </a:p>
          <a:p xmlns:a="http://schemas.openxmlformats.org/drawingml/2006/main">
            <a:r>
              <a:t>3. Выбранная переменная не равна доказанной причине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Сравните устойчивость признаков между независимыми группами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Механистический baseline может победить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Физический закон задаёт осмысленный прогноз</a:t>
            </a:r>
          </a:p>
          <a:p xmlns:a="http://schemas.openxmlformats.org/drawingml/2006/main">
            <a:r>
              <a:t>2. ML может моделировать остаток физической модели</a:t>
            </a:r>
          </a:p>
          <a:p xmlns:a="http://schemas.openxmlformats.org/drawingml/2006/main">
            <a:r>
              <a:t>3. Обе модели проверяют на тех же новых партиях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Подгонка не замещает физическое ограничение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Почему спектры многомерны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Сотни каналов при десятках независимых образцов</a:t>
            </a:r>
          </a:p>
          <a:p xmlns:a="http://schemas.openxmlformats.org/drawingml/2006/main">
            <a:r>
              <a:t>2. Соседние длины волн коррелируют</a:t>
            </a:r>
          </a:p>
          <a:p xmlns:a="http://schemas.openxmlformats.org/drawingml/2006/main">
            <a:r>
              <a:t>3. Фон, прибор и подготовка часто влияют на весь спектр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Число каналов не увеличивает число независимых партий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 отвечает на вопрос об 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Компоненты максимизируют дисперсию признаков</a:t>
            </a:r>
          </a:p>
          <a:p xmlns:a="http://schemas.openxmlformats.org/drawingml/2006/main">
            <a:r>
              <a:t>2. Целевое свойство не участвует в расчёте</a:t>
            </a:r>
          </a:p>
          <a:p xmlns:a="http://schemas.openxmlformats.org/drawingml/2006/main">
            <a:r>
              <a:t>3. Большая дисперсия может быть дрейфом прибора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PC1 не обязательно ось полезного свойства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смысла PCA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Раскрасьте точки по партии, дню и прибору</a:t>
            </a:r>
          </a:p>
          <a:p xmlns:a="http://schemas.openxmlformats.org/drawingml/2006/main">
            <a:r>
              <a:t>2. Сравните нагрузки важных каналов с физикой спектра</a:t>
            </a:r>
          </a:p>
          <a:p xmlns:a="http://schemas.openxmlformats.org/drawingml/2006/main">
            <a:r>
              <a:t>3. Проверьте устойчивость к масштабированию и фону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Визуальное разделение не является внешней проверкой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PLS учитывает X и 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Компоненты строятся для прогнозной связи</a:t>
            </a:r>
          </a:p>
          <a:p xmlns:a="http://schemas.openxmlformats.org/drawingml/2006/main">
            <a:r>
              <a:t>2. Число компонент подбирают только на разработке</a:t>
            </a:r>
          </a:p>
          <a:p xmlns:a="http://schemas.openxmlformats.org/drawingml/2006/main">
            <a:r>
              <a:t>3. Нужен отдельный тест новых образцов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PLS — supervised, в отличие от PCA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искусственные спектры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24 канала с коррелированным пиком</a:t>
            </a:r>
          </a:p>
          <a:p xmlns:a="http://schemas.openxmlformats.org/drawingml/2006/main">
            <a:r>
              <a:t>2. 30 независимых партий с известным свойством</a:t>
            </a:r>
          </a:p>
          <a:p xmlns:a="http://schemas.openxmlformats.org/drawingml/2006/main">
            <a:r>
              <a:t>3. 1–4 компоненты сравнивают групповой CV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Числа демонстрируют API, а не химическую калибровку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Предобработка спектра без утечки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Физически фиксированный протокол можно применить ко всем файлам</a:t>
            </a:r>
          </a:p>
          <a:p xmlns:a="http://schemas.openxmlformats.org/drawingml/2006/main">
            <a:r>
              <a:t>2. Обучаемые параметры оценки — внутри складки</a:t>
            </a:r>
          </a:p>
          <a:p xmlns:a="http://schemas.openxmlformats.org/drawingml/2006/main">
            <a:r>
              <a:t>3. Отбор каналов по y на всём наборе запрещён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Параметры из теста не должны попадать в обучение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Дерево: разделения по порогам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Пороговые взаимодействия читаются по ветвям</a:t>
            </a:r>
          </a:p>
          <a:p xmlns:a="http://schemas.openxmlformats.org/drawingml/2006/main">
            <a:r>
              <a:t>2. Глубокое дерево легко подстроить под шум</a:t>
            </a:r>
          </a:p>
          <a:p xmlns:a="http://schemas.openxmlformats.org/drawingml/2006/main">
            <a:r>
              <a:t>3. Ограничьте max_depth и min_samples_leaf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Новые партии проверяют устойчивость порогов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Лес: усреднение многих деревьев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Уменьшает нестабильность одиночного дерева</a:t>
            </a:r>
          </a:p>
          <a:p xmlns:a="http://schemas.openxmlformats.org/drawingml/2006/main">
            <a:r>
              <a:t>2. Может описывать нелинейность внутри изученного диапазона</a:t>
            </a:r>
          </a:p>
          <a:p xmlns:a="http://schemas.openxmlformats.org/drawingml/2006/main">
            <a:r>
              <a:t>3. Не создаёт независимых данных из технических повторов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Число деревьев не исправляет смещение выборки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Одинаковый протокол сравнения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Одинаковые партии и метрика для всех моделей</a:t>
            </a:r>
          </a:p>
          <a:p xmlns:a="http://schemas.openxmlformats.org/drawingml/2006/main">
            <a:r>
              <a:t>2. Подбор настроек внутри одной схемы CV</a:t>
            </a:r>
          </a:p>
          <a:p xmlns:a="http://schemas.openxmlformats.org/drawingml/2006/main">
            <a:r>
              <a:t>3. Финальный тест после фиксации выбора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Иначе сравнение алгоритмов подменяется сравнением разбиений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Точность по подгруппам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Разделите ошибки по сырью и прибору</a:t>
            </a:r>
          </a:p>
          <a:p xmlns:a="http://schemas.openxmlformats.org/drawingml/2006/main">
            <a:r>
              <a:t>2. Покажите края диапазона концентраций</a:t>
            </a:r>
          </a:p>
          <a:p xmlns:a="http://schemas.openxmlformats.org/drawingml/2006/main">
            <a:r>
              <a:t>3. Ищите систематические смещения и промахи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Средний MAE может скрывать непригодную область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Перестановочная важность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Перемешайте признак и измерьте падение метрики</a:t>
            </a:r>
          </a:p>
          <a:p xmlns:a="http://schemas.openxmlformats.org/drawingml/2006/main">
            <a:r>
              <a:t>2. Сильная корреляция может скрыть вклад каждого признака</a:t>
            </a:r>
          </a:p>
          <a:p xmlns:a="http://schemas.openxmlformats.org/drawingml/2006/main">
            <a:r>
              <a:t>3. Используйте на модели с разумным качеством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Важность описывает прогноз, а не причинный эффект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Частичная зависимость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Меняем один признак, усредняя прогнозы модели</a:t>
            </a:r>
          </a:p>
          <a:p xmlns:a="http://schemas.openxmlformats.org/drawingml/2006/main">
            <a:r>
              <a:t>2. Могут возникнуть несуществующие комбинации факторов</a:t>
            </a:r>
          </a:p>
          <a:p xmlns:a="http://schemas.openxmlformats.org/drawingml/2006/main">
            <a:r>
              <a:t>3. Сопоставляйте график с областью реально измеренных условий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Удобная кривая не заменяет эксперимент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Область применимости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Диапазон каждого фактора и комбинаций</a:t>
            </a:r>
          </a:p>
          <a:p xmlns:a="http://schemas.openxmlformats.org/drawingml/2006/main">
            <a:r>
              <a:t>2. Типы сырья, прибор, режим приготовления</a:t>
            </a:r>
          </a:p>
          <a:p xmlns:a="http://schemas.openxmlformats.org/drawingml/2006/main">
            <a:r>
              <a:t>3. Расстояние до исследованных рецептур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Вне области обучения вывод должен быть осторожным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Диапазоны факторов недостаточны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Каждый фактор может попадать в свой диапазон</a:t>
            </a:r>
          </a:p>
          <a:p xmlns:a="http://schemas.openxmlformats.org/drawingml/2006/main">
            <a:r>
              <a:t>2. Их сочетание может отсутствовать в плане</a:t>
            </a:r>
          </a:p>
          <a:p xmlns:a="http://schemas.openxmlformats.org/drawingml/2006/main">
            <a:r>
              <a:t>3. Модель в таком углу фактически экстраполирует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Покажите плотность данных в пространстве рецептур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Неопределённость прогноза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Различайте средний прогноз и новый результат</a:t>
            </a:r>
          </a:p>
          <a:p xmlns:a="http://schemas.openxmlformats.org/drawingml/2006/main">
            <a:r>
              <a:t>2. Учтите разброс партий и ошибку измерения</a:t>
            </a:r>
          </a:p>
          <a:p xmlns:a="http://schemas.openxmlformats.org/drawingml/2006/main">
            <a:r>
              <a:t>3. Покрытие интервала проверяйте на новых партиях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Число ±σ без определения источника неопределённости малоинформативно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 внутри прогнозного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PCA.fit на всей таблице видит распределение теста</a:t>
            </a:r>
          </a:p>
          <a:p xmlns:a="http://schemas.openxmlformats.org/drawingml/2006/main">
            <a:r>
              <a:t>2. В каждой складке scaler и PCA обучаются заново</a:t>
            </a:r>
          </a:p>
          <a:p xmlns:a="http://schemas.openxmlformats.org/drawingml/2006/main">
            <a:r>
              <a:t>3. Цель используется только на этапе supervised модели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Unsupervised не означает безопасно до разбиения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Кластеризация: геометрия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KMeans требует число кластеров заранее</a:t>
            </a:r>
          </a:p>
          <a:p xmlns:a="http://schemas.openxmlformats.org/drawingml/2006/main">
            <a:r>
              <a:t>2. Результат зависит от масштаба и признаков</a:t>
            </a:r>
          </a:p>
          <a:p xmlns:a="http://schemas.openxmlformats.org/drawingml/2006/main">
            <a:r>
              <a:t>3. Номера кластеров произвольны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Кластер не становится фазой материала без внешнего доказательства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Silhouette и его предел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Оценивает компактность и отделение групп</a:t>
            </a:r>
          </a:p>
          <a:p xmlns:a="http://schemas.openxmlformats.org/drawingml/2006/main">
            <a:r>
              <a:t>2. Может предпочесть структуру прибора или дня</a:t>
            </a:r>
          </a:p>
          <a:p xmlns:a="http://schemas.openxmlformats.org/drawingml/2006/main">
            <a:r>
              <a:t>3. Не подтверждает физический механизм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Сопоставьте кластеры с независимыми измерениями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Сдвиг прибора как ложное открытие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Два прибора дают разные спектральные фоны</a:t>
            </a:r>
          </a:p>
          <a:p xmlns:a="http://schemas.openxmlformats.org/drawingml/2006/main">
            <a:r>
              <a:t>2. PCA и KMeans могут разделить приборы</a:t>
            </a:r>
          </a:p>
          <a:p xmlns:a="http://schemas.openxmlformats.org/drawingml/2006/main">
            <a:r>
              <a:t>3. Прогноз свойства затем теряет качество вне прибора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Раскрасьте PCA по прибору до именования кластеров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Несколько видов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Рецепт, спектр и изображение могут дополнять друг друга</a:t>
            </a:r>
          </a:p>
          <a:p xmlns:a="http://schemas.openxmlformats.org/drawingml/2006/main">
            <a:r>
              <a:t>2. Каждый источник имеет время доступности</a:t>
            </a:r>
          </a:p>
          <a:p xmlns:a="http://schemas.openxmlformats.org/drawingml/2006/main">
            <a:r>
              <a:t>3. Дескрипторы агрегируют на уровне нужного объекта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Мультимодальность не отменяет независимости партий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Куда направить следующий опыт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Высокое ожидаемое свойство — эксплуатация</a:t>
            </a:r>
          </a:p>
          <a:p xmlns:a="http://schemas.openxmlformats.org/drawingml/2006/main">
            <a:r>
              <a:t>2. Большая неопределённость — исследование</a:t>
            </a:r>
          </a:p>
          <a:p xmlns:a="http://schemas.openxmlformats.org/drawingml/2006/main">
            <a:r>
              <a:t>3. Повторение спорного результата — проверка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Цель выбора опыта задают до чтения ранжирования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Активное обучение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Модель предлагает условия и оценивает неопределённость</a:t>
            </a:r>
          </a:p>
          <a:p xmlns:a="http://schemas.openxmlformats.org/drawingml/2006/main">
            <a:r>
              <a:t>2. Человек проверяет область, безопасность и цену</a:t>
            </a:r>
          </a:p>
          <a:p xmlns:a="http://schemas.openxmlformats.org/drawingml/2006/main">
            <a:r>
              <a:t>3. Новая партия обновляет данные и прогноз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Цикл проверяют по независимым опытам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Безопасный цикл рекомендаций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Ограничения состава и оборудования задают заранее</a:t>
            </a:r>
          </a:p>
          <a:p xmlns:a="http://schemas.openxmlformats.org/drawingml/2006/main">
            <a:r>
              <a:t>2. Рекомендацию утверждает экспериментатор</a:t>
            </a:r>
          </a:p>
          <a:p xmlns:a="http://schemas.openxmlformats.org/drawingml/2006/main">
            <a:r>
              <a:t>3. Стоп-критерий и журнал отказов фиксируются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Модель не должна сама расширять разрешённые пределы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Активное обучение и RL — разные постановки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Активное обучение выбирает информативный опыт</a:t>
            </a:r>
          </a:p>
          <a:p xmlns:a="http://schemas.openxmlformats.org/drawingml/2006/main">
            <a:r>
              <a:t>2. RL выбирает действия в последовательности состояний</a:t>
            </a:r>
          </a:p>
          <a:p xmlns:a="http://schemas.openxmlformats.org/drawingml/2006/main">
            <a:r>
              <a:t>3. Обе постановки требуют явной цели и ограничений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Выбор следующей рецептуры сам по себе не 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Нейронные сети: обзор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Работают с изображениями, спектрами и графами</a:t>
            </a:r>
          </a:p>
          <a:p xmlns:a="http://schemas.openxmlformats.org/drawingml/2006/main">
            <a:r>
              <a:t>2. Зависят от объёма и происхождения обучающих данных</a:t>
            </a:r>
          </a:p>
          <a:p xmlns:a="http://schemas.openxmlformats.org/drawingml/2006/main">
            <a:r>
              <a:t>3. Сравнение со строгим baseline обязательно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Тысячи пикселей не равны тысячам независимых партий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Когда предварительное обучение полезно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Можно использовать представление из другой задачи</a:t>
            </a:r>
          </a:p>
          <a:p xmlns:a="http://schemas.openxmlformats.org/drawingml/2006/main">
            <a:r>
              <a:t>2. Нужно проверить происхождение данных и весов</a:t>
            </a:r>
          </a:p>
          <a:p xmlns:a="http://schemas.openxmlformats.org/drawingml/2006/main">
            <a:r>
              <a:t>3. Финальный тест не используют для адаптации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При переносе на новый прибор требуется отдельная проверка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Проверяемое предложение опыта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Укажите одну рецептуру в допустимых пределах</a:t>
            </a:r>
          </a:p>
          <a:p xmlns:a="http://schemas.openxmlformats.org/drawingml/2006/main">
            <a:r>
              <a:t>2. Назовите предсказание и причину выбора</a:t>
            </a:r>
          </a:p>
          <a:p xmlns:a="http://schemas.openxmlformats.org/drawingml/2006/main">
            <a:r>
              <a:t>3. Назначьте измерение и критерий опровержения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Эксперимент должен быть возможен и информативен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Мини-проект: сравнение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Baseline + две модели при одинаковых группах</a:t>
            </a:r>
          </a:p>
          <a:p xmlns:a="http://schemas.openxmlformats.org/drawingml/2006/main">
            <a:r>
              <a:t>2. Ошибка на новых партиях и график промахов</a:t>
            </a:r>
          </a:p>
          <a:p xmlns:a="http://schemas.openxmlformats.org/drawingml/2006/main">
            <a:r>
              <a:t>3. Область применимости и цена ошибки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Если партий мало, честно ограничьте заключение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Мини-проект: новый опыт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Рецептура, ожидаемое свойство, причина</a:t>
            </a:r>
          </a:p>
          <a:p xmlns:a="http://schemas.openxmlformats.org/drawingml/2006/main">
            <a:r>
              <a:t>2. План независимых и технических повторов</a:t>
            </a:r>
          </a:p>
          <a:p xmlns:a="http://schemas.openxmlformats.org/drawingml/2006/main">
            <a:r>
              <a:t>3. Действие при несогласии результата с моделью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Не выбирайте опыт по прогнозу за пределами безопасной области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Примеры по направлениям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Наноэмульсии: размер и стабильность</a:t>
            </a:r>
          </a:p>
          <a:p xmlns:a="http://schemas.openxmlformats.org/drawingml/2006/main">
            <a:r>
              <a:t>2. SiO₂ и магнитные частицы: свойство после синтеза</a:t>
            </a:r>
          </a:p>
          <a:p xmlns:a="http://schemas.openxmlformats.org/drawingml/2006/main">
            <a:r>
              <a:t>3. Покрытия и катализ: качество партии, спектральный отклик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Для каждого проекта заново определите единицу наблюдения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Контрольные вопросы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Чем PLS отличается от PCA?</a:t>
            </a:r>
          </a:p>
          <a:p xmlns:a="http://schemas.openxmlformats.org/drawingml/2006/main">
            <a:r>
              <a:t>2. Когда важность признака не означает механизм?</a:t>
            </a:r>
          </a:p>
          <a:p xmlns:a="http://schemas.openxmlformats.org/drawingml/2006/main">
            <a:r>
              <a:t>3. Что именно проверяет новая независимая партия?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Ответ соединяет метод с экспериментальным дизайном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Итоговая схема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Данные → простой baseline → групповая проверка</a:t>
            </a:r>
          </a:p>
          <a:p xmlns:a="http://schemas.openxmlformats.org/drawingml/2006/main">
            <a:r>
              <a:t>2. Интерпретация и область применения → рекомендация</a:t>
            </a:r>
          </a:p>
          <a:p xmlns:a="http://schemas.openxmlformats.org/drawingml/2006/main">
            <a:r>
              <a:t>3. Новый опыт → обновление модели и протокола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Ценность модели измеряется улучшением проверяемого решения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дальнейшее чтение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scikit-learn: linear_model и cross_decomposition</a:t>
            </a:r>
          </a:p>
          <a:p xmlns:a="http://schemas.openxmlformats.org/drawingml/2006/main">
            <a:r>
              <a:t>2. scikit-learn: decomposition, clustering, inspection</a:t>
            </a:r>
          </a:p>
          <a:p xmlns:a="http://schemas.openxmlformats.org/drawingml/2006/main">
            <a:r>
              <a:t>3. Конспект 12: код PLS и предметные ограничения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Ссылки и воспроизводимый пример — в Markdown-конспекте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f78328ba6b47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0d15f6186e4b49" /><Relationship Type="http://schemas.openxmlformats.org/officeDocument/2006/relationships/slideLayout" Target="/ppt/slideLayouts/slideLayout1.xml" Id="R6505a810e1c443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05a810e1c443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cfdce4da64214" /><Relationship Type="http://schemas.openxmlformats.org/officeDocument/2006/relationships/notesSlide" Target="/ppt/notesSlides/notesSlide1.xml" Id="Rf1e77f81aeed4d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1dbfcf26b44d2" /><Relationship Type="http://schemas.openxmlformats.org/officeDocument/2006/relationships/notesSlide" Target="/ppt/notesSlides/notesSlide2.xml" Id="R75b65ed959ef4a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d6cca40ac4941" /><Relationship Type="http://schemas.openxmlformats.org/officeDocument/2006/relationships/notesSlide" Target="/ppt/notesSlides/notesSlide3.xml" Id="R98e52d00923d42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97cf787754c0a" /><Relationship Type="http://schemas.openxmlformats.org/officeDocument/2006/relationships/notesSlide" Target="/ppt/notesSlides/notesSlide4.xml" Id="R699ad320f58e49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8519f0aee4d42" /><Relationship Type="http://schemas.openxmlformats.org/officeDocument/2006/relationships/notesSlide" Target="/ppt/notesSlides/notesSlide5.xml" Id="R27f62e06e0974e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fabd424ae4735" /><Relationship Type="http://schemas.openxmlformats.org/officeDocument/2006/relationships/notesSlide" Target="/ppt/notesSlides/notesSlide6.xml" Id="R1514b59c667d4b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ddc0e1bd34a54" /><Relationship Type="http://schemas.openxmlformats.org/officeDocument/2006/relationships/notesSlide" Target="/ppt/notesSlides/notesSlide7.xml" Id="R0db3d0f1b6a64e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50dcc80d84ff8" /><Relationship Type="http://schemas.openxmlformats.org/officeDocument/2006/relationships/notesSlide" Target="/ppt/notesSlides/notesSlide8.xml" Id="Ra19874c0011d44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75ceff7584a5d" /><Relationship Type="http://schemas.openxmlformats.org/officeDocument/2006/relationships/notesSlide" Target="/ppt/notesSlides/notesSlide9.xml" Id="R1dbab29f4a6f46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c016774f04700" /><Relationship Type="http://schemas.openxmlformats.org/officeDocument/2006/relationships/notesSlide" Target="/ppt/notesSlides/notesSlide10.xml" Id="R1dd17805ee4d4b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a3c1332e24ef2" /><Relationship Type="http://schemas.openxmlformats.org/officeDocument/2006/relationships/notesSlide" Target="/ppt/notesSlides/notesSlide11.xml" Id="Ra95ec782e6964b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a459e96834088" /><Relationship Type="http://schemas.openxmlformats.org/officeDocument/2006/relationships/notesSlide" Target="/ppt/notesSlides/notesSlide12.xml" Id="Rcaa35b16d81e43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075f8a0764b38" /><Relationship Type="http://schemas.openxmlformats.org/officeDocument/2006/relationships/notesSlide" Target="/ppt/notesSlides/notesSlide13.xml" Id="Rdf8f82105aee4b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97482a58140a5" /><Relationship Type="http://schemas.openxmlformats.org/officeDocument/2006/relationships/notesSlide" Target="/ppt/notesSlides/notesSlide14.xml" Id="Rac20bb5ad55e40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29380ffac4ed3" /><Relationship Type="http://schemas.openxmlformats.org/officeDocument/2006/relationships/notesSlide" Target="/ppt/notesSlides/notesSlide15.xml" Id="R965dea3f93c94c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0564f6cff43e4" /><Relationship Type="http://schemas.openxmlformats.org/officeDocument/2006/relationships/notesSlide" Target="/ppt/notesSlides/notesSlide16.xml" Id="Ra96f82c5a0844d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50d8d1d89443f" /><Relationship Type="http://schemas.openxmlformats.org/officeDocument/2006/relationships/notesSlide" Target="/ppt/notesSlides/notesSlide17.xml" Id="R5d74529933f54f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9ab726c9e4853" /><Relationship Type="http://schemas.openxmlformats.org/officeDocument/2006/relationships/notesSlide" Target="/ppt/notesSlides/notesSlide18.xml" Id="Re608c5b1d951478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0c25c08f7464e" /><Relationship Type="http://schemas.openxmlformats.org/officeDocument/2006/relationships/notesSlide" Target="/ppt/notesSlides/notesSlide19.xml" Id="R94cbefd4a51443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86c2c9b9e425d" /><Relationship Type="http://schemas.openxmlformats.org/officeDocument/2006/relationships/notesSlide" Target="/ppt/notesSlides/notesSlide20.xml" Id="R1ed76c963b78454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7b7a9d5df4ddd" /><Relationship Type="http://schemas.openxmlformats.org/officeDocument/2006/relationships/notesSlide" Target="/ppt/notesSlides/notesSlide21.xml" Id="R13d1c67a7cf940f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ec589a2444075" /><Relationship Type="http://schemas.openxmlformats.org/officeDocument/2006/relationships/notesSlide" Target="/ppt/notesSlides/notesSlide22.xml" Id="Re98c02ff567048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1b221ffd5451a" /><Relationship Type="http://schemas.openxmlformats.org/officeDocument/2006/relationships/notesSlide" Target="/ppt/notesSlides/notesSlide23.xml" Id="Rd217919b3c39426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dc5992b584235" /><Relationship Type="http://schemas.openxmlformats.org/officeDocument/2006/relationships/notesSlide" Target="/ppt/notesSlides/notesSlide24.xml" Id="Rcf34b9eb22ca448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d51d98b7346d2" /><Relationship Type="http://schemas.openxmlformats.org/officeDocument/2006/relationships/notesSlide" Target="/ppt/notesSlides/notesSlide25.xml" Id="Raeaeac9ce98a45d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dd041e54f4ba7" /><Relationship Type="http://schemas.openxmlformats.org/officeDocument/2006/relationships/notesSlide" Target="/ppt/notesSlides/notesSlide26.xml" Id="R220b16509f8b465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99d40b9b94d79" /><Relationship Type="http://schemas.openxmlformats.org/officeDocument/2006/relationships/notesSlide" Target="/ppt/notesSlides/notesSlide27.xml" Id="R492da2b6b71545b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8aada5e914cdf" /><Relationship Type="http://schemas.openxmlformats.org/officeDocument/2006/relationships/notesSlide" Target="/ppt/notesSlides/notesSlide28.xml" Id="Rf6b5dc6f58d2473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eee1d632b4b67" /><Relationship Type="http://schemas.openxmlformats.org/officeDocument/2006/relationships/notesSlide" Target="/ppt/notesSlides/notesSlide29.xml" Id="Ra4db432e33b74b0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5d3fd0b7f4d88" /><Relationship Type="http://schemas.openxmlformats.org/officeDocument/2006/relationships/notesSlide" Target="/ppt/notesSlides/notesSlide30.xml" Id="Rb947c0c0091141b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072964f694f8c" /><Relationship Type="http://schemas.openxmlformats.org/officeDocument/2006/relationships/notesSlide" Target="/ppt/notesSlides/notesSlide31.xml" Id="R682eb5a190014b7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563519ad44fa7" /><Relationship Type="http://schemas.openxmlformats.org/officeDocument/2006/relationships/notesSlide" Target="/ppt/notesSlides/notesSlide32.xml" Id="R1d9035942500409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2029a946e471e" /><Relationship Type="http://schemas.openxmlformats.org/officeDocument/2006/relationships/notesSlide" Target="/ppt/notesSlides/notesSlide33.xml" Id="R7b449840a4ec451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4bcce22094dd7" /><Relationship Type="http://schemas.openxmlformats.org/officeDocument/2006/relationships/notesSlide" Target="/ppt/notesSlides/notesSlide34.xml" Id="Rad77304d6f814d3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1efaed1f4425e" /><Relationship Type="http://schemas.openxmlformats.org/officeDocument/2006/relationships/notesSlide" Target="/ppt/notesSlides/notesSlide35.xml" Id="R910f183c9b67446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71c5190734cf6" /><Relationship Type="http://schemas.openxmlformats.org/officeDocument/2006/relationships/notesSlide" Target="/ppt/notesSlides/notesSlide36.xml" Id="R4d5a7f20394b4c8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54c6708b64732" /><Relationship Type="http://schemas.openxmlformats.org/officeDocument/2006/relationships/notesSlide" Target="/ppt/notesSlides/notesSlide37.xml" Id="R36b265d0bbd24bd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b1567726f4311" /><Relationship Type="http://schemas.openxmlformats.org/officeDocument/2006/relationships/notesSlide" Target="/ppt/notesSlides/notesSlide38.xml" Id="Rf8fd3cf3db9144f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c41d642d44b08" /><Relationship Type="http://schemas.openxmlformats.org/officeDocument/2006/relationships/notesSlide" Target="/ppt/notesSlides/notesSlide39.xml" Id="R7148813d430a4fc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7769d54744967" /><Relationship Type="http://schemas.openxmlformats.org/officeDocument/2006/relationships/notesSlide" Target="/ppt/notesSlides/notesSlide40.xml" Id="R6c3bcc11251243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483C55-AA22-4C06-AFCF-ADC2D275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0C621-5B22-4A8D-BF92-D7CAFD7C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B4BED-EA61-41C4-848E-60663D4E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28EE2-043D-4ECB-AE02-8904AA6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BF744-0579-47AE-9E5E-AE2AE7EB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66850"/>
            <a:ext cx="590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Машинное обучение:</a:t>
            </a:r>
          </a:p>
          <a:p xmlns:a="http://schemas.openxmlformats.org/drawingml/2006/main">
            <a:pPr algn="l">
              <a:def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модели и следующий эксперимент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FE854-C13A-487E-B626-14E7E837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595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Малые выборки, спектры и осмысленный выбор опыта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19059-E3D2-45C6-8CCC-68296175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305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Лекция 12 · 40 слайдов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EA924-6997-4491-B288-370052A8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71625"/>
            <a:ext cx="4476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8D57C-D8E6-4F33-8476-8D5B31D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AE843-9327-459A-B3ED-0D9FAF7C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0FD55-3C65-4ECA-BB1E-8DB97915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EE520-4947-4693-863B-314E2A39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386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CFD43-8226-4C94-8BAA-BE7BD256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43E0F-46F6-48F9-8EBB-2210BE93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BB07A-0F5C-4656-8372-85063E6A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19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2E6C7-58A4-4543-9C31-313B6152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195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D3766-444F-4828-9C10-10B6FB41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90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1AD3C-168F-4840-BF21-37D35147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909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5128B-2781-4D8F-AC64-A46C798D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480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449C0D-D1E4-4B18-8F89-0369282B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480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7A692-059B-4B1D-AC0A-DFFB6C01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BA8AA-2A62-4E6A-A6C2-3E26760E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A23BD-327B-4861-B61E-E374D80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718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8E548-CC89-48E8-907A-2E0DAE4D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718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F43DD5-829A-40FB-982C-DC40212D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E816CC-1D46-4151-A60E-1F4F714A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C078E-F82B-4A58-B9FB-EB7EB99C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337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614E84-EC6D-4050-AE3E-C0E6BFB4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337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D44D87-A870-4249-8E6C-775828E9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384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24E569-BE16-4CCD-A7A6-D38CDA3A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384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F126A4-E444-4088-9E4A-B359C3C9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581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BC2E9A-AA9D-42D2-B1F3-D646361B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581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B06423-2D0D-4C54-81B0-C4C1762A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3717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895379-B802-4C1C-A80A-E7208B91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СХЕМА • больше данных / лучше проверка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63EB6C-F849-43AE-8D76-9CC50BF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22B601-189C-42EB-B3AD-534567C3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07119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B557F-EC48-4116-B893-E711EF08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10006-F1CE-4608-A426-5291AA39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1EA49-0777-439E-A7EE-4A6C8298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3E74B-B31E-48E7-8F44-84ACF2F0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От вопроса к набору методов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FB25C-D056-4980-B375-8F58049D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B7750-69A5-4B1D-A801-9FAB4B48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42283-810A-4510-A9CA-F328C10E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1C099-6DB9-4A21-B820-3E19E775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FD627-745E-42BC-9AFE-6CA736F2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Тип данных: табличные рецептуры или спектры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E6F3B-03A7-4E2D-A150-FD8658DD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8DF48-A071-491C-9E56-AE7F50F2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89444-EE58-4B42-89A3-6E916B49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Цель: прогноз свойства либо описание структуры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D8419-BFE5-4376-BA6B-6407CC15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F9186-6921-4B92-9D17-8AEA902A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1C17D-EA96-4461-9CC0-5DF8A618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Проверка: те же независимые группы для всех методов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762FA-05B9-4FCF-B119-B5C1B5C6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233FE-FBA6-4D9E-9A84-54408739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BC256-62F1-4538-9E8A-A94E7E20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Сложность оправдана выигрышем на будущих партиях</a:t>
            </a:r>
          </a:p>
        </p:txBody>
      </p:sp>
    </p:spTree>
    <p:extLst>
      <p:ext uri="{BB962C8B-B14F-4D97-AF65-F5344CB8AC3E}">
        <p14:creationId xmlns:p14="http://schemas.microsoft.com/office/powerpoint/2010/main" val="17870062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60556-2F84-47B0-90DB-3A5EADAC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A15BF-583E-48AC-ACA1-C837DA5C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BF303-6AC8-4D5E-8F3E-09B64ABC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673A3-DC91-40A1-BB32-32ACCB0A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Лестница моделей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D8E77-9FD4-47EC-B8CF-AB649040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AD7F0-90D1-4323-A7AC-E801A530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6787A-EA6A-4C1E-AA33-0526817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E1CAB-D009-4119-90A1-FFA3F670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0ACE9-3085-4AA0-BEF8-2E61D7F9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F39EF-587B-48EF-9DDA-2A16C15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5F4CF-BBE8-4686-B2BC-9ED0DC35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Лабораторное правило и константа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A99ED-40FA-4304-A4B0-6C98D7C3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43535-22EC-41AA-B029-4D30C0C1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CF9EA-3853-49D5-8C01-FF19DC50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0D586-DCED-4997-A1FB-F8371246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Ridge или Lasso для числовых признаков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89440-FD02-428F-953C-12890C4A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8A835-7AAD-4E5C-99E3-9D55902E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EC5FF-A9F2-4D53-9BE2-A756D221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1B069-ACED-4CE9-9B03-6C901848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PLS для спектров; деревья и лес для нелинейности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A044B-A9FC-4E73-865A-693EEB36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20A7D-49E6-4354-B9E3-9EFF97A6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У одного набора данных не должно быть четырёх разных тестов</a:t>
            </a:r>
          </a:p>
        </p:txBody>
      </p:sp>
    </p:spTree>
    <p:extLst>
      <p:ext uri="{BB962C8B-B14F-4D97-AF65-F5344CB8AC3E}">
        <p14:creationId xmlns:p14="http://schemas.microsoft.com/office/powerpoint/2010/main" val="16283588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5EA9D-3428-4640-9A8B-03802680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E8810-FE57-4351-A453-BD6B4FDE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94CD0-3ADA-414B-B4C8-557D6DBE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D4F8C-9AC5-49E6-A7AF-649A335D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Линейная модель как отправная точка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5129F-7DC1-4413-AC82-2431DB22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43F40-729D-44A3-9387-74456BF6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01F8D-6682-4E69-99E9-C771D17F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C39F2-6A47-4549-AFBF-32624897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8D1F8-0DE6-4602-84A9-A5B08CF1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A3DBE-E842-4CB3-B509-D012BB1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Коэффициенты связывают признаки с прогнозом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44A4B-9F1D-4A84-9A0D-E27B9B9A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1834C-0576-4A52-88DD-D73B91A6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Масштабы признаков влияют на штраф регуляризации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AF7C9-BA0F-4F54-919D-98D90562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EA236-A762-4919-82B4-B7777CD3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Остатки выявляют недостающую структуру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FC0DC-9B65-4BCC-A6ED-08617B94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07044-4E8D-4DCB-8BC7-9DE57D6A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Коэффициент модели сам по себе не доказывает механизм</a:t>
            </a:r>
          </a:p>
        </p:txBody>
      </p:sp>
    </p:spTree>
    <p:extLst>
      <p:ext uri="{BB962C8B-B14F-4D97-AF65-F5344CB8AC3E}">
        <p14:creationId xmlns:p14="http://schemas.microsoft.com/office/powerpoint/2010/main" val="12047161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0ACD3-3907-4250-9EB9-73C56F65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4D459-F094-4FE4-902A-8CBC9B64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A1857-B914-4922-8D7B-F6A68584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ED42E-FE4B-4824-8B5A-F5364608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88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Ridge сдерживает нестабильные коэффициенты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2B9DB-76B5-452F-A695-74410E05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0CE78-6357-4092-8F0D-CF098DE6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D097E-2AD8-42F6-9EE1-27C7BF81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3AB36-4163-4780-88F9-DBF95A8D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270F8-C460-4F9D-BFF4-3FC82082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28869-994A-4829-892C-5B81C910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Штраф L2 ограничивает большие коэффициенты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17C86-5A34-4977-A41B-DBC5F1EC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1D3A9-13AD-49BC-BE86-FDD6D5BB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A0B60-30A0-45BF-9B22-F866E837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Коррелированные признаки делят вклад между собой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68450-E2EC-4D91-AF0E-F9D2ACA3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741E2-F683-4E0A-82A3-E37D4E9C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85707-6A39-49FE-9F0A-FEEDF441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α подбирают внутри групповой CV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CCD9F-1EE8-4B94-8CAD-2A979ED1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637F3-1214-476F-8ABC-4558A1A3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Масштабирование должно быть частью Pipeline</a:t>
            </a:r>
          </a:p>
        </p:txBody>
      </p:sp>
    </p:spTree>
    <p:extLst>
      <p:ext uri="{BB962C8B-B14F-4D97-AF65-F5344CB8AC3E}">
        <p14:creationId xmlns:p14="http://schemas.microsoft.com/office/powerpoint/2010/main" val="20624437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774DE-58BA-44F3-9D35-47F31C68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277B5-35B5-4FBC-9258-831AC00C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5E23D-3B28-40E9-AACC-87FD93F7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64478-6BFA-4BA2-BFAE-32EE46B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Lasso выбирает разреженное решение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832C9-02CA-4DFF-A60C-A1B9B952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B97D7-FB74-45A3-9714-33986B37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E1303-A156-4936-BBEC-9344AB3C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93003-F1C0-47DB-A321-FA85985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80AB1-53C0-4BA3-93D8-6FE2C93F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57F8B-C2D4-4806-93FF-C76F6857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Штраф L1 может занулить коэффициенты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48477-94ED-47ED-BBC5-06F1CD6E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115EC-E17F-4A25-9076-08D1FFAB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4182C-09D0-4395-911E-4705E67E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 коррелированных переменных выбор неустойчив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010A0-CAEA-44B8-BAF5-BD6B630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83702-0A40-40F5-956B-28890DD2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0F5F7-0BBF-4246-82E3-17B80A75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Выбранная переменная не равна доказанной причине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A7B69-3134-4383-B62E-56D50EFE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7A880-6F33-4002-BEC7-D5631E4E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Сравните устойчивость признаков между независимыми группами</a:t>
            </a:r>
          </a:p>
        </p:txBody>
      </p:sp>
    </p:spTree>
    <p:extLst>
      <p:ext uri="{BB962C8B-B14F-4D97-AF65-F5344CB8AC3E}">
        <p14:creationId xmlns:p14="http://schemas.microsoft.com/office/powerpoint/2010/main" val="16999139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B77D1-F582-4CD2-992D-92C2FC56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9308D-34ED-4950-83CE-7C568DC6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4B1F8-F495-4DFB-A6FB-7579EC98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774E4-2DF3-495E-86A6-589DF55A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Механистический baseline может победить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5853C-18C2-4CA5-ACBF-081390AB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4F4D8-8AA1-4B46-B9E4-5CBE4F95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71BDC-D228-49E3-8A43-CAA9C5C2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CCB5B-5A1B-4359-88FA-BC35C308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3E034-24BF-4742-A3EF-6BC715A5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Физический закон задаёт осмысленный прогноз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ADDD3-08DF-4F87-9FCF-C7587C72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DE226-16E5-4393-A8E8-5AA65766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9C4AC-D1D2-46CE-A614-DA3BD2D4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ML может моделировать остаток физической модели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90143-0304-4D78-AB7C-B97A9E74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AF8D3-3F6E-4F04-AE0B-DC570811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E5D5D-E589-41F9-9B1D-E53E86ED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Обе модели проверяют на тех же новых партиях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17D60-CB5E-40CE-A4F8-3B79B8A7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CDB1F-D494-44AD-BF78-D437503F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E8322A-36D2-49CB-83BF-3E372E0A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Подгонка не замещает физическое ограничение</a:t>
            </a:r>
          </a:p>
        </p:txBody>
      </p:sp>
    </p:spTree>
    <p:extLst>
      <p:ext uri="{BB962C8B-B14F-4D97-AF65-F5344CB8AC3E}">
        <p14:creationId xmlns:p14="http://schemas.microsoft.com/office/powerpoint/2010/main" val="18792063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0491D-1669-43C5-A0FF-50B3263B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71AAA-045A-4B7C-A019-62DCFB9F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8C981-21C3-4492-8E9D-970B2B6D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408C7-725C-469E-9D72-23A6EAEE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Почему спектры многомерны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58775-6C22-49E0-9621-2424AE10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AE535-0BA3-45B1-A438-5A5F7B54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B060F-C199-473C-94C5-C89C5D21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809DD-E9F6-4DCE-9497-93EB4E60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B72F6-5319-4B35-89E3-72FDF585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4AD00-C1F4-45F8-861B-09EEF7E5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D312E-3773-463F-93B6-4EFA08CA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Сотни каналов при десятках независимых образцов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62EC8-501B-4D47-81E4-1E5C8095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F75CB-3E0C-4195-AA31-ADCD40E9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326CB-2F75-4B42-8DD0-05CD0FFD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0B372-09E2-4F5A-A6C9-44B560C5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Соседние длины волн коррелируют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7FBC5-93D0-4918-90E5-DE56B7E6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46EE9-4158-4989-9E74-FF2506EF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66495-7F43-4382-97AD-DB3A501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6DB43-BE56-4416-ACE9-4DAD397A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Фон, прибор и подготовка часто влияют на весь спектр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B2627-5D55-409F-96FC-8B4CFF9D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1E552-98A1-4D9D-98DC-2CDFF5C4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Число каналов не увеличивает число независимых партий</a:t>
            </a:r>
          </a:p>
        </p:txBody>
      </p:sp>
    </p:spTree>
    <p:extLst>
      <p:ext uri="{BB962C8B-B14F-4D97-AF65-F5344CB8AC3E}">
        <p14:creationId xmlns:p14="http://schemas.microsoft.com/office/powerpoint/2010/main" val="4915860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DD84BB-7520-4703-900A-912C7FA9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C76DC-108B-48B7-840B-78F645C6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6BCCF-0E7E-406E-869B-3DC439C3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3CCDC-2341-489B-A45D-D7C0583D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PCA отвечает на вопрос об 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3BD2A-3448-40A9-9B38-23BF8FAF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52A37-2870-4938-A6BA-95FE2BB3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1B6B1-91F6-4098-8455-01E8BA31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EF925-12DA-4DC5-AA75-D9533AD0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D06CE-F7FE-4E03-99AD-BAB0EF21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Компоненты максимизируют дисперсию признаков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0A638-8699-46B7-B36C-08C43914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ABA9E-5DE3-4B70-9E07-7FF13883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Целевое свойство не участвует в расчёте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17951-8A7B-4FB9-BEA2-64E56B70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D0714-E670-488E-BE79-A64E58E3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Большая дисперсия может быть дрейфом прибора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81F93-833E-4C83-80BF-D004DD88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7136B-DD40-4B40-9D99-E635B915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190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7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AA3FB-46AD-4A53-B3AB-B2AFFB4A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67275"/>
            <a:ext cx="268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7C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2A267-75CF-482D-B33F-C258833A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ED397-02DA-422C-A256-F30D0E59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377A6-C03C-4889-9A44-C1135E30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D7499-FB2E-40EE-BD18-99AB8406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44DD9-2070-4821-A2C1-719C92D7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5ED11-7EE7-4916-9595-798207A9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62367-0CEF-4FD6-B474-A0633B03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CBD2E-DBDF-4C20-92E7-BF67BE23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5945B-E2CD-47B1-8294-47B48637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F42ECC-0044-4AB5-A71F-B6320C66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6E3DC-C8BB-4684-ABA8-F809A1B7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36491-9902-43FC-93AB-64EC1691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B17D40-6F48-46DB-BFD8-4023DBA7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2FE060-BAF6-4DD8-A0CA-C7E7FED1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BB30F2-586F-44EF-B824-F4E5A50C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163E2F-D78E-40E5-B75A-82D5ED8F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F14D34-E6D8-4290-BAC5-AEC9D893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3CA678-CB9E-4AEE-A24B-B8F1325B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CAA694-32AE-48FA-AAE7-9982C7D4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6C820C-C23E-4D7D-A760-D23874A4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AF2A14-DBCE-43D5-9DDC-7879DE07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42C389-31A8-4273-9137-0B8EE62D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49A2A4-BED9-404D-B73D-4ED6AB98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5CF707-1EB3-4AA9-A167-C2E893FD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A7E89C-1727-403C-8B02-985797FF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323AC5-5725-4F81-A708-09350DDE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00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97B3E3-FF27-47DB-92B5-47B914D2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6252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PC1 / PC2: источник вариации?</a:t>
            </a:r>
          </a:p>
        </p:txBody>
      </p:sp>
    </p:spTree>
    <p:extLst>
      <p:ext uri="{BB962C8B-B14F-4D97-AF65-F5344CB8AC3E}">
        <p14:creationId xmlns:p14="http://schemas.microsoft.com/office/powerpoint/2010/main" val="16345019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B54D9-0A7A-48F2-B579-6DAA4140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C67EF-6721-45F7-A1FE-F2B1375D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741BC-9AF0-463E-9ABC-18332902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AB4A1-B3DA-493C-92F5-ED195B7F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Проверка смысла PCA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44351-00C9-4FBD-82C7-4305151F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4800D-716F-4B1B-B851-A7D579A5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F935F-53C5-44A9-8C92-7FEB994C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204A4-D9FE-4774-855C-68E674C4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85F00-FE55-4F36-9F1C-C39A7529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B5962-201C-421D-97B7-76E39ECF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Раскрасьте точки по партии, дню и прибору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74EF6-41BA-4897-AFD4-F9465C1A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B8618-850B-4CFA-BB55-4742FEE3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8C67F-8BAA-4150-B8AE-E0897B29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Сравните нагрузки важных каналов с физикой спектра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F2564-DEA6-409D-BD8F-87471EB9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547EE-9C55-4BB0-85CE-A0EA3093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B75DD-D219-4976-979E-F33B3A68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Проверьте устойчивость к масштабированию и фону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7159A-0009-4278-8DE1-C320325D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36B86-5D92-4339-9C65-F1AE3B58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Визуальное разделение не является внешней проверкой</a:t>
            </a:r>
          </a:p>
        </p:txBody>
      </p:sp>
    </p:spTree>
    <p:extLst>
      <p:ext uri="{BB962C8B-B14F-4D97-AF65-F5344CB8AC3E}">
        <p14:creationId xmlns:p14="http://schemas.microsoft.com/office/powerpoint/2010/main" val="18238382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A8B6E-CC55-47CB-8BF1-6993A783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B9675-21A9-4298-A73D-9722645D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EA2B7-9331-4562-A604-86EB376E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9716F-CFF1-4BBF-8C1D-47BC06E5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PLS учитывает X и 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2C093-7EC6-45E6-9B97-F8B8251F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F9E49-94F7-400F-ADE6-8D3D38D0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03F05-2CDF-4F2B-A259-8B6019BE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6A712-14F2-481D-BBE8-7FB167DE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B87B2-A598-4706-8018-DC181008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Компоненты строятся для прогнозной связи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9ACC4-0596-4816-A95A-6D27163F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73896-F3CE-46BB-B9C1-46CDA2DF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Число компонент подбирают только на разработке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7963B-60A2-49AD-9717-98970E4C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8F179-5DC9-4BA0-B9B8-62DBD919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Нужен отдельный тест новых образцов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0073F-46A3-4031-A2D3-0031D789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14663-481B-487D-BF40-D0372807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24125"/>
            <a:ext cx="3105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EEE82-277B-47A8-B726-F45A0003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60985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X: спектральные каналы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B4086-BAA4-421E-BF69-B11404EA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03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3D569-92FD-4D05-BF89-972C8BAB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524250"/>
            <a:ext cx="3105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C4A7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CF891-4BF5-4201-B598-30D8D81B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60997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PLS: компоненты по X и 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C0AF3-885D-4D2A-A26E-EC5D1C13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90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1538D-8E1E-4B56-95E5-EF4CBEA3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486275"/>
            <a:ext cx="3105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80ED9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7467D-E320-4516-AF5A-36A72AA8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5720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ŷ: прогноз свойства</a:t>
            </a:r>
          </a:p>
        </p:txBody>
      </p:sp>
    </p:spTree>
    <p:extLst>
      <p:ext uri="{BB962C8B-B14F-4D97-AF65-F5344CB8AC3E}">
        <p14:creationId xmlns:p14="http://schemas.microsoft.com/office/powerpoint/2010/main" val="4502085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8F9D3-5861-43CC-AEAF-67CA074F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5EAB9-25E3-45BE-BD8D-1A4A6A09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56767-07B8-4918-88B5-8D273511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10213-8DF3-490A-A3D1-E7687A68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Пример: искусственные спектры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61A87-910A-40FB-8C1D-9771FF7C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30F5C-D939-462E-A892-3FAC2EA8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E932A-372A-4C38-B7D7-5B16B541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002C0-7508-4204-94D1-53DAAF8C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476EA-ED7D-4036-B771-9858A5A6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24 канала с коррелированным пиком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57DCD-AAE4-4F5B-A5A2-845C9D9B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BB63C-87DC-4717-B480-1824D407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62880-4384-4027-932B-9A4E88C4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30 независимых партий с известным свойством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0A943-29F7-4AAB-A812-637C8413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49715-4381-4736-923D-64ABDD8D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87B60-31B1-4F9F-A8BF-574B9F08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1–4 компоненты сравнивают групповой CV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9730B-CC9E-4BDB-9DC2-CFBDDBF8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1029C-6FC7-42AA-BADD-634FC9BB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6467C-3940-4AD7-BC56-76686C31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Числа демонстрируют API, а не химическую калибровку</a:t>
            </a:r>
          </a:p>
        </p:txBody>
      </p:sp>
    </p:spTree>
    <p:extLst>
      <p:ext uri="{BB962C8B-B14F-4D97-AF65-F5344CB8AC3E}">
        <p14:creationId xmlns:p14="http://schemas.microsoft.com/office/powerpoint/2010/main" val="1474344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F378C7-900A-4551-A7C7-D3DB485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0609D-701A-4702-B12D-A261BF43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647CC-155B-4D50-A42C-D18DE59F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F9C0D-6E9A-48F6-89B3-9F738DE7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Предобработка спектра без утечки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2AF83-7170-45CC-A49F-9E820D4C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688AC-560E-46F8-BF0C-6DAB68C5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7D21D-777A-49B3-BEB1-D4E7D186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4F955-A31E-4BA4-89FF-9D95CFB7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328EF-DC7F-4618-9D67-AE62248C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00D71-3543-4B82-96E0-2B233F30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AE8FE-5260-4F61-85F1-4A61B3AB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Физически фиксированный протокол можно применить ко всем файлам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257B0-99A6-4507-988C-5E85277D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FBD69-A9F7-4B23-9480-ED2DAD08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8926D-B728-47DD-A89F-2DB73505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CF751-59F2-447B-97B8-370F4519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Обучаемые параметры оценки — внутри складки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3B4FD-738B-41F4-B619-B1D0E19E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F0F2C-B3CF-4DE1-8756-9CC68338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32C91-F733-4152-A86B-3C7E3209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289A4-0E52-4424-B38B-4FE18136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Отбор каналов по y на всём наборе запрещён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5F5A9-F610-4B9F-A84D-84FB738B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992F7-92AD-4CB7-950B-E75CCB91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Параметры из теста не должны попадать в обучение</a:t>
            </a:r>
          </a:p>
        </p:txBody>
      </p:sp>
    </p:spTree>
    <p:extLst>
      <p:ext uri="{BB962C8B-B14F-4D97-AF65-F5344CB8AC3E}">
        <p14:creationId xmlns:p14="http://schemas.microsoft.com/office/powerpoint/2010/main" val="10633585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D405F-0B6C-4767-AC27-7C426E6E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8D314-8F50-4E24-A097-FFD697D9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74FE3-3730-4F07-B7D2-EB77A145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38358-C333-48D3-8396-FF8D27EF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Дерево: разделения по порогам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2C54E-C35D-4F8B-A74A-F653449D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1A500-7BC5-4FC0-810E-33EB0C55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FE5E2-D8F1-4177-A991-5658ECF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9EB6F-38CB-4CAC-946F-6717EF05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3B9A9-B6ED-4599-92E6-9AF29603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A8C6F-114A-4994-BDE3-41E5007D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Пороговые взаимодействия читаются по ветвям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8BB8F-C4B8-4DE2-BF0C-92639C0C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B4FC9-DE55-4542-A45A-25DA5501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Глубокое дерево легко подстроить под шум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BFC7F-A6B0-422A-94DE-52F2FEA5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67E93-B82F-4457-93B9-4837C372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Ограничьте max_depth и min_samples_leaf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24F83-13B1-483D-BD27-2D187419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41CBD-B9AE-42BD-8D75-6679F381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Новые партии проверяют устойчивость порогов</a:t>
            </a:r>
          </a:p>
        </p:txBody>
      </p:sp>
    </p:spTree>
    <p:extLst>
      <p:ext uri="{BB962C8B-B14F-4D97-AF65-F5344CB8AC3E}">
        <p14:creationId xmlns:p14="http://schemas.microsoft.com/office/powerpoint/2010/main" val="54684036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F15334-A2DC-4492-95F5-37AD8086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E2EAA-E4E2-4356-940D-503DBCF4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66000-53D8-4AAC-AE7B-DD9AB237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081BE-77F4-48B8-BBD9-93503623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Лес: усреднение многих деревьев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38402-6CC0-4D06-861D-7D3C3E77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0621E-17A7-4F6B-A240-E00BD654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9E53B-6B62-4A77-8422-B18A269F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2BB26-0CC3-4F2A-9AA5-8F5B6877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5A412-E9FD-4FBA-9A26-68B3D0E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Уменьшает нестабильность одиночного дерева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8BC18-F788-49FA-8B8D-DB6B1374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0C74A-339D-458C-B196-9B972015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Может описывать нелинейность внутри изученного диапазона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A51D3-276F-41A2-9645-47FEE550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78DE6-01E9-42F1-80D1-8DAE1B90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 создаёт независимых данных из технических повторов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1A39E-6780-4A28-A943-C7A505FE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6B0AC-CF6D-4833-8983-67241A4C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4792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0E189-6679-49EA-8D3E-638858BF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температура &lt; 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CC673-49FF-46EA-B256-00CC9E8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3B241-0534-45FE-BD56-71822192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9E408-0842-4735-A76E-F3B6FA70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62350"/>
            <a:ext cx="14763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80ED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0B0E2-5DB0-47E9-8BCC-E6241451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48075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ПАВ &lt; c?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51228-C90E-498A-ADEA-E3E319D9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62350"/>
            <a:ext cx="12668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F9C74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04D96-060F-4AE7-97A7-11022B24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48075"/>
            <a:ext cx="1266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C74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9C74F"/>
                </a:solidFill>
                <a:latin typeface="DejaVu Sans"/>
                <a:ea typeface="DejaVu Sans"/>
                <a:cs typeface="DejaVu Sans"/>
              </a:rPr>
              <a:t>лист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5B229-C571-46B9-A911-30DA5CA0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05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↙      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0F077-C0BD-40E7-B09C-172D2856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48200"/>
            <a:ext cx="13144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C4A7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8EDB7-488B-45B2-A120-AB66A50D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7339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лист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03F40-66A4-46F0-B528-A7223C75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48200"/>
            <a:ext cx="13144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FF7B7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C2CF3-53D8-4C2F-8826-261939F4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339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B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7B7B"/>
                </a:solidFill>
                <a:latin typeface="DejaVu Sans"/>
                <a:ea typeface="DejaVu Sans"/>
                <a:cs typeface="DejaVu Sans"/>
              </a:rPr>
              <a:t>лист</a:t>
            </a:r>
          </a:p>
        </p:txBody>
      </p:sp>
    </p:spTree>
    <p:extLst>
      <p:ext uri="{BB962C8B-B14F-4D97-AF65-F5344CB8AC3E}">
        <p14:creationId xmlns:p14="http://schemas.microsoft.com/office/powerpoint/2010/main" val="122917214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690C4-56B1-420A-90A3-C779DF29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5AB0A-07E0-4DBF-B820-FCD3637B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7BE37-BDDF-49D6-81CB-4B44CEF9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F5EC1-7B33-4674-8F80-E5C1C0CA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Одинаковый протокол сравнения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7CC44-C8D7-4302-81E6-8D86A90D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A5588-7D65-4D6D-8B6A-3DE8C596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ED4CB-E64E-4226-BFD9-9551B015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65BC7-D39B-4A50-9AF1-EDD24169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06DC3-187B-420F-B7B1-DC20A014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56164-1677-4E24-B027-4272550D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Одинаковые партии и метрика для всех моделей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1A185-0A4E-4D5D-BCE7-15AFA874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5F4A2-855B-4B18-952E-A94A844B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7AEFA-7A22-4CC1-9E72-174F5AD2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Подбор настроек внутри одной схемы CV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F6C51-F5F9-4928-8097-D2B4295E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F96C0-D932-41B1-87BE-27B16EE4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26733-81D2-48E8-B068-EEB3AA2F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Финальный тест после фиксации выбора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B5D0F-1EE6-4EE1-B3B6-08A5619D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B6D05-3941-4DB6-92C8-614F8CCD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Иначе сравнение алгоритмов подменяется сравнением разбиений</a:t>
            </a:r>
          </a:p>
        </p:txBody>
      </p:sp>
    </p:spTree>
    <p:extLst>
      <p:ext uri="{BB962C8B-B14F-4D97-AF65-F5344CB8AC3E}">
        <p14:creationId xmlns:p14="http://schemas.microsoft.com/office/powerpoint/2010/main" val="57393935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A660F-67B4-4FEB-BEB5-85CD39A5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F43D2-C576-4C2D-ACE6-86EE2136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D06FD-80AA-403F-9F50-99E9BCAF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D8D5C-C960-4988-B49D-36649719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Точность по подгруппам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BEB50-1C7B-4F14-95CC-623B235F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17057-2B04-4F71-B4EC-854BBB5F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AE46D-E621-422B-9574-16A1E989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D7444-57BE-4699-986B-CBC9D1FF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1BBF1-C563-468D-903F-B3F9837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Разделите ошибки по сырью и прибору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1D4A0-ED47-4CB3-89E8-FD273751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03077-D65D-4271-A01C-AA0BC515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8FDEA-4A0D-442B-BB08-26DA53AC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Покажите края диапазона концентраций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7D769-A4D2-4D76-86EB-4C523F5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A4F99-31EE-4817-9C98-610E7A45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898C2-E8FC-4438-9FB3-C2E833B9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Ищите систематические смещения и промахи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C9856-D6F9-4D4B-BB6A-E082F226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DFE23-6C17-4ACC-BF9A-2A2CB8C1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32E33-4850-4EAD-93E8-9FF54E44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Средний MAE может скрывать непригодную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24683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69640B-3374-4FC4-8243-F6D1F4CF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BD02D-6C68-4228-913A-706D88F0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19F4D-58CF-46C5-92A4-DD3B897C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26B4F-809A-4630-ADD3-4892FD6E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Перестановочная важность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02F00-E080-4A01-BDE2-378EA675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2CF5E-7A48-405B-89D2-679C3C14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6A799-CAD4-4674-9987-DE9FB555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ABB83-E37D-4DE5-9E55-47985702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876FA-C99F-44E5-AFD7-1782FFE6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6FD5E-5241-4750-9293-3533FBF8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53133-C10B-4683-8851-41F3D623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Перемешайте признак и измерьте падение метрики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B8F16-5A52-49AA-A15C-A2ED47A6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A416C-4591-499C-AFB7-AB7873B4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D6544-9493-49EE-90C1-295686CE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8F883-7097-47D8-A253-EEFCCB63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Сильная корреляция может скрыть вклад каждого признака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5D42F-A513-4012-8965-B30A05CF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D469E-6ACC-4D9A-80DF-6E787E07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B9D1E-9B61-4C62-9F02-08E83F8E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2BCFD-6C0C-448F-A7D6-71777437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Используйте на модели с разумным качеством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F6EE3-900B-4533-B132-54A5F34E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316E1-6E42-49ED-94F4-1A22781C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Важность описывает прогноз, а не причинный эффект</a:t>
            </a:r>
          </a:p>
        </p:txBody>
      </p:sp>
    </p:spTree>
    <p:extLst>
      <p:ext uri="{BB962C8B-B14F-4D97-AF65-F5344CB8AC3E}">
        <p14:creationId xmlns:p14="http://schemas.microsoft.com/office/powerpoint/2010/main" val="10985377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1C8CA-39C3-4821-90B9-F238F99C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27133-F1BF-4427-B29A-253F1E73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A7EAE-7C98-4E34-8C54-BDC84F4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6AEFF-CD74-4E81-845F-D2982F6F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Частичная зависимость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BEE95-1100-4243-A3E9-262B2DB9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6335A-4729-4DD2-8463-68654DA5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C3523-0BEE-415D-A9F6-84093D34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390C8-BF2D-4111-8AE7-E8579EAC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A7589-FDF2-464E-AF1F-F30F41FB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BF853-E60B-49AC-9666-CB7F7D5D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Меняем один признак, усредняя прогнозы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DA3E9-BB93-4EE8-B98B-720BEF36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013B3-E8EE-4A85-BE1C-C7344B2D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Могут возникнуть несуществующие комбинации факторов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7CF44-CECB-4A5F-B4D9-EB2C4FB7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3C934-784A-4789-8E7D-EF0FC456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Сопоставляйте график с областью реально измеренных условий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4F245-1F11-4339-9FC5-729CEC1B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92816-93F6-4584-8AF3-64CCBD7A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Удобная кривая не заменяет эксперимент</a:t>
            </a:r>
          </a:p>
        </p:txBody>
      </p:sp>
    </p:spTree>
    <p:extLst>
      <p:ext uri="{BB962C8B-B14F-4D97-AF65-F5344CB8AC3E}">
        <p14:creationId xmlns:p14="http://schemas.microsoft.com/office/powerpoint/2010/main" val="11687270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F9804-D5DE-4913-9EED-CD370C5F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656A4-0084-4C0A-A06B-7237C364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B2479-A218-4208-BC46-7E9BFDB4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316AE-617A-4C00-B73E-30D33D28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Область применимости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57C16-117B-4FE7-BB29-8BB9B04E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06E8B-C057-4CDC-A4D5-2124FE69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CA858-723D-4B5F-AC2C-0A7414E5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6EB0A-ED20-4565-90F4-4C3C6610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3FBD7-052E-4739-9627-379D399C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383C7-3530-494A-8A80-8C70B21F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Диапазон каждого фактора и комбинаций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373EC-A527-4279-A8FC-B3B2A7E5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F1608-55DA-43CE-8B94-262343E0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A583A-774E-47EA-A99C-C0BCFABC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Типы сырья, прибор, режим приготовления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4CA37-3FE6-4DEF-9250-4FBB00AE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F48DD-4EA7-40D1-9CD4-C43FEEFC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B5566-7307-49B4-8A77-C3904458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Расстояние до исследованных рецептур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63EF1-A1E4-4379-B8BA-8736885D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56399-9B58-489B-AB85-5ABB3072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Вне области обучения вывод должен быть осторожным</a:t>
            </a:r>
          </a:p>
        </p:txBody>
      </p:sp>
    </p:spTree>
    <p:extLst>
      <p:ext uri="{BB962C8B-B14F-4D97-AF65-F5344CB8AC3E}">
        <p14:creationId xmlns:p14="http://schemas.microsoft.com/office/powerpoint/2010/main" val="25647695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54481-6BC8-4B6B-A72A-54E38DE2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340EE-179E-41F6-AF1B-FDB016BE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0382C-E847-4DAE-8460-292B1584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C5F00-25F5-4459-BFCF-7AFD13DC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Диапазоны факторов недостаточны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AF858-EEB0-48B9-A12E-0448EFBA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230B5-E831-4549-810B-3BBDB907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62A27-6F16-48BB-80B9-7176B78F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3F2EA-9581-409A-AD09-89994228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C123E-3165-4B83-A63C-68DE21D4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B77EF-20B5-413A-A6D8-2F4C409C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Каждый фактор может попадать в свой диапазон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152F4-5292-4F12-93E5-463D9A0E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08F2F-BE6B-41FA-AC71-C91423D5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4998D-C71D-42EB-99D5-1240B500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Их сочетание может отсутствовать в плане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6A280-6365-438E-A36D-A1AFD87B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195F7-95C3-4D66-B8E8-F50D3C07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1AFC7-8797-4610-A429-4B7892D6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Модель в таком углу фактически экстраполирует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EA66E-AF74-498E-8222-8A9E2C3B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4FBE6-8BB0-4ADA-B675-5ED63A7D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Покажите плотность данных в пространстве рецептур</a:t>
            </a:r>
          </a:p>
        </p:txBody>
      </p:sp>
    </p:spTree>
    <p:extLst>
      <p:ext uri="{BB962C8B-B14F-4D97-AF65-F5344CB8AC3E}">
        <p14:creationId xmlns:p14="http://schemas.microsoft.com/office/powerpoint/2010/main" val="9454876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94197-8911-4BD6-9638-98F9830F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614E0-E08F-4371-99B3-22929F6B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02409-F74B-496D-BBF4-B7FBACED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A8360-9B0B-42BB-A57D-3FE00CCB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Неопределённость прогноза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DA88-C92C-4045-AE3A-2B78E72F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C1859-6B0D-4272-8E5D-688825C0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A9DA7-64AC-4578-AE59-391B8A4C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95C97-0FDF-44D2-A42A-3A4EA79C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0A6E1-9AF7-44E6-90E9-DACC198D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Различайте средний прогноз и новый результат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A73B6-A1AC-48BA-BAA2-9026902B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22EAD-2C39-4D3E-B19E-95626CDC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677DF-3F73-4E9E-9F65-3E72C216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Учтите разброс партий и ошибку измерения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E2F50-9A3A-46E6-A188-C2096D0D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F24A2-D706-456E-AB89-443190F8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ED0DC-C402-4B13-A21A-6B5D1E24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Покрытие интервала проверяйте на новых партиях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0D3F0-432F-40B8-87FE-2F5AB02E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D1406-EB55-4D6D-A8FB-D444286A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4536B-2C51-4B7C-BC60-F89CB944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Число ±σ без определения источника неопределённости малоинформативно</a:t>
            </a:r>
          </a:p>
        </p:txBody>
      </p:sp>
    </p:spTree>
    <p:extLst>
      <p:ext uri="{BB962C8B-B14F-4D97-AF65-F5344CB8AC3E}">
        <p14:creationId xmlns:p14="http://schemas.microsoft.com/office/powerpoint/2010/main" val="23666279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6CE40-1003-4BBA-A561-C3936056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28C36-C0AD-4D1F-BBBD-8ACE9D2A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B78E2-60C4-4664-9536-0CE93F03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F1470-216D-4511-87D2-649FD584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PCA внутри прогнозного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923AF-4064-4DFD-8D7F-6E720C5A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E47D8-632B-4DD9-8904-07985849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CB586-3D68-41E1-9136-A471E703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C67B0-57C4-4263-A877-3605AAD6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AB861-370D-45FD-B582-4259AA28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4DF61-6480-4B63-8D48-EC98380F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22C52-21B7-48D2-90CF-CDAB161E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PCA.fit на всей таблице видит распределение теста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3727C-EA24-4DA7-BA9C-4CE4A6BE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B9604-99FE-4806-BD28-0839922F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5FFA1-B065-465A-A443-F9F16628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132E8-E594-458B-8038-8962B39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 каждой складке scaler и PCA обучаются заново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FA9D0-613D-4273-914A-F974883F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61604-5C0D-4DF6-8F31-3F5DCB23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5DC07-1EEF-4126-B358-DB0E4234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18C38-945B-4C64-9704-307A6C83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Цель используется только на этапе supervised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1B312-9029-4A7F-B528-551567E0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DEF3A-AA9E-49B1-B016-299AAD26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Unsupervised не означает безопасно до разбиения</a:t>
            </a:r>
          </a:p>
        </p:txBody>
      </p:sp>
    </p:spTree>
    <p:extLst>
      <p:ext uri="{BB962C8B-B14F-4D97-AF65-F5344CB8AC3E}">
        <p14:creationId xmlns:p14="http://schemas.microsoft.com/office/powerpoint/2010/main" val="184668692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DC4712-9E94-41F2-9369-6F8BBB19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1EE15-D388-4EB0-B8E8-E4EB567A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D7ABF-5820-4F63-9C8A-79564845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31381-964E-4BE9-855F-1BD0491B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Кластеризация: геометрия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568AA-A682-49CD-A712-075914A7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B78B2-8420-4912-95FB-5ECB83DC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20FF7-C9ED-4524-811F-473BB32A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55F7B-7443-4716-A2DC-DE7B10F9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618BC-2CA8-47A4-A116-AFAC3256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KMeans требует число кластеров заранее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1E011-D01A-4F55-9625-927DB37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99657-1546-4241-BFE7-4E25E479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Результат зависит от масштаба и признаков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064A9-FE7B-48E5-8570-2BA3C5C2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C196F-AA92-4BCD-AC0E-7FA248E0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Номера кластеров произвольны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BC70A-7CDD-4560-AAE0-B6702693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258A1-D13F-4AC7-925E-D5931E93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190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7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35A34-4F12-4525-81D1-C5DA1521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67275"/>
            <a:ext cx="268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7C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00EF9-E051-4D4C-B29C-E23C59AA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9DC98-1785-4AC7-B6A1-38125B51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8CE56-9A0A-4D49-A02E-47E41643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CDA23-078F-46C2-A187-0372183E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F9D6C-A896-461E-BE32-DC32E914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5F86A-A9B2-4C5A-BC00-E8820D89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7AAE9-30C0-41E5-B261-CEF82E86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53EF1-2B58-4244-B561-98EDEDA5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5D44D9-A7E4-4987-858A-8E95B45D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0B4BE-44EE-4FC6-BD10-39D71BE2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51911-42BA-4768-BB31-F621B231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04D139-A86F-42A0-8E01-3BA5DD48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EC017-C80C-4BA0-9177-89B73622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1B9AB-3DAB-45F4-8AB5-50245E45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64FCA1-C7A6-4532-ACCF-5AEF89C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4B7C13-459C-4CD2-B85F-2A5087C9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3C86AC-7ABC-4E39-A61A-359EFEEF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B9F1B8-A118-435E-AAA9-B3B7F63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77F711-5256-4C38-AC70-8BCF981E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CB4559-3206-49E7-94F3-14D0678E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9A7EBE-F9E2-4BDF-BBF6-EE5B98AF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8B3F18-DED3-48AD-AF55-2C2566BB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685696-45D8-40B0-BDAA-910BAA02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3B87A9-2733-45D7-AFB8-6A7063D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1501CA-5DF1-4D94-8C95-BF5802CB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AE58F8-F490-4D80-AEC6-322AB17C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00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C12DED-9835-4EC0-BE09-69D88D1E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6252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Кластеры ≠ фазы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120977569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6F5CF-A891-43FE-B409-0B9AFC41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E020A-902C-417D-90E9-C470A28C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1D86D-2FBE-4498-A1BF-B117B6ED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0335D-EEF1-4450-9A2A-E89E7576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Silhouette и его предел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E51B5-2FBD-4324-A429-BDF3E3B8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DB1AB-83D3-4FB9-A274-69EB181E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6D1AD-D82D-4B00-9116-1B04F560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4C628-8834-404B-88C2-3134C49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E83E3-899B-4F24-AADB-86C433A6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ADF94-408A-48C9-983D-F56439BE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Оценивает компактность и отделение групп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CA744-E7DF-4895-867D-C5AF3140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57B79-15CF-473C-8DEB-A37B693F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ABA97-A975-4108-8FCD-E92AB058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Может предпочесть структуру прибора или дня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47851-9CD9-4B6F-A100-AC1CE76F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8295E-7B16-4AB6-96EF-B0DD978A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B54C7-7065-42F0-87DD-4582E3F0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 подтверждает физический механизм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5AE46-F731-4EC9-A395-ACC28605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03AA5-6EC2-40B8-96E0-6662C1D5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Сопоставьте кластеры с независимыми измерениями</a:t>
            </a:r>
          </a:p>
        </p:txBody>
      </p:sp>
    </p:spTree>
    <p:extLst>
      <p:ext uri="{BB962C8B-B14F-4D97-AF65-F5344CB8AC3E}">
        <p14:creationId xmlns:p14="http://schemas.microsoft.com/office/powerpoint/2010/main" val="198809718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F0914-E8A6-4F02-A12E-91B06B7F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3740C-C3BE-45B1-84F7-7793D980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EE3CF-7373-4FC2-8E40-5C80C05C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A6133-C89B-4AA2-9719-2A01408E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Сдвиг прибора как ложное открытие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44E42-3599-4B37-BECA-D2168612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397E1-B442-4EEE-AFA1-15B1DDBC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F2A0C-E072-4E24-9EB5-5CA69C8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E4C80-D363-4899-ADAF-25C02123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FF9F6-1ABF-4D9F-B35A-5E9A4994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166E5-BA11-4CC4-A5D0-5CF46FC0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Два прибора дают разные спектральные фоны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27784-C7BF-4021-A964-4CCE849D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B01FA-0EAD-48D6-AC41-931324C8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F1387-413C-46DB-A341-1511FE21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PCA и KMeans могут разделить приборы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B53EC-ED32-403B-8A57-A5CE94E9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9B41F-417D-485B-A13F-4BE731D4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CFF58-7A3C-4D31-A2FC-7AC86C94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Прогноз свойства затем теряет качество вне прибора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A27BB-C3BF-433E-B544-53708F16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6E352-222C-4DBE-A178-190F73BF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Раскрасьте PCA по прибору до именования кластеров</a:t>
            </a:r>
          </a:p>
        </p:txBody>
      </p:sp>
    </p:spTree>
    <p:extLst>
      <p:ext uri="{BB962C8B-B14F-4D97-AF65-F5344CB8AC3E}">
        <p14:creationId xmlns:p14="http://schemas.microsoft.com/office/powerpoint/2010/main" val="61468344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E2AED-50B0-4084-BC4A-3E9693B7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47727-166B-45D9-AC51-B0FA8159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5D208-FE43-466B-A1C2-F4622506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411AF-00B9-47C9-B042-69319331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Несколько видов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74924-241F-49D5-8ED4-ECFC5F16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1E108-3282-4E0A-A9C2-A38BCDFA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0F5A2-D26C-4EB3-8ABC-B9A74BB2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C56FD-3D81-465D-B32E-B03D9737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8DBCA-F780-463E-9A7D-9621AB06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Рецепт, спектр и изображение могут дополнять друг друга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16EBA-51C7-4A17-BD15-4054C820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3128C-196C-4520-A3A9-FA387440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BC7CD-C0DB-42F4-B63D-398FE83B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Каждый источник имеет время доступности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488E6-34A4-4CBF-8E21-BDD0D367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E2626-3B65-4D4E-9C43-CD297935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DA47F-F8C0-476B-808C-120CF13F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Дескрипторы агрегируют на уровне нужного объекта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C4ABA-9330-4D62-A144-4EDE64A7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74D14-85A6-4FA9-A455-B843654C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E2782-5DCF-49D6-8D9D-BADCD393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Мультимодальность не отменяет независимости партий</a:t>
            </a:r>
          </a:p>
        </p:txBody>
      </p:sp>
    </p:spTree>
    <p:extLst>
      <p:ext uri="{BB962C8B-B14F-4D97-AF65-F5344CB8AC3E}">
        <p14:creationId xmlns:p14="http://schemas.microsoft.com/office/powerpoint/2010/main" val="98977070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3A9CC-B812-419A-9425-338D2B57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AEB3E-F958-475E-A2F9-1D953FF0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82D36-E286-49EA-B157-2E46E4C7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B1746-D291-4EB8-AA82-80DCA271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Куда направить следующий опыт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39BF3-9C0B-4E81-BF32-5AF7BBB9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E8718-DA2F-488B-8ED6-7B9A43B6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C9027-B33D-4863-BC5D-67DBBC13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8C46C-63A2-429D-A9A4-C50B0625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A204A-8BBA-44C0-94D7-AAC18A57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74AB3-480E-4561-9F8D-148CD135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90787-C4E2-4ECE-8A97-1CE75B51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Высокое ожидаемое свойство — эксплуатация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096E4-0800-49E5-A598-DC21A52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96BCA-73A7-47A7-BD6C-DA72EB19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EB8AD-61DA-40B2-B583-C81E568B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18C1D-ACAB-4FB5-9530-E4876047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Большая неопределённость — исследование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3F126-A6AF-48EB-98BA-B02C1F7C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210BB-4E52-4D6E-9497-FB36E988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3ED0D-1CF3-4F59-952E-6406516C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429BB-E796-4193-B1D1-835FE1F4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Повторение спорного результата — проверка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41A73-94EA-4413-9AC9-C80CF0FA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89F16-E7D0-402E-B238-9E130605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Цель выбора опыта задают до чтения ранжирования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6087272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EE8C94-809E-46BD-BF70-4043885F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E6051-0E7F-4B95-9223-48301524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55396-280D-47F8-9902-59D83F22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A46AD-0804-4847-BDDF-4BE4F931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Активное обучение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3A83D-D0E1-4C66-B7D8-A9D9AB68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EB6B0-24FA-464F-A36F-BAEA6D0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2C68E-DD99-4CF9-972E-D9CC312A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F93F6-9028-4669-A03E-62180DA0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D0B73-DB30-4C39-8B6A-BF96F643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Модель предлагает условия и оценивает неопределённость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45991-23F4-4BC8-855F-F1714987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9B44F-7A68-4C25-B909-A8AC1F4C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Человек проверяет область, безопасность и цену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C5512-38F2-4EB4-9F6B-CC380E5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E8A17-451A-4C78-82A4-C9670921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Новая партия обновляет данные и прогноз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8F37F-9836-4178-BFED-2F6A7DCA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F7ECE-6E6C-4DBD-987F-185981D8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38400"/>
            <a:ext cx="2914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5B1BD-76FD-4EEE-BEFC-87BFADAB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241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предложить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2D2D7-7E52-4C77-A985-65F3175C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31F2F-1365-43CA-8184-8D9D9025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24200"/>
            <a:ext cx="2914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80ED9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DD279-C9F9-4850-93DC-C9F275E2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2099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синтезировать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E3DF9-E4F7-40D9-96BA-D6C7950F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5433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09D40E-3045-44B4-A280-4B4F8FF5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10000"/>
            <a:ext cx="2914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C4A7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A1613-3F42-49C5-A68B-9F46B2C5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957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измерить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6A978A-25EE-4A8B-B0B5-E3425D15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291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8E8CE-1B89-4B27-9630-023C9D36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495800"/>
            <a:ext cx="2914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F9C74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0A63DB-2D94-4734-AC02-34C508E7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5815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C74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9C74F"/>
                </a:solidFill>
                <a:latin typeface="DejaVu Sans"/>
                <a:ea typeface="DejaVu Sans"/>
                <a:cs typeface="DejaVu Sans"/>
              </a:rPr>
              <a:t>обновить</a:t>
            </a:r>
          </a:p>
        </p:txBody>
      </p:sp>
    </p:spTree>
    <p:extLst>
      <p:ext uri="{BB962C8B-B14F-4D97-AF65-F5344CB8AC3E}">
        <p14:creationId xmlns:p14="http://schemas.microsoft.com/office/powerpoint/2010/main" val="118760417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4EB56-29D5-413E-A7A6-4180BE7A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C5174-1124-4195-8212-E26293C6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1F4E3-5B08-41A3-A7CC-6A793F64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CF0B9-7F93-44B5-B0C6-057499FD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Безопасный цикл рекомендаций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2FF0A-A962-47FF-A794-3B4A12A7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A2FB6-EBC8-425D-9044-0DF5AF2D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21DFD-61C9-463C-815E-438817D8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A13A2-5D1D-4E5A-87EB-BBB0CF49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1C155-C6BD-4B9D-B48E-DD7F1884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E2274-B6A7-4D6F-80B5-1B31CDED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Ограничения состава и оборудования задают заранее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7AD9C-5026-4F71-9C13-D5E7E0AA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9D4F2-7D05-4766-92C9-B5F94400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7B038-F870-426C-889A-7ABF6BB8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Рекомендацию утверждает экспериментатор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65BE9-1871-4E4E-926D-98E2DF68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8967E-156B-4142-A25C-28458C1B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90141-5B96-4F70-A2B0-EBDA9783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Стоп-критерий и журнал отказов фиксируются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02CBE-E7BE-424D-9BD0-6762151B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A8077-E91C-407B-92C8-56C78863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Модель не должна сама расширять разрешённые пределы</a:t>
            </a:r>
          </a:p>
        </p:txBody>
      </p:sp>
    </p:spTree>
    <p:extLst>
      <p:ext uri="{BB962C8B-B14F-4D97-AF65-F5344CB8AC3E}">
        <p14:creationId xmlns:p14="http://schemas.microsoft.com/office/powerpoint/2010/main" val="65994186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1EB1B-20EE-408F-B0D3-3A09D840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F2C27-E427-4702-9760-4DF036CD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B8E68-1B75-4194-8BD4-1FDC3932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173DE-43B1-47B1-8E17-4CA6DDFD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Активное обучение и RL — разные постановки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C7262-FFAC-491C-8411-E9384FEF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D6D62-3F12-49B4-A83E-EB57A1B1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E6A54-2E5B-4384-8575-E21AF2DD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5CFC0-8DE8-4C2A-B750-0FFACAB5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7BF2A-97F5-4331-8C1C-2C0EE70D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Активное обучение выбирает информативный опыт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FB892-F624-4FCA-9D83-1ED7249E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BC44D-D8F0-4FD4-8A99-FED89FD7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RL выбирает действия в последовательности состояний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DBA34-3CC6-463B-BDC6-B3AE3BC1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F6ED4-9127-478C-9BD4-BD006967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Обе постановки требуют явной цели и ограничений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83981-41AB-4230-A06F-2C5A4C8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554B6-475B-4343-A26F-9F0C1A63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62225"/>
            <a:ext cx="3200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881D9-9BEF-4E84-8F29-FF5F8227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7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Активное обучение: новый опыт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56BDB-6F89-469D-94D2-452B1572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29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28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62718-1E77-4D54-AEA4-54CC5BCF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24325"/>
            <a:ext cx="3200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C4A7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CFC99-37A6-46D6-881A-847179AE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1005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RL: действия во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2251820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AFD63-0979-40FE-901C-F92E0F55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26A8B-0601-4171-BA0E-880D5A4B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F5117-603C-4677-AF5B-774106E8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4C351-8E55-46D4-A17E-6C7AE5DF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Нейронные сети: 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2B217-5A60-4FC9-8B57-7C0AD058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BB6A3-3AA6-4496-A2B4-75C7B4C6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A10B2-C5F6-4630-8FD7-FFAC3438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1C7AD-0F57-44CA-9A5D-EFB8FD1E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365C6-FD45-45C3-A4C3-48647D68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Работают с изображениями, спектрами и графами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FCA48-9E50-471C-8174-AC6DEDC7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81529-3043-441B-B877-85089F9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FB794-9F08-494F-8CA8-4425A1FC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Зависят от объёма и происхождения обучающих данных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6604E-C1D8-4226-82B2-D1F69E96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EB288-B7B2-488F-91A6-B831345E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DE1D2-5647-4FE3-A30D-A6BACC2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Сравнение со строгим baseline обязательно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ADD7A-707C-4B3C-891D-ABDAAF4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95AA9-94AB-4EF2-9050-2C36D787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5B00B-1D7C-4E79-878D-7DAC133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Тысячи пикселей не равны тысячам независимых партий</a:t>
            </a:r>
          </a:p>
        </p:txBody>
      </p:sp>
    </p:spTree>
    <p:extLst>
      <p:ext uri="{BB962C8B-B14F-4D97-AF65-F5344CB8AC3E}">
        <p14:creationId xmlns:p14="http://schemas.microsoft.com/office/powerpoint/2010/main" val="169932429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F434D-E0E6-4F1C-897C-30DBA132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6D2C5-F7ED-40EA-8643-E58C20D6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47548-405D-4461-97E7-C714B820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98A00-BDB4-43E7-BAC9-D1781996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Когда предварительное обучение полезно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75EFE-F40A-4778-A85D-41222F47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AF878-A7F5-451C-9298-779B6BFE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D986E-037D-4A05-AFBC-6C3164A3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13F68-DD36-49BE-AF40-C9F93CDF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08AFE-818A-4051-BEB9-40A5140A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01054-3460-463D-96F5-C6C30C2F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4153F-FD18-48AF-B14C-7B6C2579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Можно использовать представление из другой задачи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36E68-15DE-4A82-B713-43D0885E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A976A-9A08-4858-970F-E71A5BE2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505FE-6A9D-4817-BCAF-001E816A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DE34A-C50F-4179-8208-729706EB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Нужно проверить происхождение данных и весов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E3684-A949-4B21-B309-E2F3AA2C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CAB40-647C-494E-9773-1516B1BC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6DD2E-C791-420D-9FE2-B27E06A5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75A2D-FC62-439C-9F6B-83E3C3AB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Финальный тест не используют для адаптации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E9C87-C87C-48CC-84FE-64B1FCD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F8A2E-5AF4-4FD2-BEAD-4408DE5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 переносе на новый прибор требуется отдельная проверка</a:t>
            </a:r>
          </a:p>
        </p:txBody>
      </p:sp>
    </p:spTree>
    <p:extLst>
      <p:ext uri="{BB962C8B-B14F-4D97-AF65-F5344CB8AC3E}">
        <p14:creationId xmlns:p14="http://schemas.microsoft.com/office/powerpoint/2010/main" val="93140138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F34F5-4DAA-455D-BFEA-FE46CF1E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821DF-99CB-4601-AC34-DE649EB3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E4002-7B7F-4E9E-B5B9-C7156F2F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04CED-3971-44CF-8F7C-486FC4CF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Проверяемое предложение опыта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8D293-21CC-40C7-A725-484939D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7BD27-69C5-40C6-8FEE-296AC1A5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D94EE-74AD-49A7-B050-69D5B7E3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24B81-0E68-4CB9-96E9-E863EBCC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7127A-C769-4D5F-B2F9-D0C5C1EF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E8143-EBE4-4522-B106-AFE28983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Укажите одну рецептуру в допустимых пределах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BA218-31AE-45B8-A49B-317D891B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F5AE7-5CFE-46C4-9432-FF000608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Назовите предсказание и причину выбора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099B9-A2B1-4B1A-BC8B-4EC59FD6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A85B4-EF98-438F-9016-FE86C8E2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Назначьте измерение и критерий опровержения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0AE86-206F-4B67-94F3-49E34E5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E17B4-FFD6-4C9A-85CF-7A0F026E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Эксперимент должен быть возможен и информативен</a:t>
            </a:r>
          </a:p>
        </p:txBody>
      </p:sp>
    </p:spTree>
    <p:extLst>
      <p:ext uri="{BB962C8B-B14F-4D97-AF65-F5344CB8AC3E}">
        <p14:creationId xmlns:p14="http://schemas.microsoft.com/office/powerpoint/2010/main" val="164141962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F7B26-424F-4465-8C9B-022C153C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54163-B706-4E21-8BEB-C6D6AABA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3E324-D3CD-4CE8-8ABF-687861A5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C4109-BF21-4357-8B90-9DF7813F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Мини-проект: сравнение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46DF2-A04C-4093-AECB-DF9528EF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B3F92-F820-4F9A-BE8E-A05224D0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4583C-AD55-43B2-9E30-75558A3F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38A34-5065-47C3-A13F-CF8F00EE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79AE9-D40F-4BF9-91BC-88B5469D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F5961-CEB2-4332-B20C-A1783805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Baseline + две модели при одинаковых группах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4308A-0AFC-41CF-B47E-15A7E8A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FFCB0-D41F-4DC5-8E44-7D8DB499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D56D0-12DC-4FAD-B7B9-E9A175AF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Ошибка на новых партиях и график промахов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0382E-D6D4-425E-853B-2BD27DC7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7A477-E07F-4D3D-AFE9-BF9748AF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67706-723C-4C05-B2CE-ADF9B84E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Область применимости и цена ошибки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CCEE6-14F6-4F12-8E65-2E151403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F508F-7140-4B16-94AD-714A64E0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Если партий мало, честно ограничьте 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202731350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5738D-7E32-41D7-8FFB-1949E32D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012B6-13C8-4B38-956B-104F48D5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05397-4A6E-497B-B48D-FC6B7A31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50DE8-5F89-4AB5-A3C9-B31CB7C1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Мини-проект: новый опыт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A1DE7-643F-4CA4-8224-75C513E7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04C8C-B704-4BD8-A3FD-9F4BDC7F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283B6-84A7-406E-BB15-BBB647BF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F8CE6-0F28-429F-A63A-2FEC5451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A02D8-86A4-45C2-B14C-E6434CF3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17011-97CC-469C-A8B4-6670396D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Рецептура, ожидаемое свойство, причина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29D7D-2495-492D-BDA6-9972228C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2BA28-1E66-4776-B4E3-B3D5EA61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C4B29-09B5-479C-AA43-DE9F4255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План независимых и технических повторов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70BFE-EB09-418F-8115-2D27F196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2E423-D0E4-4EAE-A99F-353CBF75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A3EA7-E8B4-4DF2-8F2E-C73A49BA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Действие при несогласии результата с моделью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88DEC-9520-4039-B5C2-C0F561E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E461C-EB0F-480A-8FBC-2DD4DF69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Не выбирайте опыт по прогнозу за пределами безопасной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999013956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61BE3-9BB5-41DF-9895-CEDD7AC8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42133-803D-49C5-94C2-89BC2976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09092-EC91-4AAF-9AED-08845CF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22353-FE67-41F7-9142-404D89D0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Примеры по направлениям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AB3F0-6DD9-49F4-B624-05F3F0FE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A05F9-7CB1-4D56-B453-8A73AB67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30C1F-527E-4A23-8FD6-4FF7A828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F0F2A-54C4-4FF2-AC7F-3640093A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9CC98-F6AC-4913-9C24-E2126E88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Наноэмульсии: размер и стабильность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8ED31-A834-48D3-8979-1D4F8ECF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5BDA7-683A-4404-8930-CE4B1F3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FDB45-CA15-4DE4-9015-59B9F9B0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SiO₂ и магнитные частицы: свойство после синтеза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50F6F-D034-4692-95F8-600E3389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ADCD7-764C-423A-9E02-676316B6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BEDB7-7014-4AFA-A792-45183FE4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Покрытия и катализ: качество партии, спектральный отклик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9BFC0-8C50-4B05-81FB-978BA9C8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9C5FE-9B99-42C3-AA02-31B8EE0A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5C18C-1107-4DDA-BBD2-1689831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Для каждого проекта заново определите единицу наблюдения</a:t>
            </a:r>
          </a:p>
        </p:txBody>
      </p:sp>
    </p:spTree>
    <p:extLst>
      <p:ext uri="{BB962C8B-B14F-4D97-AF65-F5344CB8AC3E}">
        <p14:creationId xmlns:p14="http://schemas.microsoft.com/office/powerpoint/2010/main" val="158529336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7F4FD-7055-4009-B1D8-7DE509B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BAF63-91D4-4E4C-B57B-B61EE4A2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08242-66B8-4029-9490-FF5DE6FC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E48B6-FC8B-4D78-8CE6-5364D142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Контрольные вопросы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04552-7588-484F-8CAF-E5720AF5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590FB-D84C-4FE1-B300-92D7273D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83969-C2D0-4493-B997-AF462A83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2D9FA-6484-465A-B799-82305F24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84DDE-38FD-4693-A1B1-81439E04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FBF39-F2CE-4B5E-B8CA-7F0A83D0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37240-486B-40D6-9D10-141AB026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Чем PLS отличается от PCA?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FC6BB-BEF8-4A09-99D9-AE146F21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A42DE-8321-4245-A093-1DDB3B39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75936-4BB1-4CB5-974E-6FEC597F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EE9E0-D9EB-45A1-94F1-40BA1B9B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Когда важность признака не означает механизм?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B087C-BA59-422E-99E4-E026B540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B67F1-3E24-41BF-97BB-63447726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53B54-F80E-4A6D-AE4B-7DEA930F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6CBD-65BF-4DC0-8CE3-8F24EA99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Что именно проверяет новая независимая партия?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1C6CD-3F23-4811-882C-175CF87F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33A85-580B-4485-94D1-6AABBFF8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Ответ соединяет метод с экспериментальным дизайном</a:t>
            </a:r>
          </a:p>
        </p:txBody>
      </p:sp>
    </p:spTree>
    <p:extLst>
      <p:ext uri="{BB962C8B-B14F-4D97-AF65-F5344CB8AC3E}">
        <p14:creationId xmlns:p14="http://schemas.microsoft.com/office/powerpoint/2010/main" val="170803276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607D2-E998-432C-98D5-EDD8AE25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84715-90BF-43D8-B66F-2F350E0A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386A6-BCE0-4C79-BCBA-E82FE064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F2F69-0501-4082-A983-267A54D8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Итоговая схема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A29B3-2392-41A7-A05C-FD937BBB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22464-C016-47FF-AF79-13653458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7DD09-23F4-473A-9BD0-4356CCC8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7A684-8E09-4951-83FF-EEB1E64A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8562A-06A3-4953-85B9-2DA5E5C9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C4A5F-DBB2-41D7-968C-808999F5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Данные → простой baseline → групповая проверка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B5E25-4C26-4122-87D2-4CAB2B45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ADB8F-4314-4050-A746-3DB32B13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Интерпретация и область применения → рекомендация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94ACA-7B97-4654-9A83-4C6D5912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FA728-283D-4C27-8576-61A8C025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Новый опыт → обновление модели и протокола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33FF0-CE7F-446D-9A31-26E2694C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1ACFA-3F48-4E53-B0E4-01CE3244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Ценность модели измеряется улучшением проверяемого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62153964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6DED3-46BA-44D5-8B30-9E8B14A9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77287-0C53-4720-B007-8401A684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654A9-C4D2-4053-90C5-F41A565F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DF155-E749-4D23-9588-BD9C6E1D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Источники и дальнейшее чтение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516C9-2E3A-4D93-87B1-AD8E701B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A825A-6FEF-4B18-B87B-02EBB093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24182-1911-42A7-A92D-94589836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91879-106D-4F5F-BECF-F1683B61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8F58A-C16D-4AE1-9B2F-2DC0A4A1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25763-E0EF-48BF-9D05-DD8F20BF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scikit-learn: linear_model и cross_decomposition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32381-69D6-456D-8DFD-2B3E061D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6C5B9-4AB1-4067-9759-8C57C9E9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4BA25-2FBC-43D3-A43E-9F4EF55A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scikit-learn: decomposition, clustering, inspection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96C32-283B-4932-B432-CC5831D6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49822-0731-42C9-8FB8-93ADFA8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89740-7619-45CB-8044-B4AFC61B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Конспект 12: код PLS и предметные ограничения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9505A-9DE5-4BAE-86CE-D2D9F8B5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2E0C1-E771-4BEC-BA33-81B1F3F3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Ссылки и воспроизводимый пример — в Markdown-конспекте</a:t>
            </a:r>
          </a:p>
        </p:txBody>
      </p:sp>
    </p:spTree>
    <p:extLst>
      <p:ext uri="{BB962C8B-B14F-4D97-AF65-F5344CB8AC3E}">
        <p14:creationId xmlns:p14="http://schemas.microsoft.com/office/powerpoint/2010/main" val="1789102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2026-09-25T13:03:58.5930000Z</dcterms:created>
  <dcterms:modified xsi:type="dcterms:W3CDTF">2026-09-25T13:03:58.5930000Z</dcterms:modified>
</coreProperties>
</file>