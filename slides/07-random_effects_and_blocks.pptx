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3890e62cf54a87" /><Relationship Type="http://schemas.openxmlformats.org/officeDocument/2006/relationships/extended-properties" Target="/docProps/app.xml" Id="Rd00ec012011b45c6" /><Relationship Type="http://schemas.openxmlformats.org/officeDocument/2006/relationships/officeDocument" Target="/ppt/presentation.xml" Id="R20f3b5afe1564a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b40ebfacc24b5a"/>
  </p:sldMasterIdLst>
  <p:notesMasterIdLst>
    <p:notesMasterId xmlns:r="http://schemas.openxmlformats.org/officeDocument/2006/relationships" r:id="Re783ed75cff7408e"/>
  </p:notesMasterIdLst>
  <p:sldIdLst>
    <p:sldId xmlns:r="http://schemas.openxmlformats.org/officeDocument/2006/relationships" id="256" r:id="R3ed366fd59364b83"/>
    <p:sldId xmlns:r="http://schemas.openxmlformats.org/officeDocument/2006/relationships" id="257" r:id="R93bd0b358eb44b28"/>
    <p:sldId xmlns:r="http://schemas.openxmlformats.org/officeDocument/2006/relationships" id="258" r:id="R4234155a4b714b18"/>
    <p:sldId xmlns:r="http://schemas.openxmlformats.org/officeDocument/2006/relationships" id="259" r:id="R2546fede5fd7445c"/>
    <p:sldId xmlns:r="http://schemas.openxmlformats.org/officeDocument/2006/relationships" id="260" r:id="R9e2526f800e54d8a"/>
    <p:sldId xmlns:r="http://schemas.openxmlformats.org/officeDocument/2006/relationships" id="261" r:id="R003875de371c4537"/>
    <p:sldId xmlns:r="http://schemas.openxmlformats.org/officeDocument/2006/relationships" id="262" r:id="R760c0b081a6f4b11"/>
    <p:sldId xmlns:r="http://schemas.openxmlformats.org/officeDocument/2006/relationships" id="263" r:id="R435feb9143f84a7c"/>
    <p:sldId xmlns:r="http://schemas.openxmlformats.org/officeDocument/2006/relationships" id="264" r:id="Re779f7f1e8534d59"/>
    <p:sldId xmlns:r="http://schemas.openxmlformats.org/officeDocument/2006/relationships" id="265" r:id="Re29ec2b60a70415a"/>
    <p:sldId xmlns:r="http://schemas.openxmlformats.org/officeDocument/2006/relationships" id="266" r:id="Raa6e948036b14c5d"/>
    <p:sldId xmlns:r="http://schemas.openxmlformats.org/officeDocument/2006/relationships" id="267" r:id="Re48dd37a4571439d"/>
    <p:sldId xmlns:r="http://schemas.openxmlformats.org/officeDocument/2006/relationships" id="268" r:id="R26fd54c6cade4984"/>
    <p:sldId xmlns:r="http://schemas.openxmlformats.org/officeDocument/2006/relationships" id="269" r:id="R9fcde3b9ca90428b"/>
    <p:sldId xmlns:r="http://schemas.openxmlformats.org/officeDocument/2006/relationships" id="270" r:id="R5b666913ecc443f0"/>
    <p:sldId xmlns:r="http://schemas.openxmlformats.org/officeDocument/2006/relationships" id="271" r:id="R2a0a376f5565424d"/>
    <p:sldId xmlns:r="http://schemas.openxmlformats.org/officeDocument/2006/relationships" id="272" r:id="R3edf9f17b172412d"/>
    <p:sldId xmlns:r="http://schemas.openxmlformats.org/officeDocument/2006/relationships" id="273" r:id="R3a0c3850d01c456a"/>
    <p:sldId xmlns:r="http://schemas.openxmlformats.org/officeDocument/2006/relationships" id="274" r:id="R963a3c69c98f4769"/>
    <p:sldId xmlns:r="http://schemas.openxmlformats.org/officeDocument/2006/relationships" id="275" r:id="R8c3309ca3b4a4b16"/>
    <p:sldId xmlns:r="http://schemas.openxmlformats.org/officeDocument/2006/relationships" id="276" r:id="Red9a08a7f2914aca"/>
    <p:sldId xmlns:r="http://schemas.openxmlformats.org/officeDocument/2006/relationships" id="277" r:id="Raf44712046e14043"/>
    <p:sldId xmlns:r="http://schemas.openxmlformats.org/officeDocument/2006/relationships" id="278" r:id="R94d929e45e1e48ab"/>
    <p:sldId xmlns:r="http://schemas.openxmlformats.org/officeDocument/2006/relationships" id="279" r:id="Rcf91a947273942bd"/>
    <p:sldId xmlns:r="http://schemas.openxmlformats.org/officeDocument/2006/relationships" id="280" r:id="R591501f7d09d4a49"/>
    <p:sldId xmlns:r="http://schemas.openxmlformats.org/officeDocument/2006/relationships" id="281" r:id="R08c802a02eeb438e"/>
    <p:sldId xmlns:r="http://schemas.openxmlformats.org/officeDocument/2006/relationships" id="282" r:id="R3ae045d6939246b3"/>
    <p:sldId xmlns:r="http://schemas.openxmlformats.org/officeDocument/2006/relationships" id="283" r:id="R263383c23a174bee"/>
    <p:sldId xmlns:r="http://schemas.openxmlformats.org/officeDocument/2006/relationships" id="284" r:id="Rcbcd04f6701141c2"/>
    <p:sldId xmlns:r="http://schemas.openxmlformats.org/officeDocument/2006/relationships" id="285" r:id="Rf08fc7ffb1c04b31"/>
    <p:sldId xmlns:r="http://schemas.openxmlformats.org/officeDocument/2006/relationships" id="286" r:id="R3707de5d47e046b5"/>
    <p:sldId xmlns:r="http://schemas.openxmlformats.org/officeDocument/2006/relationships" id="287" r:id="Rc09c8988a6bd4fe8"/>
    <p:sldId xmlns:r="http://schemas.openxmlformats.org/officeDocument/2006/relationships" id="288" r:id="Ra1a0ee1c655e48c8"/>
    <p:sldId xmlns:r="http://schemas.openxmlformats.org/officeDocument/2006/relationships" id="289" r:id="Ra85f16e591754aa3"/>
    <p:sldId xmlns:r="http://schemas.openxmlformats.org/officeDocument/2006/relationships" id="290" r:id="Re7d4257a576f473e"/>
    <p:sldId xmlns:r="http://schemas.openxmlformats.org/officeDocument/2006/relationships" id="291" r:id="R1cd29cffd6a846f6"/>
    <p:sldId xmlns:r="http://schemas.openxmlformats.org/officeDocument/2006/relationships" id="292" r:id="R1482e20ddd5646c0"/>
    <p:sldId xmlns:r="http://schemas.openxmlformats.org/officeDocument/2006/relationships" id="293" r:id="R86eaa319508048c0"/>
    <p:sldId xmlns:r="http://schemas.openxmlformats.org/officeDocument/2006/relationships" id="294" r:id="R0404f523179a4db2"/>
    <p:sldId xmlns:r="http://schemas.openxmlformats.org/officeDocument/2006/relationships" id="295" r:id="Ra971070f36c44c69"/>
    <p:sldId xmlns:r="http://schemas.openxmlformats.org/officeDocument/2006/relationships" id="296" r:id="Rb8c6ce5045ed4286"/>
    <p:sldId xmlns:r="http://schemas.openxmlformats.org/officeDocument/2006/relationships" id="297" r:id="R2a05d331ade14841"/>
    <p:sldId xmlns:r="http://schemas.openxmlformats.org/officeDocument/2006/relationships" id="298" r:id="Rd2d4e48bedd140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376fd65dce4dfe" /><Relationship Type="http://schemas.openxmlformats.org/officeDocument/2006/relationships/slideMaster" Target="/ppt/slideMasters/slideMaster1.xml" Id="R4db40ebfacc24b5a" /><Relationship Type="http://schemas.openxmlformats.org/officeDocument/2006/relationships/notesMaster" Target="/ppt/notesMasters/notesMaster1.xml" Id="Re783ed75cff7408e" /><Relationship Type="http://schemas.openxmlformats.org/officeDocument/2006/relationships/presProps" Target="/ppt/presProps.xml" Id="R68ddb393475447f0" /><Relationship Type="http://schemas.openxmlformats.org/officeDocument/2006/relationships/tableStyles" Target="/ppt/tableStyles.xml" Id="R63f8cdeb253744c3" /><Relationship Type="http://schemas.openxmlformats.org/officeDocument/2006/relationships/slide" Target="/ppt/slides/slide1.xml" Id="R3ed366fd59364b83" /><Relationship Type="http://schemas.openxmlformats.org/officeDocument/2006/relationships/slide" Target="/ppt/slides/slide2.xml" Id="R93bd0b358eb44b28" /><Relationship Type="http://schemas.openxmlformats.org/officeDocument/2006/relationships/slide" Target="/ppt/slides/slide3.xml" Id="R4234155a4b714b18" /><Relationship Type="http://schemas.openxmlformats.org/officeDocument/2006/relationships/slide" Target="/ppt/slides/slide4.xml" Id="R2546fede5fd7445c" /><Relationship Type="http://schemas.openxmlformats.org/officeDocument/2006/relationships/slide" Target="/ppt/slides/slide5.xml" Id="R9e2526f800e54d8a" /><Relationship Type="http://schemas.openxmlformats.org/officeDocument/2006/relationships/slide" Target="/ppt/slides/slide6.xml" Id="R003875de371c4537" /><Relationship Type="http://schemas.openxmlformats.org/officeDocument/2006/relationships/slide" Target="/ppt/slides/slide7.xml" Id="R760c0b081a6f4b11" /><Relationship Type="http://schemas.openxmlformats.org/officeDocument/2006/relationships/slide" Target="/ppt/slides/slide8.xml" Id="R435feb9143f84a7c" /><Relationship Type="http://schemas.openxmlformats.org/officeDocument/2006/relationships/slide" Target="/ppt/slides/slide9.xml" Id="Re779f7f1e8534d59" /><Relationship Type="http://schemas.openxmlformats.org/officeDocument/2006/relationships/slide" Target="/ppt/slides/slide10.xml" Id="Re29ec2b60a70415a" /><Relationship Type="http://schemas.openxmlformats.org/officeDocument/2006/relationships/slide" Target="/ppt/slides/slide11.xml" Id="Raa6e948036b14c5d" /><Relationship Type="http://schemas.openxmlformats.org/officeDocument/2006/relationships/slide" Target="/ppt/slides/slide12.xml" Id="Re48dd37a4571439d" /><Relationship Type="http://schemas.openxmlformats.org/officeDocument/2006/relationships/slide" Target="/ppt/slides/slide13.xml" Id="R26fd54c6cade4984" /><Relationship Type="http://schemas.openxmlformats.org/officeDocument/2006/relationships/slide" Target="/ppt/slides/slide14.xml" Id="R9fcde3b9ca90428b" /><Relationship Type="http://schemas.openxmlformats.org/officeDocument/2006/relationships/slide" Target="/ppt/slides/slide15.xml" Id="R5b666913ecc443f0" /><Relationship Type="http://schemas.openxmlformats.org/officeDocument/2006/relationships/slide" Target="/ppt/slides/slide16.xml" Id="R2a0a376f5565424d" /><Relationship Type="http://schemas.openxmlformats.org/officeDocument/2006/relationships/slide" Target="/ppt/slides/slide17.xml" Id="R3edf9f17b172412d" /><Relationship Type="http://schemas.openxmlformats.org/officeDocument/2006/relationships/slide" Target="/ppt/slides/slide18.xml" Id="R3a0c3850d01c456a" /><Relationship Type="http://schemas.openxmlformats.org/officeDocument/2006/relationships/slide" Target="/ppt/slides/slide19.xml" Id="R963a3c69c98f4769" /><Relationship Type="http://schemas.openxmlformats.org/officeDocument/2006/relationships/slide" Target="/ppt/slides/slide20.xml" Id="R8c3309ca3b4a4b16" /><Relationship Type="http://schemas.openxmlformats.org/officeDocument/2006/relationships/slide" Target="/ppt/slides/slide21.xml" Id="Red9a08a7f2914aca" /><Relationship Type="http://schemas.openxmlformats.org/officeDocument/2006/relationships/slide" Target="/ppt/slides/slide22.xml" Id="Raf44712046e14043" /><Relationship Type="http://schemas.openxmlformats.org/officeDocument/2006/relationships/slide" Target="/ppt/slides/slide23.xml" Id="R94d929e45e1e48ab" /><Relationship Type="http://schemas.openxmlformats.org/officeDocument/2006/relationships/slide" Target="/ppt/slides/slide24.xml" Id="Rcf91a947273942bd" /><Relationship Type="http://schemas.openxmlformats.org/officeDocument/2006/relationships/slide" Target="/ppt/slides/slide25.xml" Id="R591501f7d09d4a49" /><Relationship Type="http://schemas.openxmlformats.org/officeDocument/2006/relationships/slide" Target="/ppt/slides/slide26.xml" Id="R08c802a02eeb438e" /><Relationship Type="http://schemas.openxmlformats.org/officeDocument/2006/relationships/slide" Target="/ppt/slides/slide27.xml" Id="R3ae045d6939246b3" /><Relationship Type="http://schemas.openxmlformats.org/officeDocument/2006/relationships/slide" Target="/ppt/slides/slide28.xml" Id="R263383c23a174bee" /><Relationship Type="http://schemas.openxmlformats.org/officeDocument/2006/relationships/slide" Target="/ppt/slides/slide29.xml" Id="Rcbcd04f6701141c2" /><Relationship Type="http://schemas.openxmlformats.org/officeDocument/2006/relationships/slide" Target="/ppt/slides/slide30.xml" Id="Rf08fc7ffb1c04b31" /><Relationship Type="http://schemas.openxmlformats.org/officeDocument/2006/relationships/slide" Target="/ppt/slides/slide31.xml" Id="R3707de5d47e046b5" /><Relationship Type="http://schemas.openxmlformats.org/officeDocument/2006/relationships/slide" Target="/ppt/slides/slide32.xml" Id="Rc09c8988a6bd4fe8" /><Relationship Type="http://schemas.openxmlformats.org/officeDocument/2006/relationships/slide" Target="/ppt/slides/slide33.xml" Id="Ra1a0ee1c655e48c8" /><Relationship Type="http://schemas.openxmlformats.org/officeDocument/2006/relationships/slide" Target="/ppt/slides/slide34.xml" Id="Ra85f16e591754aa3" /><Relationship Type="http://schemas.openxmlformats.org/officeDocument/2006/relationships/slide" Target="/ppt/slides/slide35.xml" Id="Re7d4257a576f473e" /><Relationship Type="http://schemas.openxmlformats.org/officeDocument/2006/relationships/slide" Target="/ppt/slides/slide36.xml" Id="R1cd29cffd6a846f6" /><Relationship Type="http://schemas.openxmlformats.org/officeDocument/2006/relationships/slide" Target="/ppt/slides/slide37.xml" Id="R1482e20ddd5646c0" /><Relationship Type="http://schemas.openxmlformats.org/officeDocument/2006/relationships/slide" Target="/ppt/slides/slide38.xml" Id="R86eaa319508048c0" /><Relationship Type="http://schemas.openxmlformats.org/officeDocument/2006/relationships/slide" Target="/ppt/slides/slide39.xml" Id="R0404f523179a4db2" /><Relationship Type="http://schemas.openxmlformats.org/officeDocument/2006/relationships/slide" Target="/ppt/slides/slide40.xml" Id="Ra971070f36c44c69" /><Relationship Type="http://schemas.openxmlformats.org/officeDocument/2006/relationships/slide" Target="/ppt/slides/slide41.xml" Id="Rb8c6ce5045ed4286" /><Relationship Type="http://schemas.openxmlformats.org/officeDocument/2006/relationships/slide" Target="/ppt/slides/slide42.xml" Id="R2a05d331ade14841" /><Relationship Type="http://schemas.openxmlformats.org/officeDocument/2006/relationships/slide" Target="/ppt/slides/slide43.xml" Id="Rd2d4e48bedd140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66c42fed654e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5b393b408e43d1" /><Relationship Type="http://schemas.openxmlformats.org/officeDocument/2006/relationships/notesMaster" Target="/ppt/notesMasters/notesMaster1.xml" Id="Rb0aac2b6d42243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f0445545d443a8" /><Relationship Type="http://schemas.openxmlformats.org/officeDocument/2006/relationships/notesMaster" Target="/ppt/notesMasters/notesMaster1.xml" Id="Ra4158883018f44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e6eda38da947cc" /><Relationship Type="http://schemas.openxmlformats.org/officeDocument/2006/relationships/notesMaster" Target="/ppt/notesMasters/notesMaster1.xml" Id="R55d100d9b9864d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0a0bc36e7b45cf" /><Relationship Type="http://schemas.openxmlformats.org/officeDocument/2006/relationships/notesMaster" Target="/ppt/notesMasters/notesMaster1.xml" Id="R52e4e8a03acf42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dabe6779cb4b16" /><Relationship Type="http://schemas.openxmlformats.org/officeDocument/2006/relationships/notesMaster" Target="/ppt/notesMasters/notesMaster1.xml" Id="R761be89d59d345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55ffba4ca24069" /><Relationship Type="http://schemas.openxmlformats.org/officeDocument/2006/relationships/notesMaster" Target="/ppt/notesMasters/notesMaster1.xml" Id="R7f02a7c41d2045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b8bc87574e4473" /><Relationship Type="http://schemas.openxmlformats.org/officeDocument/2006/relationships/notesMaster" Target="/ppt/notesMasters/notesMaster1.xml" Id="Rb6211fadfae445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f11d42e30b43f6" /><Relationship Type="http://schemas.openxmlformats.org/officeDocument/2006/relationships/notesMaster" Target="/ppt/notesMasters/notesMaster1.xml" Id="Rd3e3ba0bbd784c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1600382b89450e" /><Relationship Type="http://schemas.openxmlformats.org/officeDocument/2006/relationships/notesMaster" Target="/ppt/notesMasters/notesMaster1.xml" Id="R88a7e3ac9ba842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3a6bdac0f2403c" /><Relationship Type="http://schemas.openxmlformats.org/officeDocument/2006/relationships/notesMaster" Target="/ppt/notesMasters/notesMaster1.xml" Id="Rfeb1a8224b4942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2265008b414405" /><Relationship Type="http://schemas.openxmlformats.org/officeDocument/2006/relationships/notesMaster" Target="/ppt/notesMasters/notesMaster1.xml" Id="Rd86e46fc31ff48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63dd64abc8419d" /><Relationship Type="http://schemas.openxmlformats.org/officeDocument/2006/relationships/notesMaster" Target="/ppt/notesMasters/notesMaster1.xml" Id="R46e6e35799df41c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21c6cc299b94039" /><Relationship Type="http://schemas.openxmlformats.org/officeDocument/2006/relationships/notesMaster" Target="/ppt/notesMasters/notesMaster1.xml" Id="R48415724f84940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253fabb2756497f" /><Relationship Type="http://schemas.openxmlformats.org/officeDocument/2006/relationships/notesMaster" Target="/ppt/notesMasters/notesMaster1.xml" Id="R975e7e7576e641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a1110cf73d54e4a" /><Relationship Type="http://schemas.openxmlformats.org/officeDocument/2006/relationships/notesMaster" Target="/ppt/notesMasters/notesMaster1.xml" Id="R98aa1b804fd0478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f37d84e60844be3" /><Relationship Type="http://schemas.openxmlformats.org/officeDocument/2006/relationships/notesMaster" Target="/ppt/notesMasters/notesMaster1.xml" Id="R33c654c3f29d45d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e6720163cbd4489" /><Relationship Type="http://schemas.openxmlformats.org/officeDocument/2006/relationships/notesMaster" Target="/ppt/notesMasters/notesMaster1.xml" Id="R2e18d114c6a14ee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0678f630997458a" /><Relationship Type="http://schemas.openxmlformats.org/officeDocument/2006/relationships/notesMaster" Target="/ppt/notesMasters/notesMaster1.xml" Id="R8167faaec7734d3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38984e730d24b59" /><Relationship Type="http://schemas.openxmlformats.org/officeDocument/2006/relationships/notesMaster" Target="/ppt/notesMasters/notesMaster1.xml" Id="R0e496bf129f24e1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e3955c882294655" /><Relationship Type="http://schemas.openxmlformats.org/officeDocument/2006/relationships/notesMaster" Target="/ppt/notesMasters/notesMaster1.xml" Id="Rc7468d46e00a460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853e8a25cbf4087" /><Relationship Type="http://schemas.openxmlformats.org/officeDocument/2006/relationships/notesMaster" Target="/ppt/notesMasters/notesMaster1.xml" Id="Rae77ca9c1e85472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08a70bb122d43c6" /><Relationship Type="http://schemas.openxmlformats.org/officeDocument/2006/relationships/notesMaster" Target="/ppt/notesMasters/notesMaster1.xml" Id="R0edaab4f73964ea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c8e271422904f31" /><Relationship Type="http://schemas.openxmlformats.org/officeDocument/2006/relationships/notesMaster" Target="/ppt/notesMasters/notesMaster1.xml" Id="Rd33623160cdd4b5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4adf15bc73f41c0" /><Relationship Type="http://schemas.openxmlformats.org/officeDocument/2006/relationships/notesMaster" Target="/ppt/notesMasters/notesMaster1.xml" Id="R696a906ab0624b8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5adf962bfe4452c" /><Relationship Type="http://schemas.openxmlformats.org/officeDocument/2006/relationships/notesMaster" Target="/ppt/notesMasters/notesMaster1.xml" Id="R1468990bdbba43d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a8a91fb8fbe4224" /><Relationship Type="http://schemas.openxmlformats.org/officeDocument/2006/relationships/notesMaster" Target="/ppt/notesMasters/notesMaster1.xml" Id="Reaec035fb0384c7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07fe5f0b3674cf7" /><Relationship Type="http://schemas.openxmlformats.org/officeDocument/2006/relationships/notesMaster" Target="/ppt/notesMasters/notesMaster1.xml" Id="Rd33107a4e6ab4bb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585505ddc7846db" /><Relationship Type="http://schemas.openxmlformats.org/officeDocument/2006/relationships/notesMaster" Target="/ppt/notesMasters/notesMaster1.xml" Id="Rfa9141646bbb43c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0985e03ccba4601" /><Relationship Type="http://schemas.openxmlformats.org/officeDocument/2006/relationships/notesMaster" Target="/ppt/notesMasters/notesMaster1.xml" Id="R4d5e0480e2c24db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5ea0e4f041147c1" /><Relationship Type="http://schemas.openxmlformats.org/officeDocument/2006/relationships/notesMaster" Target="/ppt/notesMasters/notesMaster1.xml" Id="Rc78da41ecba5420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36d2ce8f0a44337" /><Relationship Type="http://schemas.openxmlformats.org/officeDocument/2006/relationships/notesMaster" Target="/ppt/notesMasters/notesMaster1.xml" Id="Rcce069479a7b43f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f6b2d63ebac4bbe" /><Relationship Type="http://schemas.openxmlformats.org/officeDocument/2006/relationships/notesMaster" Target="/ppt/notesMasters/notesMaster1.xml" Id="R674b412c9b824fc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57e3c44b380464e" /><Relationship Type="http://schemas.openxmlformats.org/officeDocument/2006/relationships/notesMaster" Target="/ppt/notesMasters/notesMaster1.xml" Id="R50f160ca34f04f0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7f0c0af295b4b7f" /><Relationship Type="http://schemas.openxmlformats.org/officeDocument/2006/relationships/notesMaster" Target="/ppt/notesMasters/notesMaster1.xml" Id="Re909eaf1d6d746d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d6d123040eb447d" /><Relationship Type="http://schemas.openxmlformats.org/officeDocument/2006/relationships/notesMaster" Target="/ppt/notesMasters/notesMaster1.xml" Id="R1b8eda8eb5024f5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78ddd63e5c94fc9" /><Relationship Type="http://schemas.openxmlformats.org/officeDocument/2006/relationships/notesMaster" Target="/ppt/notesMasters/notesMaster1.xml" Id="R4b6cc99045e5498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dcd0666b0654004" /><Relationship Type="http://schemas.openxmlformats.org/officeDocument/2006/relationships/notesMaster" Target="/ppt/notesMasters/notesMaster1.xml" Id="R333f4444a84e4ee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e10b0402b3945ae" /><Relationship Type="http://schemas.openxmlformats.org/officeDocument/2006/relationships/notesMaster" Target="/ppt/notesMasters/notesMaster1.xml" Id="R8457f8a741834f9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0ae0ed383d347b3" /><Relationship Type="http://schemas.openxmlformats.org/officeDocument/2006/relationships/notesMaster" Target="/ppt/notesMasters/notesMaster1.xml" Id="Refa7ed788b7748e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00ee2a250674a1a" /><Relationship Type="http://schemas.openxmlformats.org/officeDocument/2006/relationships/notesMaster" Target="/ppt/notesMasters/notesMaster1.xml" Id="R99a1d1d7b0c24ff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8a6bd02b2dd4342" /><Relationship Type="http://schemas.openxmlformats.org/officeDocument/2006/relationships/notesMaster" Target="/ppt/notesMasters/notesMaster1.xml" Id="Reb09970ce83141e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57ec038d16d45cd" /><Relationship Type="http://schemas.openxmlformats.org/officeDocument/2006/relationships/notesMaster" Target="/ppt/notesMasters/notesMaster1.xml" Id="R1d42c1ae109e43b6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0a21c82bf4542ff" /><Relationship Type="http://schemas.openxmlformats.org/officeDocument/2006/relationships/notesMaster" Target="/ppt/notesMasters/notesMaster1.xml" Id="R948d2448fa7647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Кривые рассчитаны для df1=4, df2=40. Для нецентральной кривой λ=8. Источник определения: SciPy ncf; интерпретация соответствует классической теории мощности ANOVA.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Расчёт: однофакторная ANOVA, k=5, α=0.05; λ=Nf², df1=4, df2=N−5. Значения рассчитаны через scipy.stats.ncf.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Документация: https://www.statsmodels.org/dev/generated/statsmodels.stats.power.FTestAnovaPower.power.html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Документация: https://www.statsmodels.org/dev/generated/statsmodels.stats.power.FTestAnovaPower.solve_power.html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NIST/SEMATECH e-Handbook, Variance Components, https://www.itl.nist.gov/div898/handbook/prc/section4/prc44.htm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Стандартные предпосылки модели случайных эффектов: нормальность случайных компонентов, нулевые средние, независимость и постоянная остаточная дисперсия.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Числовой пример иллюстрирует метод моментов для сбалансированной однофакторной модели: σ̂²ₐ=(MSA−MSE)/n, σ̂²=MSE. NIST: https://www.itl.nist.gov/div898/handbook/prc/section4/prc44.htm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Документация: https://www.statsmodels.org/dev/generated/statsmodels.regression.mixed_linear_model.MixedLM.from_formula.html ; NIST рекомендует REML как более устойчивый подход для компонент дисперсии.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Сбалансированный скрещённый план с a уровнями A, b уровнями B и n повторами на ячейку. См. Penn State STAT 502 Lesson 6: https://online.stat.psu.edu/stat502/Lesson06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NIST: метод моментов может давать отрицательные оценки; REML обычно предпочтительнее и позволяет получать интервалы. https://www.itl.nist.gov/div898/handbook/prc/section4/prc44.htm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EMS и знаменатели для вложенного случайного плана: Penn State STAT 502 Lesson 6, https://online.stat.psu.edu/stat502/Lesson06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Документация: https://www.statsmodels.org/dev/generated/statsmodels.regression.mixed_linear_model.MixedLM.from_formula.html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NIST: blocking controls nuisance factors; treatment comparisons are made within blocks. https://www.itl.nist.gov/div898/handbook/pri/section3/pri332.htm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RCBD: https://www.itl.nist.gov/div898/handbook/pri/section3/pri332.htm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Документация: https://www.statsmodels.org/dev/generated/statsmodels.stats.anova.anova_lm.html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Latin square: https://www.itl.nist.gov/div898/handbook/pri/section3/pri3321.htm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c693cb77b949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2a3f3bf2b44fba" /><Relationship Type="http://schemas.openxmlformats.org/officeDocument/2006/relationships/slideLayout" Target="/ppt/slideLayouts/slideLayout1.xml" Id="R2b7ff0b630be4f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7ff0b630be4f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e13224ec043b4" /><Relationship Type="http://schemas.openxmlformats.org/officeDocument/2006/relationships/notesSlide" Target="/ppt/notesSlides/notesSlide1.xml" Id="R81d5aca7620b43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dfd555fbd4e8e" /><Relationship Type="http://schemas.openxmlformats.org/officeDocument/2006/relationships/notesSlide" Target="/ppt/notesSlides/notesSlide2.xml" Id="R2cc98c6bb2824f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c4311ad3a423b" /><Relationship Type="http://schemas.openxmlformats.org/officeDocument/2006/relationships/notesSlide" Target="/ppt/notesSlides/notesSlide3.xml" Id="R4ec3817bd3fe49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6151607f640fe" /><Relationship Type="http://schemas.openxmlformats.org/officeDocument/2006/relationships/notesSlide" Target="/ppt/notesSlides/notesSlide4.xml" Id="R0dc6cb75e25445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748a6ff50488d" /><Relationship Type="http://schemas.openxmlformats.org/officeDocument/2006/relationships/chart" Target="/ppt/slides/charts/chart1.xml" Id="Rc859cd6f77d24177" /><Relationship Type="http://schemas.openxmlformats.org/officeDocument/2006/relationships/notesSlide" Target="/ppt/notesSlides/notesSlide5.xml" Id="R720451de540841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744b1a1b8471d" /><Relationship Type="http://schemas.openxmlformats.org/officeDocument/2006/relationships/notesSlide" Target="/ppt/notesSlides/notesSlide6.xml" Id="R8e98de9746c049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ba5f4e00e4dd5" /><Relationship Type="http://schemas.openxmlformats.org/officeDocument/2006/relationships/chart" Target="/ppt/slides/charts/chart2.xml" Id="R170d49f705554b48" /><Relationship Type="http://schemas.openxmlformats.org/officeDocument/2006/relationships/notesSlide" Target="/ppt/notesSlides/notesSlide7.xml" Id="Rbb032bf5042647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69199f6684a3e" /><Relationship Type="http://schemas.openxmlformats.org/officeDocument/2006/relationships/chart" Target="/ppt/slides/charts/chart3.xml" Id="R57c53aa1d93a4396" /><Relationship Type="http://schemas.openxmlformats.org/officeDocument/2006/relationships/notesSlide" Target="/ppt/notesSlides/notesSlide8.xml" Id="R86918ac528d942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b4420b45a49fe" /><Relationship Type="http://schemas.openxmlformats.org/officeDocument/2006/relationships/chart" Target="/ppt/slides/charts/chart4.xml" Id="R35dfe73d5e954024" /><Relationship Type="http://schemas.openxmlformats.org/officeDocument/2006/relationships/notesSlide" Target="/ppt/notesSlides/notesSlide9.xml" Id="R622daa9333cc46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e8185b92d488e" /><Relationship Type="http://schemas.openxmlformats.org/officeDocument/2006/relationships/notesSlide" Target="/ppt/notesSlides/notesSlide10.xml" Id="R34294a3b7da94d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be746f2944a22" /><Relationship Type="http://schemas.openxmlformats.org/officeDocument/2006/relationships/notesSlide" Target="/ppt/notesSlides/notesSlide11.xml" Id="Re27fc689658441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d8f8b22aa4649" /><Relationship Type="http://schemas.openxmlformats.org/officeDocument/2006/relationships/notesSlide" Target="/ppt/notesSlides/notesSlide12.xml" Id="R2d6421a7348241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d864cb6c24094" /><Relationship Type="http://schemas.openxmlformats.org/officeDocument/2006/relationships/notesSlide" Target="/ppt/notesSlides/notesSlide13.xml" Id="R51fdd810a0f647d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394673a1c4ade" /><Relationship Type="http://schemas.openxmlformats.org/officeDocument/2006/relationships/notesSlide" Target="/ppt/notesSlides/notesSlide14.xml" Id="R2032c113950a4dc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66e0ccceb4699" /><Relationship Type="http://schemas.openxmlformats.org/officeDocument/2006/relationships/notesSlide" Target="/ppt/notesSlides/notesSlide15.xml" Id="Rcf83e0d76d024fd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38ad1adf14350" /><Relationship Type="http://schemas.openxmlformats.org/officeDocument/2006/relationships/notesSlide" Target="/ppt/notesSlides/notesSlide16.xml" Id="Rd995ef890c3a489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26d13f00b4976" /><Relationship Type="http://schemas.openxmlformats.org/officeDocument/2006/relationships/notesSlide" Target="/ppt/notesSlides/notesSlide17.xml" Id="Rf75bd4dde3f44d1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a74bfe95a43d2" /><Relationship Type="http://schemas.openxmlformats.org/officeDocument/2006/relationships/notesSlide" Target="/ppt/notesSlides/notesSlide18.xml" Id="R5ac4e8c7031c4ff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80eef97f84df6" /><Relationship Type="http://schemas.openxmlformats.org/officeDocument/2006/relationships/notesSlide" Target="/ppt/notesSlides/notesSlide19.xml" Id="Rd4372a60d5d6449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f158994c74223" /><Relationship Type="http://schemas.openxmlformats.org/officeDocument/2006/relationships/notesSlide" Target="/ppt/notesSlides/notesSlide20.xml" Id="R5e83266b143947a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e9785d2b74a4e" /><Relationship Type="http://schemas.openxmlformats.org/officeDocument/2006/relationships/notesSlide" Target="/ppt/notesSlides/notesSlide21.xml" Id="R8f788e8dcab44aa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c9856a8bf4377" /><Relationship Type="http://schemas.openxmlformats.org/officeDocument/2006/relationships/notesSlide" Target="/ppt/notesSlides/notesSlide22.xml" Id="R7c396e503b3a40b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3525c41224c21" /><Relationship Type="http://schemas.openxmlformats.org/officeDocument/2006/relationships/notesSlide" Target="/ppt/notesSlides/notesSlide23.xml" Id="R2498daa5467e470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63b58ded94f3e" /><Relationship Type="http://schemas.openxmlformats.org/officeDocument/2006/relationships/notesSlide" Target="/ppt/notesSlides/notesSlide24.xml" Id="R087f4eab68234c0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5196d04994a8b" /><Relationship Type="http://schemas.openxmlformats.org/officeDocument/2006/relationships/notesSlide" Target="/ppt/notesSlides/notesSlide25.xml" Id="R38e5cd301f2142a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aefb4afd544d9" /><Relationship Type="http://schemas.openxmlformats.org/officeDocument/2006/relationships/notesSlide" Target="/ppt/notesSlides/notesSlide26.xml" Id="R5a1726d6bf6f454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b330bfaa04807" /><Relationship Type="http://schemas.openxmlformats.org/officeDocument/2006/relationships/notesSlide" Target="/ppt/notesSlides/notesSlide27.xml" Id="R515da7e93790456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bfed23f164f44" /><Relationship Type="http://schemas.openxmlformats.org/officeDocument/2006/relationships/notesSlide" Target="/ppt/notesSlides/notesSlide28.xml" Id="Rdbf83925306145c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d4a6326a94129" /><Relationship Type="http://schemas.openxmlformats.org/officeDocument/2006/relationships/notesSlide" Target="/ppt/notesSlides/notesSlide29.xml" Id="R11a8dbf6a4cb48b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aa86480b94985" /><Relationship Type="http://schemas.openxmlformats.org/officeDocument/2006/relationships/notesSlide" Target="/ppt/notesSlides/notesSlide30.xml" Id="R8f345037ed9b4cc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8be5d3c6f4f74" /><Relationship Type="http://schemas.openxmlformats.org/officeDocument/2006/relationships/notesSlide" Target="/ppt/notesSlides/notesSlide31.xml" Id="R0739ff0e829f49b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bf34ff69d42bb" /><Relationship Type="http://schemas.openxmlformats.org/officeDocument/2006/relationships/notesSlide" Target="/ppt/notesSlides/notesSlide32.xml" Id="R6ee9f600b0a7476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85033b920481d" /><Relationship Type="http://schemas.openxmlformats.org/officeDocument/2006/relationships/notesSlide" Target="/ppt/notesSlides/notesSlide33.xml" Id="R49a9a44b61f14dc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dc32081244f22" /><Relationship Type="http://schemas.openxmlformats.org/officeDocument/2006/relationships/notesSlide" Target="/ppt/notesSlides/notesSlide34.xml" Id="R916d9ed3b05f4c8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00d287da74073" /><Relationship Type="http://schemas.openxmlformats.org/officeDocument/2006/relationships/notesSlide" Target="/ppt/notesSlides/notesSlide35.xml" Id="R228183cd5a784e1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9a79b233c4f1b" /><Relationship Type="http://schemas.openxmlformats.org/officeDocument/2006/relationships/notesSlide" Target="/ppt/notesSlides/notesSlide36.xml" Id="R66d9d51b79f9471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2f9331fa44b59" /><Relationship Type="http://schemas.openxmlformats.org/officeDocument/2006/relationships/notesSlide" Target="/ppt/notesSlides/notesSlide37.xml" Id="R55463d4b89a74d1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2c5a640354f2e" /><Relationship Type="http://schemas.openxmlformats.org/officeDocument/2006/relationships/notesSlide" Target="/ppt/notesSlides/notesSlide38.xml" Id="Red0b9329020841f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bffa97f804551" /><Relationship Type="http://schemas.openxmlformats.org/officeDocument/2006/relationships/notesSlide" Target="/ppt/notesSlides/notesSlide39.xml" Id="Racbd9269490b423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7c56c74ff43ba" /><Relationship Type="http://schemas.openxmlformats.org/officeDocument/2006/relationships/notesSlide" Target="/ppt/notesSlides/notesSlide40.xml" Id="R5ddf4e7100e2475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6b614d3b74d35" /><Relationship Type="http://schemas.openxmlformats.org/officeDocument/2006/relationships/notesSlide" Target="/ppt/notesSlides/notesSlide41.xml" Id="Rd25a7317f04d440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5995cfe194e14" /><Relationship Type="http://schemas.openxmlformats.org/officeDocument/2006/relationships/notesSlide" Target="/ppt/notesSlides/notesSlide42.xml" Id="Rd54451dcae20436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92244066b4628" /><Relationship Type="http://schemas.openxmlformats.org/officeDocument/2006/relationships/notesSlide" Target="/ppt/notesSlides/notesSlide43.xml" Id="Rec7269df8ae8460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H₀: λ = 0</c:v>
          </c:tx>
          <c:spPr>
            <a:ln xmlns:a="http://schemas.openxmlformats.org/drawingml/2006/main" w="28575">
              <a:solidFill>
                <a:srgbClr val="A7B7C9"/>
              </a:solidFill>
              <a:prstDash val="solid"/>
            </a:ln>
          </c:spPr>
          <c:marker>
            <c:symbol val="none"/>
          </c:marker>
          <c:cat>
            <c:strRef>
              <c:f>'Chart Data'!$A$2:$A$14</c:f>
              <c:strCache>
                <c:ptCount val="13"/>
                <c:pt idx="0">
                  <c:v>0,2</c:v>
                </c:pt>
                <c:pt idx="1">
                  <c:v>0,5</c:v>
                </c:pt>
                <c:pt idx="2">
                  <c:v>0,8</c:v>
                </c:pt>
                <c:pt idx="3">
                  <c:v>1,1</c:v>
                </c:pt>
                <c:pt idx="4">
                  <c:v>1,4</c:v>
                </c:pt>
                <c:pt idx="5">
                  <c:v>1,7</c:v>
                </c:pt>
                <c:pt idx="6">
                  <c:v>2,0</c:v>
                </c:pt>
                <c:pt idx="7">
                  <c:v>2,5</c:v>
                </c:pt>
                <c:pt idx="8">
                  <c:v>3,0</c:v>
                </c:pt>
                <c:pt idx="9">
                  <c:v>3,5</c:v>
                </c:pt>
                <c:pt idx="10">
                  <c:v>4,0</c:v>
                </c:pt>
                <c:pt idx="11">
                  <c:v>5,0</c:v>
                </c:pt>
                <c:pt idx="12">
                  <c:v>6,0</c:v>
                </c:pt>
              </c:strCache>
            </c:strRef>
          </c:cat>
          <c:val>
            <c:numRef>
              <c:f>'Chart Data'!$B$2:$B$14</c:f>
              <c:numCache>
                <c:formatCode>0.0</c:formatCode>
                <c:ptCount val="13"/>
                <c:pt idx="0">
                  <c:v>0.543</c:v>
                </c:pt>
                <c:pt idx="1">
                  <c:v>0.718</c:v>
                </c:pt>
                <c:pt idx="2">
                  <c:v>0.618</c:v>
                </c:pt>
                <c:pt idx="3">
                  <c:v>0.465</c:v>
                </c:pt>
                <c:pt idx="4">
                  <c:v>0.329</c:v>
                </c:pt>
                <c:pt idx="5">
                  <c:v>0.226</c:v>
                </c:pt>
                <c:pt idx="6">
                  <c:v>0.152</c:v>
                </c:pt>
                <c:pt idx="7">
                  <c:v>0.077</c:v>
                </c:pt>
                <c:pt idx="8">
                  <c:v>0.039</c:v>
                </c:pt>
                <c:pt idx="9">
                  <c:v>0.02</c:v>
                </c:pt>
                <c:pt idx="10">
                  <c:v>0.01</c:v>
                </c:pt>
                <c:pt idx="11">
                  <c:v>0.003</c:v>
                </c:pt>
                <c:pt idx="12">
                  <c:v>0.001</c:v>
                </c:pt>
              </c:numCache>
            </c:numRef>
          </c:val>
          <c:smooth val="1"/>
        </c:ser>
        <c:ser>
          <c:idx val="1"/>
          <c:order val="1"/>
          <c:tx>
            <c:v>H₁: λ = 8</c:v>
          </c:tx>
          <c:spPr>
            <a:ln xmlns:a="http://schemas.openxmlformats.org/drawingml/2006/main" w="38100">
              <a:solidFill>
                <a:srgbClr val="F9C74F"/>
              </a:solidFill>
              <a:prstDash val="solid"/>
            </a:ln>
          </c:spPr>
          <c:marker>
            <c:symbol val="none"/>
          </c:marker>
          <c:cat>
            <c:strRef>
              <c:f>'Chart Data'!$C$2:$C$14</c:f>
              <c:strCache>
                <c:ptCount val="13"/>
                <c:pt idx="0">
                  <c:v>0,2</c:v>
                </c:pt>
                <c:pt idx="1">
                  <c:v>0,5</c:v>
                </c:pt>
                <c:pt idx="2">
                  <c:v>0,8</c:v>
                </c:pt>
                <c:pt idx="3">
                  <c:v>1,1</c:v>
                </c:pt>
                <c:pt idx="4">
                  <c:v>1,4</c:v>
                </c:pt>
                <c:pt idx="5">
                  <c:v>1,7</c:v>
                </c:pt>
                <c:pt idx="6">
                  <c:v>2,0</c:v>
                </c:pt>
                <c:pt idx="7">
                  <c:v>2,5</c:v>
                </c:pt>
                <c:pt idx="8">
                  <c:v>3,0</c:v>
                </c:pt>
                <c:pt idx="9">
                  <c:v>3,5</c:v>
                </c:pt>
                <c:pt idx="10">
                  <c:v>4,0</c:v>
                </c:pt>
                <c:pt idx="11">
                  <c:v>5,0</c:v>
                </c:pt>
                <c:pt idx="12">
                  <c:v>6,0</c:v>
                </c:pt>
              </c:strCache>
            </c:strRef>
          </c:cat>
          <c:val>
            <c:numRef>
              <c:f>'Chart Data'!$D$2:$D$14</c:f>
              <c:numCache>
                <c:formatCode>0.0</c:formatCode>
                <c:ptCount val="13"/>
                <c:pt idx="0">
                  <c:v>0.022</c:v>
                </c:pt>
                <c:pt idx="1">
                  <c:v>0.071</c:v>
                </c:pt>
                <c:pt idx="2">
                  <c:v>0.127</c:v>
                </c:pt>
                <c:pt idx="3">
                  <c:v>0.179</c:v>
                </c:pt>
                <c:pt idx="4">
                  <c:v>0.219</c:v>
                </c:pt>
                <c:pt idx="5">
                  <c:v>0.246</c:v>
                </c:pt>
                <c:pt idx="6">
                  <c:v>0.257</c:v>
                </c:pt>
                <c:pt idx="7">
                  <c:v>0.252</c:v>
                </c:pt>
                <c:pt idx="8">
                  <c:v>0.225</c:v>
                </c:pt>
                <c:pt idx="9">
                  <c:v>0.189</c:v>
                </c:pt>
                <c:pt idx="10">
                  <c:v>0.152</c:v>
                </c:pt>
                <c:pt idx="11">
                  <c:v>0.09</c:v>
                </c:pt>
                <c:pt idx="12">
                  <c:v>0.05</c:v>
                </c:pt>
              </c:numCache>
            </c:numRef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7B7C9"/>
                    </a:solidFill>
                  </a:rPr>
                  <a:t>F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7B7C9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9425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7B7C9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7B7C9"/>
                    </a:solidFill>
                  </a:rPr>
                  <a:t>плотность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7B7C9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29425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7B7C9"/>
                </a:solidFill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0D1B2E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7B7C9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0D1B2E"/>
    </a:solidFill>
    <a:ln xmlns:a="http://schemas.openxmlformats.org/drawingml/2006/main" w="9525">
      <a:solidFill>
        <a:srgbClr val="29425E"/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Мощность</c:v>
          </c:tx>
          <c:spPr>
            <a:ln xmlns:a="http://schemas.openxmlformats.org/drawingml/2006/main" w="38100">
              <a:solidFill>
                <a:srgbClr val="F9C74F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9C74F"/>
              </a:solidFill>
            </c:spPr>
          </c:marker>
          <c:cat>
            <c:numRef>
              <c:f>'Chart Data'!$A$2:$A$9</c:f>
              <c:numCache>
                <c:formatCode>General</c:formatCode>
                <c:ptCount val="8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15</c:v>
                </c:pt>
                <c:pt idx="7">
                  <c:v>20</c:v>
                </c:pt>
              </c:numCache>
            </c:numRef>
          </c:cat>
          <c:val>
            <c:numRef>
              <c:f>'Chart Data'!$B$2:$B$9</c:f>
              <c:numCache>
                <c:formatCode>0%</c:formatCode>
                <c:ptCount val="8"/>
                <c:pt idx="0">
                  <c:v>0.05</c:v>
                </c:pt>
                <c:pt idx="1">
                  <c:v>0.156</c:v>
                </c:pt>
                <c:pt idx="2">
                  <c:v>0.287</c:v>
                </c:pt>
                <c:pt idx="3">
                  <c:v>0.422</c:v>
                </c:pt>
                <c:pt idx="4">
                  <c:v>0.548</c:v>
                </c:pt>
                <c:pt idx="5">
                  <c:v>0.658</c:v>
                </c:pt>
                <c:pt idx="6">
                  <c:v>0.847</c:v>
                </c:pt>
                <c:pt idx="7">
                  <c:v>0.94</c:v>
                </c:pt>
              </c:numCache>
            </c:numRef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7B7C9"/>
                    </a:solidFill>
                  </a:rPr>
                  <a:t>λ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7B7C9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9425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7B7C9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7B7C9"/>
                    </a:solidFill>
                  </a:rPr>
                  <a:t>1 − β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7B7C9"/>
                  </a:solidFill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29425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7B7C9"/>
                </a:solidFill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0D1B2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D1B2E"/>
    </a:solidFill>
    <a:ln xmlns:a="http://schemas.openxmlformats.org/drawingml/2006/main" w="9525">
      <a:solidFill>
        <a:srgbClr val="29425E"/>
      </a:solidFill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f = 0,10</c:v>
          </c:tx>
          <c:spPr>
            <a:ln xmlns:a="http://schemas.openxmlformats.org/drawingml/2006/main" w="28575">
              <a:solidFill>
                <a:srgbClr val="A7B7C9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A7B7C9"/>
              </a:solidFill>
            </c:spPr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25</c:v>
                </c:pt>
                <c:pt idx="1">
                  <c:v>50</c:v>
                </c:pt>
                <c:pt idx="2">
                  <c:v>75</c:v>
                </c:pt>
                <c:pt idx="3">
                  <c:v>100</c:v>
                </c:pt>
                <c:pt idx="4">
                  <c:v>150</c:v>
                </c:pt>
                <c:pt idx="5">
                  <c:v>200</c:v>
                </c:pt>
              </c:numCache>
            </c:numRef>
          </c:cat>
          <c:val>
            <c:numRef>
              <c:f>'Chart Data'!$B$2:$B$7</c:f>
              <c:numCache>
                <c:formatCode>0%</c:formatCode>
                <c:ptCount val="6"/>
                <c:pt idx="0">
                  <c:v>0.06</c:v>
                </c:pt>
                <c:pt idx="1">
                  <c:v>0.074</c:v>
                </c:pt>
                <c:pt idx="2">
                  <c:v>0.088</c:v>
                </c:pt>
                <c:pt idx="3">
                  <c:v>0.103</c:v>
                </c:pt>
                <c:pt idx="4">
                  <c:v>0.134</c:v>
                </c:pt>
                <c:pt idx="5">
                  <c:v>0.168</c:v>
                </c:pt>
              </c:numCache>
            </c:numRef>
          </c:val>
          <c:smooth val="1"/>
        </c:ser>
        <c:ser>
          <c:idx val="1"/>
          <c:order val="1"/>
          <c:tx>
            <c:v>f = 0,25</c:v>
          </c:tx>
          <c:spPr>
            <a:ln xmlns:a="http://schemas.openxmlformats.org/drawingml/2006/main" w="38100">
              <a:solidFill>
                <a:srgbClr val="4EA8DE"/>
              </a:solidFill>
              <a:prstDash val="solid"/>
            </a:ln>
          </c:spPr>
          <c:marker>
            <c:symbol val="diamond"/>
            <c:size val="7"/>
            <c:spPr>
              <a:solidFill xmlns:a="http://schemas.openxmlformats.org/drawingml/2006/main">
                <a:srgbClr val="4EA8DE"/>
              </a:solidFill>
            </c:spPr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25</c:v>
                </c:pt>
                <c:pt idx="1">
                  <c:v>50</c:v>
                </c:pt>
                <c:pt idx="2">
                  <c:v>75</c:v>
                </c:pt>
                <c:pt idx="3">
                  <c:v>100</c:v>
                </c:pt>
                <c:pt idx="4">
                  <c:v>150</c:v>
                </c:pt>
                <c:pt idx="5">
                  <c:v>200</c:v>
                </c:pt>
              </c:numCache>
            </c:numRef>
          </c:cat>
          <c:val>
            <c:numRef>
              <c:f>'Chart Data'!$D$2:$D$7</c:f>
              <c:numCache>
                <c:formatCode>0%</c:formatCode>
                <c:ptCount val="6"/>
                <c:pt idx="0">
                  <c:v>0.121</c:v>
                </c:pt>
                <c:pt idx="1">
                  <c:v>0.231</c:v>
                </c:pt>
                <c:pt idx="2">
                  <c:v>0.349</c:v>
                </c:pt>
                <c:pt idx="3">
                  <c:v>0.466</c:v>
                </c:pt>
                <c:pt idx="4">
                  <c:v>0.668</c:v>
                </c:pt>
                <c:pt idx="5">
                  <c:v>0.81</c:v>
                </c:pt>
              </c:numCache>
            </c:numRef>
          </c:val>
          <c:smooth val="1"/>
        </c:ser>
        <c:ser>
          <c:idx val="2"/>
          <c:order val="2"/>
          <c:tx>
            <c:v>f = 0,40</c:v>
          </c:tx>
          <c:spPr>
            <a:ln xmlns:a="http://schemas.openxmlformats.org/drawingml/2006/main" w="38100">
              <a:solidFill>
                <a:srgbClr val="80ED99"/>
              </a:solidFill>
              <a:prstDash val="solid"/>
            </a:ln>
          </c:spPr>
          <c:marker>
            <c:symbol val="square"/>
            <c:size val="7"/>
            <c:spPr>
              <a:solidFill xmlns:a="http://schemas.openxmlformats.org/drawingml/2006/main">
                <a:srgbClr val="80ED99"/>
              </a:solidFill>
            </c:spPr>
          </c:marker>
          <c:cat>
            <c:numRef>
              <c:f>'Chart Data'!$E$2:$E$7</c:f>
              <c:numCache>
                <c:formatCode>General</c:formatCode>
                <c:ptCount val="6"/>
                <c:pt idx="0">
                  <c:v>25</c:v>
                </c:pt>
                <c:pt idx="1">
                  <c:v>50</c:v>
                </c:pt>
                <c:pt idx="2">
                  <c:v>75</c:v>
                </c:pt>
                <c:pt idx="3">
                  <c:v>100</c:v>
                </c:pt>
                <c:pt idx="4">
                  <c:v>150</c:v>
                </c:pt>
                <c:pt idx="5">
                  <c:v>200</c:v>
                </c:pt>
              </c:numCache>
            </c:numRef>
          </c:cat>
          <c:val>
            <c:numRef>
              <c:f>'Chart Data'!$F$2:$F$7</c:f>
              <c:numCache>
                <c:formatCode>0%</c:formatCode>
                <c:ptCount val="6"/>
                <c:pt idx="0">
                  <c:v>0.259</c:v>
                </c:pt>
                <c:pt idx="1">
                  <c:v>0.554</c:v>
                </c:pt>
                <c:pt idx="2">
                  <c:v>0.771</c:v>
                </c:pt>
                <c:pt idx="3">
                  <c:v>0.896</c:v>
                </c:pt>
                <c:pt idx="4">
                  <c:v>0.983</c:v>
                </c:pt>
                <c:pt idx="5">
                  <c:v>0.998</c:v>
                </c:pt>
              </c:numCache>
            </c:numRef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7B7C9"/>
                    </a:solidFill>
                  </a:rPr>
                  <a:t>общий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7B7C9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9425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7B7C9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7B7C9"/>
                    </a:solidFill>
                  </a:rPr>
                  <a:t>мощность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7B7C9"/>
                  </a:solidFill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29425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7B7C9"/>
                </a:solidFill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0D1B2E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7B7C9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0D1B2E"/>
    </a:solidFill>
    <a:ln xmlns:a="http://schemas.openxmlformats.org/drawingml/2006/main" w="9525">
      <a:solidFill>
        <a:srgbClr val="29425E"/>
      </a:solidFill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Мощность</c:v>
          </c:tx>
          <c:spPr>
            <a:ln xmlns:a="http://schemas.openxmlformats.org/drawingml/2006/main" w="38100">
              <a:solidFill>
                <a:srgbClr val="FF7B7B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FF7B7B"/>
              </a:solidFill>
            </c:spPr>
          </c:marker>
          <c:cat>
            <c:strRef>
              <c:f>'Chart Data'!$A$2:$A$5</c:f>
              <c:strCache>
                <c:ptCount val="4"/>
                <c:pt idx="0">
                  <c:v>0,01</c:v>
                </c:pt>
                <c:pt idx="1">
                  <c:v>0,025</c:v>
                </c:pt>
                <c:pt idx="2">
                  <c:v>0,05</c:v>
                </c:pt>
                <c:pt idx="3">
                  <c:v>0,10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0.236</c:v>
                </c:pt>
                <c:pt idx="1">
                  <c:v>0.353</c:v>
                </c:pt>
                <c:pt idx="2">
                  <c:v>0.466</c:v>
                </c:pt>
                <c:pt idx="3">
                  <c:v>0.598</c:v>
                </c:pt>
              </c:numCache>
            </c:numRef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7B7C9"/>
                    </a:solidFill>
                  </a:rPr>
                  <a:t>уровень значимости α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7B7C9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9425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7B7C9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7B7C9"/>
                    </a:solidFill>
                  </a:rPr>
                  <a:t>1 − β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7B7C9"/>
                  </a:solidFill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29425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7B7C9"/>
                </a:solidFill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0D1B2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D1B2E"/>
    </a:solidFill>
    <a:ln xmlns:a="http://schemas.openxmlformats.org/drawingml/2006/main" w="9525">
      <a:solidFill>
        <a:srgbClr val="29425E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2E30DF-A19B-44DE-83C6-6F7F2E8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60B34-BE2B-4E0B-9A10-CA57A21B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F939F-D4F1-407D-B56C-4B81A9F2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ДИСПЕРСИОННЫЙ АНАЛИЗ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782D2-10ED-44BC-B7A6-FCDECEB2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Случайные эффекты</a:t>
            </a:r>
          </a:p>
          <a:p xmlns:a="http://schemas.openxmlformats.org/drawingml/2006/main">
            <a:pPr algn="l">
              <a:defRPr sz="43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и блочные планы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F2D7D-E6D1-487A-A5AE-BE84F148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От мощности F-теста до смешанных моделей в 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65C9C-20B1-419B-B253-5A884003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Переработанная лекция · 43 слайда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CEEB6-CF4F-43C5-ACCE-BF09014A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123950"/>
            <a:ext cx="24765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C7D0A-1C85-4F20-8626-78A3F8AD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668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POWER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8077F5-15E7-4079-825A-E5C79EE2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478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11E67-5AF3-4678-95D9-F5BD7DE7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47900"/>
            <a:ext cx="24765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DECDA1-2031-4414-8285-A49E610C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907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RANDOM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1446D8-22F4-4CCC-8E91-09609A35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718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5429E1-11F6-4426-8A2C-CC1D68BD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71850"/>
            <a:ext cx="24765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C4A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5A5BB-4E4A-4E38-A280-8950CAF2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147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NESTED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D994FA-6CC3-4FEE-A66E-0E3D0253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957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A3EBC6-9592-4301-905B-CE43536E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95800"/>
            <a:ext cx="24765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19CCF3-CB90-4E15-AA95-C13EB10B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386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BLOCKS</a:t>
            </a:r>
          </a:p>
        </p:txBody>
      </p:sp>
    </p:spTree>
    <p:extLst>
      <p:ext uri="{BB962C8B-B14F-4D97-AF65-F5344CB8AC3E}">
        <p14:creationId xmlns:p14="http://schemas.microsoft.com/office/powerpoint/2010/main" val="2110035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CEB216-35A9-4335-A786-BD5E7F94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90F4F-CEFE-4BEC-8917-7E5A183A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19B41-2728-4B1B-8938-F2F047C3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ВВЕДЕНИЕ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F0FF8-B627-41F8-A7FA-EFC7B109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КАРТА КУРСА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E2D5E-DDA0-4399-8900-92D6E30F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Логика лекции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DB9DF-584D-4642-934C-5446E391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2457450" cy="33909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A33E1-2967-45C6-8A32-EFC30372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66B1A-BE37-4552-82D7-ED7E55BD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Спланировать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01879-08B0-472E-A051-1452863A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20764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Связать эффект, объём выборки и мощность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87918D-113D-4EBA-AD54-A151A1FC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543050"/>
            <a:ext cx="2457450" cy="33909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D19F1F-62A5-4733-947A-A1C44940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77165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FDCF45-3D2C-4AD3-984E-1EFFF998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9080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Разложить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6A806C-981E-4812-9D07-469A8501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33750"/>
            <a:ext cx="20764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Отделить вариацию объектов от ошибки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38E4B9-88F4-4A9C-9707-AB526CBA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43050"/>
            <a:ext cx="2457450" cy="33909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C4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2D6D45-4096-4F49-816C-008261CD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7165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19B79E-1349-4788-B031-4A70941B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9080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Выбрать тест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15414A-AE95-496E-8E20-2031748A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33750"/>
            <a:ext cx="20764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Прочитать EMS и найти знаменатель 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CE666A-32AA-4388-A55A-6D07AEA7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43050"/>
            <a:ext cx="2457450" cy="33909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1CADE0-B7AC-4887-AE54-2672F808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7165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B12B5B-B008-47C8-896D-B8B2C064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9080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Заблокировать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597592-1559-4344-B996-EFB09A8D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33750"/>
            <a:ext cx="20764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Снизить шум известного источника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D4ACC9-91CE-4811-B137-CE2D35AD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673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На каждом этапе — формула, интерпретация и способ воспроизвести расчёт в Python</a:t>
            </a:r>
          </a:p>
        </p:txBody>
      </p:sp>
    </p:spTree>
    <p:extLst>
      <p:ext uri="{BB962C8B-B14F-4D97-AF65-F5344CB8AC3E}">
        <p14:creationId xmlns:p14="http://schemas.microsoft.com/office/powerpoint/2010/main" val="15526200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943B8-8679-44AE-BD5A-96A5C0F4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7976B-65B0-4E66-9A93-E401DEE2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CC5DB-A2FA-47CB-8141-50581F71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РАЗДЕЛ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B76C8-2AB6-461A-8335-F782E99B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2190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885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1D27F-2E54-4F2A-9B67-13F59277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43050"/>
            <a:ext cx="800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Мощность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CD90B-8914-4DBB-A2B3-C2D899EC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813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Как вероятность обнаружить эффект зависит от λ, α и объёма выборки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6712D-541E-4A99-AD06-CCDE07B2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95750"/>
            <a:ext cx="590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304607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76D94F-01F9-4D73-8ED8-33C11926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5CF81-A98F-4136-9195-89B820BF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6472D-D567-4D86-AB98-D68FE91E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МОЩНОСТЬ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E33B4-A76B-41B1-862F-CE5C7E1B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БАЗОВЫЕ ОПРЕДЕЛЕНИЯ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1ED62-DC75-430A-8A02-E1DEE4A9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α, β и мощность — три разные величины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AE452-122C-42F9-A749-6AC94C70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781300" cy="3238500"/>
          </a:xfrm>
          <a:prstGeom xmlns:a="http://schemas.openxmlformats.org/drawingml/2006/main" prst="roundRect">
            <a:avLst>
              <a:gd name="adj" fmla="val 6164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63FC2D-C2E3-4F85-83A4-BD5D3191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50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882D5-B87E-4913-9AB1-06FA07B0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2324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Ошибка I рода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48BB9C-53BE-4F27-9D78-DCB91B62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Отклонить H₀, когда она верна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3D401E-234A-47A0-B1F4-0F5D4BAC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19250"/>
            <a:ext cx="2781300" cy="3238500"/>
          </a:xfrm>
          <a:prstGeom xmlns:a="http://schemas.openxmlformats.org/drawingml/2006/main" prst="roundRect">
            <a:avLst>
              <a:gd name="adj" fmla="val 6164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C4A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C9753C-E8D3-4740-B0BC-AD2BE8EF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669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50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6A713-763A-4B95-82BD-D1FC78A5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28950"/>
            <a:ext cx="2324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Ошибка II рода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841BF2-B8AC-4E75-8F55-61AEAEB6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71475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Не обнаружить реально существующий эффект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406D72-2A28-49EB-8C0E-08728DD1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19250"/>
            <a:ext cx="2781300" cy="3238500"/>
          </a:xfrm>
          <a:prstGeom xmlns:a="http://schemas.openxmlformats.org/drawingml/2006/main" prst="roundRect">
            <a:avLst>
              <a:gd name="adj" fmla="val 6164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BCD778-848C-4E29-9B15-61436771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669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50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1 − 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B88D8C-3BF7-4284-9B1A-5D1C8439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28950"/>
            <a:ext cx="2324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Мощность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222D0F-2A5C-4FA6-9EDA-7BCC9A79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Обнаружить эффект заданной величины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DBA72D-4E35-4AC8-8238-771536B8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76850"/>
            <a:ext cx="96012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224AA0-4640-4F0D-842E-223B2ABE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76850"/>
            <a:ext cx="960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0" tIns="114300" rIns="1905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Цель планирования: выбрать N так, чтобы 1 − β ≥ 0,80 при заранее заданных α и эффекте</a:t>
            </a:r>
          </a:p>
        </p:txBody>
      </p:sp>
    </p:spTree>
    <p:extLst>
      <p:ext uri="{BB962C8B-B14F-4D97-AF65-F5344CB8AC3E}">
        <p14:creationId xmlns:p14="http://schemas.microsoft.com/office/powerpoint/2010/main" val="7112088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66399-D83F-41B3-8B99-5D231665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95C7A-2817-4254-B2FD-9C03638B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C1160-FAC9-4E42-A1C6-DC085E56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МОЩНОСТЬ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8F639-1225-457E-97BA-11230F56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МЕХАНИКА ТЕСТА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68086-93C8-40DA-B2E4-8AB23576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Почему появляется нецентральное F-распределение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28650" y="1409700"/>
          <a:ext xmlns:a="http://schemas.openxmlformats.org/drawingml/2006/main" cx="7239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59cd6f77d2417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CE6A4-FFD2-4748-A0B8-9A138084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43050"/>
            <a:ext cx="3143250" cy="35623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5B31C-8D05-4354-A986-4566E20C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Критическая область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8DCD8-51C2-47EA-8B4F-A9C2E6DD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57450"/>
            <a:ext cx="25336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При H₀ статистика имеет центральное F-распределение.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При H₁ распределение сдвигается вправо; сдвиг задаёт λ.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Мощность — площадь H₁ правее критического F.</a:t>
            </a:r>
          </a:p>
        </p:txBody>
      </p:sp>
    </p:spTree>
    <p:extLst>
      <p:ext uri="{BB962C8B-B14F-4D97-AF65-F5344CB8AC3E}">
        <p14:creationId xmlns:p14="http://schemas.microsoft.com/office/powerpoint/2010/main" val="13774667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E69E93-9B35-4B5D-8E53-333AFC54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EB0EB-A3DF-42CF-A65B-320C62D7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A328F-28EB-47CA-8C88-F5EE3B9F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МОЩНОСТЬ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BCB43-54D9-4F5A-8397-E872DDEC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ИСПРАВЛЕНИЕ ОБОЗНАЧЕНИЙ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0E3A0-2B01-443C-B074-7DE0711C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Параметр нецентральности λ собирает сигнал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E2EF2-0C97-409E-A6AD-863E62F0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504950"/>
            <a:ext cx="948690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3979A4-EC50-477B-9093-BB3C9CBC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504950"/>
            <a:ext cx="94869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0" tIns="114300" rIns="1905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0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3600" b="0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λ = n · Σᵢ αᵢ² / σ² = N · f²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79221-8A43-429A-9D73-E9E04FF0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24003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98EDFB-7612-4558-B9F6-6F917696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n / 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DE63E-76FB-4124-89E1-0A18624D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повторы на группу / общий объём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657F8-B4ED-4FA4-BB5A-1C333313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09950"/>
            <a:ext cx="24003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CC2C2B-8AF0-4737-A0DA-2D1F24CB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195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αᵢ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96DCA8-083B-4FAF-8C0F-1577F909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4815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отклонение среднего группы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BB24A6-9B43-4854-9D10-5D7BA456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9950"/>
            <a:ext cx="24003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C4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A2B815-8534-4F79-8969-8A829C5E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σ²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B31DFE-31B0-4CD8-B3C7-03F9B828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4815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остаточная дисперсия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3B1FFF-FD00-4E09-8D14-3FC88BA2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09950"/>
            <a:ext cx="24003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5817EE-989D-479E-8F05-EAA15575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195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B81A93-11D9-40E5-96BD-EC82D632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4815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стандартизованный эффект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8C6D1E-BC7A-47CB-9E74-639693C1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11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В исходной версии буквой f был назван параметр нецентральности; корректное обозначение здесь — λ.</a:t>
            </a:r>
          </a:p>
        </p:txBody>
      </p:sp>
    </p:spTree>
    <p:extLst>
      <p:ext uri="{BB962C8B-B14F-4D97-AF65-F5344CB8AC3E}">
        <p14:creationId xmlns:p14="http://schemas.microsoft.com/office/powerpoint/2010/main" val="5875181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6D915-66F3-433A-9377-EAA4D6F6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AEE4B-CFBD-47FD-9CAA-984894F4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11CEA-6D07-4385-B42A-6879B9BE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МОЩНОСТЬ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B32E0-7A31-47B6-BF1D-8880FC68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СВЯЗЬ СИГНАЛА И РЕШЕНИЯ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0833F-C3B4-435E-9F09-D5F9F0D8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Чем больше λ, тем выше мощность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762000" y="1428750"/>
          <a:ext xmlns:a="http://schemas.openxmlformats.org/drawingml/2006/main" cx="7810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0d49f705554b4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5344CA-4915-4DFD-BF86-EE587BD6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95450"/>
            <a:ext cx="2381250" cy="3143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EDE1F-2205-48B1-9E65-EA1B80F7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0025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Порог 0,80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4CCB5-0123-403E-BBF8-740EFF74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81300"/>
            <a:ext cx="19240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Для этого примера он достигается примерно при λ ≈ 14.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4CFC7B-3C44-494B-8DA8-ACA46911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719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df₁ = 4 · df₂ = 40 · α = 0,05</a:t>
            </a:r>
          </a:p>
        </p:txBody>
      </p:sp>
    </p:spTree>
    <p:extLst>
      <p:ext uri="{BB962C8B-B14F-4D97-AF65-F5344CB8AC3E}">
        <p14:creationId xmlns:p14="http://schemas.microsoft.com/office/powerpoint/2010/main" val="6755913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F63344-8350-4209-BDBD-5DC619D8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4C977-F651-4E4C-97A6-1CF65151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8DBA6-49BC-4AA2-AC4F-45711B6F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МОЩНОСТЬ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3DB7F-FE15-46C2-B55F-E6AC54AA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ПЛАНИРОВАНИЕ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3FC941-B47A-4115-8AD0-4B88DBCE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Объём выборки помогает только вместе с эффектом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47700" y="1371600"/>
          <a:ext xmlns:a="http://schemas.openxmlformats.org/drawingml/2006/main" cx="8001000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c53aa1d93a439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E8B49-AA2D-4B57-8AAB-538D34A0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19250"/>
            <a:ext cx="2400300" cy="34290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DC390-9F4B-4267-8F18-F5D1DF5E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43100"/>
            <a:ext cx="1943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Одна кривая</a:t>
            </a:r>
          </a:p>
          <a:p xmlns:a="http://schemas.openxmlformats.org/drawingml/2006/main">
            <a:pPr algn="ctr">
              <a:defRPr sz="2025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не универсальна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230C4E-703C-480C-BC46-E3AC1DDE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86100"/>
            <a:ext cx="19431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Нужен ожидаемый эффект f.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Учитывайте число групп k.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Планируйте запас на потери.</a:t>
            </a:r>
          </a:p>
        </p:txBody>
      </p:sp>
    </p:spTree>
    <p:extLst>
      <p:ext uri="{BB962C8B-B14F-4D97-AF65-F5344CB8AC3E}">
        <p14:creationId xmlns:p14="http://schemas.microsoft.com/office/powerpoint/2010/main" val="16364758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D6849C-C117-4FA0-93A3-0D5DCAE4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A9659-754F-4CBA-A6F8-9521D2B5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A5034-0D8B-464C-8527-37E1FC07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МОЩНОСТЬ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991C8-C33E-430C-A9B0-88A3EE25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КОМПРОМИСС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CDF45-E4F3-46F8-ADBD-13535718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Рост α повышает мощность — и риск ложного открытия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723900" y="1524000"/>
          <a:ext xmlns:a="http://schemas.openxmlformats.org/drawingml/2006/main" cx="6667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dfe73d5e95402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895C5-5186-4720-B6D4-06289C20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19250"/>
            <a:ext cx="352425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FE7C0-3718-4CCF-A5B8-4E84737C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9525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8111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111F"/>
                </a:solidFill>
                <a:latin typeface="Arial"/>
                <a:ea typeface="Arial"/>
                <a:cs typeface="Arial"/>
              </a:rPr>
              <a:t>МЕНЬШЕ 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E6043-0784-45B1-B6FB-594219DB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288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Строже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F88E0-2CDB-4E1F-A7CB-E2FAF10D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Меньше ложных открытий, но ниже мощность при том же 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FF7B4C-3890-4F39-B5C1-D105677A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86150"/>
            <a:ext cx="352425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0DFB11-CBD0-427B-9346-9A8EEFBC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9525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8111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111F"/>
                </a:solidFill>
                <a:latin typeface="Arial"/>
                <a:ea typeface="Arial"/>
                <a:cs typeface="Arial"/>
              </a:rPr>
              <a:t>БОЛЬШЕ 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EFDA85-5108-4AFF-827C-13BA7516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957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Чувствительнее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3B827-C7A7-489E-89C7-B89E68C3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434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Выше мощность и одновременно выше риск ошибки I рода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1C2415-B5E0-4565-9A3F-12CAC85E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α выбирают до анализа, исходя из цены ошибок — не для получения значимого результата.</a:t>
            </a:r>
          </a:p>
        </p:txBody>
      </p:sp>
    </p:spTree>
    <p:extLst>
      <p:ext uri="{BB962C8B-B14F-4D97-AF65-F5344CB8AC3E}">
        <p14:creationId xmlns:p14="http://schemas.microsoft.com/office/powerpoint/2010/main" val="19617972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F9A06C-B561-4519-9E14-44BE8523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9C63A-B7E0-4F34-902E-CCA8CEA1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D5F33-2841-4EA9-9324-07C826EA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МОЩНОСТЬ · PYTHON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91333-17CC-4E20-948B-31EF26C8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STATSMODELS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B03434-96A4-460A-9ACE-2835013A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Python: вычислить мощность заданного плана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F72B7B-BA36-4BC8-BF3E-6692AC89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6953250" cy="419100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  <p:txBody>
          <a:bodyPr xmlns:a="http://schemas.openxmlformats.org/drawingml/2006/main" wrap="none" lIns="190500" tIns="171450" rIns="190500" bIns="13335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from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statsmodels.stats.power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import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FTestAnovaPower</a:t>
            </a:r>
          </a:p>
          <a:p xmlns:a="http://schemas.openxmlformats.org/drawingml/2006/main">
            <a:pPr>
              <a:defRPr sz="15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5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analysis = FTestAnovaPower()</a:t>
            </a:r>
          </a:p>
          <a:p xmlns:a="http://schemas.openxmlformats.org/drawingml/2006/main">
            <a:pPr>
              <a:defRPr sz="15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power = analysis.power(</a:t>
            </a:r>
          </a:p>
          <a:p xmlns:a="http://schemas.openxmlformats.org/drawingml/2006/main">
            <a:pPr>
              <a:defRPr sz="15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effect_size=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0.25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</a:t>
            </a:r>
          </a:p>
          <a:p xmlns:a="http://schemas.openxmlformats.org/drawingml/2006/main">
            <a:pPr>
              <a:defRPr sz="15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nobs=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100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</a:t>
            </a:r>
          </a:p>
          <a:p xmlns:a="http://schemas.openxmlformats.org/drawingml/2006/main">
            <a:pPr>
              <a:defRPr sz="15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alpha=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0.05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</a:t>
            </a:r>
          </a:p>
          <a:p xmlns:a="http://schemas.openxmlformats.org/drawingml/2006/main">
            <a:pPr>
              <a:defRPr sz="15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k_groups=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5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</a:t>
            </a:r>
          </a:p>
          <a:p xmlns:a="http://schemas.openxmlformats.org/drawingml/2006/main">
            <a:pPr>
              <a:defRPr sz="15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57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EA8DE"/>
                </a:solidFill>
                <a:latin typeface="Menlo"/>
                <a:ea typeface="Menlo"/>
                <a:cs typeface="Menlo"/>
              </a:rPr>
              <a:t>print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4EA8DE"/>
                </a:solidFill>
                <a:latin typeface="Menlo"/>
                <a:ea typeface="Menlo"/>
                <a:cs typeface="Menlo"/>
              </a:rPr>
              <a:t>round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(power, 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))  </a:t>
            </a:r>
            <a:r>
              <a:rPr>
                <a:solidFill>
                  <a:srgbClr val="80ED99"/>
                </a:solidFill>
                <a:latin typeface="Menlo"/>
                <a:ea typeface="Menlo"/>
                <a:cs typeface="Menlo"/>
              </a:rPr>
              <a:t># 0.466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03B8E-F73B-48B9-BFAB-D0B8B270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62100"/>
            <a:ext cx="3105150" cy="3371850"/>
          </a:xfrm>
          <a:prstGeom xmlns:a="http://schemas.openxmlformats.org/drawingml/2006/main" prst="roundRect">
            <a:avLst>
              <a:gd name="adj" fmla="val 5521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EBA78-17C1-44AF-B6B3-E5886B1E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478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Что передаём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E7ACD-78D6-4C36-8365-2CF4ECF3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71750"/>
            <a:ext cx="24003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f — эффект Коэна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nobs — общий N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alpha — уровень α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k_groups — число групп</a:t>
            </a:r>
          </a:p>
        </p:txBody>
      </p:sp>
    </p:spTree>
    <p:extLst>
      <p:ext uri="{BB962C8B-B14F-4D97-AF65-F5344CB8AC3E}">
        <p14:creationId xmlns:p14="http://schemas.microsoft.com/office/powerpoint/2010/main" val="5927025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F35D3-5026-45D1-B90B-E9687BE3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ECF26-7336-421D-AF44-6CBF0952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DBC89-10CB-4464-AEFB-4E73402F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МОЩНОСТЬ · PYTHON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65F99-BF5B-433A-BD8C-7E399E85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ОБРАТНАЯ ЗАДАЧА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9CCBB-0430-4AB7-9D9C-A5632317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Python: найти N для целевой мощности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81A11-84B6-4649-8976-54D7CF26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14450"/>
            <a:ext cx="74295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  <p:txBody>
          <a:bodyPr xmlns:a="http://schemas.openxmlformats.org/drawingml/2006/main" wrap="none" lIns="190500" tIns="171450" rIns="190500" bIns="13335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from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statsmodels.stats.power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import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FTestAnovaPower</a:t>
            </a:r>
          </a:p>
          <a:p xmlns:a="http://schemas.openxmlformats.org/drawingml/2006/main">
            <a:pPr>
              <a:defRPr sz="150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50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analysis = FTestAnovaPower()</a:t>
            </a:r>
          </a:p>
          <a:p xmlns:a="http://schemas.openxmlformats.org/drawingml/2006/main">
            <a:pPr>
              <a:defRPr sz="150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n_total = analysis.solve_power(</a:t>
            </a:r>
          </a:p>
          <a:p xmlns:a="http://schemas.openxmlformats.org/drawingml/2006/main">
            <a:pPr>
              <a:defRPr sz="150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effect_size=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0.25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</a:t>
            </a:r>
          </a:p>
          <a:p xmlns:a="http://schemas.openxmlformats.org/drawingml/2006/main">
            <a:pPr>
              <a:defRPr sz="150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alpha=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0.05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</a:t>
            </a:r>
          </a:p>
          <a:p xmlns:a="http://schemas.openxmlformats.org/drawingml/2006/main">
            <a:pPr>
              <a:defRPr sz="150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power=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0.80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</a:t>
            </a:r>
          </a:p>
          <a:p xmlns:a="http://schemas.openxmlformats.org/drawingml/2006/main">
            <a:pPr>
              <a:defRPr sz="150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k_groups=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5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</a:t>
            </a:r>
          </a:p>
          <a:p xmlns:a="http://schemas.openxmlformats.org/drawingml/2006/main">
            <a:pPr>
              <a:defRPr sz="150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50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EA8DE"/>
                </a:solidFill>
                <a:latin typeface="Menlo"/>
                <a:ea typeface="Menlo"/>
                <a:cs typeface="Menlo"/>
              </a:rPr>
              <a:t>print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(n_total)        </a:t>
            </a:r>
            <a:r>
              <a:rPr>
                <a:solidFill>
                  <a:srgbClr val="80ED99"/>
                </a:solidFill>
                <a:latin typeface="Menlo"/>
                <a:ea typeface="Menlo"/>
                <a:cs typeface="Menlo"/>
              </a:rPr>
              <a:t># 195.77</a:t>
            </a:r>
          </a:p>
          <a:p xmlns:a="http://schemas.openxmlformats.org/drawingml/2006/main">
            <a:pPr>
              <a:defRPr sz="150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EA8DE"/>
                </a:solidFill>
                <a:latin typeface="Menlo"/>
                <a:ea typeface="Menlo"/>
                <a:cs typeface="Menlo"/>
              </a:rPr>
              <a:t>print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4EA8DE"/>
                </a:solidFill>
                <a:latin typeface="Menlo"/>
                <a:ea typeface="Menlo"/>
                <a:cs typeface="Menlo"/>
              </a:rPr>
              <a:t>int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(n_total / 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5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 + 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  </a:t>
            </a:r>
            <a:r>
              <a:rPr>
                <a:solidFill>
                  <a:srgbClr val="80ED99"/>
                </a:solidFill>
                <a:latin typeface="Menlo"/>
                <a:ea typeface="Menlo"/>
                <a:cs typeface="Menlo"/>
              </a:rPr>
              <a:t># 40 на группу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28B69-38AF-4FC0-95D6-D6D0E150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71650"/>
            <a:ext cx="2324100" cy="15430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498F6-B936-45DB-8287-20820E9D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71650"/>
            <a:ext cx="23241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0" tIns="114300" rIns="1905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N ≈ 196</a:t>
            </a:r>
          </a:p>
          <a:p xmlns:a="http://schemas.openxmlformats.org/drawingml/2006/main">
            <a:pPr algn="ctr">
              <a:defRPr sz="2175" b="0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40 на группу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6809A-CF9C-4BD5-B24A-1B72443A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14750"/>
            <a:ext cx="2247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+ запас на пропуски</a:t>
            </a:r>
          </a:p>
          <a:p xmlns:a="http://schemas.openxmlformats.org/drawingml/2006/main">
            <a:pPr algn="ctr">
              <a:defRPr sz="1650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и неравные группы</a:t>
            </a:r>
          </a:p>
        </p:txBody>
      </p:sp>
    </p:spTree>
    <p:extLst>
      <p:ext uri="{BB962C8B-B14F-4D97-AF65-F5344CB8AC3E}">
        <p14:creationId xmlns:p14="http://schemas.microsoft.com/office/powerpoint/2010/main" val="10620996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7A69F4-4DB4-4DAA-BD6B-78D00C36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6E974-910B-4FB2-BE4A-796C1240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B8AD2-C821-41C0-811D-4B240DB1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МОЩНОСТЬ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FA698-90FE-47FD-BBBB-938A9BB4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РАБОЧИЙ РАСЧЁТ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A595C-9652-49E5-870B-B7A4F30D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Пример: сравнение пяти режимов обработки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7FB52-67FB-4C4C-BC47-74C79ABE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32385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67407-CC6B-4C1A-86D7-E20CFF07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33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8111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8111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B9E61-7765-489E-B06D-87794E2B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526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Зафиксировать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BC678-4A48-43EF-ABC7-A42A8410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α = 0,05; мощность = 0,80; k =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EC99D4-506D-4C04-B717-A497937C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81150"/>
            <a:ext cx="32385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15CEBA-51F1-4B19-9BC8-F736A69E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33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8111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8111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18FC7C-F248-4556-A209-AA0B2622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526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Оценить эффект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C82BDE-8EA5-4F43-8C07-D85B6193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2410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Из пилота или минимально важного различия: f = 0,25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186D19-73F2-4F6E-9C56-CEE26F6F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81150"/>
            <a:ext cx="32385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F10857-33D3-4D89-959E-1AC9E7F3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33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8111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8111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0F4D62-EB67-4C20-A7F9-FFF3DB23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526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Рассчитать 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F6F19C-E74D-403E-BA9C-9689D7FC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2410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solve_power → 195,77; округляем до 200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ACFAC1-D029-4150-B1F1-3FCF2525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526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787614-FF3A-4EF5-8527-7B6FC1D8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526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C3CCAD-AB00-4DC6-95C4-B5F8E324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886200"/>
            <a:ext cx="86868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48CA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956A5C-DCA5-4D6D-8D61-47956021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33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Практический план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56BB28-B3F6-4640-86E5-FD9E727F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7053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40 наблюдений × 5 групп; при 10% потерь — набрать 45 × 5 = 225</a:t>
            </a:r>
          </a:p>
        </p:txBody>
      </p:sp>
    </p:spTree>
    <p:extLst>
      <p:ext uri="{BB962C8B-B14F-4D97-AF65-F5344CB8AC3E}">
        <p14:creationId xmlns:p14="http://schemas.microsoft.com/office/powerpoint/2010/main" val="10922241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F18C94-D4FA-41E7-ABCD-46DE30A2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0B8E9-672D-44BE-9F60-E9FAE40A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A0A69-8B60-4EA4-AFC5-BCA2EDEC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МОЩНОСТЬ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6FAE6-D730-4689-B4BB-C30A86E6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ИТОГ РАЗДЕЛА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1E274-EC26-43CC-962E-64E59349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Алгоритм планирования мощности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A1BC9-F0CE-4E66-B313-D4BF0E18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2324100" cy="251460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0F3DE-B2B9-4A8E-B3C6-F1D29716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38350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50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A97885-9CDE-434A-83BB-D116AB35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Сформулировать H₀ и тест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2E0EA-00E3-48D6-B232-D6CB856E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813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476E2D-6C8B-4870-9B77-F161BD41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09750"/>
            <a:ext cx="2324100" cy="251460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B9BA6-8C98-4C74-9729-463FD8CA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38350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50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7C5210-8036-4184-9F6B-23B91AF7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8135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Задать α и целевую мощность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36C785-AD24-454F-A890-EFE4B92B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813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E787F-E295-4E0E-9FC9-F57F9681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09750"/>
            <a:ext cx="2324100" cy="251460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582EC7-471C-4435-8670-885B3143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38350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50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C5C2EB-5DDF-4930-B5AF-1BB13E7E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8135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Определить минимальный эффект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4988C8-1E34-4677-9CC5-19015CD5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813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9D8E50-6AFD-4240-B21A-9DB4E900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09750"/>
            <a:ext cx="2324100" cy="251460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0B9F70-6241-440F-A44D-D8F71B17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38350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50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33EA5A-79CD-4FE1-BAC1-1F9B001E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8135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Рассчитать N и добавить запас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825556-C90D-400E-BA61-57695B71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91440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290D37-EADB-4307-BB6D-ED629121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914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0" tIns="114300" rIns="1905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Не подбирайте α после данных и не заменяйте ожидаемый эффект «удобным» значением.</a:t>
            </a:r>
          </a:p>
        </p:txBody>
      </p:sp>
    </p:spTree>
    <p:extLst>
      <p:ext uri="{BB962C8B-B14F-4D97-AF65-F5344CB8AC3E}">
        <p14:creationId xmlns:p14="http://schemas.microsoft.com/office/powerpoint/2010/main" val="6258162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753696-E1CB-4A4D-A0B2-2CBFE761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8A860-C6C6-4532-B2AD-99711211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537E1-12C9-4976-9F1C-267524FD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РАЗДЕЛ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7C872-A8EE-4D32-8725-7CD43160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2190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885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DD0D1-2D02-4DE6-AAD0-8D5D8B1E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43050"/>
            <a:ext cx="800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Случайные эффекты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3605A7-CB82-443C-A0C5-B4A799A3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813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Дисперсионные компоненты, EMS и смешанные модели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B31CBD-859C-4BF7-AAF3-3E524462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95750"/>
            <a:ext cx="590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671711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514332-EFDC-4E15-9E1E-6283778E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47EAF-CCCD-478A-8684-5F2A35C8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F4716-151C-4CB9-A042-3ADFD439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СЛУЧАЙНЫЕ ЭФФЕКТЫ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13B1B-BE09-480B-806F-AEEBAB03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ВЫБОР ИНТЕРПРЕТАЦИИ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37008-1FB6-497A-AB1B-69B12DEC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Фиксированный или случайный фактор?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ADCA0-9337-4843-8669-3113C50A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50673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F9551-C769-4059-AEAF-F512D6C3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383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9525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8111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111F"/>
                </a:solidFill>
                <a:latin typeface="Arial"/>
                <a:ea typeface="Arial"/>
                <a:cs typeface="Arial"/>
              </a:rPr>
              <a:t>FIXED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2E744-F548-4088-8348-5BD7F242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464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Фиксированный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F855D-8FC6-4257-8E1F-6CC85CB6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46482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6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4F7FB"/>
                </a:solidFill>
                <a:latin typeface="Arial"/>
                <a:ea typeface="Arial"/>
                <a:cs typeface="Arial"/>
              </a:rPr>
              <a:t>Интересуют именно выбранные уровни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6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4F7FB"/>
                </a:solidFill>
                <a:latin typeface="Arial"/>
                <a:ea typeface="Arial"/>
                <a:cs typeface="Arial"/>
              </a:rPr>
              <a:t>Оцениваем различия средних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6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Пример: три заданных технологии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3332E-9ED3-4A41-B5D8-6890E8D1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28750"/>
            <a:ext cx="50673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62036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3B692-D0EB-4C39-A3B0-AC379C70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383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9525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8111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111F"/>
                </a:solidFill>
                <a:latin typeface="Arial"/>
                <a:ea typeface="Arial"/>
                <a:cs typeface="Arial"/>
              </a:rPr>
              <a:t>RANDOM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5CDCC2-7239-4B89-A0A4-ACA327F3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33600"/>
            <a:ext cx="464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Случайный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E96796-C6D1-424D-94D7-F28D67B1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57500"/>
            <a:ext cx="46482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6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4F7FB"/>
                </a:solidFill>
                <a:latin typeface="Arial"/>
                <a:ea typeface="Arial"/>
                <a:cs typeface="Arial"/>
              </a:rPr>
              <a:t>Уровни — выборка из популяции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6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4F7FB"/>
                </a:solidFill>
                <a:latin typeface="Arial"/>
                <a:ea typeface="Arial"/>
                <a:cs typeface="Arial"/>
              </a:rPr>
              <a:t>Оцениваем дисперсию между уровнями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6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Пример: случайно выбранные партии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7D439D-0A0E-40E7-A234-90C9674E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721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Тип фактора задаёт цель вывода, а не только способ кодирования.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19147064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CE4259-BA38-41A6-B808-04ADA63E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CE719-A8A9-4037-A67E-3C27F1F8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2B16D-0C67-4003-A83A-0FA0D634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СЛУЧАЙНЫЕ ЭФФЕКТЫ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69A70-F2E7-446C-BC4F-9BFB54D9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7F002-1802-43B7-A2F5-74C33629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Однофакторная модель со случайным эффектом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C6FBD-DCB4-4E30-89A5-DD42CBCD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428750"/>
            <a:ext cx="93726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EDA9B-8F30-489A-A9EC-F09DA540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428750"/>
            <a:ext cx="9372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0" tIns="114300" rIns="1905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0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3600" b="0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yᵢⱼ = μ + aᵢ + εᵢⱼ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9CD5A-9A5D-4768-B2D2-FB635421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3143250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00760-4104-4268-868C-DDE39D25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48050"/>
            <a:ext cx="81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aᵢ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B5F80-DB4E-4759-9E5B-79EE246A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4290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между объектами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22C87-9FE1-41DD-8C70-46D67CEE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481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N(0, σ²ₐ)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C39549-6D35-4C94-BB3E-16E52B92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19450"/>
            <a:ext cx="3143250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8ECAB-6075-43C3-84BF-CE0CA08C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48050"/>
            <a:ext cx="81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εᵢⱼ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0F660F-21BA-4291-9AE2-B3C30DFE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290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внутри объекта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53A1A3-1204-4460-8E2E-8693ED53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481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N(0, σ²)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A62423-BC90-460E-B266-95AD07B8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19450"/>
            <a:ext cx="3143250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9ED00E-D3A4-4A29-AEDC-D0B2491E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48050"/>
            <a:ext cx="81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a ⟂ 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7FF26C-076D-4F87-BC6D-326149DA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290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независимость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5695B3-814F-429B-B53D-FB018C00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и между уровнями</a:t>
            </a:r>
          </a:p>
        </p:txBody>
      </p:sp>
    </p:spTree>
    <p:extLst>
      <p:ext uri="{BB962C8B-B14F-4D97-AF65-F5344CB8AC3E}">
        <p14:creationId xmlns:p14="http://schemas.microsoft.com/office/powerpoint/2010/main" val="12249603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65A2D6-6A97-49B0-B025-2E917319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97D1A-3B0B-4A70-87CF-B358F5BD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79BE8-ED2C-42E7-B69A-A7B64C21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СЛУЧАЙНЫЕ ЭФФЕКТЫ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FFD33-E52D-429C-935F-4EEC5932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ДИСПЕРСИОННЫЕ КОМПОНЕНТЫ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092AB-CD3D-47A9-9FE4-0AB9C741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Вариация раскладывается на два источника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0D8349-29D8-4E6D-A14A-AA354D7F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66675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FA462-52B9-4BB0-876F-30546F9F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28800"/>
            <a:ext cx="6134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Var(y) = σ²ₐ + σ²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2092E-EFD0-4F2C-8535-995D757E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62100"/>
            <a:ext cx="367665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D93F68-0546-4C7F-A0C7-F9589126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181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ICC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143CA-CFC5-4E5C-96AB-2F0BE795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2990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σ²ₐ / (σ²ₐ + σ²)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EF325-D7F7-4C5F-9F4E-E8CB6D11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6720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доля общей вариации, связанная с группировкой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33FE48-1A65-43AC-A2E4-CD181BBC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438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206A3-A093-49C3-A433-6EC98B37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19550"/>
            <a:ext cx="422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111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111F"/>
                </a:solidFill>
                <a:latin typeface="Arial"/>
                <a:ea typeface="Arial"/>
                <a:cs typeface="Arial"/>
              </a:rPr>
              <a:t>между уровнями: σ²ₐ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443990-47F2-4CAF-93F2-CA7C1F00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905250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978FF3-07CA-4913-97D7-7BC61BFE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195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111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111F"/>
                </a:solidFill>
                <a:latin typeface="Arial"/>
                <a:ea typeface="Arial"/>
                <a:cs typeface="Arial"/>
              </a:rPr>
              <a:t>ошибка: σ²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6A0968-BB58-4800-8B46-6325F580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57800"/>
            <a:ext cx="1005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Высокий ICC означает: наблюдения внутри одного уровня похожи и не дают столько независимой информации, сколько кажется.</a:t>
            </a:r>
          </a:p>
        </p:txBody>
      </p:sp>
    </p:spTree>
    <p:extLst>
      <p:ext uri="{BB962C8B-B14F-4D97-AF65-F5344CB8AC3E}">
        <p14:creationId xmlns:p14="http://schemas.microsoft.com/office/powerpoint/2010/main" val="7768702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ED8F9E-F287-4B9D-9C6C-8B4B160B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D3580-F458-4462-A606-3A56A50D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79F4E-668C-4297-86CF-77FF7F85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СЛУЧАЙНЫЕ ЭФФЕКТЫ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215AA-852A-43DC-8847-36CC0F38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МЕТОД МОМЕНТОВ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CAA79-4A01-4197-9B15-83E1C259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Пример: вариация между партиями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ABB0E-5825-4D9E-B428-96DBE074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3429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2B42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4B458-7005-4E1C-BFC1-151156DF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320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Источник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1BB8B-E17D-4352-93F3-88E9B524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543050"/>
            <a:ext cx="2114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2B42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78B51-C767-4B70-B21F-73469E9E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57350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65D9A8-5B63-4550-A486-12F996DE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43050"/>
            <a:ext cx="4953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2B42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DB4256-416D-4036-9775-6D4B51AC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57350"/>
            <a:ext cx="472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4C731-C6B9-4A82-8FD9-F6DB2791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3429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7AF7FB-7344-441A-AB59-5A0B26E5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320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Партия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F159F2-3F31-4F4E-A997-877DF4F8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43150"/>
            <a:ext cx="2114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9D1B15-82B1-4A5F-8F61-7AF40F33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57450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36,933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16659-ECCF-43AA-844D-FA1B1AEC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43150"/>
            <a:ext cx="4953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71EFB3-3AA6-4838-B655-C7413074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57450"/>
            <a:ext cx="472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σ² + 3σ²ₐ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A87A7A-E86D-4AA9-BA8A-982D23B4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3429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CCB40C-EB9A-4AA6-A7F8-92122B97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320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Ошибка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8386A8-C97F-48EA-A48E-650685E4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114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512443-AB9A-43B5-BAE5-4A03AC30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57550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1,800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56178B-FEA2-40C3-A9A1-9C799FFE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43250"/>
            <a:ext cx="4953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1B946D-2848-4230-AF68-B37209EA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57550"/>
            <a:ext cx="472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σ²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8C5661-9624-446A-94BB-13011175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103251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B9812A-0140-4050-9FE1-2657815A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10325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0" tIns="114300" rIns="1905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σ̂² = 1,800     ·     σ̂²ₐ = (36,933 − 1,800) / 3 = 11,711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7D207D-B787-4793-903D-F3EE7339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57800"/>
            <a:ext cx="75819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8E4740-D410-43D3-844D-AA2F9897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57800"/>
            <a:ext cx="758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0" tIns="114300" rIns="1905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ICC = 11,711 / (11,711 + 1,800) = 0,867</a:t>
            </a:r>
          </a:p>
        </p:txBody>
      </p:sp>
    </p:spTree>
    <p:extLst>
      <p:ext uri="{BB962C8B-B14F-4D97-AF65-F5344CB8AC3E}">
        <p14:creationId xmlns:p14="http://schemas.microsoft.com/office/powerpoint/2010/main" val="140357437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19920C-6BBB-41FD-A817-1A03749F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D9D29-B478-4437-9995-C533FA16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55F27-D7A2-4392-8324-791946C0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СЛУЧАЙНЫЕ ЭФФЕКТЫ · PYTHON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27FFE-2E56-40AB-833C-D645243C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STATSMODELS MIXEDLM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C8DA6-CA59-4B9F-93EB-AA781925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Python: случайный интерсепт для партии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563F4A-7737-4C3B-9CAC-86A0F93E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7200900" cy="4552950"/>
          </a:xfrm>
          <a:prstGeom xmlns:a="http://schemas.openxmlformats.org/drawingml/2006/main" prst="roundRect">
            <a:avLst>
              <a:gd name="adj" fmla="val 3766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  <p:txBody>
          <a:bodyPr xmlns:a="http://schemas.openxmlformats.org/drawingml/2006/main" wrap="none" lIns="190500" tIns="171450" rIns="190500" bIns="13335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import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statsmodels.formula.api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as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smf</a:t>
            </a:r>
          </a:p>
          <a:p xmlns:a="http://schemas.openxmlformats.org/drawingml/2006/main">
            <a:pPr>
              <a:defRPr sz="150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50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model = smf.mixedlm(</a:t>
            </a:r>
          </a:p>
          <a:p xmlns:a="http://schemas.openxmlformats.org/drawingml/2006/main">
            <a:pPr>
              <a:defRPr sz="150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'y ~ 1'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</a:t>
            </a:r>
          </a:p>
          <a:p xmlns:a="http://schemas.openxmlformats.org/drawingml/2006/main">
            <a:pPr>
              <a:defRPr sz="150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data=df,</a:t>
            </a:r>
          </a:p>
          <a:p xmlns:a="http://schemas.openxmlformats.org/drawingml/2006/main">
            <a:pPr>
              <a:defRPr sz="150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groups=df[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'batch'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],</a:t>
            </a:r>
          </a:p>
          <a:p xmlns:a="http://schemas.openxmlformats.org/drawingml/2006/main">
            <a:pPr>
              <a:defRPr sz="150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50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result = model.</a:t>
            </a:r>
            <a:r>
              <a:rPr>
                <a:solidFill>
                  <a:srgbClr val="4EA8DE"/>
                </a:solidFill>
                <a:latin typeface="Menlo"/>
                <a:ea typeface="Menlo"/>
                <a:cs typeface="Menlo"/>
              </a:rPr>
              <a:t>fit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(reml=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True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50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50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EA8DE"/>
                </a:solidFill>
                <a:latin typeface="Menlo"/>
                <a:ea typeface="Menlo"/>
                <a:cs typeface="Menlo"/>
              </a:rPr>
              <a:t>print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(result.cov_re)  </a:t>
            </a:r>
            <a:r>
              <a:rPr>
                <a:solidFill>
                  <a:srgbClr val="80ED99"/>
                </a:solidFill>
                <a:latin typeface="Menlo"/>
                <a:ea typeface="Menlo"/>
                <a:cs typeface="Menlo"/>
              </a:rPr>
              <a:t># σ²_batch</a:t>
            </a:r>
          </a:p>
          <a:p xmlns:a="http://schemas.openxmlformats.org/drawingml/2006/main">
            <a:pPr>
              <a:defRPr sz="150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EA8DE"/>
                </a:solidFill>
                <a:latin typeface="Menlo"/>
                <a:ea typeface="Menlo"/>
                <a:cs typeface="Menlo"/>
              </a:rPr>
              <a:t>print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(result.scale)   </a:t>
            </a:r>
            <a:r>
              <a:rPr>
                <a:solidFill>
                  <a:srgbClr val="80ED99"/>
                </a:solidFill>
                <a:latin typeface="Menlo"/>
                <a:ea typeface="Menlo"/>
                <a:cs typeface="Menlo"/>
              </a:rPr>
              <a:t># σ²_error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23CCB-DD7E-487A-B152-672BFC3E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24000"/>
            <a:ext cx="3048000" cy="352425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4BA75-20C1-4FA0-A489-6B153DF7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09750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Почему REML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401BE7-9F0B-4B84-A3F2-257329AB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90800"/>
            <a:ext cx="24574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Оценивает компоненты дисперсии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Не требует сбалансированности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Обычно предпочтительнее ANOVA-оценок</a:t>
            </a:r>
          </a:p>
        </p:txBody>
      </p:sp>
    </p:spTree>
    <p:extLst>
      <p:ext uri="{BB962C8B-B14F-4D97-AF65-F5344CB8AC3E}">
        <p14:creationId xmlns:p14="http://schemas.microsoft.com/office/powerpoint/2010/main" val="14206667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0B432A-844A-4834-87B7-F8D48F26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D6E4B-CEF4-407C-B79C-643CED9B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72B7D-3F55-485E-8869-E565358F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СЛУЧАЙНЫЕ ЭФФЕКТЫ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DB443-AB5D-4F88-ACCE-B7843070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6A4EE-7DFB-4937-9EB5-6CAF644B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Два скрещённых случайных фактора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30333-45AF-412F-871D-A80A74A2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90650"/>
            <a:ext cx="102489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BC11F-BB09-45AD-8A0E-817CBB50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90650"/>
            <a:ext cx="10248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0" tIns="114300" rIns="1905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0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3150" b="0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yᵢⱼₖ = μ + aᵢ + bⱼ + (ab)ᵢⱼ + εᵢⱼₖ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C7B36-A9E5-48BB-BA1F-D4CE656A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476500" cy="1695450"/>
          </a:xfrm>
          <a:prstGeom xmlns:a="http://schemas.openxmlformats.org/drawingml/2006/main" prst="roundRect">
            <a:avLst>
              <a:gd name="adj" fmla="val 10112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2BDE3E-9110-44B4-B34A-20C5F9B7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aᵢ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BF16C3-0620-40CB-9F82-EAF6DD8F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фактор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D694F-A9D3-4F20-A838-E7754A28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σ²ₐ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D17F2-759C-4721-B961-80A23960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43250"/>
            <a:ext cx="2476500" cy="1695450"/>
          </a:xfrm>
          <a:prstGeom xmlns:a="http://schemas.openxmlformats.org/drawingml/2006/main" prst="roundRect">
            <a:avLst>
              <a:gd name="adj" fmla="val 10112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F4D830-3317-482C-9842-353FEE5A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337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bⱼ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685162-55B5-4C0B-9504-D57F57F4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43350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фактор 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EFA88D-278D-4FAD-B1E4-4E3951C9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005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σ²ᵦ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E71B35-546F-431E-AE14-C7F096B5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2476500" cy="1695450"/>
          </a:xfrm>
          <a:prstGeom xmlns:a="http://schemas.openxmlformats.org/drawingml/2006/main" prst="roundRect">
            <a:avLst>
              <a:gd name="adj" fmla="val 10112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C4A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3CE131-7E79-40D5-A47A-CCB3D95C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337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(ab)ᵢⱼ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482026-EFA0-4020-B814-9505F714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взаимодействие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B861EE-CBFF-493A-A7C1-88C7F2C5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005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σ²ₐᵦ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3F3E4D-3EBC-46D2-8BBD-4C06C7B6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43250"/>
            <a:ext cx="2476500" cy="1695450"/>
          </a:xfrm>
          <a:prstGeom xmlns:a="http://schemas.openxmlformats.org/drawingml/2006/main" prst="roundRect">
            <a:avLst>
              <a:gd name="adj" fmla="val 10112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8E7E27-BFC7-4570-8E71-95336F4D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337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εᵢⱼₖ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2AB435-8E0D-4B5F-8405-C9CBB2EF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43350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ошибка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0E6CF8-4E52-4ED0-9B92-C41CFAC9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005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σ²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2B0188-C2F7-4773-B1FF-26031CDB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72100"/>
            <a:ext cx="868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Скрещённые: каждый уровень A встречается с каждым уровнем B.</a:t>
            </a:r>
          </a:p>
        </p:txBody>
      </p:sp>
    </p:spTree>
    <p:extLst>
      <p:ext uri="{BB962C8B-B14F-4D97-AF65-F5344CB8AC3E}">
        <p14:creationId xmlns:p14="http://schemas.microsoft.com/office/powerpoint/2010/main" val="31630135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DDC8BC-55E9-406C-869D-B7EB5D4F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6C975-63E6-4F0E-B28A-8D942536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47D74D-454E-4DA1-A82C-06A46CA6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СЛУЧАЙНЫЕ ЭФФЕКТЫ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EF1B3-35C3-4BFA-B12D-4981B3CC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5EBAC-9784-4EE0-ADD2-AB373D4A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Ожидаемые средние квадраты показывают знаменатель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8C9ED-EE4F-4641-96B7-6EF4DC19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390650"/>
            <a:ext cx="2476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72B42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F6E97-2041-49FC-8A0F-73D86896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390650"/>
            <a:ext cx="6477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72B42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7CA05-E65D-4B44-97B8-F25D5D42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50495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Источник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C50B3-9895-431A-9E1A-15E06B9A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04950"/>
            <a:ext cx="605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E[MS]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285929-BC34-4F63-B282-8F3B3CF7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90750"/>
            <a:ext cx="2476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B51F6-664E-480A-A575-1F507723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190750"/>
            <a:ext cx="6477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56AC13-6246-4868-9D77-7EA7A97E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30505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9AC0A-8860-4766-8D42-D8E83942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05050"/>
            <a:ext cx="605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σ² + nσ²ₐᵦ + nbσ²ₐ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A7F794-8781-48CE-826C-77A36182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90850"/>
            <a:ext cx="2476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14884E-7C95-4BC1-BF72-F9C3EF27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90850"/>
            <a:ext cx="6477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C35B8E-5A8B-4FBD-A64E-F848C0E4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10515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B58CD3-77A8-4495-BEDE-9EE5A586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05150"/>
            <a:ext cx="605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σ² + nσ²ₐᵦ + naσ²ᵦ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EC0D0D-B633-4A73-B6F8-4ACC2349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90950"/>
            <a:ext cx="2476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C4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BDB275-D9C1-4503-AA35-41A30217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790950"/>
            <a:ext cx="6477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C4A7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521AF5-663B-42FB-A973-EA8C1EBD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90525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A×B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6BA486-F8EC-4634-A02C-B9541B56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05250"/>
            <a:ext cx="605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σ² + nσ²ₐᵦ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1190E3-E3B0-4657-B821-764F23DA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91050"/>
            <a:ext cx="2476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B9AB63-5971-45E7-B6B9-E6DD7CEB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91050"/>
            <a:ext cx="6477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32EC5B-C765-4AB2-AFE9-AC5D7597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0535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Ошибка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3FDE12-544A-4D1B-8FC3-A7727F60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05350"/>
            <a:ext cx="605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σ²</a:t>
            </a:r>
          </a:p>
        </p:txBody>
      </p:sp>
    </p:spTree>
    <p:extLst>
      <p:ext uri="{BB962C8B-B14F-4D97-AF65-F5344CB8AC3E}">
        <p14:creationId xmlns:p14="http://schemas.microsoft.com/office/powerpoint/2010/main" val="90824649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6DDEDD-A8E7-4D8C-84BB-ED45FB68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54BBC-5355-43DD-A990-C0DF557C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3C385-B8A9-4C07-8009-1529AF50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СЛУЧАЙНЫЕ ЭФФЕКТЫ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6FA6B-E87E-44C5-ADC8-E5B18FFC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ПРАВИЛЬНЫЕ ЗНАМЕНАТЕЛИ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2314A-0A2E-4B4C-B7FC-CE62BE78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F-критерии следуют из совпадения 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626EF-42EB-4E4F-A75E-CEDCC10C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9525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8111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111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40180-AC53-48E7-91B4-37E2DDF5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04950"/>
            <a:ext cx="9201150" cy="1009650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CAEEE-6C42-47EA-8B05-A3330DCE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5735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F_A = MS_A / MS_AB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22868-89EB-4559-B44D-0E9BFB47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14500"/>
            <a:ext cx="3867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проверяет σ²ₐ =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5F7A54-657D-4F7B-8069-2F4428A3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9525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8111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111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D6C34-5F43-4490-95DC-B0A34643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857500"/>
            <a:ext cx="9201150" cy="1009650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64F94-94C0-4CF9-B534-37FB9C07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0990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F_B = MS_B / MS_AB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195AB-F463-44C7-AA01-E8EC2625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67050"/>
            <a:ext cx="3867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проверяет σ²ᵦ =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8D604B-70C8-4A0C-8765-F9F93C37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9525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8111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111F"/>
                </a:solidFill>
                <a:latin typeface="Arial"/>
                <a:ea typeface="Arial"/>
                <a:cs typeface="Arial"/>
              </a:rPr>
              <a:t>A×B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269F0F-B8CD-44B9-A6A1-AF9611EE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10050"/>
            <a:ext cx="9201150" cy="1009650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C4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F7FC1A-AF23-4E7C-9AD3-B86BBF2D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6245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F_AB = MS_AB / MS_E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209C0F-528B-4873-81EC-D01AFD43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19600"/>
            <a:ext cx="3867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проверяет σ²ₐᵦ = 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999CB-8C33-41D1-867C-87A1E5B8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531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MSE — неверный знаменатель для главных эффектов в этой случайной модели.</a:t>
            </a:r>
          </a:p>
        </p:txBody>
      </p:sp>
    </p:spTree>
    <p:extLst>
      <p:ext uri="{BB962C8B-B14F-4D97-AF65-F5344CB8AC3E}">
        <p14:creationId xmlns:p14="http://schemas.microsoft.com/office/powerpoint/2010/main" val="174748968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4AF498-6A03-4382-8D78-B276402E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004BE-AA6A-4C2A-B35B-684C6FF2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30340-CBE9-4F27-A3FE-38EB4204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СЛУЧАЙНЫЕ ЭФФЕКТЫ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A792B-5EBE-4D9B-8A82-30635023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ПРОБЛЕМА 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B31DE-D182-4780-908D-63294146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 тремя факторами точного знаменателя может не быть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DE9D9-7923-4D9C-BFA2-B823DBED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52550"/>
            <a:ext cx="10363200" cy="1009650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394AA-3BBF-4522-A800-95C994D8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52550"/>
            <a:ext cx="10363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0" tIns="114300" rIns="1905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y = μ + A + B + C + AB + AC + BC + ABC + 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AB143-88F5-4910-A2D0-EAEC6802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19400"/>
            <a:ext cx="9372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Для эффекта A нужно убрать из числителя компонент σ²ₐ, но сохранить остальные компоненты в той же комбинации.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275AD-6D45-464F-8F8E-12AB42DE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914400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9A8112-4D66-415E-A1F8-CF9D23C5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229100"/>
            <a:ext cx="845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Точного MS-знаменателя нет → строим отношение линейных комбинаций MS и приближаем степени свободы.</a:t>
            </a:r>
          </a:p>
        </p:txBody>
      </p:sp>
    </p:spTree>
    <p:extLst>
      <p:ext uri="{BB962C8B-B14F-4D97-AF65-F5344CB8AC3E}">
        <p14:creationId xmlns:p14="http://schemas.microsoft.com/office/powerpoint/2010/main" val="144789889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E0BB04-514D-4BC8-A3EE-2CA8069B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756ED-B1C0-4061-86BD-9F1D54B0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68C83-BB0E-465A-8873-7AF670A8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СЛУЧАЙНЫЕ ЭФФЕКТЫ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7D41B-1D7D-4C90-8A05-20DD09CA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КОГДА ЗНАМЕНАТЕЛЬ СОСТАВНОЙ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8E211-A9EE-498B-B60D-0488EB06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Аппроксимация Саттертуэйта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7B308-442A-4404-8F81-242C82C1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33500"/>
            <a:ext cx="102489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C215F-55CD-451A-8777-999D32C2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33500"/>
            <a:ext cx="10248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0" tIns="114300" rIns="1905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0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F_A ≈ (MS_A + MS_ABC) / (MS_AB + MS_AC)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3032A-7195-46A7-9784-C4A3DBB3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57500"/>
            <a:ext cx="86868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F3A54-CFB7-4396-96F7-22B020F3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57500"/>
            <a:ext cx="8686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0" tIns="114300" rIns="1905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ν ≈ (Σ cᵢMSᵢ)² / Σ[(cᵢMSᵢ)² / νᵢ]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F4A429-05BD-4D45-A595-7F17D69F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329565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A649A-5F4E-4BF5-A658-CD6B3BD7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91666-D8F3-48DF-BDBF-F7561B5D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86300"/>
            <a:ext cx="2362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Собрать нужные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C384B6-4597-433C-9E07-C6D0D255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52950"/>
            <a:ext cx="329565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C4A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6EE6DE-A4C4-482E-ADE6-C128A11E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7625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6EA444-F76E-46AA-BF37-BF35E1F4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86300"/>
            <a:ext cx="2362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Сопоставить EMS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D9F23B-B0E9-425A-A445-A42E8F24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52950"/>
            <a:ext cx="329565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658B80-80BD-4E27-A39F-DE10BB2A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625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8783FF-FEB4-4145-9668-7E73C923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86300"/>
            <a:ext cx="2362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Рассчитать ν отдельно для числителя и знаменателя</a:t>
            </a:r>
          </a:p>
        </p:txBody>
      </p:sp>
    </p:spTree>
    <p:extLst>
      <p:ext uri="{BB962C8B-B14F-4D97-AF65-F5344CB8AC3E}">
        <p14:creationId xmlns:p14="http://schemas.microsoft.com/office/powerpoint/2010/main" val="213481868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AAEFA4-8573-4511-9D2A-4FCFFEBC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18D38-78D0-4CCB-84F4-41301D26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221FF-B9C4-496F-A954-19D8C3DA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СЛУЧАЙНЫЕ ЭФФЕКТЫ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52BC1-F113-4918-887F-E0C094C3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ОЦЕНИВАНИЕ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5EB32-4BF3-46AB-8899-4FD99CCD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Метод моментов и REML решают одну задачу по-разному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CF282-9A88-4110-A33C-186BF443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50673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F8B13-861A-4B3B-A698-6D2B5881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383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9525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8111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111F"/>
                </a:solidFill>
                <a:latin typeface="Arial"/>
                <a:ea typeface="Arial"/>
                <a:cs typeface="Arial"/>
              </a:rPr>
              <a:t>ANOVA / MOM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52C811-6353-4BB1-854A-858599CE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464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Метод моментов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1CD5C-2199-4B8D-8827-14670CE2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46482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Прозрачен для сбалансированных планов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Оценки получаются из разностей MS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Может дать отрицательную дисперсию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5594F-C96E-48D8-9F47-91BCB22A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28750"/>
            <a:ext cx="50673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62036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F6C317-EE83-4AD1-ABCF-39AADB87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383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9525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8111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111F"/>
                </a:solidFill>
                <a:latin typeface="Arial"/>
                <a:ea typeface="Arial"/>
                <a:cs typeface="Arial"/>
              </a:rPr>
              <a:t>REML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495009-A8AD-47C1-83E5-605DBEC5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33600"/>
            <a:ext cx="464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Ограниченное 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367A82-BF1F-4617-926C-DE865132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57500"/>
            <a:ext cx="46482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Работает с несбалансированными данными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Учитывает структуру ковариации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Обычно даёт более устойчивые оценки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D5BE4A-5950-40B3-A2CE-A383C3E8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53100"/>
            <a:ext cx="941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Отрицательная MoM-оценка — сигнал слабой информации о компоненте, а не «отрицательная вариация».</a:t>
            </a:r>
          </a:p>
        </p:txBody>
      </p:sp>
    </p:spTree>
    <p:extLst>
      <p:ext uri="{BB962C8B-B14F-4D97-AF65-F5344CB8AC3E}">
        <p14:creationId xmlns:p14="http://schemas.microsoft.com/office/powerpoint/2010/main" val="162440309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682A05-C8C6-4E1F-975C-808A376F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1DA40-A266-439C-A9FB-B2172FF2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6E532A-5662-4756-AFE9-05F24F2E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СЛУЧАЙНЫЕ ЭФФЕКТЫ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FEA2D-F011-4747-9A05-4AD8D176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НЕОПРЕДЕЛЁННОСТЬ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1CD36-F001-4313-AEA2-AE0B935F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Интервал для компоненты дисперсии не равен разности интервалов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8461C-802C-45DF-B8D7-EF404F90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71600"/>
            <a:ext cx="95250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913B1-01FD-47E3-ADB7-B669FDFE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71600"/>
            <a:ext cx="9525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0" tIns="114300" rIns="1905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0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925" b="0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σ̂²ₐ = (MS_A − MS_E) / 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2D2E4-6AAC-453F-8D15-3BBB17A7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3314700" cy="1866900"/>
          </a:xfrm>
          <a:prstGeom xmlns:a="http://schemas.openxmlformats.org/drawingml/2006/main" prst="roundRect">
            <a:avLst>
              <a:gd name="adj" fmla="val 9184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66AB4E-2EEC-4D02-8FD5-29EE9F96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766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Профиль правдоподобия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966F5-8BD5-4B69-87B9-3B12A9E2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76700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Естественен для ML/REML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4A731-C2D0-49A5-9164-C385F11E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3314700" cy="1866900"/>
          </a:xfrm>
          <a:prstGeom xmlns:a="http://schemas.openxmlformats.org/drawingml/2006/main" prst="roundRect">
            <a:avLst>
              <a:gd name="adj" fmla="val 9184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DD86D8-6A42-4081-9238-05300A01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766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Параметрический bootstrap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BD643-DD7D-4407-BA6E-76764EA6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76700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Гибок для сложных моделей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7E94CF-01BB-4AAF-A986-AFA248BC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28950"/>
            <a:ext cx="3314700" cy="1866900"/>
          </a:xfrm>
          <a:prstGeom xmlns:a="http://schemas.openxmlformats.org/drawingml/2006/main" prst="roundRect">
            <a:avLst>
              <a:gd name="adj" fmla="val 9184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5B9586-97E4-4736-8C6B-31FEBD13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766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Точные ANOVA-интервалы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05CB9-4155-4273-8460-EF80CDA7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76700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Только для специальных сбалансированных случаев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EBAC9C-95FF-4D85-A991-CB537118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29250"/>
            <a:ext cx="887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Исходное упражнение без уточнения метода и предпосылок было недоопределено.</a:t>
            </a:r>
          </a:p>
        </p:txBody>
      </p:sp>
    </p:spTree>
    <p:extLst>
      <p:ext uri="{BB962C8B-B14F-4D97-AF65-F5344CB8AC3E}">
        <p14:creationId xmlns:p14="http://schemas.microsoft.com/office/powerpoint/2010/main" val="42316442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5C9C86-8C83-45AE-9245-9AD70708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A1EA7-BDDA-4B62-AAEE-24D3B734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DE730-9A77-4097-AD5B-91FF9B39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СЛУЧАЙНЫЕ ЭФФЕКТЫ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E77E7-3D37-4E56-B5DF-270F9E6C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ПЕРЕД ИНТЕРПРЕТАЦИЕЙ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C6370-F112-46D9-9A70-00636A75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Диагностика и отчётность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89745-4F4C-42D6-BEEA-C141D92F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3143250" cy="38290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38B4D-DDE2-42BD-B74C-568E9AA6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2686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Проверить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BCCFC9-162E-4502-B1FC-C05ACE2D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47950"/>
            <a:ext cx="25336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6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остатки vs прогноз</a:t>
            </a:r>
          </a:p>
          <a:p xmlns:a="http://schemas.openxmlformats.org/drawingml/2006/main">
            <a:pPr marL="279400" indent="-139700">
              <a:spcAft>
                <a:spcPts val="16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QQ-график остатков</a:t>
            </a:r>
          </a:p>
          <a:p xmlns:a="http://schemas.openxmlformats.org/drawingml/2006/main">
            <a:pPr marL="279400" indent="-139700">
              <a:spcAft>
                <a:spcPts val="16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выбросы по уровням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55896-7E6D-40A0-B2A3-ECA33A66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43050"/>
            <a:ext cx="3143250" cy="38290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9F6891-26BF-4E93-A17C-AFD9B7EB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09750"/>
            <a:ext cx="2686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Сообщить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D9B9B-C17E-4057-A5C3-052FCA46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25336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6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структуру случайных эффектов</a:t>
            </a:r>
          </a:p>
          <a:p xmlns:a="http://schemas.openxmlformats.org/drawingml/2006/main">
            <a:pPr marL="279400" indent="-139700">
              <a:spcAft>
                <a:spcPts val="16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оценки σ² и ICC</a:t>
            </a:r>
          </a:p>
          <a:p xmlns:a="http://schemas.openxmlformats.org/drawingml/2006/main">
            <a:pPr marL="279400" indent="-139700">
              <a:spcAft>
                <a:spcPts val="16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интервалы / 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83F15C-A67E-410D-AD41-DB5769FC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43050"/>
            <a:ext cx="3143250" cy="38290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3454F3-9619-4469-BCE3-7D152E8B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09750"/>
            <a:ext cx="2686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Обосновать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5396C8-A333-4564-8A42-66F7E53C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47950"/>
            <a:ext cx="25336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6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почему фактор случайный</a:t>
            </a:r>
          </a:p>
          <a:p xmlns:a="http://schemas.openxmlformats.org/drawingml/2006/main">
            <a:pPr marL="279400" indent="-139700">
              <a:spcAft>
                <a:spcPts val="16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ML или REML</a:t>
            </a:r>
          </a:p>
          <a:p xmlns:a="http://schemas.openxmlformats.org/drawingml/2006/main">
            <a:pPr marL="279400" indent="-139700">
              <a:spcAft>
                <a:spcPts val="16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как учтён дисбаланс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B1A946-C6EF-44E9-959A-8CC026B6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912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Один p-value не описывает структуру вариации.</a:t>
            </a:r>
          </a:p>
        </p:txBody>
      </p:sp>
    </p:spTree>
    <p:extLst>
      <p:ext uri="{BB962C8B-B14F-4D97-AF65-F5344CB8AC3E}">
        <p14:creationId xmlns:p14="http://schemas.microsoft.com/office/powerpoint/2010/main" val="207003648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9B8F3-368A-4704-958A-86B15DBC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1136D-74A7-40DF-89B0-29AF7466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462A1-9167-4E19-B26F-5AD9A7ED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РАЗДЕЛ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0C373-7704-415E-8018-00A04849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2190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88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CF94D-78BA-4D36-9A25-E5FF2DA1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43050"/>
            <a:ext cx="800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Вложенные и смешанные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35746-A2B2-4B9F-88AD-18A953A4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813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Как структура эксперимента определяет модель и тест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DF02D-C939-4123-B69F-F8F5DBD0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95750"/>
            <a:ext cx="590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5072163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2CD12-D5AE-45CE-AB0B-F93049CA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E1616-5C57-4AFB-BF10-796A668E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7E1E6-9923-42F2-AAB8-B7023FAA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ВЛОЖЕННЫЕ ПЛАНЫ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32D6A-948A-4380-B5D8-98640239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СНАЧАЛА СХЕМА, ПОТОМ ФОРМУЛА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589BC-04A7-44A8-8A5E-FF4BE717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Скрещивание и вложенность — разные структуры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9165D0-9C26-4E95-AC06-3B993B51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50673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CE077D-B50C-4E5F-B3A2-09A47231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383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9525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8111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111F"/>
                </a:solidFill>
                <a:latin typeface="Arial"/>
                <a:ea typeface="Arial"/>
                <a:cs typeface="Arial"/>
              </a:rPr>
              <a:t>CROSSED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48004-D362-49A4-BDE6-BF7092CB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464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Скрещённые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7C25B-5C82-4010-B7B3-0EC6CE05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46482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Каждый уровень A встречается с каждым B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Можно оценить A, B и A×B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Пример: оператор × прибор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D3AEB-D08A-4AF9-8BB0-B2505C68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28750"/>
            <a:ext cx="50673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62036"/>
          </a:solidFill>
          <a:ln xmlns:a="http://schemas.openxmlformats.org/drawingml/2006/main" w="9525">
            <a:solidFill>
              <a:srgbClr val="C4A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04B4E6-D643-4F19-B909-5F2F03EF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383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9525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8111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111F"/>
                </a:solidFill>
                <a:latin typeface="Arial"/>
                <a:ea typeface="Arial"/>
                <a:cs typeface="Arial"/>
              </a:rPr>
              <a:t>NESTED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569A0-B25F-45F8-86CF-AFAC5F60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33600"/>
            <a:ext cx="464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Вложенные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6B412-A5A4-47AC-93A6-1081A32B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57500"/>
            <a:ext cx="46482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Каждый уровень B принадлежит одному A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B(A) заменяет отдельные B и A×B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Пример: партия внутри производителя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788181-253D-4D00-82F2-465E72D2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753100"/>
            <a:ext cx="883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Вложенность — свойство дизайна и идентификаторов, а не просто формулы.</a:t>
            </a:r>
          </a:p>
        </p:txBody>
      </p:sp>
    </p:spTree>
    <p:extLst>
      <p:ext uri="{BB962C8B-B14F-4D97-AF65-F5344CB8AC3E}">
        <p14:creationId xmlns:p14="http://schemas.microsoft.com/office/powerpoint/2010/main" val="168688910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915481-1EE4-4827-95E5-A505F272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901F1-FA6C-4ED1-A904-5737525C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F9F0A-D474-4B84-A568-9E94E963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ВЛОЖЕННЫЕ ПЛАНЫ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8B10C-799E-4DCC-BF09-D5B14133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ПРИМЕР СТРУКТУРЫ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398BF-5A90-4EBB-9065-BF603344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Партии вложены в производителей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0AB03-2449-4F94-AF39-7651B7C8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2952750" cy="335280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24ABF-2B59-40BE-8BBB-2203FE54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609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Производитель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C82D2-C8BF-4D7C-BFA2-675BADDD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67000"/>
            <a:ext cx="20764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F2573-11B5-46F9-BDCB-032BE62A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813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Партия A1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C3762-19F5-4BE5-8F72-4F1646F5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33750"/>
            <a:ext cx="20764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AB567-7597-453D-AF11-F598EFD1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Партия A2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F42DA-DA35-4CCA-9E21-0ABF1E9A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00500"/>
            <a:ext cx="20764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5FF2AC-5AC6-4DC6-9032-DAE77829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Партия A3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90579C-8600-4FB5-A316-D277451D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81150"/>
            <a:ext cx="2952750" cy="335280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C4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DEAB5F-6E9B-4891-BFC3-D687B6BC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2609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Производитель 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15D1B8-A618-4475-BCD1-AEFBE79C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67000"/>
            <a:ext cx="20764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C4A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D4D523-E2D3-4D72-B0EA-7459CCE4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813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Партия B1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2BAC61-E137-407A-B320-D36AA911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33750"/>
            <a:ext cx="20764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C4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0C37A4-C503-4271-8F26-FC23B482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480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Партия B2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311814-9494-47C6-A009-4757F575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20764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C4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2A390A-BCF8-4368-B120-8158E40D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148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Партия B3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2FA274-CFD7-46E1-845E-D3BAFDA5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81150"/>
            <a:ext cx="2952750" cy="335280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CA06F4-8886-4B82-89A8-2FDA264C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609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Производитель 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A00C16-8C73-43B6-9619-B2A665D2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67000"/>
            <a:ext cx="20764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68B8F1-6007-4AA5-AD9A-A0112514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Партия C1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1B0C43-605B-4800-A234-FB073FE2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33750"/>
            <a:ext cx="20764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7C65B4-C80C-4F7E-9EA3-38EF354A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480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Партия C2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6EB56C-F874-4360-9AC4-AFC9B255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00500"/>
            <a:ext cx="20764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C25E61-B170-42DF-93D1-E676BB2C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148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Партия C3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605DAE-F0CF-456E-ABE2-E482E93A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334000"/>
            <a:ext cx="7200900" cy="6286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513AD6-93A1-4C9C-A607-DD7FD2D7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334000"/>
            <a:ext cx="7200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0" tIns="114300" rIns="1905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yᵢⱼₖ = μ + Aᵢ + Bⱼ(ᵢ) + εᵢⱼₖ</a:t>
            </a:r>
          </a:p>
        </p:txBody>
      </p:sp>
    </p:spTree>
    <p:extLst>
      <p:ext uri="{BB962C8B-B14F-4D97-AF65-F5344CB8AC3E}">
        <p14:creationId xmlns:p14="http://schemas.microsoft.com/office/powerpoint/2010/main" val="107306984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BE946A-EC99-4BBF-88A3-58D1CA49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6F244-3B6F-4260-A622-9746C57A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25B2D-3C79-447B-A483-28F75D74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ВЛОЖЕННЫЕ ПЛАНЫ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36C6F-301D-446B-BE06-224A7D53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СБАЛАНСИРОВАННЫЙ ПЛАН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43110-2317-4755-B6E1-40C53219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Вложенная ANOVA: степени свободы и 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331E2-A25A-4130-9AA8-AD40FE4F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2381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72B42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44379-ACF7-4DA4-BAFF-88FC5768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Источник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FCD50-729A-45F2-AFB2-4D446995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66850"/>
            <a:ext cx="2095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72B42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282AB0-E342-4090-B7A0-B6160AB2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002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15AA36-A432-4535-A8A7-2CF01857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466850"/>
            <a:ext cx="5867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72B42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4FABEF-CF51-42FB-BFB6-C8E0ED39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600200"/>
            <a:ext cx="567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E[MS]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CED01-FC32-4B42-9CD3-3A3A4CCE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381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4039FE-F2FF-4ED1-AE46-4F416D5D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C4E3F2-9A03-4282-BAAD-AC630564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62200"/>
            <a:ext cx="2095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0B6205-CAB7-4A01-A363-F46128F4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955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 − 1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917D77-0E11-4EC7-A2D7-62F42C2E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62200"/>
            <a:ext cx="5867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F2E2A3-3058-4BDA-89B7-244E6721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95550"/>
            <a:ext cx="567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σ² + nσ²_B(A) + bnσ²_A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97436B-98E5-4351-902F-7B12105D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2381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C4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FA1E00-7750-41A3-BDB2-0B95A133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B(A)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644D68-77FC-424B-8158-34CE0C27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57550"/>
            <a:ext cx="2095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C4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4C813F-6DAC-4F18-9862-0F1E0D5D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909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a(b − 1)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E4A7E5-58BE-4153-A47E-DE784027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57550"/>
            <a:ext cx="5867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C4A7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8D59BC-FC97-45DF-9141-CC4F19D2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90900"/>
            <a:ext cx="567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σ² + nσ²_B(A)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B72A15-B8B2-40BC-8FDB-75C5CF95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52900"/>
            <a:ext cx="2381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6B2044-E853-4F91-904E-BEAFEFE3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Ошибка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E867E2-87A4-4B79-8E42-FA00DE58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152900"/>
            <a:ext cx="2095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1507C5-E9E2-4D26-B6C8-00C4718F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862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ab(n − 1)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B4D4E0-591D-4F39-8821-0F95135C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52900"/>
            <a:ext cx="5867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F68253-6FAC-4DDE-B0CE-8CBFBBA0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286250"/>
            <a:ext cx="567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σ²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5367FC-9C24-4B64-9835-0CBD6FC8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34000"/>
            <a:ext cx="97917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52F88C-5F97-4890-8D96-5DE50C7F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34000"/>
            <a:ext cx="9791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0" tIns="114300" rIns="1905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F_A = MS_A / MS_B(A)      ·      F_B(A) = MS_B(A) / MS_E</a:t>
            </a:r>
          </a:p>
        </p:txBody>
      </p:sp>
    </p:spTree>
    <p:extLst>
      <p:ext uri="{BB962C8B-B14F-4D97-AF65-F5344CB8AC3E}">
        <p14:creationId xmlns:p14="http://schemas.microsoft.com/office/powerpoint/2010/main" val="202601095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8AF282-0E02-42B2-A4DB-005BEA4A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D59707-F226-4674-A3DC-B71F0BC6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A4E51-1F88-4DB9-B7A8-06DFAF8A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ВЛОЖЕННЫЕ ПЛАНЫ · PYTHON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E0C3A-1568-491B-9368-F3F76DC3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MIXEDLM + VC_FORMULA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AD5D5-BC44-4998-9698-FC346EC8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Python: вложенная компонента дисперсии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4B64C-7A3C-414E-BDE4-7D7EEC73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8001000" cy="4953000"/>
          </a:xfrm>
          <a:prstGeom xmlns:a="http://schemas.openxmlformats.org/drawingml/2006/main" prst="roundRect">
            <a:avLst>
              <a:gd name="adj" fmla="val 3462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  <p:txBody>
          <a:bodyPr xmlns:a="http://schemas.openxmlformats.org/drawingml/2006/main" wrap="none" lIns="190500" tIns="171450" rIns="190500" bIns="13335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import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statsmodels.api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as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sm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df[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'batch_nested'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] = (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df[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'manufacturer'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].astype(str) + 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':'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+ df[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'batch'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].astype(str)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model = sm.MixedLM.from_formula(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'y ~ 1'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groups=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'manufacturer'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re_formula=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'1'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vc_formula={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'batch'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: 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'0 + C(batch_nested)'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},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data=df,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result = model.</a:t>
            </a:r>
            <a:r>
              <a:rPr>
                <a:solidFill>
                  <a:srgbClr val="4EA8DE"/>
                </a:solidFill>
                <a:latin typeface="Menlo"/>
                <a:ea typeface="Menlo"/>
                <a:cs typeface="Menlo"/>
              </a:rPr>
              <a:t>fit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(reml=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True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F2E5F-467E-4999-A628-47757A29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81150"/>
            <a:ext cx="2362200" cy="352425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C4A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2C51B-3BD0-4262-98CA-E7A1618E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669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C3BF7-63C3-4FD0-A086-FF7D4E44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05100"/>
            <a:ext cx="18669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Создайте уникальный идентификатор партии внутри производителя. Иначе одинаковые метки могут быть ошибочно объединены.</a:t>
            </a:r>
          </a:p>
        </p:txBody>
      </p:sp>
    </p:spTree>
    <p:extLst>
      <p:ext uri="{BB962C8B-B14F-4D97-AF65-F5344CB8AC3E}">
        <p14:creationId xmlns:p14="http://schemas.microsoft.com/office/powerpoint/2010/main" val="144844803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76D0DE-523D-465E-B17B-636F21F1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B5917-616C-4CE6-9190-FDF60981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E89FB-1FE3-4A0E-A4DB-0A8FE98C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СМЕШАННЫЕ МОДЕЛИ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1933A-1555-473F-BCF7-AF17CC81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ГЛАВНАЯ ИДЕЯ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3B2A1-1177-4D86-AA1B-C01C10C9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Смешанная модель объединяет фиксированный сигнал и случайную структуру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D61E4-B62D-4D56-BAB2-CDDFFBD6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71600"/>
            <a:ext cx="104394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319F18-9302-4727-B811-A0D78386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71600"/>
            <a:ext cx="10439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0" tIns="114300" rIns="1905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0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yᵢⱼ = β₀ + β₁·treatmentᵢⱼ + uⱼ + εᵢⱼ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38BD6-FBB0-45EB-8783-24661A81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33337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1AE96-7E4E-476E-8633-B24337BC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91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β₁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D45DA-6AB6-4E50-B532-CABEFC13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861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фиксированный эффект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36A48-4D87-4820-9A05-88289495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05300"/>
            <a:ext cx="2838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среднее влияние лечения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F01609-5108-4FB6-A780-92C26E00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38500"/>
            <a:ext cx="33337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38682-4845-4F94-AB29-282D44B5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91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uⱼ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8803BD-688E-42B4-B72A-B11DF50C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861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случайный эффект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9EAFFB-F4A8-48E8-A074-32ABF1E5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305300"/>
            <a:ext cx="2838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различия между партиями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5D2179-7DCA-4433-9BF4-6CF8EE0D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38500"/>
            <a:ext cx="33337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E99AC2-3BE7-4BD4-A032-9A30E818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67100"/>
            <a:ext cx="91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εᵢⱼ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6DEEDB-F056-4593-8615-31FD9F2D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861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остаток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8A62C7-6197-4C61-B1C4-5F4DB4ED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05300"/>
            <a:ext cx="2838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индивидуальный шум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C64028-1B68-4067-9DD5-92807F77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43550"/>
            <a:ext cx="941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Нужна явная формула: какие эффекты фиксированы, какие случайны и есть ли случайные наклоны.</a:t>
            </a:r>
          </a:p>
        </p:txBody>
      </p:sp>
    </p:spTree>
    <p:extLst>
      <p:ext uri="{BB962C8B-B14F-4D97-AF65-F5344CB8AC3E}">
        <p14:creationId xmlns:p14="http://schemas.microsoft.com/office/powerpoint/2010/main" val="16678868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B22A3F-07E6-4299-8E05-BCAEE6A1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BA301-AD75-43D6-A365-A4673B28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883E3-59AB-4F92-89B9-83AE897B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СТРУКТУРА EMS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0ABCD-367F-4D76-8A14-615F8033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ВИЗУАЛЬНЫЙ ЯЗЫК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07025-1489-4B68-832D-E5B42C19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Диаграмма Хассе показывает включение источников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B104B-C429-494D-B94A-2FE16CC2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819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31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C3622-3DD2-40D1-A5E4-981D4901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38350"/>
            <a:ext cx="819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31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25B96-659B-4577-AE06-F4567E19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29000"/>
            <a:ext cx="819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31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69DCA-7A0B-4CBB-9CBF-094C8FE6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29000"/>
            <a:ext cx="819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31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0D177F-763D-4AD8-BF47-EAA77AE8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914900"/>
            <a:ext cx="83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270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628BDE-977D-47CB-94D5-91B2DBFC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28750"/>
            <a:ext cx="19050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E1F1B-7733-4C65-825B-324C07C5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54305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FB9498-B7C1-4F35-8FBC-7513EF6C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81300"/>
            <a:ext cx="20955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C4A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EDDBBE-593D-4784-A44A-BE445F6A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956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A×B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9A566E-F425-43A2-BDEC-80BD2A2B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81300"/>
            <a:ext cx="20955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3C40D9-9328-43F3-A651-5870CB87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956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A×C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DDEE4A-B57B-42A0-A076-D7EFF93F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67200"/>
            <a:ext cx="22860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621A28-BEC7-4DFB-BD28-7B12BD61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81500"/>
            <a:ext cx="205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A×B×C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B8BA1A-7271-4401-B198-EE8D3614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86400"/>
            <a:ext cx="22860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88DB6D-A5E4-4A9C-90CB-94778D68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600700"/>
            <a:ext cx="205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Ошибка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57A9DB-09A2-4F92-92D0-474B2654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95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Рёбра означают: нижний источник входит в EMS верхнего.</a:t>
            </a:r>
          </a:p>
        </p:txBody>
      </p:sp>
    </p:spTree>
    <p:extLst>
      <p:ext uri="{BB962C8B-B14F-4D97-AF65-F5344CB8AC3E}">
        <p14:creationId xmlns:p14="http://schemas.microsoft.com/office/powerpoint/2010/main" val="94521876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FCBAE5-ED2B-4D86-8C12-C197CAE0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C08CA-680C-4511-A654-C958EF8E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09F1A-D725-4A6A-A6F3-C86F7EC4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СТРУКТУРА EMS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C4CAC-CA47-4450-881B-1EC9FF8A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ПОШАГОВО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CDD68-E153-4380-8700-1DEF94E4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Как выбрать знаменатель по структуре 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6B355-AE41-439D-9C2A-36E8D123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32385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90B6F-7363-4CBA-8C88-47418F8D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33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8111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8111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F2467-61C7-467F-8AE8-093A4B69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526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Выберите эффект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DA7AE-99B7-4D53-9264-2AE0415A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Например,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6A4D1-8008-465A-9164-3F26A608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81150"/>
            <a:ext cx="32385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C4A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2F1916-AA05-40DC-8222-C8A033A8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33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8111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8111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D6272-AFA9-4F01-AF6D-C9CEF3A2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526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Сравните EMS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DABAD-82EF-4FD1-99B2-3F02D9A7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2410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Найдите MS с теми же компонентами, кроме σ²ₐ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EB2181-9FD4-47E0-B73C-77AE6BED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81150"/>
            <a:ext cx="32385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786B33-0095-4FC0-8783-5745ABC8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33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8111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8111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A467E6-0A7E-40D4-B8C2-6E97AE5F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526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Постройте 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A6F63A-127D-4BF7-A5BD-B494FD7A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2410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Числитель / найденный знаменатель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AD7CFF-9F14-452B-A65A-CBCE6AAE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1526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92AC41-187E-4433-9BB4-B114E518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526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8F17B1-544A-473D-998E-9F0F8D3C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62400"/>
            <a:ext cx="8610600" cy="1371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352E3F-8A03-4C71-B08D-FCDFBBA7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191000"/>
            <a:ext cx="807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Если одного подходящего MS нет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DC9F9F-4192-4A52-A0D5-77B1DFA7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762500"/>
            <a:ext cx="792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используйте комбинацию средних квадратов и аппроксимацию Саттертуэйта</a:t>
            </a:r>
          </a:p>
        </p:txBody>
      </p:sp>
    </p:spTree>
    <p:extLst>
      <p:ext uri="{BB962C8B-B14F-4D97-AF65-F5344CB8AC3E}">
        <p14:creationId xmlns:p14="http://schemas.microsoft.com/office/powerpoint/2010/main" val="147494010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0A3A27-A025-4C82-8EF8-F77AF7EA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6D602-5403-42FB-9CEF-50BE9140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0B9B2-5E33-4CF4-A4D5-C7AE7162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СТРУКТУРА EMS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C5880-BDC2-4D53-9573-3F8EE950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ГРАНИЦА ПРИМЕНИМОСТИ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CE938-D404-4A56-94AE-D1640019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EMS полезны для понимания, но не заменяют модель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B3055-31E3-4226-985C-DEBB6272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50673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CCC3FA-A166-471B-AA9E-8CBF1B73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383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9525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8111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111F"/>
                </a:solidFill>
                <a:latin typeface="Arial"/>
                <a:ea typeface="Arial"/>
                <a:cs typeface="Arial"/>
              </a:rPr>
              <a:t>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017FF-D38E-48EE-A84A-228E5DB9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464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Учебный инструмент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1424E2-E9E3-4F35-BDFB-68A50E3D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46482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Прозрачны в сбалансированном плане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Показывают логику F-теста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Быстро усложняются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EFBFEA-AF6E-43CD-B0F6-63D0E925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28750"/>
            <a:ext cx="50673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62036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A3681-593F-47DD-8953-F71FCF53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383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9525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8111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111F"/>
                </a:solidFill>
                <a:latin typeface="Arial"/>
                <a:ea typeface="Arial"/>
                <a:cs typeface="Arial"/>
              </a:rPr>
              <a:t>MIXED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4DE2C-8B76-4021-8CFE-C7B7FE28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33600"/>
            <a:ext cx="464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Рабочий инструмент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B7D789-3729-4025-935A-0450663B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57500"/>
            <a:ext cx="46482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Поддерживает дисбаланс и пропуски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Оценивает ковариационную структуру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Даёт прогнозы случайных эффектов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C8DB69-A862-4870-B99D-78FE367B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531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Хорошая практика: понять EMS → сформулировать mixed model → проверить предпосылки.</a:t>
            </a:r>
          </a:p>
        </p:txBody>
      </p:sp>
    </p:spTree>
    <p:extLst>
      <p:ext uri="{BB962C8B-B14F-4D97-AF65-F5344CB8AC3E}">
        <p14:creationId xmlns:p14="http://schemas.microsoft.com/office/powerpoint/2010/main" val="39543601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A860E1-790D-4D15-A5AB-B97C8A98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5CB7F-9DDD-4E6F-AFC0-6FC9D1E4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D7DF8-E079-46B9-ACA3-327B559B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РАЗДЕЛ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718941-1485-4DB1-8627-5C894198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2190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88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A2A32-6E30-47B7-A07B-E9DA0B37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43050"/>
            <a:ext cx="800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Блочные планы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19C5F-F9D1-4CD0-AE31-A34F8BFD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813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Как убрать известную неоднородность из ошибки эксперимента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8674D-3F2E-45DD-B5CD-2955ADAA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95750"/>
            <a:ext cx="590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2371433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22BE1D-CB41-4CE3-AD57-585AE154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92067-D53C-48B7-9AC8-849AE441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03BD4-2623-4B3B-9991-0B119017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БЛОЧНЫЕ ПЛАНЫ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5C4FF-E1D7-452F-BE44-569EB945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ЛОГИКА ДИЗАЙНА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6F9E7-AA26-4F9D-B08D-1D258296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Блокирование превращает известный шум в отдельный источник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1196A-9FB9-472E-9283-BDDC71DB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4876800" cy="361950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DB781-2983-43BC-8B47-9D275CBF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Без блоков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71EED-417D-4DB1-A74C-59AED005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09850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лечение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30A74B-A1A3-47C8-813C-AEBB916B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67050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B435BF-D92F-4454-9BBF-553E78EF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24250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день / партия / участок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CBFD67-BC06-4313-9647-467C0130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81450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0F6304-98BC-4E59-8F17-3DF3CF76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38650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случайная ошибка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B8DC5-2B1C-4434-B9DE-F2A4F108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24000"/>
            <a:ext cx="4876800" cy="361950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8C791A-6827-423E-88DC-033A38BB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90700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С блоками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1A0D7B-0937-457E-94C2-F4B82E48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09850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лечение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C638B6-4876-4F0F-8123-25AF4390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67050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112503-8730-48E6-A9D6-EBC48A2C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24250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блок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DD93BE-EA59-4032-B424-ECCD3182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81450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DC04DF-3F54-4951-98F4-FC33477B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38650"/>
            <a:ext cx="354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меньшая ошибка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ED0403-82B7-4148-AD0B-07CE7D6C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051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B2C342-C243-4C87-9CD1-EA5B9C00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19750"/>
            <a:ext cx="868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Сравнения лечения выполняются внутри однородных блоков.</a:t>
            </a:r>
          </a:p>
        </p:txBody>
      </p:sp>
    </p:spTree>
    <p:extLst>
      <p:ext uri="{BB962C8B-B14F-4D97-AF65-F5344CB8AC3E}">
        <p14:creationId xmlns:p14="http://schemas.microsoft.com/office/powerpoint/2010/main" val="98720813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73DAF3-FB0D-4DC7-989D-9E3FF3C3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72B62-07BE-4066-B10D-EA6D149D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90332-D1A6-49EE-9042-CD137E9F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БЛОЧНЫЕ ПЛАНЫ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17FF4-BBD3-478C-82E6-437ACA87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RCBD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E65C5-CD15-4E60-81AC-13163C00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Полный рандомизированный блочный план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D722A-9C29-49BF-8C54-9A419149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33500"/>
            <a:ext cx="89535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E5964-BCA8-417F-AD13-BCAC5B99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33500"/>
            <a:ext cx="895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0" tIns="114300" rIns="1905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0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925" b="0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yᵢⱼ = μ + τᵢ + bⱼ + εᵢⱼ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65B93-B56D-46E3-B478-36711EC1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337185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328626-50EA-4558-80B0-6305111F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Полнота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D7E15-533C-47E5-BBAB-70D9621A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624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Каждое лечение встречается в каждом блоке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045C9-6272-40F6-8D52-F09D3A6B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14650"/>
            <a:ext cx="337185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857081-DC97-4940-8E80-E723742C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813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Рандомизация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62AB32-3599-4E94-96E8-14CC28A7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624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Порядок лечений случаен внутри каждого блока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FC52B3-26B3-487A-9AF1-B812F7B7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14650"/>
            <a:ext cx="337185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6A5746-9565-4C1A-B205-D52AAF21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813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Аддитивность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CDFD6B-A2EB-4681-B4AF-1DE956DB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624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Нет существенного treatment × block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406606-E42D-44A2-A2D2-5F3346AA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79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Эффект блока можно оценивать, но обычно он не является научной целью; объявлять его проверку «бессмысленной» некорректно.</a:t>
            </a:r>
          </a:p>
        </p:txBody>
      </p:sp>
    </p:spTree>
    <p:extLst>
      <p:ext uri="{BB962C8B-B14F-4D97-AF65-F5344CB8AC3E}">
        <p14:creationId xmlns:p14="http://schemas.microsoft.com/office/powerpoint/2010/main" val="114287343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27928-B467-40B9-90DD-75E58498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A67B1-F692-4A82-86BE-11665974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D95E0-9756-412B-BC9C-EC7CBACE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БЛОЧНЫЕ ПЛАНЫ · PYTHON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FDB59-85AB-4522-93FA-35A27D2F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STATSMODELS 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0210B-9667-47D6-96F5-8B47E185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Python: ANOVA для RCBD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53355-A7E7-47A3-A922-7FF727BE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7086600" cy="419100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  <p:txBody>
          <a:bodyPr xmlns:a="http://schemas.openxmlformats.org/drawingml/2006/main" wrap="none" lIns="190500" tIns="171450" rIns="190500" bIns="13335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import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statsmodels.api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as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sm</a:t>
            </a:r>
          </a:p>
          <a:p xmlns:a="http://schemas.openxmlformats.org/drawingml/2006/main">
            <a:pPr>
              <a:defRPr sz="16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from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statsmodels.formula.api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import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ols</a:t>
            </a:r>
          </a:p>
          <a:p xmlns:a="http://schemas.openxmlformats.org/drawingml/2006/main">
            <a:pPr>
              <a:defRPr sz="16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6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model = ols(</a:t>
            </a:r>
          </a:p>
          <a:p xmlns:a="http://schemas.openxmlformats.org/drawingml/2006/main">
            <a:pPr>
              <a:defRPr sz="16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'y ~ C(treatment) + C(block)'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</a:t>
            </a:r>
          </a:p>
          <a:p xmlns:a="http://schemas.openxmlformats.org/drawingml/2006/main">
            <a:pPr>
              <a:defRPr sz="16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data=df,</a:t>
            </a:r>
          </a:p>
          <a:p xmlns:a="http://schemas.openxmlformats.org/drawingml/2006/main">
            <a:pPr>
              <a:defRPr sz="16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).</a:t>
            </a:r>
            <a:r>
              <a:rPr>
                <a:solidFill>
                  <a:srgbClr val="4EA8DE"/>
                </a:solidFill>
                <a:latin typeface="Menlo"/>
                <a:ea typeface="Menlo"/>
                <a:cs typeface="Menlo"/>
              </a:rPr>
              <a:t>fit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()</a:t>
            </a:r>
          </a:p>
          <a:p xmlns:a="http://schemas.openxmlformats.org/drawingml/2006/main">
            <a:pPr>
              <a:defRPr sz="16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6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table = sm.stats.anova_lm(model, typ=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2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6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EA8DE"/>
                </a:solidFill>
                <a:latin typeface="Menlo"/>
                <a:ea typeface="Menlo"/>
                <a:cs typeface="Menlo"/>
              </a:rPr>
              <a:t>print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(table)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08FB9-9018-49F4-B75D-99095A1A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00200"/>
            <a:ext cx="3086100" cy="3200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BBE2A-BDF8-48A7-8B65-1249A883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85950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Интерпретация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80A2D4-857D-4408-818B-88052C4E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47950"/>
            <a:ext cx="24574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C(treatment) — главный тест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C(block) забирает вариацию блоков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MSE — остаточная вариация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0B61D-21FF-4B86-B986-0721FB98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Если блоки — случайная выборка из популяции, используйте mixed model с random intercept.</a:t>
            </a:r>
          </a:p>
        </p:txBody>
      </p:sp>
    </p:spTree>
    <p:extLst>
      <p:ext uri="{BB962C8B-B14F-4D97-AF65-F5344CB8AC3E}">
        <p14:creationId xmlns:p14="http://schemas.microsoft.com/office/powerpoint/2010/main" val="3378405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8544FA-9094-4F49-A77C-F1DA81F0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C3830-6622-44DC-899D-ADDC2550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656863-1573-4D53-BDDD-51F53EE8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БЛОЧНЫЕ ПЛАНЫ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DC8FE-AC45-4A67-A039-D67DC965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СТРОКИ + СТОЛБЦЫ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FAA8F-D456-4384-A853-A80FB2DB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Латинский квадрат контролирует два блокирующих фактора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0782E-AF83-445D-8BB0-89928C02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76400"/>
            <a:ext cx="723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4B2D1-0F1E-420A-BCBB-E546AB65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CAE835-5694-42D8-88A6-20C38254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76400"/>
            <a:ext cx="723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FDB23-B506-4B45-853D-C02B117D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7907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17A1F0-89E7-481C-B6C3-DE49283D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76400"/>
            <a:ext cx="723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273C0B-81CE-4722-AAAB-E6F1EE09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6AB5DB-9A92-442B-9F83-BEF038F9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76400"/>
            <a:ext cx="723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C4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13FDBF-08A5-441F-B709-84D9069B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907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B77C0-56A9-4B9D-BC0C-660D7A0B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723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3001D-E707-4E1A-89DE-96DF34F2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F70952-C92F-425B-A757-8204CB42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57450"/>
            <a:ext cx="723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2EFD66-F70D-4C20-837A-084EE57B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717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90DB02-674B-42F3-BF4E-3320D4D8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57450"/>
            <a:ext cx="723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C4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B92B2A-C2EE-41C2-B324-854C4A64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717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AE074A-AA2B-46BA-8F00-780967F0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57450"/>
            <a:ext cx="723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949332-2484-4AD4-A8B4-0BCDE97C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CDDA81-1104-4BFB-BA91-12FE926C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723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66034A-1F40-4C66-A48A-E7FEDB5E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CFF3CA-E356-4700-A724-6D884418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38500"/>
            <a:ext cx="723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C4A7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C5345D-B2E8-42CA-B3A2-C745E9BC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3528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B42A45-88F5-422A-BFE0-968652AA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38500"/>
            <a:ext cx="723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726838-5400-4A51-825A-4F6D1EA1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528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8FA027-488A-43B1-82E8-8C442879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723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0F2B6B-1FEC-4B4C-AC05-9B72A977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528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DE3A4C-AA03-46D1-89B6-2516EC7F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723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C4A7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E54CFF-3354-4594-8E73-6F75743D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BDFEE1-114B-41E5-9CD9-8011F7C4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19550"/>
            <a:ext cx="723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B4A738-4C11-43A4-8951-9255C8AB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1338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E7EF99-4170-4D98-A687-E56507DD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19550"/>
            <a:ext cx="723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1A493F-E33B-4E19-B7FC-735ACEBE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338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5A21B8-8B99-4585-BB9B-EA4C281C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19550"/>
            <a:ext cx="723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14B016-D294-4A5F-8424-ABDD04C0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338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AE0993-E83B-4180-A61E-204F6F3A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19250"/>
            <a:ext cx="59055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30928C-22BC-4410-B244-DAAF6C61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1925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0" tIns="114300" rIns="1905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y = μ + treatment + row + column + 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C00BCF-102B-4BB6-9C79-D49DE106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48000"/>
            <a:ext cx="52197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Каждое лечение ровно один раз в каждой строке и каждом столбце.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Предполагается отсутствие взаимодействий с блокирующими факторами.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Рандомизируют строки, столбцы и метки лечений допустимым образом.</a:t>
            </a:r>
          </a:p>
        </p:txBody>
      </p:sp>
    </p:spTree>
    <p:extLst>
      <p:ext uri="{BB962C8B-B14F-4D97-AF65-F5344CB8AC3E}">
        <p14:creationId xmlns:p14="http://schemas.microsoft.com/office/powerpoint/2010/main" val="106230833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1BE493-D453-4FE5-AEBA-36389127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33AF4-2822-4C4D-8BB2-A45A592D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A2965-4880-45DB-9450-9799BE96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БЛОЧНЫЕ ПЛАНЫ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F57F1C-43CF-4ED6-A81F-5F5686A4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НЕ СМЕШИВАТЬ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09401-5552-42D2-BE39-BCDED47E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Греко-латинский план и carryover решают разные задачи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F5366-7EAC-4506-99EB-F745B94B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50673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C4A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9CF0C-4C38-4847-9AF9-0AA7AA48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383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9525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8111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111F"/>
                </a:solidFill>
                <a:latin typeface="Arial"/>
                <a:ea typeface="Arial"/>
                <a:cs typeface="Arial"/>
              </a:rPr>
              <a:t>GRAECO-LATIN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EFBBF-C32D-4BDF-A977-12E9C95D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464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Ортогональные квадраты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A342C-3F0D-4591-B4ED-335B719C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46482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Два взаимно ортогональных набора меток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Оценивает два главных эффекта при двух направлениях блокирования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Требует сильного предположения об отсутствии взаимодействий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BBC0C3-E2E9-4884-9FBB-89680D8B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28750"/>
            <a:ext cx="50673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62036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32786-6699-4985-925A-ACFE1A1B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383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9525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8111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111F"/>
                </a:solidFill>
                <a:latin typeface="Arial"/>
                <a:ea typeface="Arial"/>
                <a:cs typeface="Arial"/>
              </a:rPr>
              <a:t>CROSSOVER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4DAF2-4E68-4720-B58B-4B83E861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33600"/>
            <a:ext cx="464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Перенос эффекта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A379C-FBA9-4F97-B9FD-D6817CAD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57500"/>
            <a:ext cx="46482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Один объект получает лечения во времени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Важны период, порядок и washout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Последовательности балансируют, carryover проверяют отдельно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F17E7F-AFB1-48ED-BCCB-B5C3F868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5310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Матрица букв без модели и схемы рандомизации не описывает эксперимент полностью.</a:t>
            </a:r>
          </a:p>
        </p:txBody>
      </p:sp>
    </p:spTree>
    <p:extLst>
      <p:ext uri="{BB962C8B-B14F-4D97-AF65-F5344CB8AC3E}">
        <p14:creationId xmlns:p14="http://schemas.microsoft.com/office/powerpoint/2010/main" val="177483818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C345CD-447B-4024-834A-88E4F762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3DAC2-D226-4881-B9F7-68DF2395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8CF43-0EF6-4749-AA08-26D3DC63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3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37A92"/>
                </a:solidFill>
                <a:latin typeface="Arial"/>
                <a:ea typeface="Arial"/>
                <a:cs typeface="Arial"/>
              </a:rPr>
              <a:t>ИТОГИ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E055B-DA75-4D73-8460-686EBC23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ФИНАЛЬНАЯ ШПАРГАЛКА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F2D26-ADD0-4CE2-927A-EC92C365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Как выбрать дизайн и модель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C647E-8AC2-4275-8F00-97906E4C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5219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72B42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10152-38B6-4A00-B40D-0E1C98C6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257300"/>
            <a:ext cx="5372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72B42"/>
          </a:solidFill>
          <a:ln xmlns:a="http://schemas.openxmlformats.org/drawingml/2006/main" w="9525">
            <a:solidFill>
              <a:srgbClr val="2942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93EA4-E07C-4517-81D4-FF83C1FE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52550"/>
            <a:ext cx="487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Вопрос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EF6C7-5074-4B05-AA06-0126E7AA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352550"/>
            <a:ext cx="499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7B7C9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A7B7C9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EC4432-A9CE-4F90-8B3F-F55F44A6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5219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A3E0E-4BA1-4368-A6B9-60930DDF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62150"/>
            <a:ext cx="5372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A2B13-DC2C-4639-A50C-7B4ED5D7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487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Интересуют конкретные уровни?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ADD884-D34E-46BD-892F-D4FF4BD8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57400"/>
            <a:ext cx="499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Фиксированный фактор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5F61E1-89B9-4621-8C8E-FA9720E5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5219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025A8A-2B60-4812-9757-0B6AE95C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67000"/>
            <a:ext cx="5372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FF8FCA-8B70-4F7B-949D-D4AFCFAF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487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Уровни — выборка из популяции?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770E10-919D-41CB-A2A9-B899FE4F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62250"/>
            <a:ext cx="499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Случайный эффект / MixedLM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7F4C84-D9A4-4A8D-A210-A0A21F79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5219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C4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31D701-78DC-4538-A7F1-3921C34E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71850"/>
            <a:ext cx="5372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C4A7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39C003-B233-49AB-B0E4-312A0BF1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487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Один фактор существует только внутри другого?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F420A0-B6AC-4A45-8206-4CB508B3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67100"/>
            <a:ext cx="499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Вложенная структура B(A)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C25384-F105-421A-9AFB-2767F671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5219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F96895-2527-434D-A47B-52539020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76700"/>
            <a:ext cx="5372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7A6CBD-33BA-457A-AE9C-11FF8E4F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487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Известен источник неоднородности?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53F01C-D748-45F5-BA2E-7E196E76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71950"/>
            <a:ext cx="499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Блокировать и рандомизировать внутри блока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0DA4E5-A0DC-477F-916B-F1B97B68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81550"/>
            <a:ext cx="5219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48CA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C70B66-D871-44E9-AEC2-6C1B91F0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81550"/>
            <a:ext cx="5372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48CA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BBA73D-8836-4F8E-A08C-269BEEC2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487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Нужны два направления блокирования?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439ADB-146B-44E2-8329-DEE1F651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76800"/>
            <a:ext cx="499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Латинский квадрат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8E712F-8EF0-4E1C-98D6-623093F3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772150"/>
            <a:ext cx="826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Сначала дизайн → затем модель → потом вычисления в Python.</a:t>
            </a:r>
          </a:p>
        </p:txBody>
      </p:sp>
    </p:spTree>
    <p:extLst>
      <p:ext uri="{BB962C8B-B14F-4D97-AF65-F5344CB8AC3E}">
        <p14:creationId xmlns:p14="http://schemas.microsoft.com/office/powerpoint/2010/main" val="11669742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2026-09-22T21:32:32.3770000Z</dcterms:created>
  <dcterms:modified xsi:type="dcterms:W3CDTF">2026-09-22T21:32:32.3770000Z</dcterms:modified>
</coreProperties>
</file>