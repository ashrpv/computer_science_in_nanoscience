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0f4a6be03348fd" /><Relationship Type="http://schemas.openxmlformats.org/officeDocument/2006/relationships/extended-properties" Target="/docProps/app.xml" Id="R4cf7b3b8b3444449" /><Relationship Type="http://schemas.openxmlformats.org/officeDocument/2006/relationships/officeDocument" Target="/ppt/presentation.xml" Id="R528c681ae66d486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39102aa09c4487e"/>
  </p:sldMasterIdLst>
  <p:notesMasterIdLst>
    <p:notesMasterId xmlns:r="http://schemas.openxmlformats.org/officeDocument/2006/relationships" r:id="R0ca12910706042e9"/>
  </p:notesMasterIdLst>
  <p:sldIdLst>
    <p:sldId xmlns:r="http://schemas.openxmlformats.org/officeDocument/2006/relationships" id="256" r:id="Rd6327c67c2d34d7b"/>
    <p:sldId xmlns:r="http://schemas.openxmlformats.org/officeDocument/2006/relationships" id="257" r:id="R6af5b43063c74acb"/>
    <p:sldId xmlns:r="http://schemas.openxmlformats.org/officeDocument/2006/relationships" id="258" r:id="Re276e17e3f4248c1"/>
    <p:sldId xmlns:r="http://schemas.openxmlformats.org/officeDocument/2006/relationships" id="259" r:id="Rf3054b31d50742b5"/>
    <p:sldId xmlns:r="http://schemas.openxmlformats.org/officeDocument/2006/relationships" id="260" r:id="Rcec6c6565ee247d8"/>
    <p:sldId xmlns:r="http://schemas.openxmlformats.org/officeDocument/2006/relationships" id="261" r:id="R6f8d9319f7a84c39"/>
    <p:sldId xmlns:r="http://schemas.openxmlformats.org/officeDocument/2006/relationships" id="262" r:id="Rd4e26eeb70e54b25"/>
    <p:sldId xmlns:r="http://schemas.openxmlformats.org/officeDocument/2006/relationships" id="263" r:id="R8d27b0215f274372"/>
    <p:sldId xmlns:r="http://schemas.openxmlformats.org/officeDocument/2006/relationships" id="264" r:id="R80e7f0b139434fd4"/>
    <p:sldId xmlns:r="http://schemas.openxmlformats.org/officeDocument/2006/relationships" id="265" r:id="Rfb2aea9c588440aa"/>
    <p:sldId xmlns:r="http://schemas.openxmlformats.org/officeDocument/2006/relationships" id="266" r:id="R3760ae88a6ad45d4"/>
    <p:sldId xmlns:r="http://schemas.openxmlformats.org/officeDocument/2006/relationships" id="267" r:id="Re482946e56d741d5"/>
    <p:sldId xmlns:r="http://schemas.openxmlformats.org/officeDocument/2006/relationships" id="268" r:id="R1e2594ed7cee4cb6"/>
    <p:sldId xmlns:r="http://schemas.openxmlformats.org/officeDocument/2006/relationships" id="269" r:id="R44de0892e5334c10"/>
    <p:sldId xmlns:r="http://schemas.openxmlformats.org/officeDocument/2006/relationships" id="270" r:id="Rbb2a5ac3fc9a43a7"/>
    <p:sldId xmlns:r="http://schemas.openxmlformats.org/officeDocument/2006/relationships" id="271" r:id="Rb5705609df9046de"/>
    <p:sldId xmlns:r="http://schemas.openxmlformats.org/officeDocument/2006/relationships" id="272" r:id="Rb1fa3345b11b4060"/>
    <p:sldId xmlns:r="http://schemas.openxmlformats.org/officeDocument/2006/relationships" id="273" r:id="R22804db602bd4956"/>
    <p:sldId xmlns:r="http://schemas.openxmlformats.org/officeDocument/2006/relationships" id="274" r:id="R083b8c065e824b3d"/>
    <p:sldId xmlns:r="http://schemas.openxmlformats.org/officeDocument/2006/relationships" id="275" r:id="R32ae9900446d4857"/>
    <p:sldId xmlns:r="http://schemas.openxmlformats.org/officeDocument/2006/relationships" id="276" r:id="Ra62bf581f43b45db"/>
    <p:sldId xmlns:r="http://schemas.openxmlformats.org/officeDocument/2006/relationships" id="277" r:id="Rae1b138f483a494e"/>
    <p:sldId xmlns:r="http://schemas.openxmlformats.org/officeDocument/2006/relationships" id="278" r:id="Rad035d6b86d74a4c"/>
    <p:sldId xmlns:r="http://schemas.openxmlformats.org/officeDocument/2006/relationships" id="279" r:id="R716486477fdb4a04"/>
    <p:sldId xmlns:r="http://schemas.openxmlformats.org/officeDocument/2006/relationships" id="280" r:id="R6d2f2280299a4313"/>
    <p:sldId xmlns:r="http://schemas.openxmlformats.org/officeDocument/2006/relationships" id="281" r:id="Rf524e7684b3d45b6"/>
    <p:sldId xmlns:r="http://schemas.openxmlformats.org/officeDocument/2006/relationships" id="282" r:id="Rdeaded6627884711"/>
    <p:sldId xmlns:r="http://schemas.openxmlformats.org/officeDocument/2006/relationships" id="283" r:id="R83d0fc91dfdd48a8"/>
    <p:sldId xmlns:r="http://schemas.openxmlformats.org/officeDocument/2006/relationships" id="284" r:id="R29f7234f947f40a9"/>
    <p:sldId xmlns:r="http://schemas.openxmlformats.org/officeDocument/2006/relationships" id="285" r:id="R316ee3cdaab24576"/>
    <p:sldId xmlns:r="http://schemas.openxmlformats.org/officeDocument/2006/relationships" id="286" r:id="Re9630ecd7a3f450d"/>
    <p:sldId xmlns:r="http://schemas.openxmlformats.org/officeDocument/2006/relationships" id="287" r:id="R54462da4e16d426a"/>
    <p:sldId xmlns:r="http://schemas.openxmlformats.org/officeDocument/2006/relationships" id="288" r:id="R318a66d6088b49cb"/>
    <p:sldId xmlns:r="http://schemas.openxmlformats.org/officeDocument/2006/relationships" id="289" r:id="Rc5933a0111df4273"/>
    <p:sldId xmlns:r="http://schemas.openxmlformats.org/officeDocument/2006/relationships" id="290" r:id="R918d93f1fc7e44af"/>
    <p:sldId xmlns:r="http://schemas.openxmlformats.org/officeDocument/2006/relationships" id="291" r:id="R4a9d2b4f3b894521"/>
    <p:sldId xmlns:r="http://schemas.openxmlformats.org/officeDocument/2006/relationships" id="292" r:id="Rf8040cbf784d4596"/>
    <p:sldId xmlns:r="http://schemas.openxmlformats.org/officeDocument/2006/relationships" id="293" r:id="R3a89a8e4784d4aef"/>
    <p:sldId xmlns:r="http://schemas.openxmlformats.org/officeDocument/2006/relationships" id="294" r:id="Rf39e96b691c44c26"/>
    <p:sldId xmlns:r="http://schemas.openxmlformats.org/officeDocument/2006/relationships" id="295" r:id="R66589e952fbf4e1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0e3cbcda4ce4b2d" /><Relationship Type="http://schemas.openxmlformats.org/officeDocument/2006/relationships/slideMaster" Target="/ppt/slideMasters/slideMaster1.xml" Id="R939102aa09c4487e" /><Relationship Type="http://schemas.openxmlformats.org/officeDocument/2006/relationships/notesMaster" Target="/ppt/notesMasters/notesMaster1.xml" Id="R0ca12910706042e9" /><Relationship Type="http://schemas.openxmlformats.org/officeDocument/2006/relationships/presProps" Target="/ppt/presProps.xml" Id="R826ddbd273a04882" /><Relationship Type="http://schemas.openxmlformats.org/officeDocument/2006/relationships/tableStyles" Target="/ppt/tableStyles.xml" Id="R9a56ca027dfd457a" /><Relationship Type="http://schemas.openxmlformats.org/officeDocument/2006/relationships/slide" Target="/ppt/slides/slide1.xml" Id="Rd6327c67c2d34d7b" /><Relationship Type="http://schemas.openxmlformats.org/officeDocument/2006/relationships/slide" Target="/ppt/slides/slide2.xml" Id="R6af5b43063c74acb" /><Relationship Type="http://schemas.openxmlformats.org/officeDocument/2006/relationships/slide" Target="/ppt/slides/slide3.xml" Id="Re276e17e3f4248c1" /><Relationship Type="http://schemas.openxmlformats.org/officeDocument/2006/relationships/slide" Target="/ppt/slides/slide4.xml" Id="Rf3054b31d50742b5" /><Relationship Type="http://schemas.openxmlformats.org/officeDocument/2006/relationships/slide" Target="/ppt/slides/slide5.xml" Id="Rcec6c6565ee247d8" /><Relationship Type="http://schemas.openxmlformats.org/officeDocument/2006/relationships/slide" Target="/ppt/slides/slide6.xml" Id="R6f8d9319f7a84c39" /><Relationship Type="http://schemas.openxmlformats.org/officeDocument/2006/relationships/slide" Target="/ppt/slides/slide7.xml" Id="Rd4e26eeb70e54b25" /><Relationship Type="http://schemas.openxmlformats.org/officeDocument/2006/relationships/slide" Target="/ppt/slides/slide8.xml" Id="R8d27b0215f274372" /><Relationship Type="http://schemas.openxmlformats.org/officeDocument/2006/relationships/slide" Target="/ppt/slides/slide9.xml" Id="R80e7f0b139434fd4" /><Relationship Type="http://schemas.openxmlformats.org/officeDocument/2006/relationships/slide" Target="/ppt/slides/slide10.xml" Id="Rfb2aea9c588440aa" /><Relationship Type="http://schemas.openxmlformats.org/officeDocument/2006/relationships/slide" Target="/ppt/slides/slide11.xml" Id="R3760ae88a6ad45d4" /><Relationship Type="http://schemas.openxmlformats.org/officeDocument/2006/relationships/slide" Target="/ppt/slides/slide12.xml" Id="Re482946e56d741d5" /><Relationship Type="http://schemas.openxmlformats.org/officeDocument/2006/relationships/slide" Target="/ppt/slides/slide13.xml" Id="R1e2594ed7cee4cb6" /><Relationship Type="http://schemas.openxmlformats.org/officeDocument/2006/relationships/slide" Target="/ppt/slides/slide14.xml" Id="R44de0892e5334c10" /><Relationship Type="http://schemas.openxmlformats.org/officeDocument/2006/relationships/slide" Target="/ppt/slides/slide15.xml" Id="Rbb2a5ac3fc9a43a7" /><Relationship Type="http://schemas.openxmlformats.org/officeDocument/2006/relationships/slide" Target="/ppt/slides/slide16.xml" Id="Rb5705609df9046de" /><Relationship Type="http://schemas.openxmlformats.org/officeDocument/2006/relationships/slide" Target="/ppt/slides/slide17.xml" Id="Rb1fa3345b11b4060" /><Relationship Type="http://schemas.openxmlformats.org/officeDocument/2006/relationships/slide" Target="/ppt/slides/slide18.xml" Id="R22804db602bd4956" /><Relationship Type="http://schemas.openxmlformats.org/officeDocument/2006/relationships/slide" Target="/ppt/slides/slide19.xml" Id="R083b8c065e824b3d" /><Relationship Type="http://schemas.openxmlformats.org/officeDocument/2006/relationships/slide" Target="/ppt/slides/slide20.xml" Id="R32ae9900446d4857" /><Relationship Type="http://schemas.openxmlformats.org/officeDocument/2006/relationships/slide" Target="/ppt/slides/slide21.xml" Id="Ra62bf581f43b45db" /><Relationship Type="http://schemas.openxmlformats.org/officeDocument/2006/relationships/slide" Target="/ppt/slides/slide22.xml" Id="Rae1b138f483a494e" /><Relationship Type="http://schemas.openxmlformats.org/officeDocument/2006/relationships/slide" Target="/ppt/slides/slide23.xml" Id="Rad035d6b86d74a4c" /><Relationship Type="http://schemas.openxmlformats.org/officeDocument/2006/relationships/slide" Target="/ppt/slides/slide24.xml" Id="R716486477fdb4a04" /><Relationship Type="http://schemas.openxmlformats.org/officeDocument/2006/relationships/slide" Target="/ppt/slides/slide25.xml" Id="R6d2f2280299a4313" /><Relationship Type="http://schemas.openxmlformats.org/officeDocument/2006/relationships/slide" Target="/ppt/slides/slide26.xml" Id="Rf524e7684b3d45b6" /><Relationship Type="http://schemas.openxmlformats.org/officeDocument/2006/relationships/slide" Target="/ppt/slides/slide27.xml" Id="Rdeaded6627884711" /><Relationship Type="http://schemas.openxmlformats.org/officeDocument/2006/relationships/slide" Target="/ppt/slides/slide28.xml" Id="R83d0fc91dfdd48a8" /><Relationship Type="http://schemas.openxmlformats.org/officeDocument/2006/relationships/slide" Target="/ppt/slides/slide29.xml" Id="R29f7234f947f40a9" /><Relationship Type="http://schemas.openxmlformats.org/officeDocument/2006/relationships/slide" Target="/ppt/slides/slide30.xml" Id="R316ee3cdaab24576" /><Relationship Type="http://schemas.openxmlformats.org/officeDocument/2006/relationships/slide" Target="/ppt/slides/slide31.xml" Id="Re9630ecd7a3f450d" /><Relationship Type="http://schemas.openxmlformats.org/officeDocument/2006/relationships/slide" Target="/ppt/slides/slide32.xml" Id="R54462da4e16d426a" /><Relationship Type="http://schemas.openxmlformats.org/officeDocument/2006/relationships/slide" Target="/ppt/slides/slide33.xml" Id="R318a66d6088b49cb" /><Relationship Type="http://schemas.openxmlformats.org/officeDocument/2006/relationships/slide" Target="/ppt/slides/slide34.xml" Id="Rc5933a0111df4273" /><Relationship Type="http://schemas.openxmlformats.org/officeDocument/2006/relationships/slide" Target="/ppt/slides/slide35.xml" Id="R918d93f1fc7e44af" /><Relationship Type="http://schemas.openxmlformats.org/officeDocument/2006/relationships/slide" Target="/ppt/slides/slide36.xml" Id="R4a9d2b4f3b894521" /><Relationship Type="http://schemas.openxmlformats.org/officeDocument/2006/relationships/slide" Target="/ppt/slides/slide37.xml" Id="Rf8040cbf784d4596" /><Relationship Type="http://schemas.openxmlformats.org/officeDocument/2006/relationships/slide" Target="/ppt/slides/slide38.xml" Id="R3a89a8e4784d4aef" /><Relationship Type="http://schemas.openxmlformats.org/officeDocument/2006/relationships/slide" Target="/ppt/slides/slide39.xml" Id="Rf39e96b691c44c26" /><Relationship Type="http://schemas.openxmlformats.org/officeDocument/2006/relationships/slide" Target="/ppt/slides/slide40.xml" Id="R66589e952fbf4e1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f5e5a8e183445f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6b94bf347a14bda" /><Relationship Type="http://schemas.openxmlformats.org/officeDocument/2006/relationships/notesMaster" Target="/ppt/notesMasters/notesMaster1.xml" Id="Rfccef18dd63c4f0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952663b649e42a7" /><Relationship Type="http://schemas.openxmlformats.org/officeDocument/2006/relationships/notesMaster" Target="/ppt/notesMasters/notesMaster1.xml" Id="Ra7af764a7167447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7d0c602e9ad444e" /><Relationship Type="http://schemas.openxmlformats.org/officeDocument/2006/relationships/notesMaster" Target="/ppt/notesMasters/notesMaster1.xml" Id="R782a54850a1340e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03047c3c3164aeb" /><Relationship Type="http://schemas.openxmlformats.org/officeDocument/2006/relationships/notesMaster" Target="/ppt/notesMasters/notesMaster1.xml" Id="R8827c006a1654e3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ac27dbbd9374d81" /><Relationship Type="http://schemas.openxmlformats.org/officeDocument/2006/relationships/notesMaster" Target="/ppt/notesMasters/notesMaster1.xml" Id="R9bf15b1ae2a346d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ef1a18fb5144d1e" /><Relationship Type="http://schemas.openxmlformats.org/officeDocument/2006/relationships/notesMaster" Target="/ppt/notesMasters/notesMaster1.xml" Id="Rf226bdc7f3744ad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c736d5c558d4910" /><Relationship Type="http://schemas.openxmlformats.org/officeDocument/2006/relationships/notesMaster" Target="/ppt/notesMasters/notesMaster1.xml" Id="R4a2b81e3a5fe4c3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10594dd44644d74" /><Relationship Type="http://schemas.openxmlformats.org/officeDocument/2006/relationships/notesMaster" Target="/ppt/notesMasters/notesMaster1.xml" Id="R29531726bc074d4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5206d8a66ac4a1b" /><Relationship Type="http://schemas.openxmlformats.org/officeDocument/2006/relationships/notesMaster" Target="/ppt/notesMasters/notesMaster1.xml" Id="Rdbc9c4af23484b1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b96120d603146b2" /><Relationship Type="http://schemas.openxmlformats.org/officeDocument/2006/relationships/notesMaster" Target="/ppt/notesMasters/notesMaster1.xml" Id="Rbf487f5d9a69422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aac3d61e7274e63" /><Relationship Type="http://schemas.openxmlformats.org/officeDocument/2006/relationships/notesMaster" Target="/ppt/notesMasters/notesMaster1.xml" Id="Rce3d7b9514cf475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a26304df5cf4a2e" /><Relationship Type="http://schemas.openxmlformats.org/officeDocument/2006/relationships/notesMaster" Target="/ppt/notesMasters/notesMaster1.xml" Id="R6dfb18fc05c34d4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2c0f6535dfc4199" /><Relationship Type="http://schemas.openxmlformats.org/officeDocument/2006/relationships/notesMaster" Target="/ppt/notesMasters/notesMaster1.xml" Id="R734b9e7747c942c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d3aa067d4544bb3" /><Relationship Type="http://schemas.openxmlformats.org/officeDocument/2006/relationships/notesMaster" Target="/ppt/notesMasters/notesMaster1.xml" Id="R94461c303c5f467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31ea0a32be1401a" /><Relationship Type="http://schemas.openxmlformats.org/officeDocument/2006/relationships/notesMaster" Target="/ppt/notesMasters/notesMaster1.xml" Id="Rb52956be56ed457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c682024aacf431d" /><Relationship Type="http://schemas.openxmlformats.org/officeDocument/2006/relationships/notesMaster" Target="/ppt/notesMasters/notesMaster1.xml" Id="Re53a69f3eaf941d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23818df095d4206" /><Relationship Type="http://schemas.openxmlformats.org/officeDocument/2006/relationships/notesMaster" Target="/ppt/notesMasters/notesMaster1.xml" Id="Rc1b2a80639d44e0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37697ae7f834788" /><Relationship Type="http://schemas.openxmlformats.org/officeDocument/2006/relationships/notesMaster" Target="/ppt/notesMasters/notesMaster1.xml" Id="Rc45b70d076e94ca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6c4d1026ca740a5" /><Relationship Type="http://schemas.openxmlformats.org/officeDocument/2006/relationships/notesMaster" Target="/ppt/notesMasters/notesMaster1.xml" Id="Ra1ac432d6078405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81ff1a48435407a" /><Relationship Type="http://schemas.openxmlformats.org/officeDocument/2006/relationships/notesMaster" Target="/ppt/notesMasters/notesMaster1.xml" Id="Rcadc31ce3481482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755927eb55d42f4" /><Relationship Type="http://schemas.openxmlformats.org/officeDocument/2006/relationships/notesMaster" Target="/ppt/notesMasters/notesMaster1.xml" Id="R50f2c1c3f1764ff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85444d5abd749f8" /><Relationship Type="http://schemas.openxmlformats.org/officeDocument/2006/relationships/notesMaster" Target="/ppt/notesMasters/notesMaster1.xml" Id="R749307145ae6490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35dae2efb8947f5" /><Relationship Type="http://schemas.openxmlformats.org/officeDocument/2006/relationships/notesMaster" Target="/ppt/notesMasters/notesMaster1.xml" Id="R7cf1688fcd1e44e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fa45e6be6e149dc" /><Relationship Type="http://schemas.openxmlformats.org/officeDocument/2006/relationships/notesMaster" Target="/ppt/notesMasters/notesMaster1.xml" Id="Rb74fbed1b0cf471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b340253bf494573" /><Relationship Type="http://schemas.openxmlformats.org/officeDocument/2006/relationships/notesMaster" Target="/ppt/notesMasters/notesMaster1.xml" Id="Rbccb2bf8da984f7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f4bb5ad6cee4ef7" /><Relationship Type="http://schemas.openxmlformats.org/officeDocument/2006/relationships/notesMaster" Target="/ppt/notesMasters/notesMaster1.xml" Id="Rc7d4af62a80d4ff3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ca0e6babc55473a" /><Relationship Type="http://schemas.openxmlformats.org/officeDocument/2006/relationships/notesMaster" Target="/ppt/notesMasters/notesMaster1.xml" Id="Rf499445f2ea04c1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9716bf94d28947e9" /><Relationship Type="http://schemas.openxmlformats.org/officeDocument/2006/relationships/notesMaster" Target="/ppt/notesMasters/notesMaster1.xml" Id="R969b566856d848f1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b01dbd810b674071" /><Relationship Type="http://schemas.openxmlformats.org/officeDocument/2006/relationships/notesMaster" Target="/ppt/notesMasters/notesMaster1.xml" Id="R202b82e783724e00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6b800dbb5a2545a3" /><Relationship Type="http://schemas.openxmlformats.org/officeDocument/2006/relationships/notesMaster" Target="/ppt/notesMasters/notesMaster1.xml" Id="Rffccc2779af348c7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d84386bad6c84250" /><Relationship Type="http://schemas.openxmlformats.org/officeDocument/2006/relationships/notesMaster" Target="/ppt/notesMasters/notesMaster1.xml" Id="Rc9b05a6647fa4f5e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80a6c0b217444e46" /><Relationship Type="http://schemas.openxmlformats.org/officeDocument/2006/relationships/notesMaster" Target="/ppt/notesMasters/notesMaster1.xml" Id="R7cb54d55a6e44bba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7e9cd6580db94311" /><Relationship Type="http://schemas.openxmlformats.org/officeDocument/2006/relationships/notesMaster" Target="/ppt/notesMasters/notesMaster1.xml" Id="R844e6251945e487b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b98455c38e584041" /><Relationship Type="http://schemas.openxmlformats.org/officeDocument/2006/relationships/notesMaster" Target="/ppt/notesMasters/notesMaster1.xml" Id="Rf8994f9c10794768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ac8bb2aec77445d5" /><Relationship Type="http://schemas.openxmlformats.org/officeDocument/2006/relationships/notesMaster" Target="/ppt/notesMasters/notesMaster1.xml" Id="R9affc0fddabb403a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691c0e15886f4b1b" /><Relationship Type="http://schemas.openxmlformats.org/officeDocument/2006/relationships/notesMaster" Target="/ppt/notesMasters/notesMaster1.xml" Id="R7e1165bbb7be463b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f61421bd887f437a" /><Relationship Type="http://schemas.openxmlformats.org/officeDocument/2006/relationships/notesMaster" Target="/ppt/notesMasters/notesMaster1.xml" Id="Rbeb1319c9a8a4626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e8d4f3e1daa34dbc" /><Relationship Type="http://schemas.openxmlformats.org/officeDocument/2006/relationships/notesMaster" Target="/ppt/notesMasters/notesMaster1.xml" Id="R2486f62827e44b11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38053022bfb44f7c" /><Relationship Type="http://schemas.openxmlformats.org/officeDocument/2006/relationships/notesMaster" Target="/ppt/notesMasters/notesMaster1.xml" Id="R78e82d8494e0461d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d74d34270a0d4ae2" /><Relationship Type="http://schemas.openxmlformats.org/officeDocument/2006/relationships/notesMaster" Target="/ppt/notesMasters/notesMaster1.xml" Id="Rad8c1dc82e29448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Учебная лекция по машинному обучению в нанонауке. Иллюстрация на титуле схематична; не отображает результаты эксперимента. Подробный конспект: machine_learning/11-ml-problem_and_validation.md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Задача предшествует алгоритму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Решение: выбрать условия следующей партии</a:t>
            </a:r>
          </a:p>
          <a:p xmlns:a="http://schemas.openxmlformats.org/drawingml/2006/main">
            <a:r>
              <a:t>2. Цель: размер частиц в нм по заранее заданному методу</a:t>
            </a:r>
          </a:p>
          <a:p xmlns:a="http://schemas.openxmlformats.org/drawingml/2006/main">
            <a:r>
              <a:t>3. Входы: рецепт и настройки, известные до синтеза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Момент прогноза определяет допустимые признаки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Подробное объяснение, методические ограничения и код: machine_learning/11-ml-problem_and_validation.md</a:t>
            </a:r>
          </a:p>
          <a:p xmlns:a="http://schemas.openxmlformats.org/drawingml/2006/main">
            <a:r>
              <a:t>Справка по методам: https://scikit-learn.org/stable/modules/cross_validation.html и https://scikit-learn.org/stable/common_pitfalls.html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Вопросы для паспорта прогноза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Что предсказываем и для какого объекта?</a:t>
            </a:r>
          </a:p>
          <a:p xmlns:a="http://schemas.openxmlformats.org/drawingml/2006/main">
            <a:r>
              <a:t>2. Какие входы доступны к моменту решения?</a:t>
            </a:r>
          </a:p>
          <a:p xmlns:a="http://schemas.openxmlformats.org/drawingml/2006/main">
            <a:r>
              <a:t>3. На каких будущих партиях будет применяться модель?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Без этих ответов метрика мало что значит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Подробное объяснение, методические ограничения и код: machine_learning/11-ml-problem_and_validation.md</a:t>
            </a:r>
          </a:p>
          <a:p xmlns:a="http://schemas.openxmlformats.org/drawingml/2006/main">
            <a:r>
              <a:t>Справка по методам: https://scikit-learn.org/stable/modules/cross_validation.html и https://scikit-learn.org/stable/common_pitfalls.html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Регрессия или классификация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Регрессия: диаметр, сорбция, толщина покрытия</a:t>
            </a:r>
          </a:p>
          <a:p xmlns:a="http://schemas.openxmlformats.org/drawingml/2006/main">
            <a:r>
              <a:t>2. Классификация: прохождение заранее заданного порога</a:t>
            </a:r>
          </a:p>
          <a:p xmlns:a="http://schemas.openxmlformats.org/drawingml/2006/main">
            <a:r>
              <a:t>3. Произвольная бинаризация теряет часть информации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Сохраняйте исходное измеренное свойство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Подробное объяснение, методические ограничения и код: machine_learning/11-ml-problem_and_validation.md</a:t>
            </a:r>
          </a:p>
          <a:p xmlns:a="http://schemas.openxmlformats.org/drawingml/2006/main">
            <a:r>
              <a:t>Справка по методам: https://scikit-learn.org/stable/modules/cross_validation.html и https://scikit-learn.org/stable/common_pitfalls.html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Состав, структура, режим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Состав: доли компонентов и свойства сырья</a:t>
            </a:r>
          </a:p>
          <a:p xmlns:a="http://schemas.openxmlformats.org/drawingml/2006/main">
            <a:r>
              <a:t>2. Структура: спектральные и морфологические признаки</a:t>
            </a:r>
          </a:p>
          <a:p xmlns:a="http://schemas.openxmlformats.org/drawingml/2006/main">
            <a:r>
              <a:t>3. Режим: температура, время, расход, перемешивание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Признак должен иметь физический смысл и единицу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Подробное объяснение, методические ограничения и код: machine_learning/11-ml-problem_and_validation.md</a:t>
            </a:r>
          </a:p>
          <a:p xmlns:a="http://schemas.openxmlformats.org/drawingml/2006/main">
            <a:r>
              <a:t>Справка по методам: https://scikit-learn.org/stable/modules/cross_validation.html и https://scikit-learn.org/stable/common_pitfalls.html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Время доступности признака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Рецептура доступна перед синтезом</a:t>
            </a:r>
          </a:p>
          <a:p xmlns:a="http://schemas.openxmlformats.org/drawingml/2006/main">
            <a:r>
              <a:t>2. Морфология доступна после изготовления образца</a:t>
            </a:r>
          </a:p>
          <a:p xmlns:a="http://schemas.openxmlformats.org/drawingml/2006/main">
            <a:r>
              <a:t>3. Результат финального теста нельзя включать в ранний прогноз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Одна колонка может быть допустимой для позднего решения и утечкой для раннего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Подробное объяснение, методические ограничения и код: machine_learning/11-ml-problem_and_validation.md</a:t>
            </a:r>
          </a:p>
          <a:p xmlns:a="http://schemas.openxmlformats.org/drawingml/2006/main">
            <a:r>
              <a:t>Справка по методам: https://scikit-learn.org/stable/modules/cross_validation.html и https://scikit-learn.org/stable/common_pitfalls.html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Объект измерения не равен строке данных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Партия → образец → поле зрения → объект</a:t>
            </a:r>
          </a:p>
          <a:p xmlns:a="http://schemas.openxmlformats.org/drawingml/2006/main">
            <a:r>
              <a:t>2. Много измерений одной партии сохраняют общие условия</a:t>
            </a:r>
          </a:p>
          <a:p xmlns:a="http://schemas.openxmlformats.org/drawingml/2006/main">
            <a:r>
              <a:t>3. Независимых синтезов столько, сколько независимых партий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Размер выборки для переноса задают партии, а не пиксели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Подробное объяснение, методические ограничения и код: machine_learning/11-ml-problem_and_validation.md</a:t>
            </a:r>
          </a:p>
          <a:p xmlns:a="http://schemas.openxmlformats.org/drawingml/2006/main">
            <a:r>
              <a:t>Справка по методам: https://scikit-learn.org/stable/modules/cross_validation.html и https://scikit-learn.org/stable/common_pitfalls.html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Как подготовить таблицу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Один ID партии связывает рецепт, измерение и метаданные</a:t>
            </a:r>
          </a:p>
          <a:p xmlns:a="http://schemas.openxmlformats.org/drawingml/2006/main">
            <a:r>
              <a:t>2. Единицы, пропуски и пределы измерения записаны явно</a:t>
            </a:r>
          </a:p>
          <a:p xmlns:a="http://schemas.openxmlformats.org/drawingml/2006/main">
            <a:r>
              <a:t>3. Правило агрегации повторов фиксируется до анализа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Сохраняйте исходные измерения отдельно от признаков модели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Подробное объяснение, методические ограничения и код: machine_learning/11-ml-problem_and_validation.md</a:t>
            </a:r>
          </a:p>
          <a:p xmlns:a="http://schemas.openxmlformats.org/drawingml/2006/main">
            <a:r>
              <a:t>Справка по методам: https://scikit-learn.org/stable/modules/cross_validation.html и https://scikit-learn.org/stable/common_pitfalls.html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Минимальный словарь данных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oil_fraction: %, вход до синтеза</a:t>
            </a:r>
          </a:p>
          <a:p xmlns:a="http://schemas.openxmlformats.org/drawingml/2006/main">
            <a:r>
              <a:t>2. diameter_nm: нм, измеренная цель</a:t>
            </a:r>
          </a:p>
          <a:p xmlns:a="http://schemas.openxmlformats.org/drawingml/2006/main">
            <a:r>
              <a:t>3. batch_id: ID независимой партии, группа проверки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ID не должен случайно стать числовым предиктором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Подробное объяснение, методические ограничения и код: machine_learning/11-ml-problem_and_validation.md</a:t>
            </a:r>
          </a:p>
          <a:p xmlns:a="http://schemas.openxmlformats.org/drawingml/2006/main">
            <a:r>
              <a:t>Справка по методам: https://scikit-learn.org/stable/modules/cross_validation.html и https://scikit-learn.org/stable/common_pitfalls.html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Новый объект задаёт тип разбиения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Новая партия → группируем по batch_id</a:t>
            </a:r>
          </a:p>
          <a:p xmlns:a="http://schemas.openxmlformats.org/drawingml/2006/main">
            <a:r>
              <a:t>2. Новая поставка сырья → группируем по поставке</a:t>
            </a:r>
          </a:p>
          <a:p xmlns:a="http://schemas.openxmlformats.org/drawingml/2006/main">
            <a:r>
              <a:t>3. Новый прибор → тестируем перенос на другом приборе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Разбиение должно имитировать реальную задачу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Подробное объяснение, методические ограничения и код: machine_learning/11-ml-problem_and_validation.md</a:t>
            </a:r>
          </a:p>
          <a:p xmlns:a="http://schemas.openxmlformats.org/drawingml/2006/main">
            <a:r>
              <a:t>Справка по методам: https://scikit-learn.org/stable/modules/cross_validation.html и https://scikit-learn.org/stable/common_pitfalls.html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Зачем нужен baseline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DummyRegressor учит среднее только по train</a:t>
            </a:r>
          </a:p>
          <a:p xmlns:a="http://schemas.openxmlformats.org/drawingml/2006/main">
            <a:r>
              <a:t>2. Лабораторное правило иногда сильнее простой ML-модели</a:t>
            </a:r>
          </a:p>
          <a:p xmlns:a="http://schemas.openxmlformats.org/drawingml/2006/main">
            <a:r>
              <a:t>3. Сложная модель должна улучшать релевантное решение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Сравнивайте все методы на одном и том же тесте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Подробное объяснение, методические ограничения и код: machine_learning/11-ml-problem_and_validation.md</a:t>
            </a:r>
          </a:p>
          <a:p xmlns:a="http://schemas.openxmlformats.org/drawingml/2006/main">
            <a:r>
              <a:t>Справка по методам: https://scikit-learn.org/stable/modules/cross_validation.html и https://scikit-learn.org/stable/common_pitfalls.html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Сначала отделяем финальный тест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Группы делят на разработку и тест до настройки</a:t>
            </a:r>
          </a:p>
          <a:p xmlns:a="http://schemas.openxmlformats.org/drawingml/2006/main">
            <a:r>
              <a:t>2. Тестовые партии не участвуют в отборе признаков</a:t>
            </a:r>
          </a:p>
          <a:p xmlns:a="http://schemas.openxmlformats.org/drawingml/2006/main">
            <a:r>
              <a:t>3. Один финальный отчёт после фиксации метода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Повторная настройка по тесту превращает его в разработку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Подробное объяснение, методические ограничения и код: machine_learning/11-ml-problem_and_validation.md</a:t>
            </a:r>
          </a:p>
          <a:p xmlns:a="http://schemas.openxmlformats.org/drawingml/2006/main">
            <a:r>
              <a:t>Справка по методам: https://scikit-learn.org/stable/modules/cross_validation.html и https://scikit-learn.org/stable/common_pitfalls.html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Внутренняя групповая проверка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GroupKFold оставляет целую партию вне обучения</a:t>
            </a:r>
          </a:p>
          <a:p xmlns:a="http://schemas.openxmlformats.org/drawingml/2006/main">
            <a:r>
              <a:t>2. Каждая складка заново обучает весь Pipeline</a:t>
            </a:r>
          </a:p>
          <a:p xmlns:a="http://schemas.openxmlformats.org/drawingml/2006/main">
            <a:r>
              <a:t>3. Разброс ошибок между складками показывают, не скрывают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Четыре складки требуют хотя бы четыре независимые группы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Подробное объяснение, методические ограничения и код: machine_learning/11-ml-problem_and_validation.md</a:t>
            </a:r>
          </a:p>
          <a:p xmlns:a="http://schemas.openxmlformats.org/drawingml/2006/main">
            <a:r>
              <a:t>Справка по методам: https://scikit-learn.org/stable/modules/cross_validation.html и https://scikit-learn.org/stable/common_pitfalls.html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Утечка из технических повторов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Изображения одной партии в train и test дают завышение</a:t>
            </a:r>
          </a:p>
          <a:p xmlns:a="http://schemas.openxmlformats.org/drawingml/2006/main">
            <a:r>
              <a:t>2. Модель запоминает особенности партии или фона</a:t>
            </a:r>
          </a:p>
          <a:p xmlns:a="http://schemas.openxmlformats.org/drawingml/2006/main">
            <a:r>
              <a:t>3. Группировка либо агрегирование решает этот частный случай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Проверяйте реальные ID на обеих сторонах разбиения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Подробное объяснение, методические ограничения и код: machine_learning/11-ml-problem_and_validation.md</a:t>
            </a:r>
          </a:p>
          <a:p xmlns:a="http://schemas.openxmlformats.org/drawingml/2006/main">
            <a:r>
              <a:t>Справка по методам: https://scikit-learn.org/stable/modules/cross_validation.html и https://scikit-learn.org/stable/common_pitfalls.html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Утечка через предобработку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Масштабирование на всей таблице видит тестовую статистику</a:t>
            </a:r>
          </a:p>
          <a:p xmlns:a="http://schemas.openxmlformats.org/drawingml/2006/main">
            <a:r>
              <a:t>2. Отбор пиков по всей y использует тестовые метки</a:t>
            </a:r>
          </a:p>
          <a:p xmlns:a="http://schemas.openxmlformats.org/drawingml/2006/main">
            <a:r>
              <a:t>3. Параметры предобработки обучают внутри каждой складки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Pipeline помогает сохранить правильный порядок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Подробное объяснение, методические ограничения и код: machine_learning/11-ml-problem_and_validation.md</a:t>
            </a:r>
          </a:p>
          <a:p xmlns:a="http://schemas.openxmlformats.org/drawingml/2006/main">
            <a:r>
              <a:t>Справка по методам: https://scikit-learn.org/stable/modules/cross_validation.html и https://scikit-learn.org/stable/common_pitfalls.html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Утечка из будущего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Прогноз ранней рецептуры не знает поздней морфологии</a:t>
            </a:r>
          </a:p>
          <a:p xmlns:a="http://schemas.openxmlformats.org/drawingml/2006/main">
            <a:r>
              <a:t>2. Признак с результатом теста качества сообщает ответ</a:t>
            </a:r>
          </a:p>
          <a:p xmlns:a="http://schemas.openxmlformats.org/drawingml/2006/main">
            <a:r>
              <a:t>3. Метаданные о партии могут косвенно кодировать цель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Составьте временную схему получения каждого столбца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Подробное объяснение, методические ограничения и код: machine_learning/11-ml-problem_and_validation.md</a:t>
            </a:r>
          </a:p>
          <a:p xmlns:a="http://schemas.openxmlformats.org/drawingml/2006/main">
            <a:r>
              <a:t>Справка по методам: https://scikit-learn.org/stable/modules/cross_validation.html и https://scikit-learn.org/stable/common_pitfalls.html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Полный цикл оценки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1. Отложить группы для финального теста</a:t>
            </a:r>
          </a:p>
          <a:p xmlns:a="http://schemas.openxmlformats.org/drawingml/2006/main">
            <a:r>
              <a:t>2. 2. Выбрать метод по CV на остальных группах</a:t>
            </a:r>
          </a:p>
          <a:p xmlns:a="http://schemas.openxmlformats.org/drawingml/2006/main">
            <a:r>
              <a:t>3. 3. Обучить на разработке и оценить на тесте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Тест не служит источником новых гиперпараметров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Подробное объяснение, методические ограничения и код: machine_learning/11-ml-problem_and_validation.md</a:t>
            </a:r>
          </a:p>
          <a:p xmlns:a="http://schemas.openxmlformats.org/drawingml/2006/main">
            <a:r>
              <a:t>Справка по методам: https://scikit-learn.org/stable/modules/cross_validation.html и https://scikit-learn.org/stable/common_pitfalls.html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Pipeline: масштаб и модель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SimpleImputer заменяет пропуски по train</a:t>
            </a:r>
          </a:p>
          <a:p xmlns:a="http://schemas.openxmlformats.org/drawingml/2006/main">
            <a:r>
              <a:t>2. StandardScaler оценивает среднее и масштаб по train</a:t>
            </a:r>
          </a:p>
          <a:p xmlns:a="http://schemas.openxmlformats.org/drawingml/2006/main">
            <a:r>
              <a:t>3. Ridge обучается на преобразованных признаках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На тесте используются сохранённые параметры преобразований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Подробное объяснение, методические ограничения и код: machine_learning/11-ml-problem_and_validation.md</a:t>
            </a:r>
          </a:p>
          <a:p xmlns:a="http://schemas.openxmlformats.org/drawingml/2006/main">
            <a:r>
              <a:t>Справка по методам: https://scikit-learn.org/stable/modules/cross_validation.html и https://scikit-learn.org/stable/common_pitfalls.html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Модель ошибается в физических единицах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MAE = средняя абсолютная ошибка, здесь нм</a:t>
            </a:r>
          </a:p>
          <a:p xmlns:a="http://schemas.openxmlformats.org/drawingml/2006/main">
            <a:r>
              <a:t>2. RMSE сильнее штрафует большие промахи</a:t>
            </a:r>
          </a:p>
          <a:p xmlns:a="http://schemas.openxmlformats.org/drawingml/2006/main">
            <a:r>
              <a:t>3. Порог полезности задают относительно решения и точности измерения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MAE 8 нм хорош только в контексте задачи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Подробное объяснение, методические ограничения и код: machine_learning/11-ml-problem_and_validation.md</a:t>
            </a:r>
          </a:p>
          <a:p xmlns:a="http://schemas.openxmlformats.org/drawingml/2006/main">
            <a:r>
              <a:t>Справка по методам: https://scikit-learn.org/stable/modules/cross_validation.html и https://scikit-learn.org/stable/common_pitfalls.html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R² не заменяет анализ ошибок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R² сравнивает с константным прогнозом</a:t>
            </a:r>
          </a:p>
          <a:p xmlns:a="http://schemas.openxmlformats.org/drawingml/2006/main">
            <a:r>
              <a:t>2. На независимом тесте R² может стать отрицательным</a:t>
            </a:r>
          </a:p>
          <a:p xmlns:a="http://schemas.openxmlformats.org/drawingml/2006/main">
            <a:r>
              <a:t>3. Даже высокий R² не исключает опасных промахов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Покажите остатки и ошибки по диапазонам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Подробное объяснение, методические ограничения и код: machine_learning/11-ml-problem_and_validation.md</a:t>
            </a:r>
          </a:p>
          <a:p xmlns:a="http://schemas.openxmlformats.org/drawingml/2006/main">
            <a:r>
              <a:t>Справка по методам: https://scikit-learn.org/stable/modules/cross_validation.html и https://scikit-learn.org/stable/common_pitfalls.html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Что рисовать рядом с метрикой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Измерено против предсказано с линией равенства</a:t>
            </a:r>
          </a:p>
          <a:p xmlns:a="http://schemas.openxmlformats.org/drawingml/2006/main">
            <a:r>
              <a:t>2. Остаток против прогноза и факторов синтеза</a:t>
            </a:r>
          </a:p>
          <a:p xmlns:a="http://schemas.openxmlformats.org/drawingml/2006/main">
            <a:r>
              <a:t>3. Ошибки по партиям, прибору и диапазону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Систематический сдвиг виден на графике лучше, чем в среднем MAE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Подробное объяснение, методические ограничения и код: machine_learning/11-ml-problem_and_validation.md</a:t>
            </a:r>
          </a:p>
          <a:p xmlns:a="http://schemas.openxmlformats.org/drawingml/2006/main">
            <a:r>
              <a:t>Справка по методам: https://scikit-learn.org/stable/modules/cross_validation.html и https://scikit-learn.org/stable/common_pitfalls.html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Повторы и неопределённость метрики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Соседние поля зрения коррелированы</a:t>
            </a:r>
          </a:p>
          <a:p xmlns:a="http://schemas.openxmlformats.org/drawingml/2006/main">
            <a:r>
              <a:t>2. Пересэмплировать надо независимые группы</a:t>
            </a:r>
          </a:p>
          <a:p xmlns:a="http://schemas.openxmlformats.org/drawingml/2006/main">
            <a:r>
              <a:t>3. Малое число партий даёт широкий разброс качества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Укажите n партий рядом с любой оценкой точности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Подробное объяснение, методические ограничения и код: machine_learning/11-ml-problem_and_validation.md</a:t>
            </a:r>
          </a:p>
          <a:p xmlns:a="http://schemas.openxmlformats.org/drawingml/2006/main">
            <a:r>
              <a:t>Справка по методам: https://scikit-learn.org/stable/modules/cross_validation.html и https://scikit-learn.org/stable/common_pitfalls.html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Классификация: что такое положительный класс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Категория определяется отдельным эталонным тестом</a:t>
            </a:r>
          </a:p>
          <a:p xmlns:a="http://schemas.openxmlformats.org/drawingml/2006/main">
            <a:r>
              <a:t>2. Критерий стабильности фиксируют до обучения</a:t>
            </a:r>
          </a:p>
          <a:p xmlns:a="http://schemas.openxmlformats.org/drawingml/2006/main">
            <a:r>
              <a:t>3. Доля положительных партий важна для выбора метрики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Порог физического свойства не выбирают по финальному тесту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Подробное объяснение, методические ограничения и код: machine_learning/11-ml-problem_and_validation.md</a:t>
            </a:r>
          </a:p>
          <a:p xmlns:a="http://schemas.openxmlformats.org/drawingml/2006/main">
            <a:r>
              <a:t>Справка по методам: https://scikit-learn.org/stable/modules/cross_validation.html и https://scikit-learn.org/stable/common_pitfalls.html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Матрица ошибок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TP и FN описывают положительный класс</a:t>
            </a:r>
          </a:p>
          <a:p xmlns:a="http://schemas.openxmlformats.org/drawingml/2006/main">
            <a:r>
              <a:t>2. FP и TN описывают отрицательный класс</a:t>
            </a:r>
          </a:p>
          <a:p xmlns:a="http://schemas.openxmlformats.org/drawingml/2006/main">
            <a:r>
              <a:t>3. Цена пропуска брака может отличаться от цены проверки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Прежде чем читать precision, укажите смысл положительного класса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Подробное объяснение, методические ограничения и код: machine_learning/11-ml-problem_and_validation.md</a:t>
            </a:r>
          </a:p>
          <a:p xmlns:a="http://schemas.openxmlformats.org/drawingml/2006/main">
            <a:r>
              <a:t>Справка по методам: https://scikit-learn.org/stable/modules/cross_validation.html и https://scikit-learn.org/stable/common_pitfalls.html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Accuracy при дисбалансе обманчива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90% пригодных партий дают 90% accuracy при прогнозе «все пригодны»</a:t>
            </a:r>
          </a:p>
          <a:p xmlns:a="http://schemas.openxmlformats.org/drawingml/2006/main">
            <a:r>
              <a:t>2. Recall: доля найденных положительных случаев</a:t>
            </a:r>
          </a:p>
          <a:p xmlns:a="http://schemas.openxmlformats.org/drawingml/2006/main">
            <a:r>
              <a:t>3. Precision: доля истинных среди отмеченных положительных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Смотрите на матрицу ошибок и стоимость решений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Подробное объяснение, методические ограничения и код: machine_learning/11-ml-problem_and_validation.md</a:t>
            </a:r>
          </a:p>
          <a:p xmlns:a="http://schemas.openxmlformats.org/drawingml/2006/main">
            <a:r>
              <a:t>Справка по методам: https://scikit-learn.org/stable/modules/cross_validation.html и https://scikit-learn.org/stable/common_pitfalls.html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Вероятность требует калибровки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Оценка 0,8 должна соответствовать частоте события при похожих прогнозах</a:t>
            </a:r>
          </a:p>
          <a:p xmlns:a="http://schemas.openxmlformats.org/drawingml/2006/main">
            <a:r>
              <a:t>2. Сырой predict_proba не гарантирует этого свойства</a:t>
            </a:r>
          </a:p>
          <a:p xmlns:a="http://schemas.openxmlformats.org/drawingml/2006/main">
            <a:r>
              <a:t>3. Калибровку обучают без доступа к финальному тесту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На малом числе положительных партий проверка нестабильна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Подробное объяснение, методические ограничения и код: machine_learning/11-ml-problem_and_validation.md</a:t>
            </a:r>
          </a:p>
          <a:p xmlns:a="http://schemas.openxmlformats.org/drawingml/2006/main">
            <a:r>
              <a:t>Справка по методам: https://scikit-learn.org/stable/modules/cross_validation.html и https://scikit-learn.org/stable/common_pitfalls.html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Порог зависит от решения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Порог 0,5 не всегда оптимален</a:t>
            </a:r>
          </a:p>
          <a:p xmlns:a="http://schemas.openxmlformats.org/drawingml/2006/main">
            <a:r>
              <a:t>2. Стоимость ложного пропуска и ложной тревоги различается</a:t>
            </a:r>
          </a:p>
          <a:p xmlns:a="http://schemas.openxmlformats.org/drawingml/2006/main">
            <a:r>
              <a:t>3. Порог выбирают на разработке и фиксируют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Не подстраивайте порог под тестовые партии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Подробное объяснение, методические ограничения и код: machine_learning/11-ml-problem_and_validation.md</a:t>
            </a:r>
          </a:p>
          <a:p xmlns:a="http://schemas.openxmlformats.org/drawingml/2006/main">
            <a:r>
              <a:t>Справка по методам: https://scikit-learn.org/stable/modules/cross_validation.html и https://scikit-learn.org/stable/common_pitfalls.html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Смена области применения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Новая поставка меняет химические свойства сырья</a:t>
            </a:r>
          </a:p>
          <a:p xmlns:a="http://schemas.openxmlformats.org/drawingml/2006/main">
            <a:r>
              <a:t>2. Новый прибор меняет распределение спектров</a:t>
            </a:r>
          </a:p>
          <a:p xmlns:a="http://schemas.openxmlformats.org/drawingml/2006/main">
            <a:r>
              <a:t>3. Новый диапазон рецептур требует отдельной проверки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GroupKFold по партиям не доказывает перенос на новый прибор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Подробное объяснение, методические ограничения и код: machine_learning/11-ml-problem_and_validation.md</a:t>
            </a:r>
          </a:p>
          <a:p xmlns:a="http://schemas.openxmlformats.org/drawingml/2006/main">
            <a:r>
              <a:t>Справка по методам: https://scikit-learn.org/stable/modules/cross_validation.html и https://scikit-learn.org/stable/common_pitfalls.html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Внутренняя и внешняя проверка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Внутренняя CV оценивает сценарий в данных разработки</a:t>
            </a:r>
          </a:p>
          <a:p xmlns:a="http://schemas.openxmlformats.org/drawingml/2006/main">
            <a:r>
              <a:t>2. Финальный тест новых партий проверяет выбранный протокол</a:t>
            </a:r>
          </a:p>
          <a:p xmlns:a="http://schemas.openxmlformats.org/drawingml/2006/main">
            <a:r>
              <a:t>3. Внешний тест оценивает иной прибор, сырьё или масштаб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Формулируйте вывод на том уровне, который реально проверен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Подробное объяснение, методические ограничения и код: machine_learning/11-ml-problem_and_validation.md</a:t>
            </a:r>
          </a:p>
          <a:p xmlns:a="http://schemas.openxmlformats.org/drawingml/2006/main">
            <a:r>
              <a:t>Справка по методам: https://scikit-learn.org/stable/modules/cross_validation.html и https://scikit-learn.org/stable/common_pitfalls.html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Пример: наноэмульсия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Рецептура: масло, ПАВ, температура</a:t>
            </a:r>
          </a:p>
          <a:p xmlns:a="http://schemas.openxmlformats.org/drawingml/2006/main">
            <a:r>
              <a:t>2. Цель: диаметр частиц в нм</a:t>
            </a:r>
          </a:p>
          <a:p xmlns:a="http://schemas.openxmlformats.org/drawingml/2006/main">
            <a:r>
              <a:t>3. Группы: независимо приготовленные партии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Искусственные данные демонстрируют метод, а не закономерность материала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Подробное объяснение, методические ограничения и код: machine_learning/11-ml-problem_and_validation.md</a:t>
            </a:r>
          </a:p>
          <a:p xmlns:a="http://schemas.openxmlformats.org/drawingml/2006/main">
            <a:r>
              <a:t>Справка по методам: https://scikit-learn.org/stable/modules/cross_validation.html и https://scikit-learn.org/stable/common_pitfalls.html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Как выглядит групповой код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GroupShuffleSplit отделяет новые партии</a:t>
            </a:r>
          </a:p>
          <a:p xmlns:a="http://schemas.openxmlformats.org/drawingml/2006/main">
            <a:r>
              <a:t>2. GroupKFold перебирает группы внутри разработки</a:t>
            </a:r>
          </a:p>
          <a:p xmlns:a="http://schemas.openxmlformats.org/drawingml/2006/main">
            <a:r>
              <a:t>3. assert проверяет непересечение ID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Проверка ID ловит ошибку до обсуждения качества модели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Подробное объяснение, методические ограничения и код: machine_learning/11-ml-problem_and_validation.md</a:t>
            </a:r>
          </a:p>
          <a:p xmlns:a="http://schemas.openxmlformats.org/drawingml/2006/main">
            <a:r>
              <a:t>Справка по методам: https://scikit-learn.org/stable/modules/cross_validation.html и https://scikit-learn.org/stable/common_pitfalls.html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Как выбрать признак спектра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Физический пик и его единицы фиксируются в протоколе</a:t>
            </a:r>
          </a:p>
          <a:p xmlns:a="http://schemas.openxmlformats.org/drawingml/2006/main">
            <a:r>
              <a:t>2. Подбор каналов по всей y запрещён</a:t>
            </a:r>
          </a:p>
          <a:p xmlns:a="http://schemas.openxmlformats.org/drawingml/2006/main">
            <a:r>
              <a:t>3. Изменяемый отбор длины волны переносится в CV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Сначала решите, доступен ли спектр к моменту прогноза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Подробное объяснение, методические ограничения и код: machine_learning/11-ml-problem_and_validation.md</a:t>
            </a:r>
          </a:p>
          <a:p xmlns:a="http://schemas.openxmlformats.org/drawingml/2006/main">
            <a:r>
              <a:t>Справка по методам: https://scikit-learn.org/stable/modules/cross_validation.html и https://scikit-learn.org/stable/common_pitfalls.html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Когда данных мало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Не сокращайте требования к независимости</a:t>
            </a:r>
          </a:p>
          <a:p xmlns:a="http://schemas.openxmlformats.org/drawingml/2006/main">
            <a:r>
              <a:t>2. Покажите ошибки по отдельным партиям</a:t>
            </a:r>
          </a:p>
          <a:p xmlns:a="http://schemas.openxmlformats.org/drawingml/2006/main">
            <a:r>
              <a:t>3. Спланируйте новые партии для проверки и обучения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Дополнительные технические повторы не заменяют независимый синтез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Подробное объяснение, методические ограничения и код: machine_learning/11-ml-problem_and_validation.md</a:t>
            </a:r>
          </a:p>
          <a:p xmlns:a="http://schemas.openxmlformats.org/drawingml/2006/main">
            <a:r>
              <a:t>Справка по методам: https://scikit-learn.org/stable/modules/cross_validation.html и https://scikit-learn.org/stable/common_pitfalls.html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Где нужен план эксперимента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Если факторы жёстко коррелированы, модель не разделит их эффекты</a:t>
            </a:r>
          </a:p>
          <a:p xmlns:a="http://schemas.openxmlformats.org/drawingml/2006/main">
            <a:r>
              <a:t>2. Факторный план исследует разрешённые комбинации</a:t>
            </a:r>
          </a:p>
          <a:p xmlns:a="http://schemas.openxmlformats.org/drawingml/2006/main">
            <a:r>
              <a:t>3. Рандомизация и блоки помогают интерпретации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Прогнозная связь не устанавливает причинность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Подробное объяснение, методические ограничения и код: machine_learning/11-ml-problem_and_validation.md</a:t>
            </a:r>
          </a:p>
          <a:p xmlns:a="http://schemas.openxmlformats.org/drawingml/2006/main">
            <a:r>
              <a:t>Справка по методам: https://scikit-learn.org/stable/modules/cross_validation.html и https://scikit-learn.org/stable/common_pitfalls.html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Паспорт модели для передачи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Цель, единицы, момент и входные поля</a:t>
            </a:r>
          </a:p>
          <a:p xmlns:a="http://schemas.openxmlformats.org/drawingml/2006/main">
            <a:r>
              <a:t>2. Число групп, способ разбиения и baseline</a:t>
            </a:r>
          </a:p>
          <a:p xmlns:a="http://schemas.openxmlformats.org/drawingml/2006/main">
            <a:r>
              <a:t>3. Ошибка по подгруппам и границы применимости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Только такая запись позволяет повторить проверку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Подробное объяснение, методические ограничения и код: machine_learning/11-ml-problem_and_validation.md</a:t>
            </a:r>
          </a:p>
          <a:p xmlns:a="http://schemas.openxmlformats.org/drawingml/2006/main">
            <a:r>
              <a:t>Справка по методам: https://scikit-learn.org/stable/modules/cross_validation.html и https://scikit-learn.org/stable/common_pitfalls.html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Мини-проект: постановка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Сформулируйте лабораторное решение и целевую величину</a:t>
            </a:r>
          </a:p>
          <a:p xmlns:a="http://schemas.openxmlformats.org/drawingml/2006/main">
            <a:r>
              <a:t>2. Перечислите ID, единицы и время доступности признаков</a:t>
            </a:r>
          </a:p>
          <a:p xmlns:a="http://schemas.openxmlformats.org/drawingml/2006/main">
            <a:r>
              <a:t>3. Посчитайте независимые группы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Если групп слишком мало, проектом станет план их получения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Подробное объяснение, методические ограничения и код: machine_learning/11-ml-problem_and_validation.md</a:t>
            </a:r>
          </a:p>
          <a:p xmlns:a="http://schemas.openxmlformats.org/drawingml/2006/main">
            <a:r>
              <a:t>Справка по методам: https://scikit-learn.org/stable/modules/cross_validation.html и https://scikit-learn.org/stable/common_pitfalls.html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Мини-проект: проверка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Сравните baseline и один Pipeline на общих группах</a:t>
            </a:r>
          </a:p>
          <a:p xmlns:a="http://schemas.openxmlformats.org/drawingml/2006/main">
            <a:r>
              <a:t>2. Отчёт: MAE либо матрица ошибок и число партий</a:t>
            </a:r>
          </a:p>
          <a:p xmlns:a="http://schemas.openxmlformats.org/drawingml/2006/main">
            <a:r>
              <a:t>3. Покажите один график ошибки по подгруппам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Запишите предел полезности до просмотра результата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Подробное объяснение, методические ограничения и код: machine_learning/11-ml-problem_and_validation.md</a:t>
            </a:r>
          </a:p>
          <a:p xmlns:a="http://schemas.openxmlformats.org/drawingml/2006/main">
            <a:r>
              <a:t>Справка по методам: https://scikit-learn.org/stable/modules/cross_validation.html и https://scikit-learn.org/stable/common_pitfalls.html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Контрольные вопросы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Что изменится при новой поставке сырья?</a:t>
            </a:r>
          </a:p>
          <a:p xmlns:a="http://schemas.openxmlformats.org/drawingml/2006/main">
            <a:r>
              <a:t>2. Почему scaler.fit на всех данных нарушает тест?</a:t>
            </a:r>
          </a:p>
          <a:p xmlns:a="http://schemas.openxmlformats.org/drawingml/2006/main">
            <a:r>
              <a:t>3. Когда изображение можно включить в прогноз?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Ответ должен упоминать будущее применение и единицу наблюдения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Подробное объяснение, методические ограничения и код: machine_learning/11-ml-problem_and_validation.md</a:t>
            </a:r>
          </a:p>
          <a:p xmlns:a="http://schemas.openxmlformats.org/drawingml/2006/main">
            <a:r>
              <a:t>Справка по методам: https://scikit-learn.org/stable/modules/cross_validation.html и https://scikit-learn.org/stable/common_pitfalls.html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Главный вывод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Формулируйте момент и объект прогноза</a:t>
            </a:r>
          </a:p>
          <a:p xmlns:a="http://schemas.openxmlformats.org/drawingml/2006/main">
            <a:r>
              <a:t>2. Сохраняйте независимость партий в каждой проверке</a:t>
            </a:r>
          </a:p>
          <a:p xmlns:a="http://schemas.openxmlformats.org/drawingml/2006/main">
            <a:r>
              <a:t>3. Сравнивайте ошибку с baseline и стоимостью решения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Следующая лекция: методы, многомерная структура и новый опыт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Подробное объяснение, методические ограничения и код: machine_learning/11-ml-problem_and_validation.md</a:t>
            </a:r>
          </a:p>
          <a:p xmlns:a="http://schemas.openxmlformats.org/drawingml/2006/main">
            <a:r>
              <a:t>Справка по методам: https://scikit-learn.org/stable/modules/cross_validation.html и https://scikit-learn.org/stable/common_pitfalls.html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 и дальнейшее чтение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scikit-learn: common pitfalls и Pipeline</a:t>
            </a:r>
          </a:p>
          <a:p xmlns:a="http://schemas.openxmlformats.org/drawingml/2006/main">
            <a:r>
              <a:t>2. scikit-learn: cross-validation и model evaluation</a:t>
            </a:r>
          </a:p>
          <a:p xmlns:a="http://schemas.openxmlformats.org/drawingml/2006/main">
            <a:r>
              <a:t>3. Конспект 11: определения, код и предметные ограничения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Ссылки и воспроизводимый пример — в Markdown-конспекте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Подробное объяснение, методические ограничения и код: machine_learning/11-ml-problem_and_validation.md</a:t>
            </a:r>
          </a:p>
          <a:p xmlns:a="http://schemas.openxmlformats.org/drawingml/2006/main">
            <a:r>
              <a:t>Справка по методам: https://scikit-learn.org/stable/modules/cross_validation.html и https://scikit-learn.org/stable/common_pitfalls.html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d04f9671a741e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7285eba65324f5c" /><Relationship Type="http://schemas.openxmlformats.org/officeDocument/2006/relationships/slideLayout" Target="/ppt/slideLayouts/slideLayout1.xml" Id="Rd2cab55d7f354a5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cab55d7f354a5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705309cda64046" /><Relationship Type="http://schemas.openxmlformats.org/officeDocument/2006/relationships/notesSlide" Target="/ppt/notesSlides/notesSlide1.xml" Id="Rf00d693abd4844e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4ac9a93d2b47a8" /><Relationship Type="http://schemas.openxmlformats.org/officeDocument/2006/relationships/notesSlide" Target="/ppt/notesSlides/notesSlide2.xml" Id="Ra8500ad24e2046d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1bbb5d267d4a79" /><Relationship Type="http://schemas.openxmlformats.org/officeDocument/2006/relationships/notesSlide" Target="/ppt/notesSlides/notesSlide3.xml" Id="R9c1c92ed004b4ee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a0aa45390f4950" /><Relationship Type="http://schemas.openxmlformats.org/officeDocument/2006/relationships/notesSlide" Target="/ppt/notesSlides/notesSlide4.xml" Id="R6167b5c373294d1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0951c9d8764452" /><Relationship Type="http://schemas.openxmlformats.org/officeDocument/2006/relationships/notesSlide" Target="/ppt/notesSlides/notesSlide5.xml" Id="R0a0adbdb69bd4cc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044cf29d304332" /><Relationship Type="http://schemas.openxmlformats.org/officeDocument/2006/relationships/notesSlide" Target="/ppt/notesSlides/notesSlide6.xml" Id="R0f5b1a578d9f40d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75fd27cc19417b" /><Relationship Type="http://schemas.openxmlformats.org/officeDocument/2006/relationships/notesSlide" Target="/ppt/notesSlides/notesSlide7.xml" Id="R88464bcfadf6425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91b9c8d69843f5" /><Relationship Type="http://schemas.openxmlformats.org/officeDocument/2006/relationships/notesSlide" Target="/ppt/notesSlides/notesSlide8.xml" Id="R17da151ffba741c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0790c355374328" /><Relationship Type="http://schemas.openxmlformats.org/officeDocument/2006/relationships/notesSlide" Target="/ppt/notesSlides/notesSlide9.xml" Id="R1acccab4331d4f6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768ab1b2484b36" /><Relationship Type="http://schemas.openxmlformats.org/officeDocument/2006/relationships/notesSlide" Target="/ppt/notesSlides/notesSlide10.xml" Id="R8f216e91bdb84f5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9e45f9ae4d452b" /><Relationship Type="http://schemas.openxmlformats.org/officeDocument/2006/relationships/notesSlide" Target="/ppt/notesSlides/notesSlide11.xml" Id="Rf6968f11350b463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a6c75746004ebb" /><Relationship Type="http://schemas.openxmlformats.org/officeDocument/2006/relationships/notesSlide" Target="/ppt/notesSlides/notesSlide12.xml" Id="R2ed361a451ab435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c5c4b6a67248a9" /><Relationship Type="http://schemas.openxmlformats.org/officeDocument/2006/relationships/notesSlide" Target="/ppt/notesSlides/notesSlide13.xml" Id="R9909c6967f4941d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3318608fcc454f" /><Relationship Type="http://schemas.openxmlformats.org/officeDocument/2006/relationships/notesSlide" Target="/ppt/notesSlides/notesSlide14.xml" Id="R6e7165320a9742d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63fa51887943e8" /><Relationship Type="http://schemas.openxmlformats.org/officeDocument/2006/relationships/notesSlide" Target="/ppt/notesSlides/notesSlide15.xml" Id="Ra89514dacc6d45a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5f7e70b43b4ed5" /><Relationship Type="http://schemas.openxmlformats.org/officeDocument/2006/relationships/notesSlide" Target="/ppt/notesSlides/notesSlide16.xml" Id="R6e22cdaabae440a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ad36264002431c" /><Relationship Type="http://schemas.openxmlformats.org/officeDocument/2006/relationships/notesSlide" Target="/ppt/notesSlides/notesSlide17.xml" Id="R58792c9b486040e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3ec3703f3443ea" /><Relationship Type="http://schemas.openxmlformats.org/officeDocument/2006/relationships/notesSlide" Target="/ppt/notesSlides/notesSlide18.xml" Id="Rc1efd3c0b9f04f1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11f9e7444f4dab" /><Relationship Type="http://schemas.openxmlformats.org/officeDocument/2006/relationships/notesSlide" Target="/ppt/notesSlides/notesSlide19.xml" Id="R55920a01302e4a9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92d9421ac241da" /><Relationship Type="http://schemas.openxmlformats.org/officeDocument/2006/relationships/notesSlide" Target="/ppt/notesSlides/notesSlide20.xml" Id="R9227a7f3a7a244a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32b626662d4377" /><Relationship Type="http://schemas.openxmlformats.org/officeDocument/2006/relationships/notesSlide" Target="/ppt/notesSlides/notesSlide21.xml" Id="Ra79de32bd2554f3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0717d42bee4f93" /><Relationship Type="http://schemas.openxmlformats.org/officeDocument/2006/relationships/notesSlide" Target="/ppt/notesSlides/notesSlide22.xml" Id="Rea44fa302ba744a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a53cb7261e4db9" /><Relationship Type="http://schemas.openxmlformats.org/officeDocument/2006/relationships/notesSlide" Target="/ppt/notesSlides/notesSlide23.xml" Id="Rbf633da824ce4a4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87bca8c9ec4e85" /><Relationship Type="http://schemas.openxmlformats.org/officeDocument/2006/relationships/notesSlide" Target="/ppt/notesSlides/notesSlide24.xml" Id="R58fb62fd2bd9431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64d3393f7b438b" /><Relationship Type="http://schemas.openxmlformats.org/officeDocument/2006/relationships/notesSlide" Target="/ppt/notesSlides/notesSlide25.xml" Id="R4f6cd1ad53e6410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7ab1294f614fa1" /><Relationship Type="http://schemas.openxmlformats.org/officeDocument/2006/relationships/notesSlide" Target="/ppt/notesSlides/notesSlide26.xml" Id="R0624409de9c94324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b932965d0f452e" /><Relationship Type="http://schemas.openxmlformats.org/officeDocument/2006/relationships/notesSlide" Target="/ppt/notesSlides/notesSlide27.xml" Id="Rafdf4c406c074d7c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1238bbdd994d81" /><Relationship Type="http://schemas.openxmlformats.org/officeDocument/2006/relationships/notesSlide" Target="/ppt/notesSlides/notesSlide28.xml" Id="R0b5bd3b870c343d2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271a1d90914815" /><Relationship Type="http://schemas.openxmlformats.org/officeDocument/2006/relationships/notesSlide" Target="/ppt/notesSlides/notesSlide29.xml" Id="R26a89ca286244180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84ecb542424f92" /><Relationship Type="http://schemas.openxmlformats.org/officeDocument/2006/relationships/notesSlide" Target="/ppt/notesSlides/notesSlide30.xml" Id="R6fff482a98ee476d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24801a93524ee3" /><Relationship Type="http://schemas.openxmlformats.org/officeDocument/2006/relationships/notesSlide" Target="/ppt/notesSlides/notesSlide31.xml" Id="R2792b6f8b6274435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b6a498d11a4772" /><Relationship Type="http://schemas.openxmlformats.org/officeDocument/2006/relationships/notesSlide" Target="/ppt/notesSlides/notesSlide32.xml" Id="Rc0515f2555e844a5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1c53f1efe342fb" /><Relationship Type="http://schemas.openxmlformats.org/officeDocument/2006/relationships/notesSlide" Target="/ppt/notesSlides/notesSlide33.xml" Id="R2e89de4f7a7c41c0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4d30e69a02453b" /><Relationship Type="http://schemas.openxmlformats.org/officeDocument/2006/relationships/notesSlide" Target="/ppt/notesSlides/notesSlide34.xml" Id="Reffe7707d1624add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802a666b89407d" /><Relationship Type="http://schemas.openxmlformats.org/officeDocument/2006/relationships/notesSlide" Target="/ppt/notesSlides/notesSlide35.xml" Id="Ra924110711c1420e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f8571ec9cf479e" /><Relationship Type="http://schemas.openxmlformats.org/officeDocument/2006/relationships/notesSlide" Target="/ppt/notesSlides/notesSlide36.xml" Id="R87daeb7147c143a7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a8f625ec1b4f77" /><Relationship Type="http://schemas.openxmlformats.org/officeDocument/2006/relationships/notesSlide" Target="/ppt/notesSlides/notesSlide37.xml" Id="R6606224c95804ac1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9e4d9c07b94e46" /><Relationship Type="http://schemas.openxmlformats.org/officeDocument/2006/relationships/notesSlide" Target="/ppt/notesSlides/notesSlide38.xml" Id="R341ff47125654f92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76ea33641f4df9" /><Relationship Type="http://schemas.openxmlformats.org/officeDocument/2006/relationships/notesSlide" Target="/ppt/notesSlides/notesSlide39.xml" Id="R263776d9ea3947fb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7cc4b45b084a76" /><Relationship Type="http://schemas.openxmlformats.org/officeDocument/2006/relationships/notesSlide" Target="/ppt/notesSlides/notesSlide40.xml" Id="Rf940d3301a7b491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D353FAD-1BED-4672-A492-DAA19D5D3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63AB9C-AA40-4DFD-8633-199EFAC23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0735D7-D755-4AD8-A815-EE73A37FB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FD0E8D-AC29-458F-A850-30507E3C9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"/>
            <a:ext cx="676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МАШИННОЕ ОБУЧЕНИЕ 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19D901-0E62-4830-BA73-7913D8C78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66850"/>
            <a:ext cx="5905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Машинное обучение:</a:t>
            </a:r>
          </a:p>
          <a:p xmlns:a="http://schemas.openxmlformats.org/drawingml/2006/main">
            <a:pPr algn="l">
              <a:defRPr sz="32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постановка задачи и проверка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994DA4-26AF-44AC-AD04-E53F43DA3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81450"/>
            <a:ext cx="5953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От лабораторной таблицы к прогнозу на новой партии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0F8D14-B72E-4D7A-A840-328340D15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53050"/>
            <a:ext cx="552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Лекция 11 · 40 слайдов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93A89B-E9AC-4185-BF4E-93397A8F0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571625"/>
            <a:ext cx="44767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88DED0-1806-4EDE-ABEA-18C7A4242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33625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FF7294-B22A-4781-AFAB-47F28A8CD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95625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497DF5-E82C-4453-AD8D-350ED1638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57625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0A363F-9B17-4DB2-AE7D-5708A804A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4238625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FA4272-4C6E-4948-BE24-A80C781BF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00500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F7818F-430C-4F8A-AE07-2E4669F35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005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5CC494-514A-46A4-A14F-1C23547F1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2195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A36EE9-5318-48A8-83D4-A8EEBDABA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219575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0CFD4B-E12E-4E87-A866-E0A34C2E6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5909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743D05-3A72-4BD7-BA14-7B4F455A6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590925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B7F0F8-C6C3-420B-8ECD-AE96B85ED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6480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528E2F-99D1-45EB-B525-82EAD7D50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648075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E5E4F9-8C59-406D-BDCC-A04F0B4DD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333750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3049B0-150B-4C44-B481-A1946A5C4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3337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145808-E2EF-4A38-968A-21C4B04AA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1718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2D9188-398D-410E-9756-456142253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171825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52DFC9-DDA8-40F0-9621-4F8FAD8C8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0003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7E684B-86F4-4844-AA08-53A125BC9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000375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9B3E79-CE11-4A6F-AF65-DC63F725C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1337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3BA6A7-5422-4361-B7A4-0CAB9E6B1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133725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D62A76-0B0E-4824-A563-F6349A285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6384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AFBAC0-CBC9-4536-B3DA-2ADC3A403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638425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1A74CA-253E-4088-BE3D-A6DBB06BB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25812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8BB1D88-1EF0-460E-8435-B888841EC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2581275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5E8C30F-A86B-40AA-87D9-0A0759B65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23717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6CD0077-DA98-43C5-918E-BFB8CB0CA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7625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СХЕМА • больше данных / лучше проверка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835C2B9-080B-4A2B-9778-F97A4A373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87AB8FC-C7D2-4DB1-9E2A-1FCEC4C99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5908856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A4516E-CF82-46D4-AF96-B061E5EFA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D32194-2A54-44EC-AE68-AC7EF29E9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31D02A-1CBD-4C23-9B6B-050BAE95C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ПОСТАНОВКА И МЕТОД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3A6645-E90D-4D29-8D2A-AEACF37CC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Задача предшествует алгоритму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A9A44A-C32A-43F8-A5D2-311C1DABA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A266E8-59B8-4D62-9830-13D98E873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E9423E-D6D9-4CD7-A39E-5C3AAD341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BBCE6D-107A-4451-B3C6-AFBD6DF48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095500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27FE3E-C34A-4268-A11A-1F6B89CB3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38350"/>
            <a:ext cx="952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Решение: выбрать условия следующей партии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AE3117-AD90-4F3A-9166-9A3118C97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1465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A4C07A-D131-4709-8DF5-2D5FD352C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1908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80ED99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80ED99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5CDCB2-D053-42DD-A658-7A0773CA6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33725"/>
            <a:ext cx="952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Цель: размер частиц в нм по заранее заданному методу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95C7F5-CC4F-46B6-B9C0-C0F41E07E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10025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C26F5B-5AA2-4A0A-978F-A1F2D2357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286250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C4A7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C4A7FF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911DFA-3D44-45CD-AB76-93769389B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29100"/>
            <a:ext cx="952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Входы: рецепт и настройки, известные до синтеза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FB4949-B285-4D51-A6FE-B79ACEB81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0540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8F2C2A-BDFD-45CE-92CB-B1BE74CB8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57825"/>
            <a:ext cx="1038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970CC2-B65E-4F3E-A856-E9164721D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72125"/>
            <a:ext cx="995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Момент прогноза определяет допустимые признаки</a:t>
            </a:r>
          </a:p>
        </p:txBody>
      </p:sp>
    </p:spTree>
    <p:extLst>
      <p:ext uri="{BB962C8B-B14F-4D97-AF65-F5344CB8AC3E}">
        <p14:creationId xmlns:p14="http://schemas.microsoft.com/office/powerpoint/2010/main" val="10871695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6025E3-EC91-46CC-8A6B-1B9594581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90D26C-AA0C-4E18-9F71-408674E97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C66101-41BD-4FE0-8A1C-CFEF7FAB6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ТРИ ОПОРНЫХ ПУНКТА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ED5FA6-A8C5-40C3-8AB6-FD4F213AB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Вопросы для паспорта прогноза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56B1C5-4D8D-441A-BEF2-509FAC485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D9BC61-9D42-4FE6-9AD1-54CB84661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795C01-1F25-43C1-BA3B-C6225982B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E0B17B-0D14-4AA1-8D13-F750659D0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047875"/>
            <a:ext cx="34385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463E12-F1E1-409D-B16C-D053A168B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047875"/>
            <a:ext cx="3438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AB361C-6720-4F40-B139-D6E05796F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57425"/>
            <a:ext cx="914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F1C36E-EA72-4B99-B174-926B6F6E8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038475"/>
            <a:ext cx="2971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Что предсказываем и для какого объекта?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85E287-18F8-4E85-A679-91E966372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47875"/>
            <a:ext cx="34385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EBD9F6-5728-43D1-AF26-C1851CAC5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47875"/>
            <a:ext cx="3438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CFC15C-05C1-46B4-954C-100E7B686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257425"/>
            <a:ext cx="914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80ED99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80ED99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AB1D2C-32E1-4073-A409-5C78F2405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38475"/>
            <a:ext cx="2971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Какие входы доступны к моменту решения?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C0552D-F477-40EB-822B-2235E3C4D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047875"/>
            <a:ext cx="34385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6AD604-D511-4C07-8B56-EC3D0084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047875"/>
            <a:ext cx="3438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6F4B94-29D5-4FE2-8074-7F9C0A117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57425"/>
            <a:ext cx="914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C4A7FF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C4A7FF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7C9890-1340-4536-ACBA-5A28E233C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38475"/>
            <a:ext cx="2971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На каких будущих партиях будет применяться модель?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505360-8315-4DFC-9109-AAA5442CB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57825"/>
            <a:ext cx="1038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0A2794-085A-455C-B51D-2A3B48439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72125"/>
            <a:ext cx="995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Без этих ответов метрика мало что значит</a:t>
            </a:r>
          </a:p>
        </p:txBody>
      </p:sp>
    </p:spTree>
    <p:extLst>
      <p:ext uri="{BB962C8B-B14F-4D97-AF65-F5344CB8AC3E}">
        <p14:creationId xmlns:p14="http://schemas.microsoft.com/office/powerpoint/2010/main" val="154666874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9FAEDF-DEDA-4016-AC55-E2566C7A1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8080E1-84E9-4C48-BFA5-D42CFBCD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25D919-981E-438D-93B6-9273D05B3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ПРОВЕРКА И ИНТЕРПРЕТАЦИЯ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66364E-CA13-4A52-9EE4-5CD0B62C5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Регрессия или классификация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7277C7-834D-4A3F-ACBB-FD7FABE7C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B91769-E116-4C17-862A-397112597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3ED0E9-C713-4542-9EB8-7BF87B0C4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6FFF6A-4CD8-4506-87E6-2EE07B403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47875"/>
            <a:ext cx="6572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A475E0-DC64-4772-B79F-AA3E3D823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76475"/>
            <a:ext cx="666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F1A546-AA0E-4BBB-B306-9EA36B4DA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238375"/>
            <a:ext cx="581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Регрессия: диаметр, сорбция, толщина покрытия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D829E0-1C8D-45F6-BC4B-B2544EFFB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666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464E0D-9CCF-48C5-848C-08E07D465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00400"/>
            <a:ext cx="581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Классификация: прохождение заранее заданного порога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711BEC-C2D2-447E-9D1C-6976F37E1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00525"/>
            <a:ext cx="666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E2A0DF-0BD2-4988-A624-AF544222C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162425"/>
            <a:ext cx="581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Произвольная бинаризация теряет часть информации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AC9B58-62C5-4DD7-B771-6D66AC2B5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381250"/>
            <a:ext cx="3219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ПРОВЕРЬТЕ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5ED225-D330-4159-9436-3B75DAE1A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867025"/>
            <a:ext cx="32480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Сохраняйте исходное измеренное свойство</a:t>
            </a:r>
          </a:p>
        </p:txBody>
      </p:sp>
    </p:spTree>
    <p:extLst>
      <p:ext uri="{BB962C8B-B14F-4D97-AF65-F5344CB8AC3E}">
        <p14:creationId xmlns:p14="http://schemas.microsoft.com/office/powerpoint/2010/main" val="30800270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646EF5-3241-456D-AE03-EC77EE0AB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CF0E49-1A2B-4769-8B57-45780C644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55E18D-6200-44D6-BC3D-BAFD98227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ПРИМЕР И ПРИМЕНЕНИЕ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A1498F-D305-4399-9A29-EB6C83B73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Состав, структура, режим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09FAE8-359C-4CFC-AFC1-53C3DF407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8A3F80-34C3-467D-83D2-45CEB0668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B9AEB5-07F5-459D-BD5D-C4A3BBE52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4FDAF6-6E55-465C-BCC7-543025426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1090612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1206E2-2E5C-4D07-A420-694F1E36F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571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E789E7-F18D-4332-B671-1D12E024F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81225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Состав: доли компонентов и свойства сырья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296D7C-AA8D-4876-B5E2-D7D18CF7C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1090612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46E553-0681-4E52-BA08-6012545DA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571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B89DC3-8204-4E21-98AE-BDE79E3B0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28975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Структура: спектральные и морфологические признаки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ED9B91-4167-4A21-9241-45412FECE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1090612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A9ADDD-6811-4C89-85CB-52F68E702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571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CA3452-D6E7-43B5-9307-68CC6B859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76725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Режим: температура, время, расход, перемешивание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01665E-573D-498C-93B4-9A2ADED83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57825"/>
            <a:ext cx="1038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AC3A4B-AD65-4319-A0A0-E47DC9D37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72125"/>
            <a:ext cx="995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Признак должен иметь физический смысл и единицу</a:t>
            </a:r>
          </a:p>
        </p:txBody>
      </p:sp>
    </p:spTree>
    <p:extLst>
      <p:ext uri="{BB962C8B-B14F-4D97-AF65-F5344CB8AC3E}">
        <p14:creationId xmlns:p14="http://schemas.microsoft.com/office/powerpoint/2010/main" val="67436385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D65A2F-9E5C-41C6-88CA-2CD71745B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3D8EDC-52DF-41D7-B714-56F06355B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049F48-BAB6-4BC6-9771-1D3971217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ПРАКТИЧЕСКИЙ ВЫВОД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CA84F9-28B5-4A92-916E-AC886BD2A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Время доступности признака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4E82A3-F5CE-4F8A-8054-3D9512C29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CED7EB-38AF-4C06-AF01-E2F69F3C3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CFDF07-7493-4184-883D-768B13246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BE6553-6303-47E4-AF2C-A97FFA3E5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8597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523"/>
          </a:bodyPr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3825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8749C9-4998-460A-A539-FCD0CC5F9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62250"/>
            <a:ext cx="3067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61AAF6-88B2-45B7-8D70-727FADC6F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67050"/>
            <a:ext cx="30670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Рецептура доступна перед синтезом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52381E-94F2-47A3-929C-430CA1050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08597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523"/>
          </a:bodyPr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80ED99"/>
                </a:solidFill>
                <a:latin typeface="DejaVu Sans"/>
                <a:ea typeface="DejaVu Sans"/>
                <a:cs typeface="DejaVu Sans"/>
              </a:defRPr>
            </a:pPr>
            <a:r>
              <a:rPr sz="3825" b="1">
                <a:solidFill>
                  <a:srgbClr val="80ED99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BA1EF8-A9EB-44B6-99BB-609B3B9BA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762250"/>
            <a:ext cx="3067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5BB15A-3A95-4C13-90AF-309B13229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067050"/>
            <a:ext cx="30670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Морфология доступна после изготовления образца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2784C6-718A-46E5-A021-EFB381CE6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08597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523"/>
          </a:bodyPr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C4A7FF"/>
                </a:solidFill>
                <a:latin typeface="DejaVu Sans"/>
                <a:ea typeface="DejaVu Sans"/>
                <a:cs typeface="DejaVu Sans"/>
              </a:defRPr>
            </a:pPr>
            <a:r>
              <a:rPr sz="3825" b="1">
                <a:solidFill>
                  <a:srgbClr val="C4A7FF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01A0ED-AA24-4E5B-822D-25D0BF96A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762250"/>
            <a:ext cx="3067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2F4C41-B875-4C73-B695-2BDA8D598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067050"/>
            <a:ext cx="30670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Результат финального теста нельзя включать в ранний прогноз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1A4E1A-5897-4637-BD17-B970AA3D8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57825"/>
            <a:ext cx="1038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261C67-B808-4472-85A1-736E04C11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72125"/>
            <a:ext cx="995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Одна колонка может быть допустимой для позднего решения и утечкой для раннего</a:t>
            </a:r>
          </a:p>
        </p:txBody>
      </p:sp>
    </p:spTree>
    <p:extLst>
      <p:ext uri="{BB962C8B-B14F-4D97-AF65-F5344CB8AC3E}">
        <p14:creationId xmlns:p14="http://schemas.microsoft.com/office/powerpoint/2010/main" val="123527498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5D6BD8-3DCB-43F8-993C-7288A1A84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64EBAD-D427-451B-A5D8-CABBE70C1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1D6D08-FF73-49F5-B986-2BC8ED366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ПОСТАНОВКА И МЕТОД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630858-ABF7-49CC-95CF-B1C28D9F6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Объект измерения не равен строке данных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34A4A8-3E68-42C6-9703-806492081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0EFDD1-BF6D-4A27-B77F-7A7101ECB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4D9932-304D-4C8E-A05D-411DB3C6E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D63156-9313-4777-A926-5A0515C08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085975"/>
            <a:ext cx="571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146866-AF39-4789-A173-06D149BC5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6238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Партия → образец → поле зрения → объект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19BDB2-0B81-4133-AE31-4D23C614D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124200"/>
            <a:ext cx="571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C34780-277F-46C1-92A6-099DA13E7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14675"/>
            <a:ext cx="6238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Много измерений одной партии сохраняют общие условия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BC1DE4-3090-4DBC-984B-2157CD4F8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162425"/>
            <a:ext cx="571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A5979C-050D-4BC8-8C82-90AEE2110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52900"/>
            <a:ext cx="6238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Независимых синтезов столько, сколько независимых партий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647792-A77F-4036-A739-E7E6A53FB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00275"/>
            <a:ext cx="3619500" cy="3171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11281B-7E6A-4F64-BCE9-6B807CE3D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419350"/>
            <a:ext cx="30289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E68700-DC57-41E9-BC78-B2ABA6932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302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Поставка сырья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23C295-7E02-4299-AE18-8FC535203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47975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026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70D62B-C2BF-4655-91D0-AC9F855EE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105150"/>
            <a:ext cx="27051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80ED99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FAE062-B167-463C-A415-F0757B87E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190875"/>
            <a:ext cx="2705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80ED99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80ED99"/>
                </a:solidFill>
                <a:latin typeface="DejaVu Sans"/>
                <a:ea typeface="DejaVu Sans"/>
                <a:cs typeface="DejaVu Sans"/>
              </a:rPr>
              <a:t>Партия синтеза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85499D-8B3B-42A9-85B2-75D7BF0C1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533775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026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72188A-77E3-4F2F-AB8C-1829A6E79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790950"/>
            <a:ext cx="23812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C4A7F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9A4043-69E5-49A6-8C99-EC6BDB1A2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8766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4A7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C4A7FF"/>
                </a:solidFill>
                <a:latin typeface="DejaVu Sans"/>
                <a:ea typeface="DejaVu Sans"/>
                <a:cs typeface="DejaVu Sans"/>
              </a:rPr>
              <a:t>Образец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9E848D-3800-4724-844B-23E6302E3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219575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026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8FBF40-B1F0-4F56-8698-8CE42440D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476750"/>
            <a:ext cx="20574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F9C74F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16422E-F25A-4649-8F01-972F2144B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562475"/>
            <a:ext cx="2057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9C74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9C74F"/>
                </a:solidFill>
                <a:latin typeface="DejaVu Sans"/>
                <a:ea typeface="DejaVu Sans"/>
                <a:cs typeface="DejaVu Sans"/>
              </a:rPr>
              <a:t>Поле зрения</a:t>
            </a:r>
          </a:p>
        </p:txBody>
      </p:sp>
    </p:spTree>
    <p:extLst>
      <p:ext uri="{BB962C8B-B14F-4D97-AF65-F5344CB8AC3E}">
        <p14:creationId xmlns:p14="http://schemas.microsoft.com/office/powerpoint/2010/main" val="214674540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3829E1-E21B-48EE-8E21-F44C5F6D9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CDEF09-C22E-4C68-AC5E-DD8DCA95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B16A0A-3DE0-423E-B417-3564A23B8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ТРИ ОПОРНЫХ ПУНКТА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6390CE-738D-4F91-87AA-224073BE5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Как подготовить таблицу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356797-9E1A-49A7-9666-D96ABE1E2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58BFFD-F93C-4352-B1A7-9432BDDDD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61C248-A78B-4A90-BDA1-93E58D9E6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5A4BC9-B546-4C69-A660-A2E948A5C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047875"/>
            <a:ext cx="34385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0323D8-A97B-4461-8F44-3F1FEA710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047875"/>
            <a:ext cx="3438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D4DD78-A2ED-4043-892F-C4F1699F9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57425"/>
            <a:ext cx="914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1E6F26-C00D-4F8A-B43B-4388ACEEE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038475"/>
            <a:ext cx="2971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Один ID партии связывает рецепт, измерение и метаданные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1EB66F-101E-420D-ABB4-F3AA9C18C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47875"/>
            <a:ext cx="34385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E91746-1F3D-4D17-B327-429D70DA1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47875"/>
            <a:ext cx="3438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09183D-54BE-446F-97A2-ABF8A6A10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257425"/>
            <a:ext cx="914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80ED99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80ED99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E9C681-D523-4EF1-9A27-81608DFD1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38475"/>
            <a:ext cx="2971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Единицы, пропуски и пределы измерения записаны явно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2AFD35-F962-4A3F-9E8A-292099CE8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047875"/>
            <a:ext cx="34385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50993B-39A6-485E-AC2D-FCDF48D72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047875"/>
            <a:ext cx="3438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7E4D13-F2FD-4586-80DF-CFE26A8D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57425"/>
            <a:ext cx="914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C4A7FF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C4A7FF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BBE316-EF7E-45F4-9CF4-DD44E9F2C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38475"/>
            <a:ext cx="2971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Правило агрегации повторов фиксируется до анализа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D311F6-72D3-4F5C-AA71-856A7D44C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57825"/>
            <a:ext cx="1038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625C0F-C9F8-41D8-9106-96FE2B9A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72125"/>
            <a:ext cx="995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Сохраняйте исходные измерения отдельно от признаков модели</a:t>
            </a:r>
          </a:p>
        </p:txBody>
      </p:sp>
    </p:spTree>
    <p:extLst>
      <p:ext uri="{BB962C8B-B14F-4D97-AF65-F5344CB8AC3E}">
        <p14:creationId xmlns:p14="http://schemas.microsoft.com/office/powerpoint/2010/main" val="195572774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1DCF6F-254F-4FBA-A909-51128C76C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26F931-4547-4F5A-B3F6-F11DB2824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BF119D-E717-41A6-AA14-459838B1D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ПРОВЕРКА И ИНТЕРПРЕТАЦИЯ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DD7502-A5E4-4A32-AE75-3E3A6324A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Минимальный словарь данных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215FC0-A14B-418B-8FA9-AABA6F7FB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3EBCB8-B4F1-424C-B35E-FDE82BDC5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588091-029C-4587-A096-94694CE4B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9CB268-2DBE-42CB-8343-8F4B3FEA0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47875"/>
            <a:ext cx="6572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CE7470-EBA3-443E-947E-9C048AB7E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76475"/>
            <a:ext cx="666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AACE6E-3CBD-4E88-A9F2-7AB719CDC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238375"/>
            <a:ext cx="581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oil_fraction: %, вход до синтеза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7B9BE5-B18E-4423-B911-B9896CBA0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666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6B7FC5-E38C-4EAD-94D3-E4ADA7412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00400"/>
            <a:ext cx="581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diameter_nm: нм, измеренная цель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13989F-0360-4262-A89E-74A38260A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00525"/>
            <a:ext cx="666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4A428C-CB2F-4538-8B43-CA43DF81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162425"/>
            <a:ext cx="581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batch_id: ID независимой партии, группа проверки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EE0A1B-54CB-4BFC-B3BC-7E8FD04A4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381250"/>
            <a:ext cx="3219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ПРОВЕРЬТЕ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D2E4E4-35D4-403E-8736-2559EAA0B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867025"/>
            <a:ext cx="32480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ID не должен случайно стать числовым предиктором</a:t>
            </a:r>
          </a:p>
        </p:txBody>
      </p:sp>
    </p:spTree>
    <p:extLst>
      <p:ext uri="{BB962C8B-B14F-4D97-AF65-F5344CB8AC3E}">
        <p14:creationId xmlns:p14="http://schemas.microsoft.com/office/powerpoint/2010/main" val="75139873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24EB40-1D22-4ED2-9901-C2555461B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ADD1D1-AD2A-4BD9-9FF9-CF5DC412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FF2B4A-9223-43B3-913A-E3530A3B1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ПРИМЕР И ПРИМЕНЕНИЕ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00845F-4C4F-4EFC-9ED3-1C61F9326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Новый объект задаёт тип разбиения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817643-B535-428E-8276-749882905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BE951C-FD93-49FB-9F28-81BE5621A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7322D8-9662-4653-BED3-41C159CF7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9E215B-0DD8-4DEA-B594-33A400522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1090612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CD917C-EF4B-4347-B6F8-7F13E337F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571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2504CB-26CE-4AEA-A30B-F90337DF5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81225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Новая партия → группируем по batch_id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7789FF-69CA-4B50-8F40-BD836B973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1090612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8B2136-93D5-4582-A811-0C2B05720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571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6820AC-8508-46C5-8DFB-DE9808088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28975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Новая поставка сырья → группируем по поставке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DFB9C1-8697-4DEB-B81B-F0F0765A1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1090612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4FDDD2-6B34-4CB4-9F8B-EE0DA5D2D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571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64CB95-24EF-4DEE-8EE3-822F12F10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76725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Новый прибор → тестируем перенос на другом приборе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A08C7A-53B5-4DDF-83F3-13D6F1C10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57825"/>
            <a:ext cx="1038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8D1619-3E66-45BC-AFB0-591F31F29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72125"/>
            <a:ext cx="995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Разбиение должно имитировать реальную задачу</a:t>
            </a:r>
          </a:p>
        </p:txBody>
      </p:sp>
    </p:spTree>
    <p:extLst>
      <p:ext uri="{BB962C8B-B14F-4D97-AF65-F5344CB8AC3E}">
        <p14:creationId xmlns:p14="http://schemas.microsoft.com/office/powerpoint/2010/main" val="127041565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CBCFEA-70C7-4025-BCB1-935247104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72BB26-B4B7-451B-8578-FAC798CEE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F4FBEA-EC01-4D01-95D6-9100A7F5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ПРАКТИЧЕСКИЙ ВЫВОД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E1B977-A49B-4100-A19A-62A64C5F5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Зачем нужен baseline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6E506F-8DEB-4273-8980-FA9DC13F3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F837F6-6589-4C99-A794-E5AB438D0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201D66-0280-4104-BA66-AF0CC074B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CAD6B2-E2F5-484D-ACBA-A56626981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8597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523"/>
          </a:bodyPr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3825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B4EAE0-3333-4499-8537-127AE5098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62250"/>
            <a:ext cx="3067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5F1F5B-C685-4EF8-A3BF-15E20A5CF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67050"/>
            <a:ext cx="30670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DummyRegressor учит среднее только по train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B56A09-7287-4727-9740-68E1DF053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08597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523"/>
          </a:bodyPr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80ED99"/>
                </a:solidFill>
                <a:latin typeface="DejaVu Sans"/>
                <a:ea typeface="DejaVu Sans"/>
                <a:cs typeface="DejaVu Sans"/>
              </a:defRPr>
            </a:pPr>
            <a:r>
              <a:rPr sz="3825" b="1">
                <a:solidFill>
                  <a:srgbClr val="80ED99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5B787D-FC00-4C4E-A778-D627E467E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762250"/>
            <a:ext cx="3067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F85FFD-E6CB-4532-A857-61D3C3326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067050"/>
            <a:ext cx="30670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Лабораторное правило иногда сильнее простой ML-модели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2C11CF-8BB1-431F-8F28-9D5118769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08597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523"/>
          </a:bodyPr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C4A7FF"/>
                </a:solidFill>
                <a:latin typeface="DejaVu Sans"/>
                <a:ea typeface="DejaVu Sans"/>
                <a:cs typeface="DejaVu Sans"/>
              </a:defRPr>
            </a:pPr>
            <a:r>
              <a:rPr sz="3825" b="1">
                <a:solidFill>
                  <a:srgbClr val="C4A7FF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8DBD93-65F3-4760-B9B6-72EF671C3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762250"/>
            <a:ext cx="3067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836D11-D490-4548-815A-35C844711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067050"/>
            <a:ext cx="30670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Сложная модель должна улучшать релевантное решение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72419F-43CA-4706-A8EF-8954F37F8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57825"/>
            <a:ext cx="1038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3FA13C-BB2F-4079-B347-4B67EDD49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72125"/>
            <a:ext cx="995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Сравнивайте все методы на одном и том же тесте</a:t>
            </a:r>
          </a:p>
        </p:txBody>
      </p:sp>
    </p:spTree>
    <p:extLst>
      <p:ext uri="{BB962C8B-B14F-4D97-AF65-F5344CB8AC3E}">
        <p14:creationId xmlns:p14="http://schemas.microsoft.com/office/powerpoint/2010/main" val="37977955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24F62E-2269-4BDF-BA40-0EE1A0C1A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31C2B1-8191-48BE-A11E-FF4379F41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1C1187-04CE-423D-8E47-D6315C50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ПОСТАНОВКА И МЕТОД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10D0D3-3F85-4A8D-BC29-E1B0B5A10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Сначала отделяем финальный тест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EEE509-3E09-4F41-AFE6-68633A846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395ECB-83DF-45C4-9D46-58DF60B65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7C9096-622E-4F8D-836B-BF1F4980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D522DF-3FAA-41F9-99B0-3961BEF49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085975"/>
            <a:ext cx="571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5968E1-FB69-4DDC-B61E-15084F339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6238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Группы делят на разработку и тест до настройки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4CE23A-440D-49F5-928C-FCD50484C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124200"/>
            <a:ext cx="571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95122F-7162-4F98-84C0-1A0DD1F57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14675"/>
            <a:ext cx="6238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Тестовые партии не участвуют в отборе признаков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689013-7C3E-45AE-9491-E2BBBCEBC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162425"/>
            <a:ext cx="571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623AC1-0EE6-4C3A-83DF-18B1288C0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52900"/>
            <a:ext cx="6238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Один финальный отчёт после фиксации метода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90BF96-3CCD-446F-8FE1-429D6B28E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00275"/>
            <a:ext cx="3619500" cy="3171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4E37ED-AEF4-4294-A75C-EE3D1F63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09825"/>
            <a:ext cx="3276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РАЗБИЕНИЕ ПО ПАРТИЯМ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EE8736-D639-44AA-B679-067BAAE0F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924175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25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Партия 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9C6F00-3516-4E44-B0F0-CD18BCF28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962275"/>
            <a:ext cx="18097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6DB68C-217D-41B1-BCD6-4DE2BF072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476625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532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Партия 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5E99B4-AE8D-4044-9E22-76C4E57F7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514725"/>
            <a:ext cx="18097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18DB00-D11A-495F-A6B7-66114CC60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029075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809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Партия 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677083-A2A3-4AC8-B8BF-9BF0EBFA6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067175"/>
            <a:ext cx="18097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406BDE-5F84-432E-B52F-86F5FD6BF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581525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25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Партия 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6C0B53-E83A-410C-8F27-DE41B1D4D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619625"/>
            <a:ext cx="18097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C74F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884BCF-5D2C-4C8A-84B6-AE9716224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10150"/>
            <a:ext cx="3276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A–C: train  ·  D: test</a:t>
            </a:r>
          </a:p>
        </p:txBody>
      </p:sp>
    </p:spTree>
    <p:extLst>
      <p:ext uri="{BB962C8B-B14F-4D97-AF65-F5344CB8AC3E}">
        <p14:creationId xmlns:p14="http://schemas.microsoft.com/office/powerpoint/2010/main" val="34021928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D194B8-FAA7-4D00-AC65-1368655AC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E70862-7018-423E-87F5-F961C82C3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FBFCB4-A5F8-4926-A6A4-603F5D9A1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ТРИ ОПОРНЫХ ПУНКТА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AC96C3-A5A8-46DB-8263-09370AE35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Внутренняя групповая проверка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1E950B-E309-4B57-BCDB-34F0E2E83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DA1775-1335-4C67-A741-A61299E71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187E88-C78E-4FB2-A33C-CA32A3432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8EEB1D-F8CB-4919-8A6B-7390BE3CA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047875"/>
            <a:ext cx="34385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03D9DC-FEC7-44DA-B1F0-2538EB8E4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047875"/>
            <a:ext cx="3438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9B9F01-A90F-4533-95EC-FA6B24CD7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57425"/>
            <a:ext cx="914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6C7C39-87DA-4207-B6D2-8E2CB2D22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038475"/>
            <a:ext cx="2971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GroupKFold оставляет целую партию вне обучения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6B67C9-E6A5-424B-914C-D78D7A622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47875"/>
            <a:ext cx="34385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8BF75D-90D0-43DC-9216-D76D371A8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47875"/>
            <a:ext cx="3438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52E126-9AE5-484E-908D-B919854C9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257425"/>
            <a:ext cx="914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80ED99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80ED99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2C3A7A-77FD-4B37-8B03-4D96692AD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38475"/>
            <a:ext cx="2971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Каждая складка заново обучает весь Pipeline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16D52C-8EC0-41A9-A86C-DFAB97C4D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047875"/>
            <a:ext cx="34385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3BEDB6-3CF9-4D31-897B-E54DC1132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047875"/>
            <a:ext cx="3438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69BD40-7BEF-4497-AD99-AD0E9C705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57425"/>
            <a:ext cx="914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C4A7FF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C4A7FF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6C4963-29D1-4315-B98C-A0028CD93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38475"/>
            <a:ext cx="2971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Разброс ошибок между складками показывают, не скрывают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19EE6D-5475-46C6-A8CD-370F3BEE5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57825"/>
            <a:ext cx="1038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E4E45C-D382-4057-BF79-59BFDC1C4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72125"/>
            <a:ext cx="995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Четыре складки требуют хотя бы четыре независимые группы</a:t>
            </a:r>
          </a:p>
        </p:txBody>
      </p:sp>
    </p:spTree>
    <p:extLst>
      <p:ext uri="{BB962C8B-B14F-4D97-AF65-F5344CB8AC3E}">
        <p14:creationId xmlns:p14="http://schemas.microsoft.com/office/powerpoint/2010/main" val="208786278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261F10-4BE0-48C8-B761-FCD474EFE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10B249-6CE8-462C-B636-9EE124A1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3B9F75-1AD2-446F-81B2-ECD772C35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ПРОВЕРКА И ИНТЕРПРЕТАЦИЯ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235BD0-FF5F-445C-A776-6B784C70C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Утечка из технических повторов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7C2574-DB78-4990-B9C0-600CFAF58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AAFA80-68A2-4430-85F9-DB231C832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0921F9-603A-4FC7-A410-0F3F9AD5B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FF4245-7E02-478F-B2F9-DC453098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47875"/>
            <a:ext cx="6572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E4B4BB-259D-4103-8161-10FE80E6C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76475"/>
            <a:ext cx="666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8B9DAE-FF67-4B68-8A07-2110C83DB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238375"/>
            <a:ext cx="581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Изображения одной партии в train и test дают завышение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98C6A5-0C01-4E1A-863D-66032CBC2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666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955832-98CF-4C0F-AF6C-D3C68CC39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00400"/>
            <a:ext cx="581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Модель запоминает особенности партии или фона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197236-6C68-4894-BD61-6C716A837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00525"/>
            <a:ext cx="666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F24E52-6DEF-4519-9DA1-208911917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162425"/>
            <a:ext cx="581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Группировка либо агрегирование решает этот частный случай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E69FAC-9E30-454C-8F2C-AC5C7BF55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381250"/>
            <a:ext cx="3219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ПРОВЕРЬТЕ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D13D57-2940-4454-BBF7-6C02DE961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867025"/>
            <a:ext cx="32480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Проверяйте реальные ID на обеих сторонах разбиения</a:t>
            </a:r>
          </a:p>
        </p:txBody>
      </p:sp>
    </p:spTree>
    <p:extLst>
      <p:ext uri="{BB962C8B-B14F-4D97-AF65-F5344CB8AC3E}">
        <p14:creationId xmlns:p14="http://schemas.microsoft.com/office/powerpoint/2010/main" val="319970806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524243-27F9-4707-90C6-E91C06C64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DD3777-895B-4DF3-B91B-7FC32213C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C17CDE-4177-4F98-903B-A50FA3629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ПРИМЕР И ПРИМЕНЕНИЕ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329003-03F9-45B3-B5F6-EABB4C999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Утечка через предобработку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CC76BD-C008-441C-8C68-3658ACDF0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5B7B5A-4AAF-4EDF-9F0D-CD11BE31A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9BC792-C62C-4C4D-8714-06D96CF46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464C21-7A5C-4610-B822-78F28AF89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085975"/>
            <a:ext cx="571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C1E7B3-2161-4977-8B68-977641CE2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6238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Масштабирование на всей таблице видит тестовую статистику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07E61A-E00C-4A19-A2E5-24324551E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124200"/>
            <a:ext cx="571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A031B1-22B6-4388-9007-B0559E9FE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14675"/>
            <a:ext cx="6238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Отбор пиков по всей y использует тестовые метки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76DB63-05F2-4EE2-AFB1-034DC5520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162425"/>
            <a:ext cx="571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CD819A-D2C9-4EA1-A0B0-2A5ACFB9E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52900"/>
            <a:ext cx="6238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Параметры предобработки обучают внутри каждой складки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113022-5E7F-4DAE-A19F-D67DAC247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00275"/>
            <a:ext cx="3619500" cy="3171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91F696-5586-4C87-8993-689F2F7B0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09825"/>
            <a:ext cx="3276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809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УТЕЧКА ПРИ СЛУЧАЙНОМ ДЕЛЕНИИ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533AA3-3BF5-4994-9E74-E4D6233E5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924175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25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Партия 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DE2539-7F06-45FF-BB56-156C93AEA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962275"/>
            <a:ext cx="18097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3AA443-EAC7-4DE6-B40A-24D42466D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476625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532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Партия 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884C5E-154E-481F-A710-9CB34C3F7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514725"/>
            <a:ext cx="18097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C74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415F47-B331-445B-808F-7C20EA34F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029075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809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Партия 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F28AA8-6514-482B-8300-6ED9CCBCC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067175"/>
            <a:ext cx="18097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F19524-A248-4AE8-A0D3-556F1AE0E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581525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25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Партия 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864CF2-D528-4339-A672-FF50FF4FB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619625"/>
            <a:ext cx="18097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C74F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E5A22F-7679-4F3D-A8B5-5E2A09C88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10150"/>
            <a:ext cx="3276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Повторы партии в обеих частях</a:t>
            </a:r>
          </a:p>
        </p:txBody>
      </p:sp>
    </p:spTree>
    <p:extLst>
      <p:ext uri="{BB962C8B-B14F-4D97-AF65-F5344CB8AC3E}">
        <p14:creationId xmlns:p14="http://schemas.microsoft.com/office/powerpoint/2010/main" val="704749194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428181-1287-4842-8D17-0AF7E00AB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0B82CA-3FB7-4C7D-9A53-7A71EBD63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920A27-CEEB-42A5-95D3-23637A71B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ПРАКТИЧЕСКИЙ ВЫВОД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055414-64F8-4FA4-AAD1-B1D7AF464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Утечка из будущего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F0729D-AEA8-4253-9306-780396C2E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411098-0D9D-436B-AA8F-0013C91D4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258F9C-8DDB-4CF0-A27A-C4B75D7C5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24CAD7-1A83-4A5F-8BE6-EE714B1D1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8597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523"/>
          </a:bodyPr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3825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B4ED60-7226-4C63-84E5-B25318577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62250"/>
            <a:ext cx="3067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77847F-7E3F-46D6-AB17-6A0D992D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67050"/>
            <a:ext cx="30670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Прогноз ранней рецептуры не знает поздней морфологии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AF8FBF-277D-4AFC-BD53-DEF733AAC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08597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523"/>
          </a:bodyPr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80ED99"/>
                </a:solidFill>
                <a:latin typeface="DejaVu Sans"/>
                <a:ea typeface="DejaVu Sans"/>
                <a:cs typeface="DejaVu Sans"/>
              </a:defRPr>
            </a:pPr>
            <a:r>
              <a:rPr sz="3825" b="1">
                <a:solidFill>
                  <a:srgbClr val="80ED99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1C3C05-EDF6-483A-AC9B-FBF2B0C99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762250"/>
            <a:ext cx="3067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AD41C6-E77F-4BF4-A765-69D67EFE3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067050"/>
            <a:ext cx="30670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Признак с результатом теста качества сообщает ответ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63B303-CD67-4378-9E1C-1C41EC36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08597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523"/>
          </a:bodyPr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C4A7FF"/>
                </a:solidFill>
                <a:latin typeface="DejaVu Sans"/>
                <a:ea typeface="DejaVu Sans"/>
                <a:cs typeface="DejaVu Sans"/>
              </a:defRPr>
            </a:pPr>
            <a:r>
              <a:rPr sz="3825" b="1">
                <a:solidFill>
                  <a:srgbClr val="C4A7FF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54BBAA-B3C5-456F-B082-828C4F045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762250"/>
            <a:ext cx="3067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3D6010-7E03-47B1-9323-3F3629F41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067050"/>
            <a:ext cx="30670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Метаданные о партии могут косвенно кодировать цель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22E942-3230-4881-9B6F-8EA4C0D84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57825"/>
            <a:ext cx="1038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CF4C09-09F3-47A8-ABCE-FB391D4A9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72125"/>
            <a:ext cx="995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Составьте временную схему получения каждого столбца</a:t>
            </a:r>
          </a:p>
        </p:txBody>
      </p:sp>
    </p:spTree>
    <p:extLst>
      <p:ext uri="{BB962C8B-B14F-4D97-AF65-F5344CB8AC3E}">
        <p14:creationId xmlns:p14="http://schemas.microsoft.com/office/powerpoint/2010/main" val="145676687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54CE29-0792-4B60-A907-C9F8D1B5A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70CE2C-5853-45A5-A441-C0F90AEA6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0C0925-5A35-4F03-BAC8-49AE2B12C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ПОСТАНОВКА И МЕТОД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DDB816-AF64-4DA6-8453-93A445B2C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Полный цикл оценки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8654E7-F418-415E-A063-D4987ACBD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552222-765A-4F33-A4CE-140EC6D5D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964089-17EE-491C-9098-E36288BEA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6EFFA4-8FBA-4C44-8ADB-8E3CD7DB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095500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FA631D-0C35-4510-8A43-BB06D21E7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38350"/>
            <a:ext cx="952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1. Отложить группы для финального теста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F3CBF0-93A1-4ECC-B5EC-2F5806A7B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1465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B2838A-4538-4A77-97B7-9EEEF0295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1908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80ED99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80ED99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6522F5-2F07-4E33-B14F-2473A14DB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33725"/>
            <a:ext cx="952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2. Выбрать метод по CV на остальных группах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9057A8-2D9C-4912-A95B-0DC1CDF0A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10025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669B8B-8FFE-4573-8132-1DF37BEDC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286250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C4A7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C4A7FF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42C183-AB17-4016-AEAD-3CFF1A631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29100"/>
            <a:ext cx="952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3. Обучить на разработке и оценить на тесте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D5596B-B8E8-4854-924F-9A8115DCE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0540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5CA6DF-ED11-4E44-B47D-0AFACF97B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57825"/>
            <a:ext cx="1038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A52B2B-94A5-4CE0-9FB1-D99496DD2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72125"/>
            <a:ext cx="995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Тест не служит источником новых гиперпараметров</a:t>
            </a:r>
          </a:p>
        </p:txBody>
      </p:sp>
    </p:spTree>
    <p:extLst>
      <p:ext uri="{BB962C8B-B14F-4D97-AF65-F5344CB8AC3E}">
        <p14:creationId xmlns:p14="http://schemas.microsoft.com/office/powerpoint/2010/main" val="2071712236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891101-230E-4174-8D27-396944DB2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CDAE0A-8533-4F15-A41B-D37E75545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180CA3-46A1-4D71-BD08-A3452CC3D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ТРИ ОПОРНЫХ ПУНКТА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9115B8-80B8-453A-A8D3-BAD0FEBAB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Pipeline: масштаб и модель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B3D97B-0805-4F74-BF40-07454367C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B081E0-25B8-4623-8A98-EF990E368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78D98C-92BA-4D4E-87C9-77726714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7F9DAF-5BDD-4F54-B2DD-C128DF51A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047875"/>
            <a:ext cx="34385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D418C5-7764-4D02-AC8C-42A3626A8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047875"/>
            <a:ext cx="3438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6C8935-EFF0-47A1-9393-0552C946B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57425"/>
            <a:ext cx="914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9285A6-0DB6-45E5-B241-4FE8AF780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038475"/>
            <a:ext cx="2971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SimpleImputer заменяет пропуски по train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6D4360-8165-439D-BB63-5590B72F3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47875"/>
            <a:ext cx="34385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10B597-E6BB-4C86-B84C-AF38C2A7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47875"/>
            <a:ext cx="3438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98F3E8-8887-4DFE-9FA7-5DA9DAE4F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257425"/>
            <a:ext cx="914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80ED99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80ED99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BFD72A-E930-4601-9943-EC77CB104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38475"/>
            <a:ext cx="2971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StandardScaler оценивает среднее и масштаб по train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7A6B6E-E309-4A1E-80CB-D816672F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047875"/>
            <a:ext cx="34385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92A552-6BFF-4630-ADE9-404492F5F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047875"/>
            <a:ext cx="3438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15B3E6-15EE-47CE-AE1C-4ECB4B984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57425"/>
            <a:ext cx="914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C4A7FF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C4A7FF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C721D9-4C55-4E55-B3F7-2C3C86C50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38475"/>
            <a:ext cx="2971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Ridge обучается на преобразованных признаках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BC9FBA-DC8A-46E9-8E7B-D359B4928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57825"/>
            <a:ext cx="1038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263ADD-C44C-4D2F-97F8-7F922072E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72125"/>
            <a:ext cx="995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На тесте используются сохранённые параметры преобразований</a:t>
            </a:r>
          </a:p>
        </p:txBody>
      </p:sp>
    </p:spTree>
    <p:extLst>
      <p:ext uri="{BB962C8B-B14F-4D97-AF65-F5344CB8AC3E}">
        <p14:creationId xmlns:p14="http://schemas.microsoft.com/office/powerpoint/2010/main" val="1364309060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E5F157-64D2-46F9-AF38-6219B8302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D4CA40-89AD-405E-AECE-E44422DC2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448DBC-98E9-4155-ACAC-86320CF26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ПРОВЕРКА И ИНТЕРПРЕТАЦИЯ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A2BBE7-6EB0-42F7-A065-56265A0F1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Модель ошибается в физических единицах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38B2A5-4B94-4CC7-9614-21DFB044D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F22150-AFC2-48AA-A1EF-FAB9838FA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A934EB-707B-40D1-889A-6F95F5138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19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1548EC-40B6-4A70-B651-C452047DD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085975"/>
            <a:ext cx="571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89A681-A5E5-4040-891C-E017AC614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6238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MAE = средняя абсолютная ошибка, здесь нм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CC28B2-9C48-40F9-BCEE-A62B31B7F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124200"/>
            <a:ext cx="571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BCECB2-6D63-455B-ABE8-F8846C95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14675"/>
            <a:ext cx="6238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RMSE сильнее штрафует большие промахи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80DD21-E635-4EDB-A09F-4459BBFEA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162425"/>
            <a:ext cx="571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BB092C-66DE-436F-B034-7471AFD8D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52900"/>
            <a:ext cx="6238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Порог полезности задают относительно решения и точности измерения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77DB9B-2CA9-4703-957E-283EAA8D5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00275"/>
            <a:ext cx="3619500" cy="3171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8B1FD2-7737-4050-B760-F28FC9D32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19375"/>
            <a:ext cx="190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B7C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2B54CC-C326-49CA-A70F-7229BEA02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886325"/>
            <a:ext cx="2647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B7C9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C354D7-6E6D-42F6-AFFE-00DD5F062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4767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7A7B73-84E5-4B9C-8B2C-C6653848D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3815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432858-E745-40CB-8408-234E425D3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42862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A14965-831F-48F3-B93A-037AA6375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7338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E151FA-EEE6-4086-BDE9-B62E46A35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36385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64A304-35F8-4708-AC2A-76A501F1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35433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B4B93A-7D18-49A3-9C29-8CC6C6F58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9908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38CE47-7E72-4465-A97C-2C1536121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953000"/>
            <a:ext cx="1562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измерено 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37EF95-2015-4A0D-8803-787D0E9F1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314575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y и ŷ</a:t>
            </a:r>
          </a:p>
        </p:txBody>
      </p:sp>
    </p:spTree>
    <p:extLst>
      <p:ext uri="{BB962C8B-B14F-4D97-AF65-F5344CB8AC3E}">
        <p14:creationId xmlns:p14="http://schemas.microsoft.com/office/powerpoint/2010/main" val="662587418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FEA5D5-0070-4F59-ADF0-F5BC7AD06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8F07AD-8545-4B3F-AD79-C1ECA6398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D30439-833F-4ECE-837F-D4FC70C40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ПРИМЕР И ПРИМЕНЕНИЕ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ACABBB-D700-4CF1-90ED-951427BF9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R² не заменяет анализ ошибок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B8D5AE-07CB-4A44-81D9-377C8715A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6E4973-C64B-49BC-9159-77129AE3A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F6C9BD-45CE-4840-85E7-DAAD147E9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198218-7920-4B98-91B4-7AE2E1D24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1090612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12877D-6662-45A9-9791-9CBA5B3DA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571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5936B4-53EC-4A4F-9452-67E11429B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81225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R² сравнивает с константным прогнозом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7A857C-A3A7-4FE6-89FD-FC1861EFF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1090612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95B10E-81A2-4E37-9A3F-ED0472FC3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571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52B61B-8A7B-4A7D-B957-0083E5FAC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28975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На независимом тесте R² может стать отрицательным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278B1C-ADEE-4D1A-B7EC-7B150E95B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1090612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885E12-30F5-4238-9C75-A4B4E3E2D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571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DBA26A-4B0B-474C-825D-866CDB867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76725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Даже высокий R² не исключает опасных промахов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ACED33-E6DF-4560-B4D5-71E3AC21C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57825"/>
            <a:ext cx="1038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4DD48D-0FCE-4F9D-8EDE-BCB29BD7B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72125"/>
            <a:ext cx="995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Покажите остатки и ошибки по диапазонам</a:t>
            </a:r>
          </a:p>
        </p:txBody>
      </p:sp>
    </p:spTree>
    <p:extLst>
      <p:ext uri="{BB962C8B-B14F-4D97-AF65-F5344CB8AC3E}">
        <p14:creationId xmlns:p14="http://schemas.microsoft.com/office/powerpoint/2010/main" val="1424868164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FAE1AC-7A93-425F-9925-A4E48E643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ECE25C-CB52-443C-9A00-448A11563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EFF9DD-592C-4B27-AACE-B4972F189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ПРАКТИЧЕСКИЙ ВЫВОД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CAAF20-980D-4F50-A552-968248EA4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Что рисовать рядом с метрикой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4F463B-15AE-45DF-8DFB-FE50E0CF9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42C3E9-9AF7-463E-9C6E-D8590577D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ADDB6B-28EF-47B7-A223-6A50BEC06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21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17B0F6-FBEF-4C69-AA7A-8FBA663D1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8597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523"/>
          </a:bodyPr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3825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88ED17-0479-4791-A060-7D8C8AB43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62250"/>
            <a:ext cx="3067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70ECBB-F3FC-4907-A307-02EF61A83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67050"/>
            <a:ext cx="30670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Измерено против предсказано с линией равенства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2F41FE-FE67-49AA-BC18-E4D187516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08597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523"/>
          </a:bodyPr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80ED99"/>
                </a:solidFill>
                <a:latin typeface="DejaVu Sans"/>
                <a:ea typeface="DejaVu Sans"/>
                <a:cs typeface="DejaVu Sans"/>
              </a:defRPr>
            </a:pPr>
            <a:r>
              <a:rPr sz="3825" b="1">
                <a:solidFill>
                  <a:srgbClr val="80ED99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F539CD-D7EC-4D83-93A0-6FCAA6B3A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762250"/>
            <a:ext cx="3067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BBEF78-73CB-4D75-B4C6-FA6D79B6D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067050"/>
            <a:ext cx="30670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Остаток против прогноза и факторов синтеза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853467-EA53-4EF0-A28C-C06BC4A32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08597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523"/>
          </a:bodyPr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C4A7FF"/>
                </a:solidFill>
                <a:latin typeface="DejaVu Sans"/>
                <a:ea typeface="DejaVu Sans"/>
                <a:cs typeface="DejaVu Sans"/>
              </a:defRPr>
            </a:pPr>
            <a:r>
              <a:rPr sz="3825" b="1">
                <a:solidFill>
                  <a:srgbClr val="C4A7FF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B9A438-35C6-4253-B44A-69CCAC8A9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762250"/>
            <a:ext cx="3067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54FA1A-3A79-4968-AFDE-A645FB340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067050"/>
            <a:ext cx="30670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Ошибки по партиям, прибору и диапазону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98EEB2-383B-43C6-B785-E62B9B686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57825"/>
            <a:ext cx="1038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EA4BA4-992A-4473-BE3B-80287416B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72125"/>
            <a:ext cx="995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Систематический сдвиг виден на графике лучше, чем в среднем MAE</a:t>
            </a:r>
          </a:p>
        </p:txBody>
      </p:sp>
    </p:spTree>
    <p:extLst>
      <p:ext uri="{BB962C8B-B14F-4D97-AF65-F5344CB8AC3E}">
        <p14:creationId xmlns:p14="http://schemas.microsoft.com/office/powerpoint/2010/main" val="607737519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DE4F61-AEC6-4F07-896F-7B3109793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483D0D-7F99-43E7-90D1-697EDEDFA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12DB24-77B8-41B8-A54E-5E27666EB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ПОСТАНОВКА И МЕТОД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4F5BD7-9371-4E1D-8BFD-71FFC6A7E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Повторы и неопределённость метрики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7B7BD1-1035-462B-876A-F765476C7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B39CE9-7D0E-438B-9118-99C1E56A2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78928D-8E06-4BAC-8DD5-555FF2454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22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C5C53E-D444-4882-A520-A9DE6C0A5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095500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174804-A32D-4EBF-9744-B11D9DF82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38350"/>
            <a:ext cx="952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Соседние поля зрения коррелированы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03A25A-E73C-465B-902F-D0202508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1465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50B3B3-8EEE-4831-8FA8-7AB21B763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1908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80ED99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80ED99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2EC7AC-C96F-4C9D-92E3-B53A5F495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33725"/>
            <a:ext cx="952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Пересэмплировать надо независимые группы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0095C6-E80B-4139-A013-13EDB85BE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10025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31973A-71BD-4E10-A69A-EE4049E63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286250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C4A7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C4A7FF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8681EC-5DA9-48BB-98B0-4850B12CA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29100"/>
            <a:ext cx="952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Малое число партий даёт широкий разброс качества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DDAE4B-558F-45CE-812E-B08FC2360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0540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D88AA6-327D-4F2B-B414-2441A883D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57825"/>
            <a:ext cx="1038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84EC82-A2D3-45C7-8000-C621B5A6C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72125"/>
            <a:ext cx="995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Укажите n партий рядом с любой оценкой точности</a:t>
            </a:r>
          </a:p>
        </p:txBody>
      </p:sp>
    </p:spTree>
    <p:extLst>
      <p:ext uri="{BB962C8B-B14F-4D97-AF65-F5344CB8AC3E}">
        <p14:creationId xmlns:p14="http://schemas.microsoft.com/office/powerpoint/2010/main" val="2072904981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797DA9-C406-41CE-A38F-EAA2B63B4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F0144C-A89C-4E34-B0A9-4B534C136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D00A6E-3941-4EF1-8A5E-AEC612C8D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ТРИ ОПОРНЫХ ПУНКТА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7A444E-898C-4E24-9B92-72879AA1A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399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Классификация: что такое положительный класс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910B69-3874-4C78-BB4C-A5FA8A93A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0B79B8-4256-4BF3-8FAB-0885F104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F48059-BBB9-45CF-9C97-FEAB66F30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23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809EC4-5C14-4E2A-84B6-0507A2ABE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047875"/>
            <a:ext cx="34385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BDD914-CFC1-4F4C-B59B-50CD52A27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047875"/>
            <a:ext cx="3438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D8D3F4-6288-4627-AEFE-B00623BAC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57425"/>
            <a:ext cx="914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2C7A9A-2E2C-4539-B971-244495B11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038475"/>
            <a:ext cx="2971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Категория определяется отдельным эталонным тестом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B81E92-F9D1-4013-B8AB-A1B05F4A6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47875"/>
            <a:ext cx="34385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04ACA1-C7CB-4E0F-A0AE-6769EDBC7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47875"/>
            <a:ext cx="3438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4CEC48-7D03-4919-A091-40442F7E8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257425"/>
            <a:ext cx="914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80ED99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80ED99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062638-102E-494E-BF7C-677E5A63B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38475"/>
            <a:ext cx="2971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Критерий стабильности фиксируют до обучения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AFB2DD-1E99-4DEE-88FD-CF8C5A16E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047875"/>
            <a:ext cx="34385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E38977-FB49-4C43-B9AD-041ED69D9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047875"/>
            <a:ext cx="3438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3A69EE-97BA-4D9F-A916-2B728A645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57425"/>
            <a:ext cx="914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C4A7FF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C4A7FF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4D6B63-1AC6-471E-A14B-3502959DC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38475"/>
            <a:ext cx="2971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Доля положительных партий важна для выбора метрики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FCE730-FC68-4A11-8FD5-2270D858D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57825"/>
            <a:ext cx="1038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3B98FC-A5B1-4D33-9488-82E0B908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72125"/>
            <a:ext cx="995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Порог физического свойства не выбирают по финальному тесту</a:t>
            </a:r>
          </a:p>
        </p:txBody>
      </p:sp>
    </p:spTree>
    <p:extLst>
      <p:ext uri="{BB962C8B-B14F-4D97-AF65-F5344CB8AC3E}">
        <p14:creationId xmlns:p14="http://schemas.microsoft.com/office/powerpoint/2010/main" val="2130030401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16B0F1-BAE5-45AA-A919-AF533FDD9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63842C-CE16-4CDD-B8DC-B9B963367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85DA25-70E4-4CA8-9152-67D6E3238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ПРОВЕРКА И ИНТЕРПРЕТАЦИЯ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20E46B-9570-454A-A3DF-E20F8DB35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Матрица ошибок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A94FB9-7B75-4930-97E0-7C7EAF561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473CDC-5E50-4373-BE54-499643E35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C527CA-F009-4332-9FAF-2E182E205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24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5AA945-8321-4050-B6A8-AF01BE716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47875"/>
            <a:ext cx="6572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F99500-DCCA-48E0-900F-BD1241196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76475"/>
            <a:ext cx="666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D1BD28-B8CD-4EEC-BD21-BE3018C12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238375"/>
            <a:ext cx="581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TP и FN описывают положительный класс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25010C-69C3-4F68-87AD-C0149BB45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666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FA09D4-162E-429E-810A-B19D7BDEF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00400"/>
            <a:ext cx="581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FP и TN описывают отрицательный класс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154614-3F35-4EAC-8214-399001C47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00525"/>
            <a:ext cx="666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56A9D4-FAC7-40AC-9662-A479777A3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162425"/>
            <a:ext cx="581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Цена пропуска брака может отличаться от цены проверки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5C4B66-6DDC-4A91-9C01-F1AA1B741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381250"/>
            <a:ext cx="3219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ПРОВЕРЬТЕ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C49AA2-5042-4749-8596-E1F93A59B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867025"/>
            <a:ext cx="32480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Прежде чем читать precision, укажите смысл положительного класса</a:t>
            </a:r>
          </a:p>
        </p:txBody>
      </p:sp>
    </p:spTree>
    <p:extLst>
      <p:ext uri="{BB962C8B-B14F-4D97-AF65-F5344CB8AC3E}">
        <p14:creationId xmlns:p14="http://schemas.microsoft.com/office/powerpoint/2010/main" val="297909033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2CE6D9-FE51-4D02-BC7A-D5134204B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358E46-112D-40C8-B2D7-370D122D8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2DFF12-4D50-44DC-AFEA-10DF127D4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ПРИМЕР И ПРИМЕНЕНИЕ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01A6F6-84CA-4E27-8C61-2B93984CE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Accuracy при дисбалансе обманчива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000D4A-C3CE-4A1E-BF8A-287452185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1CBCB6-4CB3-4E5C-9AC1-597FD31F8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C71092-276B-4F59-8BA4-C91E97E25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891496-59E0-453C-B535-F85EC07C8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085975"/>
            <a:ext cx="571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D64921-F174-4511-A2AB-35E47E990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6238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90% пригодных партий дают 90% accuracy при прогнозе «все пригодны»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EBA8CD-5B7B-4463-BA3D-93AEB7203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124200"/>
            <a:ext cx="571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672FEF-AC35-489C-A2B7-803F81D85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14675"/>
            <a:ext cx="6238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Recall: доля найденных положительных случаев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3948F5-13DA-4C8F-BA87-E24FF10F6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162425"/>
            <a:ext cx="571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BAD8F0-5EB5-4BE5-9783-F3E5D987B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52900"/>
            <a:ext cx="6238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Precision: доля истинных среди отмеченных положительных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42ECD9-9574-44F4-86AE-CC62C88A7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00275"/>
            <a:ext cx="3619500" cy="3171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826E14-6ECE-4B92-BAA9-45A847522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71725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ПРОГНОЗ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349EA8-B372-4ECA-ADB9-301016B02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914650"/>
            <a:ext cx="11144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19050">
            <a:solidFill>
              <a:srgbClr val="48CAE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D26B5E-25F1-46FC-91D1-0CB176924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76575"/>
            <a:ext cx="1085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58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TP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11392E-6C7A-41EB-A914-57A26599D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914650"/>
            <a:ext cx="11144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19050">
            <a:solidFill>
              <a:srgbClr val="80ED99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700FCA-C6C0-4EFD-BF3E-DF9D822BE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076575"/>
            <a:ext cx="1085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58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80ED99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80ED99"/>
                </a:solidFill>
                <a:latin typeface="DejaVu Sans"/>
                <a:ea typeface="DejaVu Sans"/>
                <a:cs typeface="DejaVu Sans"/>
              </a:rPr>
              <a:t>FP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869BE8-590C-4CE2-9265-31EBD4A06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914775"/>
            <a:ext cx="11144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19050">
            <a:solidFill>
              <a:srgbClr val="C4A7F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E8AA93-72E9-475F-AF10-BCF3FED40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076700"/>
            <a:ext cx="1085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58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C4A7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C4A7FF"/>
                </a:solidFill>
                <a:latin typeface="DejaVu Sans"/>
                <a:ea typeface="DejaVu Sans"/>
                <a:cs typeface="DejaVu Sans"/>
              </a:rPr>
              <a:t>FN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D57368-0627-43E1-AC96-EA866DB08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914775"/>
            <a:ext cx="11144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19050">
            <a:solidFill>
              <a:srgbClr val="F9C74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4E8AD8-B2D9-4F0B-88C5-2A5ACCB51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076700"/>
            <a:ext cx="1085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58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9C74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F9C74F"/>
                </a:solidFill>
                <a:latin typeface="DejaVu Sans"/>
                <a:ea typeface="DejaVu Sans"/>
                <a:cs typeface="DejaVu Sans"/>
              </a:rPr>
              <a:t>TN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EADA9B-1E24-4183-9454-8D30AAAF8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000625"/>
            <a:ext cx="3190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Истина: положит. / отрицат.</a:t>
            </a:r>
          </a:p>
        </p:txBody>
      </p:sp>
    </p:spTree>
    <p:extLst>
      <p:ext uri="{BB962C8B-B14F-4D97-AF65-F5344CB8AC3E}">
        <p14:creationId xmlns:p14="http://schemas.microsoft.com/office/powerpoint/2010/main" val="1709402388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228AC1-8E57-413C-9E3B-3956F1DA8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0D41F4-DF85-4390-928D-47D7995F2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95C39E-A26C-4FD9-AF01-46FD43E48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ПРАКТИЧЕСКИЙ ВЫВОД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A6CAE1-ADAC-40E8-86D8-DE80630C8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Вероятность требует калибровки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7DB9D9-BAF7-45D7-8932-3417F6830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711695-1383-44D3-ACFB-8ADBC1743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16B05F-F2FD-47F6-A8F0-31EB64041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66DC73-DA7C-458D-96A0-9A1E463B7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8597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523"/>
          </a:bodyPr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3825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120300-DCB0-4AE4-8062-EA5F45278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62250"/>
            <a:ext cx="3067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AD6632-78E0-4279-B239-18637BE08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67050"/>
            <a:ext cx="30670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Оценка 0,8 должна соответствовать частоте события при похожих прогнозах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AA7C4C-4FF0-4A3E-A90C-9D88D0973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08597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523"/>
          </a:bodyPr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80ED99"/>
                </a:solidFill>
                <a:latin typeface="DejaVu Sans"/>
                <a:ea typeface="DejaVu Sans"/>
                <a:cs typeface="DejaVu Sans"/>
              </a:defRPr>
            </a:pPr>
            <a:r>
              <a:rPr sz="3825" b="1">
                <a:solidFill>
                  <a:srgbClr val="80ED99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687881-A123-4912-9C71-0CB3111B1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762250"/>
            <a:ext cx="3067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153320-40A0-4B26-9CFC-E69353266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067050"/>
            <a:ext cx="30670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Сырой predict_proba не гарантирует этого свойства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C69011-04F5-431A-B2AB-E240837C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08597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523"/>
          </a:bodyPr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C4A7FF"/>
                </a:solidFill>
                <a:latin typeface="DejaVu Sans"/>
                <a:ea typeface="DejaVu Sans"/>
                <a:cs typeface="DejaVu Sans"/>
              </a:defRPr>
            </a:pPr>
            <a:r>
              <a:rPr sz="3825" b="1">
                <a:solidFill>
                  <a:srgbClr val="C4A7FF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E93448-D936-49A4-ACDC-EB70D67AC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762250"/>
            <a:ext cx="3067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DB3E85-2396-4074-AD57-2A588E242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067050"/>
            <a:ext cx="30670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Калибровку обучают без доступа к финальному тесту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05CFA4-15FE-4415-83CF-B8352F47B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57825"/>
            <a:ext cx="1038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3BC492-7A52-433A-97EF-580190780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72125"/>
            <a:ext cx="995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На малом числе положительных партий проверка нестабильна</a:t>
            </a:r>
          </a:p>
        </p:txBody>
      </p:sp>
    </p:spTree>
    <p:extLst>
      <p:ext uri="{BB962C8B-B14F-4D97-AF65-F5344CB8AC3E}">
        <p14:creationId xmlns:p14="http://schemas.microsoft.com/office/powerpoint/2010/main" val="2052378907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CD5FF6-8701-4A55-9C01-A73EA240B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FFAE40-E643-41E5-A15D-AC0EAD743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9D82CA-6ED3-4269-9F6D-15C5FD587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ПОСТАНОВКА И МЕТОД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C6B17A-6580-41DB-BCAB-4144D4CC9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Порог зависит от решения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ADB0A1-739A-42EE-902D-FB7F3DA1F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5FA974-2C2D-449F-BB97-3FF1D7169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AF364B-DE7B-4D00-A886-50A58B62B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27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5797B2-5BF9-4243-BB86-7BB06E827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095500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640B96-D665-4B45-B14C-9E5239260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38350"/>
            <a:ext cx="952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Порог 0,5 не всегда оптимален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6EFF32-6ABC-40EB-9AAD-1773FF2BD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1465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CEFF45-F857-4D56-8B91-E50D6D1E4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1908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80ED99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80ED99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962C3D-6811-4D14-9B84-1D428501E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33725"/>
            <a:ext cx="952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Стоимость ложного пропуска и ложной тревоги различается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2236DF-C579-4B4B-8E40-7DB7F440A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10025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77DBF4-03DF-4E52-A1C8-BDDD4BC8C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286250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C4A7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C4A7FF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D84F10-48F5-4C5C-994B-0A2B41CB1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29100"/>
            <a:ext cx="952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Порог выбирают на разработке и фиксируют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912367-CCD4-4866-ACE5-D09598EE0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0540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65884E-6E16-40F8-AAF5-0DE7C269F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57825"/>
            <a:ext cx="1038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8E74D3-3D51-4465-B821-6AF77D295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72125"/>
            <a:ext cx="995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Не подстраивайте порог под тестовые партии</a:t>
            </a:r>
          </a:p>
        </p:txBody>
      </p:sp>
    </p:spTree>
    <p:extLst>
      <p:ext uri="{BB962C8B-B14F-4D97-AF65-F5344CB8AC3E}">
        <p14:creationId xmlns:p14="http://schemas.microsoft.com/office/powerpoint/2010/main" val="234589476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C81599-BD14-4D01-A491-FD97962D8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AE1267-1198-4A98-98CF-6C39F8F7F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FEAD19-7FC4-4B13-85A8-ED7145E93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ТРИ ОПОРНЫХ ПУНКТА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4F9C6F-11CE-4F12-9E01-759AF099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Смена области применения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AE8CD4-8D99-4D30-A602-9EF59C8AA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5A6EDC-0A2B-4FA7-978A-B31F507AB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6B0603-EBC9-4FA9-8FEB-A697BB900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28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74582B-5132-4302-9FD0-B2282519A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047875"/>
            <a:ext cx="34385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FAF162-8E6A-4AA9-97C7-EC63EF96B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047875"/>
            <a:ext cx="3438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B25D48-3CE1-451C-B6CA-4830AEA00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57425"/>
            <a:ext cx="914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ACEF86-5933-481C-8F69-AC70C1B14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038475"/>
            <a:ext cx="2971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Новая поставка меняет химические свойства сырья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8DE6B1-5603-4728-9B26-781A7B2DE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47875"/>
            <a:ext cx="34385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CC426E-BBBE-4432-977C-148ED4582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47875"/>
            <a:ext cx="3438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AEB528-8675-4DBF-9D62-60D661579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257425"/>
            <a:ext cx="914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80ED99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80ED99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55CBE1-C40C-4615-8677-7C3BB460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38475"/>
            <a:ext cx="2971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Новый прибор меняет распределение спектров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EA8EB5-E7DA-4D7B-87CF-B181FF6C0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047875"/>
            <a:ext cx="34385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AD72BC-D6C1-475A-97DC-4317F94F0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047875"/>
            <a:ext cx="3438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8BD785-D139-4B45-BB96-93693A170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57425"/>
            <a:ext cx="914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C4A7FF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C4A7FF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0C058D-E85C-4882-BDD6-4BE967BB3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38475"/>
            <a:ext cx="2971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Новый диапазон рецептур требует отдельной проверки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98409C-BA83-4E1D-B699-E1068BE3B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57825"/>
            <a:ext cx="1038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77FBB4-2719-471D-80ED-0A506AA16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72125"/>
            <a:ext cx="995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GroupKFold по партиям не доказывает перенос на новый прибор</a:t>
            </a:r>
          </a:p>
        </p:txBody>
      </p:sp>
    </p:spTree>
    <p:extLst>
      <p:ext uri="{BB962C8B-B14F-4D97-AF65-F5344CB8AC3E}">
        <p14:creationId xmlns:p14="http://schemas.microsoft.com/office/powerpoint/2010/main" val="617549478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D3494A0-2C22-4844-B403-9509DD6DF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4A07A6-C2DF-45E2-A6E5-54CDEB401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8E2638-B1FA-4B65-87C9-8F9E721BC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ПРОВЕРКА И ИНТЕРПРЕТАЦИЯ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C66913-2AF4-42D8-B92B-BCE2DF65D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Внутренняя и внешняя проверка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98DB02-361A-4688-845B-027528CA3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D24964-CC0F-4CA3-BB3A-B9FA2F156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E467C3-6C18-4D74-BD0A-A99EA83BE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29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19F637-06AF-4069-88DB-F2EC1AF13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085975"/>
            <a:ext cx="571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F01AB2-D29B-4F39-B682-7EEA1765D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6238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Внутренняя CV оценивает сценарий в данных разработки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5FD491-1047-46E0-B5F4-E5A332764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124200"/>
            <a:ext cx="571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456FE1-8FB8-4409-98F7-D79083796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14675"/>
            <a:ext cx="6238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Финальный тест новых партий проверяет выбранный протокол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97066C-4D78-4789-B664-126140DFD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162425"/>
            <a:ext cx="571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747622-9964-4C9B-9C53-CB0267E60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52900"/>
            <a:ext cx="6238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Внешний тест оценивает иной прибор, сырьё или масштаб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84BE9B-FA86-4365-9E88-60DFB7226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00275"/>
            <a:ext cx="3619500" cy="3171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1A77EB-49B5-4F63-BD61-072921B77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39077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ОБЛАСТЬ ДАННЫХ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A1A98C-8C9C-4805-A40E-99B954FE2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067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95E1B9-315B-4B18-A3C6-0DBBE17C9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67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C7A188-785C-40BD-BE97-DB9A64E98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067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69F19F-34AC-4460-A428-DCEC4C020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067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120932-B71E-44CD-BC58-F4DEC4250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429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9B22F9-8B0D-4E66-8D1A-44D1AD29F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429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DE1587-35EB-4A4F-926A-1999DC017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429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27AC5A-FBF7-4147-A682-3F0EF59BD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429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1E0A9A-8504-46FF-9BFA-CC3416FC3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90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206E80-36EB-4F15-908D-F34FD9362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790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C5864F-ABE8-4E03-8FE3-58C4329B6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790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A49410-1260-4DF5-BCFE-9E05EDAE5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790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862B12-BC8A-4E45-B954-34885350F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1529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0064E1-7DD3-4350-B590-6248C9C2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1529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FD150A-A883-473F-A66D-B543B5326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1529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A09E382-79D5-4D2F-BC7D-1E6BD5F40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1529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4EF986-8D6E-4A96-86FD-012FEDAF1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8576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132D4B0-E9CE-44F4-9370-40A1BB28C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333875"/>
            <a:ext cx="14382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3784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7B7B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7B7B"/>
                </a:solidFill>
                <a:latin typeface="DejaVu Sans"/>
                <a:ea typeface="DejaVu Sans"/>
                <a:cs typeface="DejaVu Sans"/>
              </a:rPr>
              <a:t>новая рецептура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1AB056D-2DB9-4478-9B02-B4F99695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981575"/>
            <a:ext cx="138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состав  →</a:t>
            </a:r>
          </a:p>
        </p:txBody>
      </p:sp>
    </p:spTree>
    <p:extLst>
      <p:ext uri="{BB962C8B-B14F-4D97-AF65-F5344CB8AC3E}">
        <p14:creationId xmlns:p14="http://schemas.microsoft.com/office/powerpoint/2010/main" val="1050911022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92D7A8-3200-4CA3-994A-E369D492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6B075D-3CF5-4597-A5E4-0ACD98914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9BE611-1BFA-4F27-9819-C02039224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ПРИМЕР И ПРИМЕНЕНИЕ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444C06-65C1-49E9-8DD1-55E63F5F0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Пример: наноэмульсия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39238C-D787-4191-82B6-14CF80294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D07E86-C487-4B12-909A-9B7035D1C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4C0DF3-3834-4C81-9CE0-A8E6211B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E7D99C-AF79-4BC7-9DFF-ED10B2FD2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1090612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4BCB93-03F1-47A7-BBA1-F8E697A50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571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7A9E06-E2A4-47D7-9A11-93D290DA5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81225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Рецептура: масло, ПАВ, температура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7070A4-179D-4F7C-BEF4-164E3AA6B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1090612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932915-61DE-496C-BFD5-E20DCA64F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571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201293-FC40-45A5-AD78-3DBABA604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28975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Цель: диаметр частиц в нм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CDC4DD-4519-40D7-A78C-6D268874A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1090612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FB9408-3287-4893-B75C-F2563AE1D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571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77A93C-4E05-46AD-B355-8E53E35C7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76725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Группы: независимо приготовленные партии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ADFB6A-34B7-4B73-8878-23C8354D3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57825"/>
            <a:ext cx="1038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F910A5-8D65-4E87-A079-FAE2068C8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72125"/>
            <a:ext cx="995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Искусственные данные демонстрируют метод, а не закономерность материала</a:t>
            </a:r>
          </a:p>
        </p:txBody>
      </p:sp>
    </p:spTree>
    <p:extLst>
      <p:ext uri="{BB962C8B-B14F-4D97-AF65-F5344CB8AC3E}">
        <p14:creationId xmlns:p14="http://schemas.microsoft.com/office/powerpoint/2010/main" val="1750050275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E5B150-3474-4A1E-9955-9AEF2E373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196F0D-C93E-4428-8383-A7128799E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359E56-E1E7-48CA-980C-1A2D89092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ПРАКТИЧЕСКИЙ ВЫВОД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881359-5A2F-4831-ACC6-5C18134E5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Как выглядит групповой код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757090-6ADF-466E-898B-9BCDA9ADD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89AB3F-0EA4-403A-86D9-3DE58F9F6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CAC54A-3000-4034-AFB6-DA754F2FA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31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876F7B-23E0-4494-B112-7B0B07483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8597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523"/>
          </a:bodyPr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3825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08156C-90F6-4393-9489-4FE4A0DE9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62250"/>
            <a:ext cx="3067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A40914-055A-4E66-B9E2-832FCA0EE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67050"/>
            <a:ext cx="30670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GroupShuffleSplit отделяет новые партии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52E9CD-9626-41F8-8844-8B32751E6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08597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523"/>
          </a:bodyPr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80ED99"/>
                </a:solidFill>
                <a:latin typeface="DejaVu Sans"/>
                <a:ea typeface="DejaVu Sans"/>
                <a:cs typeface="DejaVu Sans"/>
              </a:defRPr>
            </a:pPr>
            <a:r>
              <a:rPr sz="3825" b="1">
                <a:solidFill>
                  <a:srgbClr val="80ED99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4FAB9E-1AA0-4442-BC06-B52B02DFE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762250"/>
            <a:ext cx="3067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901DE6-BF8E-4063-A7FE-36E4B3622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067050"/>
            <a:ext cx="30670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GroupKFold перебирает группы внутри разработки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B2C7DD-1512-4E31-9584-44A3F948F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08597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523"/>
          </a:bodyPr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C4A7FF"/>
                </a:solidFill>
                <a:latin typeface="DejaVu Sans"/>
                <a:ea typeface="DejaVu Sans"/>
                <a:cs typeface="DejaVu Sans"/>
              </a:defRPr>
            </a:pPr>
            <a:r>
              <a:rPr sz="3825" b="1">
                <a:solidFill>
                  <a:srgbClr val="C4A7FF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1F3EE9-8BBF-485E-BB9A-00519127B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762250"/>
            <a:ext cx="3067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3865CA-AF68-4BF8-94C1-C68B93A8F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067050"/>
            <a:ext cx="30670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assert проверяет непересечение ID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B4E352-EC67-44E6-A688-0FAB6999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57825"/>
            <a:ext cx="1038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C4B174-6BE3-480E-BA06-9BE3372CE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72125"/>
            <a:ext cx="995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Проверка ID ловит ошибку до обсуждения качества модели</a:t>
            </a:r>
          </a:p>
        </p:txBody>
      </p:sp>
    </p:spTree>
    <p:extLst>
      <p:ext uri="{BB962C8B-B14F-4D97-AF65-F5344CB8AC3E}">
        <p14:creationId xmlns:p14="http://schemas.microsoft.com/office/powerpoint/2010/main" val="62563242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A77C1A-DB7D-42A3-97B8-50CD15801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E410E3-992B-4A98-8C7D-4C07082B2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06295E-1A96-47CC-A39D-209D07200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ПОСТАНОВКА И МЕТОД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A2D169-91FC-4C8C-B775-C7D51AE4D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Как выбрать признак спектра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9F2086-22A3-4C40-86E6-59757849D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9348C7-2719-4664-8227-746B52EA6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D14488-AC28-4CAD-9579-8B7F9D4F6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32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4042F8-E5A2-409A-A5CB-79FE3D28C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095500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2920E6-8FD8-4AFF-8A76-69C47C6A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38350"/>
            <a:ext cx="952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Физический пик и его единицы фиксируются в протоколе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A2A1E6-37A1-4867-8C73-87EA7E70D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1465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A1FF0F-B190-4731-AD87-7A0282D8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1908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80ED99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80ED99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C5A0BD-8147-4E6E-9F22-28DCE2FD0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33725"/>
            <a:ext cx="952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Подбор каналов по всей y запрещён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4B1B44-12F9-4418-B088-0FF77B99A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10025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3A1A63-911F-47B2-B7BE-FB26F2000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286250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C4A7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C4A7FF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6A62E5-574E-4110-9701-EE6FFF802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29100"/>
            <a:ext cx="952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Изменяемый отбор длины волны переносится в CV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A238D2-88EE-4A01-93C6-F0292331C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0540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DC9E4F-5E71-45D3-AA3F-FA7D06CF7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57825"/>
            <a:ext cx="1038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0D7748-4A40-4DB0-8ED9-B55F4C49B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72125"/>
            <a:ext cx="995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Сначала решите, доступен ли спектр к моменту прогноза</a:t>
            </a:r>
          </a:p>
        </p:txBody>
      </p:sp>
    </p:spTree>
    <p:extLst>
      <p:ext uri="{BB962C8B-B14F-4D97-AF65-F5344CB8AC3E}">
        <p14:creationId xmlns:p14="http://schemas.microsoft.com/office/powerpoint/2010/main" val="878010814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0B4DA9-F5A6-4A8E-8390-1D341772B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D78DCE-515B-406D-8F62-7A254ABE2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460005-5093-46D4-82B9-1D11F9C8C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ТРИ ОПОРНЫХ ПУНКТА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B23A4B-1EA3-4DC7-B72B-6BB59423D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Когда данных мало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5C44B2-C1D4-4089-B69F-47EFED4B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C959C6-171E-4D01-8953-502BF9D18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03C0A1-00CC-45C4-9834-17FA9CE52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33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A82F56-0763-4492-B00A-F73EC6324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047875"/>
            <a:ext cx="34385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CA0AAB-2C99-450A-B1C3-01A2D6E56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047875"/>
            <a:ext cx="3438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358E38-9961-4154-8EC8-F39C0119E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57425"/>
            <a:ext cx="914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20B278-15F3-4335-9AC7-26AD05BA2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038475"/>
            <a:ext cx="2971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Не сокращайте требования к независимости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FA429C-256E-47BA-B104-995D3F31E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47875"/>
            <a:ext cx="34385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671AC6-6BC6-43B4-A160-9BB4BB790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47875"/>
            <a:ext cx="3438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0B8163-9B46-4407-AAFD-C2C875DE9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257425"/>
            <a:ext cx="914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80ED99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80ED99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041892-4DFA-42C3-927A-EE6E675A9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38475"/>
            <a:ext cx="2971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Покажите ошибки по отдельным партиям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5281F6-C186-4B46-98C2-46D9ABBE1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047875"/>
            <a:ext cx="34385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8A890F-3C6F-42C1-B30E-CCFF05152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047875"/>
            <a:ext cx="3438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152277-C6CB-4BEA-8917-CDE129369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57425"/>
            <a:ext cx="914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C4A7FF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C4A7FF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A4FBDF-B95F-460F-A2B5-CE3CFEA2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38475"/>
            <a:ext cx="2971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Спланируйте новые партии для проверки и обучения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AA8AFD-F0F5-4025-96F7-65861EA9F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57825"/>
            <a:ext cx="1038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966599-2F8E-4EDC-827D-2FEC54ED7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72125"/>
            <a:ext cx="995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Дополнительные технические повторы не заменяют независимый синтез</a:t>
            </a:r>
          </a:p>
        </p:txBody>
      </p:sp>
    </p:spTree>
    <p:extLst>
      <p:ext uri="{BB962C8B-B14F-4D97-AF65-F5344CB8AC3E}">
        <p14:creationId xmlns:p14="http://schemas.microsoft.com/office/powerpoint/2010/main" val="975007771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8E6404-08E7-4F8E-B57A-D6E5DB811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C2DC9E-F9F9-49F8-B64F-C26140D38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642DDF-0A97-4D78-A30B-1A37EDB52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ПРОВЕРКА И ИНТЕРПРЕТАЦИЯ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9658AF-3282-4758-BCA2-BD4C0C9B5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Где нужен план эксперимента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00EF7A-05C9-417D-9EE3-003890880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11A90B-41A5-4C2A-8D13-0D9AD597A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4BCEC3-7634-4B43-AF2B-AC1C66D7C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34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957E41-8539-4DE4-B412-2FD6318F6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47875"/>
            <a:ext cx="6572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3B1292-BD17-4251-9B31-37491CC1F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76475"/>
            <a:ext cx="666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68779F-7494-455F-A22A-7B63B38F3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238375"/>
            <a:ext cx="581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Если факторы жёстко коррелированы, модель не разделит их эффекты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3D17F5-2E64-46A7-B410-0EA617D71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666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ADA249-F6DB-4E5E-AEBD-D4B872606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00400"/>
            <a:ext cx="581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Факторный план исследует разрешённые комбинации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F42FA4-A0A8-4600-A6C9-237A48D81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00525"/>
            <a:ext cx="666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2E0BCD-1E15-4EC7-B75B-910B166ED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162425"/>
            <a:ext cx="581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Рандомизация и блоки помогают интерпретации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6ADF8B-ECED-4C63-B5FA-969F1798D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381250"/>
            <a:ext cx="3219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ПРОВЕРЬТЕ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F014DE-0001-40A7-9FBF-D9E2393D0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867025"/>
            <a:ext cx="32480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Прогнозная связь не устанавливает причинность</a:t>
            </a:r>
          </a:p>
        </p:txBody>
      </p:sp>
    </p:spTree>
    <p:extLst>
      <p:ext uri="{BB962C8B-B14F-4D97-AF65-F5344CB8AC3E}">
        <p14:creationId xmlns:p14="http://schemas.microsoft.com/office/powerpoint/2010/main" val="1917444343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22CEAE-D48C-47B0-A669-AC93B32D6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9C3257-40A3-41CC-9BC0-08B2DE2ED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9C31B9-433F-4834-9C0D-868B89CBF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ПРИМЕР И ПРИМЕНЕНИЕ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4569FE-E554-4072-9651-8640FA7CB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Паспорт модели для передачи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6AF6D2-C9AD-4470-AA64-978883CD0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B565AE-B1D3-407C-A048-9BD8AFB29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EDE35A-539C-4F25-8D31-19CE0D4B4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35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346B89-7F52-4F2C-A273-C4D88A2E7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1090612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613336-E930-4686-8C21-DD3642710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571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A48275-9C4D-473A-A98A-D365A144B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81225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Цель, единицы, момент и входные поля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3DA905-DE76-4FF7-9894-38CCEF761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1090612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1352A1-E491-4B17-BE0E-A25D8B621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571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5B87AE-F7EA-4CE8-A01B-4AA998C5A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28975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Число групп, способ разбиения и baseline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EEC5CD-834A-4C16-836F-B71E9E249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1090612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63AF86-1F71-4FE3-B078-81DECE4C2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571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363F2B-1117-466C-BCE0-436619553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76725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Ошибка по подгруппам и границы применимости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C26C7E-A6A5-44FE-BE60-DD42DB1C6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57825"/>
            <a:ext cx="1038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59AD62-D272-4219-90AF-5D8C171BF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72125"/>
            <a:ext cx="995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Только такая запись позволяет повторить проверку</a:t>
            </a:r>
          </a:p>
        </p:txBody>
      </p:sp>
    </p:spTree>
    <p:extLst>
      <p:ext uri="{BB962C8B-B14F-4D97-AF65-F5344CB8AC3E}">
        <p14:creationId xmlns:p14="http://schemas.microsoft.com/office/powerpoint/2010/main" val="1241235970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3E35E2-885E-49F3-94F7-96918E48B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8A0E2A-7A43-4972-994C-B5B9574B0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819DCE-B2D3-45F0-A4B9-674A5652D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ПРАКТИЧЕСКИЙ ВЫВОД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BAAEAA-2C20-435B-A69A-52170D9F3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Мини-проект: постановка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D812E6-3BA4-43E2-BC03-1026D15CC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2C1AFC-9C10-4E28-A568-E23665970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EBAA96-C23A-4085-9577-D97F700A2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36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9EF040-6E4D-4AD3-A8B5-E9436352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8597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523"/>
          </a:bodyPr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3825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C26C85-8DF3-412A-B58E-D0702C21A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62250"/>
            <a:ext cx="3067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DAF478-FC3A-4A90-A3B0-83462E28B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67050"/>
            <a:ext cx="30670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Сформулируйте лабораторное решение и целевую величину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975066-6EE0-4081-9B39-B1E083DE2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08597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523"/>
          </a:bodyPr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80ED99"/>
                </a:solidFill>
                <a:latin typeface="DejaVu Sans"/>
                <a:ea typeface="DejaVu Sans"/>
                <a:cs typeface="DejaVu Sans"/>
              </a:defRPr>
            </a:pPr>
            <a:r>
              <a:rPr sz="3825" b="1">
                <a:solidFill>
                  <a:srgbClr val="80ED99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5A49EA-740D-4C22-8466-B83390FBB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762250"/>
            <a:ext cx="3067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758B56-445E-44B3-BA8E-976954EAB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067050"/>
            <a:ext cx="30670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Перечислите ID, единицы и время доступности признаков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60C8C2-22C1-488F-B4D8-6D90A5629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08597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523"/>
          </a:bodyPr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C4A7FF"/>
                </a:solidFill>
                <a:latin typeface="DejaVu Sans"/>
                <a:ea typeface="DejaVu Sans"/>
                <a:cs typeface="DejaVu Sans"/>
              </a:defRPr>
            </a:pPr>
            <a:r>
              <a:rPr sz="3825" b="1">
                <a:solidFill>
                  <a:srgbClr val="C4A7FF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47DEF9-FF3F-4C14-A9DD-768C168E2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762250"/>
            <a:ext cx="3067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C9193A-970B-4FFC-BBEA-8A018696E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067050"/>
            <a:ext cx="30670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Посчитайте независимые группы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594F2D-7D0B-4FB5-9691-57B7B4DAD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57825"/>
            <a:ext cx="1038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C962D0-2FD7-4D60-83E7-0C3BF1D0B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72125"/>
            <a:ext cx="995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Если групп слишком мало, проектом станет план их получения</a:t>
            </a:r>
          </a:p>
        </p:txBody>
      </p:sp>
    </p:spTree>
    <p:extLst>
      <p:ext uri="{BB962C8B-B14F-4D97-AF65-F5344CB8AC3E}">
        <p14:creationId xmlns:p14="http://schemas.microsoft.com/office/powerpoint/2010/main" val="1413082078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44987F-3529-474D-AEE5-3DDC68323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822D32-5B08-46A9-A193-E10D7D8BE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663D5C-3F02-4039-ABC9-3DCDA960F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ПОСТАНОВКА И МЕТОД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3AF7F5-A8F1-49D2-9229-AC2E2D5C6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Мини-проект: проверка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7439BB-4438-4F58-A71D-DC214C498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B6D127-D2AF-428E-B20E-0DF8D66DE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F0BE3F-DBA1-42DA-94CE-415F443A8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37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540270-EBA7-43DB-8092-25BA50AFE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095500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1F94CC-F1B2-41CD-8A3C-C714A8340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38350"/>
            <a:ext cx="952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Сравните baseline и один Pipeline на общих группах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705A63-B8D9-4CBE-9D96-ECDDF29AA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1465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C9188E-F155-44B5-BD9E-D75E57A37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1908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80ED99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80ED99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1F7229-1D89-4EBB-B0A8-D850242D2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33725"/>
            <a:ext cx="952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Отчёт: MAE либо матрица ошибок и число партий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E33615-FD3A-41B3-B531-77B431C7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10025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F5E201-7361-4B53-8E8F-57848ECF2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286250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C4A7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C4A7FF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A6672C-2AE8-4414-B3DF-796EA68C0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29100"/>
            <a:ext cx="952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Покажите один график ошибки по подгруппам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AE20C2-17B5-4343-A29D-E8377F7DA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0540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3E930F-29D1-4F31-A886-AC77DF90B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57825"/>
            <a:ext cx="1038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EA9BEB-3FCD-4E19-99D6-3A8A74537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72125"/>
            <a:ext cx="995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Запишите предел полезности до просмотра результата</a:t>
            </a:r>
          </a:p>
        </p:txBody>
      </p:sp>
    </p:spTree>
    <p:extLst>
      <p:ext uri="{BB962C8B-B14F-4D97-AF65-F5344CB8AC3E}">
        <p14:creationId xmlns:p14="http://schemas.microsoft.com/office/powerpoint/2010/main" val="572625535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F8792F-88ED-47F4-915A-40479797C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C01D0B-ADF8-419A-A154-609BC33B9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DBE894-14F6-4F62-804F-3740EE97A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ТРИ ОПОРНЫХ ПУНКТА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55BA45-EF1C-41B6-B982-38C4D6501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Контрольные вопросы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CD48FD-7113-45CF-9CC7-432879C5A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013A57-6491-4AD2-A6EF-13C86D13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4E11B6-E37D-4E96-B25F-4F33151B3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38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92976F-2E23-4FA0-A83F-8F24E8158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047875"/>
            <a:ext cx="34385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016AF8-8404-4474-B4D7-AB0C1793A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047875"/>
            <a:ext cx="3438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FC0A6E-AD8B-40C2-8826-99C2776E4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57425"/>
            <a:ext cx="914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A3FF99-CF94-44C1-90FD-51336A053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038475"/>
            <a:ext cx="2971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Что изменится при новой поставке сырья?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28DD3D-0C85-4C4B-9756-411DF1794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47875"/>
            <a:ext cx="34385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652FDF-C528-4393-A67F-2370AAFF0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47875"/>
            <a:ext cx="3438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88FEA4-91C1-497B-86D4-B4A5EF15D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257425"/>
            <a:ext cx="914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80ED99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80ED99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2AE3A9-F722-4BB4-8519-B669B0EC8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38475"/>
            <a:ext cx="2971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Почему scaler.fit на всех данных нарушает тест?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887B31-8008-4B89-9A67-9E9A7BBB6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047875"/>
            <a:ext cx="34385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34BD0F-1EF6-4E06-9437-01AB8E75A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047875"/>
            <a:ext cx="3438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D6EFE0-51CC-4B8A-A921-4EB22E141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57425"/>
            <a:ext cx="914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C4A7FF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C4A7FF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9B24C9-ACEC-4E6A-AC4B-BC965A6DC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38475"/>
            <a:ext cx="2971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Когда изображение можно включить в прогноз?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D14F31-5BAA-4B05-AC75-898E2B3D9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57825"/>
            <a:ext cx="1038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A72B35-0F6C-4B7E-9D0C-DC0670439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72125"/>
            <a:ext cx="995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Ответ должен упоминать будущее применение и единицу наблюдения</a:t>
            </a:r>
          </a:p>
        </p:txBody>
      </p:sp>
    </p:spTree>
    <p:extLst>
      <p:ext uri="{BB962C8B-B14F-4D97-AF65-F5344CB8AC3E}">
        <p14:creationId xmlns:p14="http://schemas.microsoft.com/office/powerpoint/2010/main" val="1354397772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BCF0B8-6D49-46F9-B809-DCED619FB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9E27B8-CEA0-425A-9ED3-EEFB9DC04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6FE7D1-04EA-4914-89C6-F466C0F70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ПРОВЕРКА И ИНТЕРПРЕТАЦИЯ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2CCE65-96AF-4994-92A9-E43D741E6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Главный вывод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E264CA-E6AA-462D-B97B-9AADFF8B8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40B998-845F-4C8E-8CE0-C954B2DB4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6DC77A-E981-446B-B54B-DB61A96C0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39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817AFD-4A99-45ED-8DA1-DDA07FB1D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47875"/>
            <a:ext cx="6572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22FE2A-C88C-4CC6-8417-2EC4991F5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76475"/>
            <a:ext cx="666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5BD847-9755-45EA-BB74-EB384A3E7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238375"/>
            <a:ext cx="581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Формулируйте момент и объект прогноза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993420-FA08-44C6-8A0F-7B5A124AC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666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EFAB0F-3B04-4624-9D34-CF18ADCF1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00400"/>
            <a:ext cx="581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Сохраняйте независимость партий в каждой проверке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546A82-8600-488E-B483-F9E93DF1C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00525"/>
            <a:ext cx="666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D030A8-0EFA-4E92-8A2D-80A87A54B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162425"/>
            <a:ext cx="581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Сравнивайте ошибку с baseline и стоимостью решения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517837-7862-4C20-82D8-0D63E7CD3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381250"/>
            <a:ext cx="3219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ПРОВЕРЬТЕ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F7C85A-DFBE-48B4-8660-8BB48434D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867025"/>
            <a:ext cx="32480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Следующая лекция: методы, многомерная структура и новый опыт</a:t>
            </a:r>
          </a:p>
        </p:txBody>
      </p:sp>
    </p:spTree>
    <p:extLst>
      <p:ext uri="{BB962C8B-B14F-4D97-AF65-F5344CB8AC3E}">
        <p14:creationId xmlns:p14="http://schemas.microsoft.com/office/powerpoint/2010/main" val="1950099724"/>
      </p:ext>
    </p:extLst>
  </p:cSld>
</p:sld>
</file>

<file path=ppt/slides/slide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EDC310-BCBE-4782-A719-C9E07D83E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C153BD-2AC3-4DB5-92C3-69A65B437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B7253F-69DB-478B-8E20-21D1B5A2D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ПРИМЕР И ПРИМЕНЕНИЕ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7C6644-4F51-4628-AE1E-8D3F60BFF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Источники и дальнейшее чтение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832FBC-4A51-440A-BCB7-6DBB673D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C2F565-050D-466D-B3E8-BBAC037AB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4ABB63-7BA7-4BB1-9BFC-8E0490FE8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40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AB5E7F-64BB-4598-80F0-87A59A7B5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1090612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981E8D-C033-4A01-893B-506E65536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571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0D3BF8-6073-4409-A2F1-397499179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81225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scikit-learn: common pitfalls и Pipeline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DD2347-DDD1-4C89-BD49-4772D338D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1090612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E8135C-584D-40BD-8B4A-68DDA9DE2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571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45FCB2-D82A-42EE-B14A-3ABE6679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28975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scikit-learn: cross-validation и model evaluation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4AEAFA-B537-41E6-B5F6-BC7FDCF51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1090612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A51300-ABD3-4926-9BBF-6FEA1D9E7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571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8F0623-78DE-4022-9E56-BBC0B44C7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76725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Конспект 11: определения, код и предметные ограничения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237158-E63C-448B-94DD-1C1176DA0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57825"/>
            <a:ext cx="1038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B7F5A3-F535-43A8-9A75-65FDE14A0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72125"/>
            <a:ext cx="995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Ссылки и воспроизводимый пример — в Markdown-конспекте</a:t>
            </a:r>
          </a:p>
        </p:txBody>
      </p:sp>
    </p:spTree>
    <p:extLst>
      <p:ext uri="{BB962C8B-B14F-4D97-AF65-F5344CB8AC3E}">
        <p14:creationId xmlns:p14="http://schemas.microsoft.com/office/powerpoint/2010/main" val="9476181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2026-09-25T13:03:49.7480000Z</dcterms:created>
  <dcterms:modified xsi:type="dcterms:W3CDTF">2026-09-25T13:03:49.7480000Z</dcterms:modified>
</coreProperties>
</file>