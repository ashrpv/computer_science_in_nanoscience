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62d171a7248cb" /><Relationship Type="http://schemas.openxmlformats.org/officeDocument/2006/relationships/extended-properties" Target="/docProps/app.xml" Id="Rc9258a74da464b54" /><Relationship Type="http://schemas.openxmlformats.org/officeDocument/2006/relationships/officeDocument" Target="/ppt/presentation.xml" Id="R5d8fdb65934947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790cb256145d8"/>
  </p:sldMasterIdLst>
  <p:notesMasterIdLst>
    <p:notesMasterId xmlns:r="http://schemas.openxmlformats.org/officeDocument/2006/relationships" r:id="R0691f8d025d04efd"/>
  </p:notesMasterIdLst>
  <p:sldIdLst>
    <p:sldId xmlns:r="http://schemas.openxmlformats.org/officeDocument/2006/relationships" id="256" r:id="R2a2e87fba8dc421a"/>
    <p:sldId xmlns:r="http://schemas.openxmlformats.org/officeDocument/2006/relationships" id="257" r:id="R90603a2358d24bde"/>
    <p:sldId xmlns:r="http://schemas.openxmlformats.org/officeDocument/2006/relationships" id="258" r:id="R73c4457fc63a4d82"/>
    <p:sldId xmlns:r="http://schemas.openxmlformats.org/officeDocument/2006/relationships" id="259" r:id="Re791974500f24edc"/>
    <p:sldId xmlns:r="http://schemas.openxmlformats.org/officeDocument/2006/relationships" id="260" r:id="R53aaa6f0d0c0433e"/>
    <p:sldId xmlns:r="http://schemas.openxmlformats.org/officeDocument/2006/relationships" id="261" r:id="Rd11d48b5aa964723"/>
    <p:sldId xmlns:r="http://schemas.openxmlformats.org/officeDocument/2006/relationships" id="262" r:id="R66eb8b31a8f9405c"/>
    <p:sldId xmlns:r="http://schemas.openxmlformats.org/officeDocument/2006/relationships" id="263" r:id="R91c5714ccf7f4811"/>
    <p:sldId xmlns:r="http://schemas.openxmlformats.org/officeDocument/2006/relationships" id="264" r:id="Rc2d5d5da96724373"/>
    <p:sldId xmlns:r="http://schemas.openxmlformats.org/officeDocument/2006/relationships" id="265" r:id="Rb53f1064da764086"/>
    <p:sldId xmlns:r="http://schemas.openxmlformats.org/officeDocument/2006/relationships" id="266" r:id="R0a6529cd86924d23"/>
    <p:sldId xmlns:r="http://schemas.openxmlformats.org/officeDocument/2006/relationships" id="267" r:id="R2b4255b35a084372"/>
    <p:sldId xmlns:r="http://schemas.openxmlformats.org/officeDocument/2006/relationships" id="268" r:id="R83e48d27e09f4de2"/>
    <p:sldId xmlns:r="http://schemas.openxmlformats.org/officeDocument/2006/relationships" id="269" r:id="Rdcc93f5d8f5d4a43"/>
    <p:sldId xmlns:r="http://schemas.openxmlformats.org/officeDocument/2006/relationships" id="270" r:id="R154a048bf7da4b63"/>
    <p:sldId xmlns:r="http://schemas.openxmlformats.org/officeDocument/2006/relationships" id="271" r:id="R31d148c70fac4711"/>
    <p:sldId xmlns:r="http://schemas.openxmlformats.org/officeDocument/2006/relationships" id="272" r:id="Rbe9a81c7e2ad4ee5"/>
    <p:sldId xmlns:r="http://schemas.openxmlformats.org/officeDocument/2006/relationships" id="273" r:id="Rf469cf3c2f2f495c"/>
    <p:sldId xmlns:r="http://schemas.openxmlformats.org/officeDocument/2006/relationships" id="274" r:id="Rd6ba85d1b2e142b2"/>
    <p:sldId xmlns:r="http://schemas.openxmlformats.org/officeDocument/2006/relationships" id="275" r:id="R4c76c8645abf4faf"/>
    <p:sldId xmlns:r="http://schemas.openxmlformats.org/officeDocument/2006/relationships" id="276" r:id="R30b8e2adb2f64004"/>
    <p:sldId xmlns:r="http://schemas.openxmlformats.org/officeDocument/2006/relationships" id="277" r:id="R9ea44941c8e04200"/>
    <p:sldId xmlns:r="http://schemas.openxmlformats.org/officeDocument/2006/relationships" id="278" r:id="Rb558a15d6ea24158"/>
    <p:sldId xmlns:r="http://schemas.openxmlformats.org/officeDocument/2006/relationships" id="279" r:id="R81e3b20991bd4a6e"/>
    <p:sldId xmlns:r="http://schemas.openxmlformats.org/officeDocument/2006/relationships" id="280" r:id="R46a0d3660c494edc"/>
    <p:sldId xmlns:r="http://schemas.openxmlformats.org/officeDocument/2006/relationships" id="281" r:id="Re1c4b1140c004662"/>
    <p:sldId xmlns:r="http://schemas.openxmlformats.org/officeDocument/2006/relationships" id="282" r:id="Rf283f40fd8564045"/>
    <p:sldId xmlns:r="http://schemas.openxmlformats.org/officeDocument/2006/relationships" id="283" r:id="Rab4c5f6894ce460d"/>
    <p:sldId xmlns:r="http://schemas.openxmlformats.org/officeDocument/2006/relationships" id="284" r:id="R7762def818ed4b8b"/>
    <p:sldId xmlns:r="http://schemas.openxmlformats.org/officeDocument/2006/relationships" id="285" r:id="Rf784708f72964e7f"/>
    <p:sldId xmlns:r="http://schemas.openxmlformats.org/officeDocument/2006/relationships" id="286" r:id="R5951faee087c4d96"/>
    <p:sldId xmlns:r="http://schemas.openxmlformats.org/officeDocument/2006/relationships" id="287" r:id="R6c482599ebe74eac"/>
    <p:sldId xmlns:r="http://schemas.openxmlformats.org/officeDocument/2006/relationships" id="288" r:id="R678997e01e494eac"/>
    <p:sldId xmlns:r="http://schemas.openxmlformats.org/officeDocument/2006/relationships" id="289" r:id="Rffcfa9217512428a"/>
    <p:sldId xmlns:r="http://schemas.openxmlformats.org/officeDocument/2006/relationships" id="290" r:id="R87fb6f732bc449d7"/>
    <p:sldId xmlns:r="http://schemas.openxmlformats.org/officeDocument/2006/relationships" id="291" r:id="Ra2cd64c0e9d24087"/>
    <p:sldId xmlns:r="http://schemas.openxmlformats.org/officeDocument/2006/relationships" id="292" r:id="R5b970584a1c1459f"/>
    <p:sldId xmlns:r="http://schemas.openxmlformats.org/officeDocument/2006/relationships" id="293" r:id="Ra104539377b545df"/>
    <p:sldId xmlns:r="http://schemas.openxmlformats.org/officeDocument/2006/relationships" id="294" r:id="Ra55c1241b194431d"/>
    <p:sldId xmlns:r="http://schemas.openxmlformats.org/officeDocument/2006/relationships" id="295" r:id="Rabdbade4bc724f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55c61e1eb4c32" /><Relationship Type="http://schemas.openxmlformats.org/officeDocument/2006/relationships/slideMaster" Target="/ppt/slideMasters/slideMaster1.xml" Id="Reed790cb256145d8" /><Relationship Type="http://schemas.openxmlformats.org/officeDocument/2006/relationships/notesMaster" Target="/ppt/notesMasters/notesMaster1.xml" Id="R0691f8d025d04efd" /><Relationship Type="http://schemas.openxmlformats.org/officeDocument/2006/relationships/presProps" Target="/ppt/presProps.xml" Id="R47483a9f440a490c" /><Relationship Type="http://schemas.openxmlformats.org/officeDocument/2006/relationships/tableStyles" Target="/ppt/tableStyles.xml" Id="Rad36bd1846ed447e" /><Relationship Type="http://schemas.openxmlformats.org/officeDocument/2006/relationships/slide" Target="/ppt/slides/slide1.xml" Id="R2a2e87fba8dc421a" /><Relationship Type="http://schemas.openxmlformats.org/officeDocument/2006/relationships/slide" Target="/ppt/slides/slide2.xml" Id="R90603a2358d24bde" /><Relationship Type="http://schemas.openxmlformats.org/officeDocument/2006/relationships/slide" Target="/ppt/slides/slide3.xml" Id="R73c4457fc63a4d82" /><Relationship Type="http://schemas.openxmlformats.org/officeDocument/2006/relationships/slide" Target="/ppt/slides/slide4.xml" Id="Re791974500f24edc" /><Relationship Type="http://schemas.openxmlformats.org/officeDocument/2006/relationships/slide" Target="/ppt/slides/slide5.xml" Id="R53aaa6f0d0c0433e" /><Relationship Type="http://schemas.openxmlformats.org/officeDocument/2006/relationships/slide" Target="/ppt/slides/slide6.xml" Id="Rd11d48b5aa964723" /><Relationship Type="http://schemas.openxmlformats.org/officeDocument/2006/relationships/slide" Target="/ppt/slides/slide7.xml" Id="R66eb8b31a8f9405c" /><Relationship Type="http://schemas.openxmlformats.org/officeDocument/2006/relationships/slide" Target="/ppt/slides/slide8.xml" Id="R91c5714ccf7f4811" /><Relationship Type="http://schemas.openxmlformats.org/officeDocument/2006/relationships/slide" Target="/ppt/slides/slide9.xml" Id="Rc2d5d5da96724373" /><Relationship Type="http://schemas.openxmlformats.org/officeDocument/2006/relationships/slide" Target="/ppt/slides/slide10.xml" Id="Rb53f1064da764086" /><Relationship Type="http://schemas.openxmlformats.org/officeDocument/2006/relationships/slide" Target="/ppt/slides/slide11.xml" Id="R0a6529cd86924d23" /><Relationship Type="http://schemas.openxmlformats.org/officeDocument/2006/relationships/slide" Target="/ppt/slides/slide12.xml" Id="R2b4255b35a084372" /><Relationship Type="http://schemas.openxmlformats.org/officeDocument/2006/relationships/slide" Target="/ppt/slides/slide13.xml" Id="R83e48d27e09f4de2" /><Relationship Type="http://schemas.openxmlformats.org/officeDocument/2006/relationships/slide" Target="/ppt/slides/slide14.xml" Id="Rdcc93f5d8f5d4a43" /><Relationship Type="http://schemas.openxmlformats.org/officeDocument/2006/relationships/slide" Target="/ppt/slides/slide15.xml" Id="R154a048bf7da4b63" /><Relationship Type="http://schemas.openxmlformats.org/officeDocument/2006/relationships/slide" Target="/ppt/slides/slide16.xml" Id="R31d148c70fac4711" /><Relationship Type="http://schemas.openxmlformats.org/officeDocument/2006/relationships/slide" Target="/ppt/slides/slide17.xml" Id="Rbe9a81c7e2ad4ee5" /><Relationship Type="http://schemas.openxmlformats.org/officeDocument/2006/relationships/slide" Target="/ppt/slides/slide18.xml" Id="Rf469cf3c2f2f495c" /><Relationship Type="http://schemas.openxmlformats.org/officeDocument/2006/relationships/slide" Target="/ppt/slides/slide19.xml" Id="Rd6ba85d1b2e142b2" /><Relationship Type="http://schemas.openxmlformats.org/officeDocument/2006/relationships/slide" Target="/ppt/slides/slide20.xml" Id="R4c76c8645abf4faf" /><Relationship Type="http://schemas.openxmlformats.org/officeDocument/2006/relationships/slide" Target="/ppt/slides/slide21.xml" Id="R30b8e2adb2f64004" /><Relationship Type="http://schemas.openxmlformats.org/officeDocument/2006/relationships/slide" Target="/ppt/slides/slide22.xml" Id="R9ea44941c8e04200" /><Relationship Type="http://schemas.openxmlformats.org/officeDocument/2006/relationships/slide" Target="/ppt/slides/slide23.xml" Id="Rb558a15d6ea24158" /><Relationship Type="http://schemas.openxmlformats.org/officeDocument/2006/relationships/slide" Target="/ppt/slides/slide24.xml" Id="R81e3b20991bd4a6e" /><Relationship Type="http://schemas.openxmlformats.org/officeDocument/2006/relationships/slide" Target="/ppt/slides/slide25.xml" Id="R46a0d3660c494edc" /><Relationship Type="http://schemas.openxmlformats.org/officeDocument/2006/relationships/slide" Target="/ppt/slides/slide26.xml" Id="Re1c4b1140c004662" /><Relationship Type="http://schemas.openxmlformats.org/officeDocument/2006/relationships/slide" Target="/ppt/slides/slide27.xml" Id="Rf283f40fd8564045" /><Relationship Type="http://schemas.openxmlformats.org/officeDocument/2006/relationships/slide" Target="/ppt/slides/slide28.xml" Id="Rab4c5f6894ce460d" /><Relationship Type="http://schemas.openxmlformats.org/officeDocument/2006/relationships/slide" Target="/ppt/slides/slide29.xml" Id="R7762def818ed4b8b" /><Relationship Type="http://schemas.openxmlformats.org/officeDocument/2006/relationships/slide" Target="/ppt/slides/slide30.xml" Id="Rf784708f72964e7f" /><Relationship Type="http://schemas.openxmlformats.org/officeDocument/2006/relationships/slide" Target="/ppt/slides/slide31.xml" Id="R5951faee087c4d96" /><Relationship Type="http://schemas.openxmlformats.org/officeDocument/2006/relationships/slide" Target="/ppt/slides/slide32.xml" Id="R6c482599ebe74eac" /><Relationship Type="http://schemas.openxmlformats.org/officeDocument/2006/relationships/slide" Target="/ppt/slides/slide33.xml" Id="R678997e01e494eac" /><Relationship Type="http://schemas.openxmlformats.org/officeDocument/2006/relationships/slide" Target="/ppt/slides/slide34.xml" Id="Rffcfa9217512428a" /><Relationship Type="http://schemas.openxmlformats.org/officeDocument/2006/relationships/slide" Target="/ppt/slides/slide35.xml" Id="R87fb6f732bc449d7" /><Relationship Type="http://schemas.openxmlformats.org/officeDocument/2006/relationships/slide" Target="/ppt/slides/slide36.xml" Id="Ra2cd64c0e9d24087" /><Relationship Type="http://schemas.openxmlformats.org/officeDocument/2006/relationships/slide" Target="/ppt/slides/slide37.xml" Id="R5b970584a1c1459f" /><Relationship Type="http://schemas.openxmlformats.org/officeDocument/2006/relationships/slide" Target="/ppt/slides/slide38.xml" Id="Ra104539377b545df" /><Relationship Type="http://schemas.openxmlformats.org/officeDocument/2006/relationships/slide" Target="/ppt/slides/slide39.xml" Id="Ra55c1241b194431d" /><Relationship Type="http://schemas.openxmlformats.org/officeDocument/2006/relationships/slide" Target="/ppt/slides/slide40.xml" Id="Rabdbade4bc724f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ff4be50853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8aa3f97c71459b" /><Relationship Type="http://schemas.openxmlformats.org/officeDocument/2006/relationships/notesMaster" Target="/ppt/notesMasters/notesMaster1.xml" Id="R4b9b2ec1be0f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47bac328648b7" /><Relationship Type="http://schemas.openxmlformats.org/officeDocument/2006/relationships/notesMaster" Target="/ppt/notesMasters/notesMaster1.xml" Id="R6fc6fbe22e0b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f2b6a703b94e6c" /><Relationship Type="http://schemas.openxmlformats.org/officeDocument/2006/relationships/notesMaster" Target="/ppt/notesMasters/notesMaster1.xml" Id="Rae93c2edacf3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615ca3cc7c4b75" /><Relationship Type="http://schemas.openxmlformats.org/officeDocument/2006/relationships/notesMaster" Target="/ppt/notesMasters/notesMaster1.xml" Id="R11e5a4c42219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9cf42d33c04925" /><Relationship Type="http://schemas.openxmlformats.org/officeDocument/2006/relationships/notesMaster" Target="/ppt/notesMasters/notesMaster1.xml" Id="R96710be6e822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c96f83df1473f" /><Relationship Type="http://schemas.openxmlformats.org/officeDocument/2006/relationships/notesMaster" Target="/ppt/notesMasters/notesMaster1.xml" Id="R1afc5f0a754a4f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7aac75dba741df" /><Relationship Type="http://schemas.openxmlformats.org/officeDocument/2006/relationships/notesMaster" Target="/ppt/notesMasters/notesMaster1.xml" Id="R63634f43130447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d3866862f5472c" /><Relationship Type="http://schemas.openxmlformats.org/officeDocument/2006/relationships/notesMaster" Target="/ppt/notesMasters/notesMaster1.xml" Id="R4337cf52dda348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b1219826f4864" /><Relationship Type="http://schemas.openxmlformats.org/officeDocument/2006/relationships/notesMaster" Target="/ppt/notesMasters/notesMaster1.xml" Id="R1894b083da544f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26092dd2074c21" /><Relationship Type="http://schemas.openxmlformats.org/officeDocument/2006/relationships/notesMaster" Target="/ppt/notesMasters/notesMaster1.xml" Id="Rf2f5f7be56c540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ec02d51d064645" /><Relationship Type="http://schemas.openxmlformats.org/officeDocument/2006/relationships/notesMaster" Target="/ppt/notesMasters/notesMaster1.xml" Id="R2ce49f9f899b4e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95ed8147254d0b" /><Relationship Type="http://schemas.openxmlformats.org/officeDocument/2006/relationships/notesMaster" Target="/ppt/notesMasters/notesMaster1.xml" Id="Rbbcb77382d2e44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0e07a8f1334186" /><Relationship Type="http://schemas.openxmlformats.org/officeDocument/2006/relationships/notesMaster" Target="/ppt/notesMasters/notesMaster1.xml" Id="Ra1e3e10bf9624d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47f46a225146c6" /><Relationship Type="http://schemas.openxmlformats.org/officeDocument/2006/relationships/notesMaster" Target="/ppt/notesMasters/notesMaster1.xml" Id="R0dbd116f2e8a49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fb581008384179" /><Relationship Type="http://schemas.openxmlformats.org/officeDocument/2006/relationships/notesMaster" Target="/ppt/notesMasters/notesMaster1.xml" Id="R9676a753be0542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2a9a2532e34766" /><Relationship Type="http://schemas.openxmlformats.org/officeDocument/2006/relationships/notesMaster" Target="/ppt/notesMasters/notesMaster1.xml" Id="R6d275cf698b942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58ea63a8f248c9" /><Relationship Type="http://schemas.openxmlformats.org/officeDocument/2006/relationships/notesMaster" Target="/ppt/notesMasters/notesMaster1.xml" Id="R7c4a8b1be79146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7279bc14d34696" /><Relationship Type="http://schemas.openxmlformats.org/officeDocument/2006/relationships/notesMaster" Target="/ppt/notesMasters/notesMaster1.xml" Id="R078ee6b0d71e4b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43f012d8dd4628" /><Relationship Type="http://schemas.openxmlformats.org/officeDocument/2006/relationships/notesMaster" Target="/ppt/notesMasters/notesMaster1.xml" Id="R368e9dbfe9c24a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f463c4a42746ac" /><Relationship Type="http://schemas.openxmlformats.org/officeDocument/2006/relationships/notesMaster" Target="/ppt/notesMasters/notesMaster1.xml" Id="R8e9164a3f76842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a563cec3cb4019" /><Relationship Type="http://schemas.openxmlformats.org/officeDocument/2006/relationships/notesMaster" Target="/ppt/notesMasters/notesMaster1.xml" Id="R8e515c8c9aba4a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f2583180c34b14" /><Relationship Type="http://schemas.openxmlformats.org/officeDocument/2006/relationships/notesMaster" Target="/ppt/notesMasters/notesMaster1.xml" Id="Re2b287f69a7140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f2c344f0214808" /><Relationship Type="http://schemas.openxmlformats.org/officeDocument/2006/relationships/notesMaster" Target="/ppt/notesMasters/notesMaster1.xml" Id="Re86a88ac105c4d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1314a5aaae44da" /><Relationship Type="http://schemas.openxmlformats.org/officeDocument/2006/relationships/notesMaster" Target="/ppt/notesMasters/notesMaster1.xml" Id="R731692d11a074a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612506d87a4476" /><Relationship Type="http://schemas.openxmlformats.org/officeDocument/2006/relationships/notesMaster" Target="/ppt/notesMasters/notesMaster1.xml" Id="R0d440afe39134b7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24f99722eb4dc8" /><Relationship Type="http://schemas.openxmlformats.org/officeDocument/2006/relationships/notesMaster" Target="/ppt/notesMasters/notesMaster1.xml" Id="R9e4497b30a914e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838c1d8d4854cae" /><Relationship Type="http://schemas.openxmlformats.org/officeDocument/2006/relationships/notesMaster" Target="/ppt/notesMasters/notesMaster1.xml" Id="R23fd80bd303144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0133b0154141c9" /><Relationship Type="http://schemas.openxmlformats.org/officeDocument/2006/relationships/notesMaster" Target="/ppt/notesMasters/notesMaster1.xml" Id="Ra2a1c571dd604b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a396586ddc46ee" /><Relationship Type="http://schemas.openxmlformats.org/officeDocument/2006/relationships/notesMaster" Target="/ppt/notesMasters/notesMaster1.xml" Id="R4f06e7fcbcb24cc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132721fedba4a1b" /><Relationship Type="http://schemas.openxmlformats.org/officeDocument/2006/relationships/notesMaster" Target="/ppt/notesMasters/notesMaster1.xml" Id="R49efd9240fea45e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a4d0e8a10924de5" /><Relationship Type="http://schemas.openxmlformats.org/officeDocument/2006/relationships/notesMaster" Target="/ppt/notesMasters/notesMaster1.xml" Id="Ra2d3fcfd536141f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002cc4b44b14ed6" /><Relationship Type="http://schemas.openxmlformats.org/officeDocument/2006/relationships/notesMaster" Target="/ppt/notesMasters/notesMaster1.xml" Id="Rf51b2802a8ca4d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bd2e5dd50f6438a" /><Relationship Type="http://schemas.openxmlformats.org/officeDocument/2006/relationships/notesMaster" Target="/ppt/notesMasters/notesMaster1.xml" Id="R95562c7c08f84a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5c335eb9da646f6" /><Relationship Type="http://schemas.openxmlformats.org/officeDocument/2006/relationships/notesMaster" Target="/ppt/notesMasters/notesMaster1.xml" Id="R1db32eb939fd415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e5c4a58f3ee4724" /><Relationship Type="http://schemas.openxmlformats.org/officeDocument/2006/relationships/notesMaster" Target="/ppt/notesMasters/notesMaster1.xml" Id="R37beed4b74874a3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6f9e68c51e847da" /><Relationship Type="http://schemas.openxmlformats.org/officeDocument/2006/relationships/notesMaster" Target="/ppt/notesMasters/notesMaster1.xml" Id="Ra1036016557a40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1074a3fa184fd4" /><Relationship Type="http://schemas.openxmlformats.org/officeDocument/2006/relationships/notesMaster" Target="/ppt/notesMasters/notesMaster1.xml" Id="R8394559f5ac4447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5e25d5298374913" /><Relationship Type="http://schemas.openxmlformats.org/officeDocument/2006/relationships/notesMaster" Target="/ppt/notesMasters/notesMaster1.xml" Id="R944803171b204ec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7bf1c7723d4852" /><Relationship Type="http://schemas.openxmlformats.org/officeDocument/2006/relationships/notesMaster" Target="/ppt/notesMasters/notesMaster1.xml" Id="R53e89aaa34af47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c77ec27265443d" /><Relationship Type="http://schemas.openxmlformats.org/officeDocument/2006/relationships/notesMaster" Target="/ppt/notesMasters/notesMaster1.xml" Id="R619d042b406c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лекция по машинному обучению в нанонауке. Иллюстрация на титуле схематична; не отображает результаты эксперимента. Подробный конспект: machine_learning/12-ml-methods_and_experiment.md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 вопроса к набору методов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Тип данных: табличные рецептуры или спектры</a:t>
            </a:r>
          </a:p>
          <a:p xmlns:a="http://schemas.openxmlformats.org/drawingml/2006/main">
            <a:r>
              <a:t>2. Цель: прогноз свойства либо описание структуры</a:t>
            </a:r>
          </a:p>
          <a:p xmlns:a="http://schemas.openxmlformats.org/drawingml/2006/main">
            <a:r>
              <a:t>3. Проверка: те же независимые группы для всех методов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Сложность оправдана выигрышем на будущих партиях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Лестница моделей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Лабораторное правило и константа</a:t>
            </a:r>
          </a:p>
          <a:p xmlns:a="http://schemas.openxmlformats.org/drawingml/2006/main">
            <a:r>
              <a:t>2. Ridge или Lasso для числовых признаков</a:t>
            </a:r>
          </a:p>
          <a:p xmlns:a="http://schemas.openxmlformats.org/drawingml/2006/main">
            <a:r>
              <a:t>3. PLS для спектров; деревья и лес для нелинейности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У одного набора данных не должно быть четырёх разных тестов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Линейная модель как отправная точка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Коэффициенты связывают признаки с прогнозом</a:t>
            </a:r>
          </a:p>
          <a:p xmlns:a="http://schemas.openxmlformats.org/drawingml/2006/main">
            <a:r>
              <a:t>2. Масштабы признаков влияют на штраф регуляризации</a:t>
            </a:r>
          </a:p>
          <a:p xmlns:a="http://schemas.openxmlformats.org/drawingml/2006/main">
            <a:r>
              <a:t>3. Остатки выявляют недостающую структуру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Коэффициент модели сам по себе не доказывает механизм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Ridge сдерживает нестабильные коэффициенты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Штраф L2 ограничивает большие коэффициенты</a:t>
            </a:r>
          </a:p>
          <a:p xmlns:a="http://schemas.openxmlformats.org/drawingml/2006/main">
            <a:r>
              <a:t>2. Коррелированные признаки делят вклад между собой</a:t>
            </a:r>
          </a:p>
          <a:p xmlns:a="http://schemas.openxmlformats.org/drawingml/2006/main">
            <a:r>
              <a:t>3. α подбирают внутри групповой 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Масштабирование должно быть частью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Lasso выбирает разреженное решение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Штраф L1 может занулить коэффициенты</a:t>
            </a:r>
          </a:p>
          <a:p xmlns:a="http://schemas.openxmlformats.org/drawingml/2006/main">
            <a:r>
              <a:t>2. При коррелированных переменных выбор неустойчив</a:t>
            </a:r>
          </a:p>
          <a:p xmlns:a="http://schemas.openxmlformats.org/drawingml/2006/main">
            <a:r>
              <a:t>3. Выбранная переменная не равна доказанной причине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Сравните устойчивость признаков между независимыми группами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Механистический baseline может победить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Физический закон задаёт осмысленный прогноз</a:t>
            </a:r>
          </a:p>
          <a:p xmlns:a="http://schemas.openxmlformats.org/drawingml/2006/main">
            <a:r>
              <a:t>2. ML может моделировать остаток физической модели</a:t>
            </a:r>
          </a:p>
          <a:p xmlns:a="http://schemas.openxmlformats.org/drawingml/2006/main">
            <a:r>
              <a:t>3. Обе модели проверяют на тех же новых партиях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Подгонка не замещает физическое ограничение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Почему спектры многомерны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Сотни каналов при десятках независимых образцов</a:t>
            </a:r>
          </a:p>
          <a:p xmlns:a="http://schemas.openxmlformats.org/drawingml/2006/main">
            <a:r>
              <a:t>2. Соседние длины волн коррелируют</a:t>
            </a:r>
          </a:p>
          <a:p xmlns:a="http://schemas.openxmlformats.org/drawingml/2006/main">
            <a:r>
              <a:t>3. Фон, прибор и подготовка часто влияют на весь спектр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Число каналов не увеличивает число независимых партий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отвечает на вопрос об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Компоненты максимизируют дисперсию признаков</a:t>
            </a:r>
          </a:p>
          <a:p xmlns:a="http://schemas.openxmlformats.org/drawingml/2006/main">
            <a:r>
              <a:t>2. Целевое свойство не участвует в расчёте</a:t>
            </a:r>
          </a:p>
          <a:p xmlns:a="http://schemas.openxmlformats.org/drawingml/2006/main">
            <a:r>
              <a:t>3. Большая дисперсия может быть дрейфом прибора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PC1 не обязательно ось полезного свойства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смысла PCA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Раскрасьте точки по партии, дню и прибору</a:t>
            </a:r>
          </a:p>
          <a:p xmlns:a="http://schemas.openxmlformats.org/drawingml/2006/main">
            <a:r>
              <a:t>2. Сравните нагрузки важных каналов с физикой спектра</a:t>
            </a:r>
          </a:p>
          <a:p xmlns:a="http://schemas.openxmlformats.org/drawingml/2006/main">
            <a:r>
              <a:t>3. Проверьте устойчивость к масштабированию и фону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Визуальное разделение не является внешней проверкой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PLS учитывает X и 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Компоненты строятся для прогнозной связи</a:t>
            </a:r>
          </a:p>
          <a:p xmlns:a="http://schemas.openxmlformats.org/drawingml/2006/main">
            <a:r>
              <a:t>2. Число компонент подбирают только на разработке</a:t>
            </a:r>
          </a:p>
          <a:p xmlns:a="http://schemas.openxmlformats.org/drawingml/2006/main">
            <a:r>
              <a:t>3. Нужен отдельный тест новых образцов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PLS — supervised, в отличие от PCA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Пример: искусственные спектры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24 канала с коррелированным пиком</a:t>
            </a:r>
          </a:p>
          <a:p xmlns:a="http://schemas.openxmlformats.org/drawingml/2006/main">
            <a:r>
              <a:t>2. 30 независимых партий с известным свойством</a:t>
            </a:r>
          </a:p>
          <a:p xmlns:a="http://schemas.openxmlformats.org/drawingml/2006/main">
            <a:r>
              <a:t>3. 1–4 компоненты сравнивают групповой 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Числа демонстрируют API, а не химическую калибровку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Предобработка спектра без утечки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Физически фиксированный протокол можно применить ко всем файлам</a:t>
            </a:r>
          </a:p>
          <a:p xmlns:a="http://schemas.openxmlformats.org/drawingml/2006/main">
            <a:r>
              <a:t>2. Обучаемые параметры оценки — внутри складки</a:t>
            </a:r>
          </a:p>
          <a:p xmlns:a="http://schemas.openxmlformats.org/drawingml/2006/main">
            <a:r>
              <a:t>3. Отбор каналов по y на всём наборе запрещён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Параметры из теста не должны попадать в обучение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Дерево: разделения по порогам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Пороговые взаимодействия читаются по ветвям</a:t>
            </a:r>
          </a:p>
          <a:p xmlns:a="http://schemas.openxmlformats.org/drawingml/2006/main">
            <a:r>
              <a:t>2. Глубокое дерево легко подстроить под шум</a:t>
            </a:r>
          </a:p>
          <a:p xmlns:a="http://schemas.openxmlformats.org/drawingml/2006/main">
            <a:r>
              <a:t>3. Ограничьте max_depth и min_samples_leaf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Новые партии проверяют устойчивость порогов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Лес: усреднение многих деревьев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Уменьшает нестабильность одиночного дерева</a:t>
            </a:r>
          </a:p>
          <a:p xmlns:a="http://schemas.openxmlformats.org/drawingml/2006/main">
            <a:r>
              <a:t>2. Может описывать нелинейность внутри изученного диапазона</a:t>
            </a:r>
          </a:p>
          <a:p xmlns:a="http://schemas.openxmlformats.org/drawingml/2006/main">
            <a:r>
              <a:t>3. Не создаёт независимых данных из технических повторов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Число деревьев не исправляет смещение выборки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Лес усредняет модели, построенные в основном независимо. Бустинг добавляет деревья последовательно для исправления потерь. Bootstrap строк одной партии не создаёт физическую независимость. Источник: https://scikit-learn.org/stable/modules/ensemble.html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 вымышлены. Среднее (4+6+10+12)/4 = 8; исходные абсолютные ошибки 4,2,2,4, MAE=3. Одна строка здесь обозначает один независимый учебный опыт.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квадратичной потери отрицательный градиент пропорционален остаткам. Слева от 90 °C среднее (−4−2)/2=−3, справа (2+4)/2=3. Для других потерь деревья обучаются на соответствующих направлениях изменения потери.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скорости обучения 0,5 прогноз F1 = [6,5;6,5;9,5;9,5]; MAE=(2,5+0,5+0,5+2,5)/4=1,5. Новое дерево видит остатки [-2,5;-0,5;0,5;2,5]. На четырёх строках практическое обучение ансамбля не оправдано.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небольшой лабораторной выборки контролируйте размер листа и глубину. Случайная ранняя остановка внутри модели может разбить кампании; число шагов выбирайте в групповых складках разработки. Источник: https://scikit-learn.org/stable/modules/ensemble.html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Диапазоны факторов недостаточны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Каждый фактор может попадать в свой диапазон</a:t>
            </a:r>
          </a:p>
          <a:p xmlns:a="http://schemas.openxmlformats.org/drawingml/2006/main">
            <a:r>
              <a:t>2. Их сочетание может отсутствовать в плане</a:t>
            </a:r>
          </a:p>
          <a:p xmlns:a="http://schemas.openxmlformats.org/drawingml/2006/main">
            <a:r>
              <a:t>3. Модель в таком углу фактически экстраполирует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Покажите плотность данных в пространстве рецептур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Неопределённость прогноза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Различайте средний прогноз и новый результат</a:t>
            </a:r>
          </a:p>
          <a:p xmlns:a="http://schemas.openxmlformats.org/drawingml/2006/main">
            <a:r>
              <a:t>2. Учтите разброс партий и ошибку измерения</a:t>
            </a:r>
          </a:p>
          <a:p xmlns:a="http://schemas.openxmlformats.org/drawingml/2006/main">
            <a:r>
              <a:t>3. Покрытие интервала проверяйте на новых партиях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Число ±σ без определения источника неопределённости малоинформативно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внутри прогнозного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PCA.fit на всей таблице видит распределение теста</a:t>
            </a:r>
          </a:p>
          <a:p xmlns:a="http://schemas.openxmlformats.org/drawingml/2006/main">
            <a:r>
              <a:t>2. В каждой складке scaler и PCA обучаются заново</a:t>
            </a:r>
          </a:p>
          <a:p xmlns:a="http://schemas.openxmlformats.org/drawingml/2006/main">
            <a:r>
              <a:t>3. Цель используется только на этапе supervised модели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Unsupervised не означает безопасно до разбиения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Кластеризация: геометрия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KMeans требует число кластеров заранее</a:t>
            </a:r>
          </a:p>
          <a:p xmlns:a="http://schemas.openxmlformats.org/drawingml/2006/main">
            <a:r>
              <a:t>2. Результат зависит от масштаба и признаков</a:t>
            </a:r>
          </a:p>
          <a:p xmlns:a="http://schemas.openxmlformats.org/drawingml/2006/main">
            <a:r>
              <a:t>3. Номера кластеров произвольны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Кластер не становится фазой материала без внешнего доказательства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Silhouette и его предел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Оценивает компактность и отделение групп</a:t>
            </a:r>
          </a:p>
          <a:p xmlns:a="http://schemas.openxmlformats.org/drawingml/2006/main">
            <a:r>
              <a:t>2. Может предпочесть структуру прибора или дня</a:t>
            </a:r>
          </a:p>
          <a:p xmlns:a="http://schemas.openxmlformats.org/drawingml/2006/main">
            <a:r>
              <a:t>3. Не подтверждает физический механизм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Сопоставьте кластеры с независимыми измерениями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Сдвиг прибора как ложное открытие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Два прибора дают разные спектральные фоны</a:t>
            </a:r>
          </a:p>
          <a:p xmlns:a="http://schemas.openxmlformats.org/drawingml/2006/main">
            <a:r>
              <a:t>2. PCA и KMeans могут разделить приборы</a:t>
            </a:r>
          </a:p>
          <a:p xmlns:a="http://schemas.openxmlformats.org/drawingml/2006/main">
            <a:r>
              <a:t>3. Прогноз свойства затем теряет качество вне прибора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Раскрасьте PCA по прибору до именования кластеров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Kaggle описывает задачу как прогноз pH по RGB, не следует из этого делать вывод о наличии файлов исходных изображений или ID независимых съемок. Источник: https://www.kaggle.com/datasets/robjan/ph-recognition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метаданные раствора, камеры и света отсутствуют, случайный тест показывает лишь качество на похожих строках. Внешнюю серию измеряют независимо с эталонным pH-метром и контролем света. Источник: https://www.kaggle.com/datasets/robjan/ph-recognition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Активное обучение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Модель предлагает условия и оценивает неопределённость</a:t>
            </a:r>
          </a:p>
          <a:p xmlns:a="http://schemas.openxmlformats.org/drawingml/2006/main">
            <a:r>
              <a:t>2. Человек проверяет область, безопасность и цену</a:t>
            </a:r>
          </a:p>
          <a:p xmlns:a="http://schemas.openxmlformats.org/drawingml/2006/main">
            <a:r>
              <a:t>3. Новая партия обновляет данные и прогноз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Цикл проверяют по независимым опытам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95 ± 2 и 90 ± 8 условный; ± обозначает выбранный показатель неопределенности, не доверительный интервал. При λ=1 критерий 97 и 98. Нужна проверка калибровки и допусков.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Активное обучение и RL — разные постановки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Активное обучение выбирает информативный опыт</a:t>
            </a:r>
          </a:p>
          <a:p xmlns:a="http://schemas.openxmlformats.org/drawingml/2006/main">
            <a:r>
              <a:t>2. RL выбирает действия в последовательности состояний</a:t>
            </a:r>
          </a:p>
          <a:p xmlns:a="http://schemas.openxmlformats.org/drawingml/2006/main">
            <a:r>
              <a:t>3. Обе постановки требуют явной цели и ограничений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Выбор следующей рецептуры сам по себе не 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сети: h=ReLU(W1 x+b1), yhat=W2 h+b2; backprop вычисляет градиент ошибки по параметрам. Предобработка и выбор эпох должны происходить на train; независимая тестовая группа остается закрытой. Источник: 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RGB-входа, 8 скрытых нейронов, 1 числовой выход: (3+1)×8+(8+1)=41 параметр. Данные RGB не содержат пространственную структуру фото. Осмысленно сравнить с Ridge и бустингом на одном протоколе.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Опубликованный Kaggle notebook: цель logD при pH 7.4, используются дескрипторы, SVR, сеть Keras и модели на ее представлении. Источники: https://www.kaggle.com/code/mmelahi/physical-chemistry-lipophilicity ; https://doi.org/10.1039/C7SC02664A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опубликованном источнике кода до train_test_split вызываются fit(StandardScaler) и fit(KernelPCA) на полной матрице. Это не доказывает меточную утечку, но тестовые признаки влияют на подготовку. Источник: https://www.kaggle.com/code/mmelahi/physical-chemistry-lipophilicity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том же notebook после нейросети X_train и X_test конкатенируют, а scaler и KernelPCA снова обучают на объединении. Правка: split до преобразований, fit внутри fold, один финальный тест. Для новых химических серий полезна независимая проверка по структурам. Источник: https://www.kaggle.com/code/mmelahi/physical-chemistry-lipophilicity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Markov decision process: s_t — доступное измеряемое состояние, a_t — разрешенное воздействие, r_t — результат с учетом качества и ресурсов. Данных рецепт–конечное свойство недостаточно для оценки альтернативных действий.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Q(быстро)=3+0,9·(−6)=−2,4; Q(плавно)=0+0,9·4=3,6. Это вымышленный двухшаговый пример. Проверенный симулятор, ограничения и оператор необходимы прежде онлайн управления.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Итоговая схема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Данные → простой baseline → групповая проверка</a:t>
            </a:r>
          </a:p>
          <a:p xmlns:a="http://schemas.openxmlformats.org/drawingml/2006/main">
            <a:r>
              <a:t>2. Интерпретация и область применения → рекомендация</a:t>
            </a:r>
          </a:p>
          <a:p xmlns:a="http://schemas.openxmlformats.org/drawingml/2006/main">
            <a:r>
              <a:t>3. Новый опыт → обновление модели и протокола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Ценность модели измеряется улучшением проверяемого решения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Подробное объяснение, методические ограничения и код: machine_learning/12-ml-methods_and_experiment.md</a:t>
            </a:r>
          </a:p>
          <a:p xmlns:a="http://schemas.openxmlformats.org/drawingml/2006/main">
            <a:r>
              <a:t>Справка по методам: https://scikit-learn.org/stable/user_guide.html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материалы: https://scikit-learn.org/stable/modules/linear_model.html ; https://scikit-learn.org/stable/modules/cross_decomposition.html ; https://scikit-learn.org/stable/modules/ensemble.html ; https://scikit-learn.org/stable/modules/neural_networks_supervised.html ; https://www.kaggle.com/datasets/robjan/ph-recognition ; https://www.kaggle.com/code/mmelahi/physical-chemistry-lipophilicity ; https://doi.org/10.1039/C7SC02664A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8cc86477743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6cacb6c554da6" /><Relationship Type="http://schemas.openxmlformats.org/officeDocument/2006/relationships/slideLayout" Target="/ppt/slideLayouts/slideLayout1.xml" Id="R1bcf20e3b85d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f20e3b85d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af67f36b14e10" /><Relationship Type="http://schemas.openxmlformats.org/officeDocument/2006/relationships/notesSlide" Target="/ppt/notesSlides/notesSlide1.xml" Id="R1d6a53a0c163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9307663494c40" /><Relationship Type="http://schemas.openxmlformats.org/officeDocument/2006/relationships/notesSlide" Target="/ppt/notesSlides/notesSlide2.xml" Id="Rf40fb5f80d38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7e9d84caf492f" /><Relationship Type="http://schemas.openxmlformats.org/officeDocument/2006/relationships/notesSlide" Target="/ppt/notesSlides/notesSlide3.xml" Id="Rc5ea0e1f0605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d98f23289453b" /><Relationship Type="http://schemas.openxmlformats.org/officeDocument/2006/relationships/notesSlide" Target="/ppt/notesSlides/notesSlide4.xml" Id="R066a09d83cf143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560a0ce54b8e" /><Relationship Type="http://schemas.openxmlformats.org/officeDocument/2006/relationships/notesSlide" Target="/ppt/notesSlides/notesSlide5.xml" Id="R71768984beaa48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3d9c96e624324" /><Relationship Type="http://schemas.openxmlformats.org/officeDocument/2006/relationships/notesSlide" Target="/ppt/notesSlides/notesSlide6.xml" Id="R618d369ab04b45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52f83d6dd4feb" /><Relationship Type="http://schemas.openxmlformats.org/officeDocument/2006/relationships/notesSlide" Target="/ppt/notesSlides/notesSlide7.xml" Id="R23b56e4a82a442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9db6c18804990" /><Relationship Type="http://schemas.openxmlformats.org/officeDocument/2006/relationships/notesSlide" Target="/ppt/notesSlides/notesSlide8.xml" Id="R8edf3bca16cf4f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303d8b28443fd" /><Relationship Type="http://schemas.openxmlformats.org/officeDocument/2006/relationships/notesSlide" Target="/ppt/notesSlides/notesSlide9.xml" Id="R1681faa6af234d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8dd56e2464c32" /><Relationship Type="http://schemas.openxmlformats.org/officeDocument/2006/relationships/notesSlide" Target="/ppt/notesSlides/notesSlide10.xml" Id="Rfc20958eeec943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fdbf15224af8" /><Relationship Type="http://schemas.openxmlformats.org/officeDocument/2006/relationships/notesSlide" Target="/ppt/notesSlides/notesSlide11.xml" Id="Rce2288608a4f48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9c67dc94b46a5" /><Relationship Type="http://schemas.openxmlformats.org/officeDocument/2006/relationships/notesSlide" Target="/ppt/notesSlides/notesSlide12.xml" Id="Rdfa1c88331d942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b78784a4b4188" /><Relationship Type="http://schemas.openxmlformats.org/officeDocument/2006/relationships/notesSlide" Target="/ppt/notesSlides/notesSlide13.xml" Id="Rad74a377019941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387af2e634a98" /><Relationship Type="http://schemas.openxmlformats.org/officeDocument/2006/relationships/notesSlide" Target="/ppt/notesSlides/notesSlide14.xml" Id="R1412b121eb2b45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231a2aae245f0" /><Relationship Type="http://schemas.openxmlformats.org/officeDocument/2006/relationships/notesSlide" Target="/ppt/notesSlides/notesSlide15.xml" Id="R6f49842c098e4f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12d713cfb44e4" /><Relationship Type="http://schemas.openxmlformats.org/officeDocument/2006/relationships/notesSlide" Target="/ppt/notesSlides/notesSlide16.xml" Id="R77c8d3fd352244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5ffc2e61d4c61" /><Relationship Type="http://schemas.openxmlformats.org/officeDocument/2006/relationships/notesSlide" Target="/ppt/notesSlides/notesSlide17.xml" Id="Rfeea3c2b976548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9dba079d44713" /><Relationship Type="http://schemas.openxmlformats.org/officeDocument/2006/relationships/notesSlide" Target="/ppt/notesSlides/notesSlide18.xml" Id="Rfa1033af8ba34e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9ddf9a35d4daf" /><Relationship Type="http://schemas.openxmlformats.org/officeDocument/2006/relationships/notesSlide" Target="/ppt/notesSlides/notesSlide19.xml" Id="R1d3992abb4c549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569dda3114481" /><Relationship Type="http://schemas.openxmlformats.org/officeDocument/2006/relationships/notesSlide" Target="/ppt/notesSlides/notesSlide20.xml" Id="Ra16442a4d70740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4a8ebd85247bd" /><Relationship Type="http://schemas.openxmlformats.org/officeDocument/2006/relationships/notesSlide" Target="/ppt/notesSlides/notesSlide21.xml" Id="R235e87b0d6e54c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7fabb9e304fb9" /><Relationship Type="http://schemas.openxmlformats.org/officeDocument/2006/relationships/notesSlide" Target="/ppt/notesSlides/notesSlide22.xml" Id="R580fbe0a1fd74b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61d02ec5443ac" /><Relationship Type="http://schemas.openxmlformats.org/officeDocument/2006/relationships/notesSlide" Target="/ppt/notesSlides/notesSlide23.xml" Id="Rac1fdd7643e749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637ebfe6c4556" /><Relationship Type="http://schemas.openxmlformats.org/officeDocument/2006/relationships/notesSlide" Target="/ppt/notesSlides/notesSlide24.xml" Id="R20ab615f67bd42e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0e17dba574319" /><Relationship Type="http://schemas.openxmlformats.org/officeDocument/2006/relationships/notesSlide" Target="/ppt/notesSlides/notesSlide25.xml" Id="R153954cff2ce41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8cce1a1f14a50" /><Relationship Type="http://schemas.openxmlformats.org/officeDocument/2006/relationships/notesSlide" Target="/ppt/notesSlides/notesSlide26.xml" Id="R93750d2008994d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18832be5240b4" /><Relationship Type="http://schemas.openxmlformats.org/officeDocument/2006/relationships/notesSlide" Target="/ppt/notesSlides/notesSlide27.xml" Id="R7b6dac06c88b4b6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65f3f463a4807" /><Relationship Type="http://schemas.openxmlformats.org/officeDocument/2006/relationships/notesSlide" Target="/ppt/notesSlides/notesSlide28.xml" Id="R183790da1b4f49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4e92655324ac2" /><Relationship Type="http://schemas.openxmlformats.org/officeDocument/2006/relationships/notesSlide" Target="/ppt/notesSlides/notesSlide29.xml" Id="Rb13c468beb8e47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f1603a6a2403e" /><Relationship Type="http://schemas.openxmlformats.org/officeDocument/2006/relationships/notesSlide" Target="/ppt/notesSlides/notesSlide30.xml" Id="Raedc3a98eede441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cf3ec71914890" /><Relationship Type="http://schemas.openxmlformats.org/officeDocument/2006/relationships/notesSlide" Target="/ppt/notesSlides/notesSlide31.xml" Id="R086124a7999a46d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d633b84964783" /><Relationship Type="http://schemas.openxmlformats.org/officeDocument/2006/relationships/notesSlide" Target="/ppt/notesSlides/notesSlide32.xml" Id="Rac4686ffc8ca40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955409b1447d4" /><Relationship Type="http://schemas.openxmlformats.org/officeDocument/2006/relationships/notesSlide" Target="/ppt/notesSlides/notesSlide33.xml" Id="Ra32a9983af70488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1afd63d114646" /><Relationship Type="http://schemas.openxmlformats.org/officeDocument/2006/relationships/notesSlide" Target="/ppt/notesSlides/notesSlide34.xml" Id="R9d159707dde24a0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5855db3134f01" /><Relationship Type="http://schemas.openxmlformats.org/officeDocument/2006/relationships/notesSlide" Target="/ppt/notesSlides/notesSlide35.xml" Id="R715325a6047449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d41a6d23a4959" /><Relationship Type="http://schemas.openxmlformats.org/officeDocument/2006/relationships/notesSlide" Target="/ppt/notesSlides/notesSlide36.xml" Id="Rec7c3a4b0f4342d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0cadc4fce4c20" /><Relationship Type="http://schemas.openxmlformats.org/officeDocument/2006/relationships/notesSlide" Target="/ppt/notesSlides/notesSlide37.xml" Id="R12203ad68b504df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e833ca0b0477e" /><Relationship Type="http://schemas.openxmlformats.org/officeDocument/2006/relationships/notesSlide" Target="/ppt/notesSlides/notesSlide38.xml" Id="Ra34a3080478345f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44f6309054def" /><Relationship Type="http://schemas.openxmlformats.org/officeDocument/2006/relationships/notesSlide" Target="/ppt/notesSlides/notesSlide39.xml" Id="R256bee00c31f4e0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07f74810a4cc9" /><Relationship Type="http://schemas.openxmlformats.org/officeDocument/2006/relationships/notesSlide" Target="/ppt/notesSlides/notesSlide40.xml" Id="Rac1e32f765644f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483C55-AA22-4C06-AFCF-ADC2D275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0C621-5B22-4A8D-BF92-D7CAFD7C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B4BED-EA61-41C4-848E-60663D4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28EE2-043D-4ECB-AE02-8904AA6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BF744-0579-47AE-9E5E-AE2AE7E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68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Машинное обучение: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модели и следующий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FE854-C13A-487E-B626-14E7E83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Ансамбли, нейросети и осмысленный выбор опыта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19059-E3D2-45C6-8CCC-6829617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Лекция 12 · 40 слайдов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EA924-6997-4491-B288-370052A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8D57C-D8E6-4F33-8476-8D5B31D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AE843-9327-459A-B3ED-0D9FAF7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0FD55-3C65-4ECA-BB1E-8DB97915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EE520-4947-4693-863B-314E2A39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CFD43-8226-4C94-8BAA-BE7BD256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43E0F-46F6-48F9-8EBB-2210BE93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BB07A-0F5C-4656-8372-85063E6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2E6C7-58A4-4543-9C31-313B6152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D3766-444F-4828-9C10-10B6FB4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1AD3C-168F-4840-BF21-37D35147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5128B-2781-4D8F-AC64-A46C798D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49C0D-D1E4-4B18-8F89-0369282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7A692-059B-4B1D-AC0A-DFFB6C01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BA8AA-2A62-4E6A-A6C2-3E26760E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A23BD-327B-4861-B61E-E374D80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8E548-CC89-48E8-907A-2E0DAE4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43DD5-829A-40FB-982C-DC40212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816CC-1D46-4151-A60E-1F4F714A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C078E-F82B-4A58-B9FB-EB7EB99C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14E84-EC6D-4050-AE3E-C0E6BFB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44D87-A870-4249-8E6C-775828E9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4E569-BE16-4CCD-A7A6-D38CDA3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126A4-E444-4088-9E4A-B359C3C9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C2E9A-AA9D-42D2-B1F3-D646361B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06423-2D0D-4C54-81B0-C4C1762A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71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895379-B802-4C1C-A80A-E7208B9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СХЕМА • больше данных / лучше 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63EB6C-F849-43AE-8D76-9CC50BF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2B601-189C-42EB-B3AD-534567C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07119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B557F-EC48-4116-B893-E711EF08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0006-F1CE-4608-A426-5291AA39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1EA49-0777-439E-A7EE-4A6C829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3E74B-B31E-48E7-8F44-84ACF2F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 вопроса к набору методов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FB25C-D056-4980-B375-8F58049D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7750-69A5-4B1D-A801-9FAB4B4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2283-810A-4510-A9CA-F328C10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1C099-6DB9-4A21-B820-3E19E77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FD627-745E-42BC-9AFE-6CA736F2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Тип данных: табличные рецептуры или спектры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E6F3B-03A7-4E2D-A150-FD8658D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8DF48-A071-491C-9E56-AE7F50F2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89444-EE58-4B42-89A3-6E916B49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прогноз свойства либо описание структуры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D8419-BFE5-4376-BA6B-6407CC15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F9186-6921-4B92-9D17-8AEA902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1C17D-EA96-4461-9CC0-5DF8A61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Проверка: те же независимые группы для всех методов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762FA-05B9-4FCF-B119-B5C1B5C6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233FE-FBA6-4D9E-9A84-54408739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BC256-62F1-4538-9E8A-A94E7E20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Сложность оправдана выигрышем на будущих партиях</a:t>
            </a:r>
          </a:p>
        </p:txBody>
      </p:sp>
    </p:spTree>
    <p:extLst>
      <p:ext uri="{BB962C8B-B14F-4D97-AF65-F5344CB8AC3E}">
        <p14:creationId xmlns:p14="http://schemas.microsoft.com/office/powerpoint/2010/main" val="17870062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60556-2F84-47B0-90DB-3A5EADAC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15BF-583E-48AC-ACA1-C837DA5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BF303-6AC8-4D5E-8F3E-09B64AB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673A3-DC91-40A1-BB32-32ACCB0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Лестница моделей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D8E77-9FD4-47EC-B8CF-AB64904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AD7F0-90D1-4323-A7AC-E801A53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6787A-EA6A-4C1E-AA33-0526817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E1CAB-D009-4119-90A1-FFA3F67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0ACE9-3085-4AA0-BEF8-2E61D7F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F39EF-587B-48EF-9DDA-2A16C15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5F4CF-BBE8-4686-B2BC-9ED0DC35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Лабораторное правило и константа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A99ED-40FA-4304-A4B0-6C98D7C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43535-22EC-41AA-B029-4D30C0C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CF9EA-3853-49D5-8C01-FF19DC5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0D586-DCED-4997-A1FB-F837124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Ridge или Lasso для числовых признаков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89440-FD02-428F-953C-12890C4A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8A835-7AAD-4E5C-99E3-9D55902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EC5FF-A9F2-4D53-9BE2-A756D221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1B069-ACED-4CE9-9B03-6C901848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PLS для спектров; лес и бустинг для нелинейности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A044B-A9FC-4E73-865A-693EEB36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20A7D-49E6-4354-B9E3-9EFF97A6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У одного набора данных не должно быть четырёх разных тестов</a:t>
            </a:r>
          </a:p>
        </p:txBody>
      </p:sp>
    </p:spTree>
    <p:extLst>
      <p:ext uri="{BB962C8B-B14F-4D97-AF65-F5344CB8AC3E}">
        <p14:creationId xmlns:p14="http://schemas.microsoft.com/office/powerpoint/2010/main" val="16283588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5EA9D-3428-4640-9A8B-03802680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E8810-FE57-4351-A453-BD6B4FDE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94CD0-3ADA-414B-B4C8-557D6DB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D4F8C-9AC5-49E6-A7AF-649A335D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Линейная модель как отправная точка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5129F-7DC1-4413-AC82-2431DB22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43F40-729D-44A3-9387-74456BF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01F8D-6682-4E69-99E9-C771D17F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C39F2-6A47-4549-AFBF-3262489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8D1F8-0DE6-4602-84A9-A5B08CF1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A3DBE-E842-4CB3-B509-D012BB1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Коэффициенты связывают признаки с прогнозом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44A4B-9F1D-4A84-9A0D-E27B9B9A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1834C-0576-4A52-88DD-D73B91A6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Масштабы признаков влияют на штраф регуляризации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AF7C9-BA0F-4F54-919D-98D90562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EA236-A762-4919-82B4-B7777CD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Остатки выявляют недостающую структуру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FC0DC-9B65-4BCC-A6ED-08617B94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07044-4E8D-4DCB-8BC7-9DE57D6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Коэффициент модели сам по себе не доказывает механизм</a:t>
            </a:r>
          </a:p>
        </p:txBody>
      </p:sp>
    </p:spTree>
    <p:extLst>
      <p:ext uri="{BB962C8B-B14F-4D97-AF65-F5344CB8AC3E}">
        <p14:creationId xmlns:p14="http://schemas.microsoft.com/office/powerpoint/2010/main" val="12047161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0ACD3-3907-4250-9EB9-73C56F6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4D459-F094-4FE4-902A-8CBC9B6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A1857-B914-4922-8D7B-F6A6858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ED42E-FE4B-4824-8B5A-F5364608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8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Ridge сдерживает нестабильные коэффициенты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B9DB-76B5-452F-A695-74410E05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0CE78-6357-4092-8F0D-CF098DE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D097E-2AD8-42F6-9EE1-27C7BF81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3AB36-4163-4780-88F9-DBF95A8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270F8-C460-4F9D-BFF4-3FC82082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28869-994A-4829-892C-5B81C91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Штраф L2 ограничивает большие коэффициенты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17C86-5A34-4977-A41B-DBC5F1E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1D3A9-13AD-49BC-BE86-FDD6D5BB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A0B60-30A0-45BF-9B22-F866E83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Коррелированные признаки делят вклад между собой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68450-E2EC-4D91-AF0E-F9D2ACA3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741E2-F683-4E0A-82A3-E37D4E9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85707-6A39-49FE-9F0A-FEEDF44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α подбирают внутри групповой 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CD9F-1EE8-4B94-8CAD-2A979ED1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637F3-1214-476F-8ABC-4558A1A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Масштабирование должно быть частью Pipeline</a:t>
            </a:r>
          </a:p>
        </p:txBody>
      </p:sp>
    </p:spTree>
    <p:extLst>
      <p:ext uri="{BB962C8B-B14F-4D97-AF65-F5344CB8AC3E}">
        <p14:creationId xmlns:p14="http://schemas.microsoft.com/office/powerpoint/2010/main" val="20624437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774DE-58BA-44F3-9D35-47F31C6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277B5-35B5-4FBC-9258-831AC00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5E23D-3B28-40E9-AACC-87FD93F7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64478-6BFA-4BA2-BFAE-32EE46B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Lasso выбирает разреженное 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832C9-02CA-4DFF-A60C-A1B9B95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97D7-FB74-45A3-9714-33986B3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E1303-A156-4936-BBEC-9344AB3C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93003-F1C0-47DB-A321-FA85985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80AB1-53C0-4BA3-93D8-6FE2C93F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57F8B-C2D4-4806-93FF-C76F685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Штраф L1 может занулить коэффициенты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8477-94ED-47ED-BBC5-06F1CD6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115EC-E17F-4A25-9076-08D1FFAB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4182C-09D0-4395-911E-4705E67E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коррелированных переменных выбор неустойчив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010A0-CAEA-44B8-BAF5-BD6B630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83702-0A40-40F5-956B-28890DD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0F5F7-0BBF-4246-82E3-17B80A7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Выбранная переменная не равна доказанной причине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A7B69-3134-4383-B62E-56D50EF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7A880-6F33-4002-BEC7-D5631E4E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Сравните устойчивость признаков между независимыми группами</a:t>
            </a:r>
          </a:p>
        </p:txBody>
      </p:sp>
    </p:spTree>
    <p:extLst>
      <p:ext uri="{BB962C8B-B14F-4D97-AF65-F5344CB8AC3E}">
        <p14:creationId xmlns:p14="http://schemas.microsoft.com/office/powerpoint/2010/main" val="1699913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B77D1-F582-4CD2-992D-92C2FC56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9308D-34ED-4950-83CE-7C568DC6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4B1F8-F495-4DFB-A6FB-7579EC98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774E4-2DF3-495E-86A6-589DF55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Механистический baseline может победить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5853C-18C2-4CA5-ACBF-081390A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4F4D8-8AA1-4B46-B9E4-5CBE4F9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71BDC-D228-49E3-8A43-CAA9C5C2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CCB5B-5A1B-4359-88FA-BC35C30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3E034-24BF-4742-A3EF-6BC715A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Физический закон задаёт осмысленный прогноз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ADDD3-08DF-4F87-9FCF-C7587C7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DE226-16E5-4393-A8E8-5AA65766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9C4AC-D1D2-46CE-A614-DA3BD2D4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ML может моделировать остаток физической модели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0143-0304-4D78-AB7C-B97A9E74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AF8D3-3F6E-4F04-AE0B-DC570811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E5D5D-E589-41F9-9B1D-E53E86E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Обе модели проверяют на тех же новых партиях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7D60-CB5E-40CE-A4F8-3B79B8A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CDB1F-D494-44AD-BF78-D437503F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8322A-36D2-49CB-83BF-3E372E0A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Подгонка не замещает физическое ограничение</a:t>
            </a:r>
          </a:p>
        </p:txBody>
      </p:sp>
    </p:spTree>
    <p:extLst>
      <p:ext uri="{BB962C8B-B14F-4D97-AF65-F5344CB8AC3E}">
        <p14:creationId xmlns:p14="http://schemas.microsoft.com/office/powerpoint/2010/main" val="18792063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0491D-1669-43C5-A0FF-50B3263B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71AAA-045A-4B7C-A019-62DCFB9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8C981-21C3-4492-8E9D-970B2B6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408C7-725C-469E-9D72-23A6EAEE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Почему спектры многомерны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58775-6C22-49E0-9621-2424AE1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AE535-0BA3-45B1-A438-5A5F7B5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B060F-C199-473C-94C5-C89C5D2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809DD-E9F6-4DCE-9497-93EB4E60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B72F6-5319-4B35-89E3-72FDF585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4AD00-C1F4-45F8-861B-09EEF7E5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D312E-3773-463F-93B6-4EFA08C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Сотни каналов при десятках независимых образцов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62EC8-501B-4D47-81E4-1E5C809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75CB-3E0C-4195-AA31-ADCD40E9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326CB-2F75-4B42-8DD0-05CD0FFD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0B372-09E2-4F5A-A6C9-44B560C5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Соседние длины волн коррелируют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7FBC5-93D0-4918-90E5-DE56B7E6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46EE9-4158-4989-9E74-FF2506E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66495-7F43-4382-97AD-DB3A501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6DB43-BE56-4416-ACE9-4DAD397A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Фон, прибор и подготовка часто влияют на весь спектр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B2627-5D55-409F-96FC-8B4CFF9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1E552-98A1-4D9D-98DC-2CDFF5C4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Число каналов не увеличивает число независимых партий</a:t>
            </a:r>
          </a:p>
        </p:txBody>
      </p:sp>
    </p:spTree>
    <p:extLst>
      <p:ext uri="{BB962C8B-B14F-4D97-AF65-F5344CB8AC3E}">
        <p14:creationId xmlns:p14="http://schemas.microsoft.com/office/powerpoint/2010/main" val="4915860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DD84BB-7520-4703-900A-912C7FA9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C76DC-108B-48B7-840B-78F645C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6BCCF-0E7E-406E-869B-3DC439C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3CCDC-2341-489B-A45D-D7C0583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 отвечает на вопрос об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3BD2A-3448-40A9-9B38-23BF8FAF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2A37-2870-4938-A6BA-95FE2BB3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1B6B1-91F6-4098-8455-01E8BA31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F925-12DA-4DC5-AA75-D9533AD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D06CE-F7FE-4E03-99AD-BAB0EF21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Компоненты максимизируют дисперсию признаков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0A638-8699-46B7-B36C-08C4391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ABA9E-5DE3-4B70-9E07-7FF1388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Целевое свойство не участвует в расчёте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17951-8A7B-4FB9-BEA2-64E56B7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D0714-E670-488E-BE79-A64E58E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Большая дисперсия может быть дрейфом прибора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81F93-833E-4C83-80BF-D004DD8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7136B-DD40-4B40-9D99-E635B91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AA3FB-46AD-4A53-B3AB-B2AFFB4A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2A267-75CF-482D-B33F-C258833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ED397-02DA-422C-A256-F30D0E59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377A6-C03C-4889-9A44-C1135E3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D7499-FB2E-40EE-BD18-99AB840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44DD9-2070-4821-A2C1-719C92D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5ED11-7EE7-4916-9595-798207A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62367-0CEF-4FD6-B474-A0633B03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CBD2E-DBDF-4C20-92E7-BF67BE2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5945B-E2CD-47B1-8294-47B48637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42ECC-0044-4AB5-A71F-B6320C66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6E3DC-C8BB-4684-ABA8-F809A1B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36491-9902-43FC-93AB-64EC169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17D40-6F48-46DB-BFD8-4023DBA7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FE060-BAF6-4DD8-A0CA-C7E7FED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B30F2-586F-44EF-B824-F4E5A50C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63E2F-D78E-40E5-B75A-82D5ED8F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14D34-E6D8-4290-BAC5-AEC9D893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CA678-CB9E-4AEE-A24B-B8F1325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AA694-32AE-48FA-AAE7-9982C7D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6C820C-C23E-4D7D-A760-D23874A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AF2A14-DBCE-43D5-9DDC-7879DE0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42C389-31A8-4273-9137-0B8EE62D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49A2A4-BED9-404D-B73D-4ED6AB98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5CF707-1EB3-4AA9-A167-C2E893F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A7E89C-1727-403C-8B02-985797FF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323AC5-5725-4F81-A708-09350DDE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97B3E3-FF27-47DB-92B5-47B914D2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625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PC1 / PC2: источник вариации?</a:t>
            </a:r>
          </a:p>
        </p:txBody>
      </p:sp>
    </p:spTree>
    <p:extLst>
      <p:ext uri="{BB962C8B-B14F-4D97-AF65-F5344CB8AC3E}">
        <p14:creationId xmlns:p14="http://schemas.microsoft.com/office/powerpoint/2010/main" val="16345019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B54D9-0A7A-48F2-B579-6DAA4140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C67EF-6721-45F7-A1FE-F2B1375D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741BC-9AF0-463E-9ABC-18332902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B4A1-B3DA-493C-92F5-ED195B7F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Проверка смысла PCA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44351-00C9-4FBD-82C7-4305151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4800D-716F-4B1B-B851-A7D579A5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F935F-53C5-44A9-8C92-7FEB994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204A4-D9FE-4774-855C-68E674C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85F00-FE55-4F36-9F1C-C39A752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B5962-201C-421D-97B7-76E39EC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Раскрасьте точки по партии, дню и прибору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74EF6-41BA-4897-AFD4-F9465C1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B8618-850B-4CFA-BB55-4742FEE3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8C67F-8BAA-4150-B8AE-E0897B2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Сравните нагрузки важных каналов с физикой спектра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F2564-DEA6-409D-BD8F-87471EB9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547EE-9C55-4BB0-85CE-A0EA309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B75DD-D219-4976-979E-F33B3A68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Проверьте устойчивость к масштабированию и фону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7159A-0009-4278-8DE1-C320325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36B86-5D92-4339-9C65-F1AE3B5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Визуальное разделение не является внешней проверкой</a:t>
            </a:r>
          </a:p>
        </p:txBody>
      </p:sp>
    </p:spTree>
    <p:extLst>
      <p:ext uri="{BB962C8B-B14F-4D97-AF65-F5344CB8AC3E}">
        <p14:creationId xmlns:p14="http://schemas.microsoft.com/office/powerpoint/2010/main" val="18238382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A8B6E-CC55-47CB-8BF1-6993A78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9675-21A9-4298-A73D-9722645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EA2B7-9331-4562-A604-86EB376E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9716F-CFF1-4BBF-8C1D-47BC06E5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PLS учитывает X и 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2C093-7EC6-45E6-9B97-F8B8251F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F9E49-94F7-400F-ADE6-8D3D38D0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3F05-2CDF-4F2B-A259-8B6019B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6A712-14F2-481D-BBE8-7FB167D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B87B2-A598-4706-8018-DC18100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Компоненты строятся для прогнозной связи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9ACC4-0596-4816-A95A-6D27163F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73896-F3CE-46BB-B9C1-46CDA2DF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Число компонент подбирают только на разработке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7963B-60A2-49AD-9717-98970E4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8F179-5DC9-4BA0-B9B8-62DBD91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Нужен отдельный тест новых образцов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0073F-46A3-4031-A2D3-0031D789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14663-481B-487D-BF40-D0372807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24125"/>
            <a:ext cx="310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EEE82-277B-47A8-B726-F45A0003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098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X: спектральные каналы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B4086-BAA4-421E-BF69-B11404EA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3D569-92FD-4D05-BF89-972C8BA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24250"/>
            <a:ext cx="310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F891-4BF5-4201-B598-30D8D81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0997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PLS: компоненты по X и 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C0AF3-885D-4D2A-A26E-EC5D1C1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90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1538D-8E1E-4B56-95E5-EF4CBEA3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486275"/>
            <a:ext cx="3105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7467D-E320-4516-AF5A-36A72AA8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5720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ŷ: прогноз свойства</a:t>
            </a:r>
          </a:p>
        </p:txBody>
      </p:sp>
    </p:spTree>
    <p:extLst>
      <p:ext uri="{BB962C8B-B14F-4D97-AF65-F5344CB8AC3E}">
        <p14:creationId xmlns:p14="http://schemas.microsoft.com/office/powerpoint/2010/main" val="4502085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8F9D3-5861-43CC-AEAF-67CA074F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EAB9-25E3-45BE-BD8D-1A4A6A0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56767-07B8-4918-88B5-8D273511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10213-8DF3-490A-A3D1-E7687A68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Пример: искусственные спектры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61A87-910A-40FB-8C1D-9771FF7C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30F5C-D939-462E-A892-3FAC2EA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E932A-372A-4C38-B7D7-5B16B541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02C0-7508-4204-94D1-53DAAF8C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476EA-ED7D-4036-B771-9858A5A6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24 канала с коррелированным пиком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57DCD-AAE4-4F5B-A5A2-845C9D9B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BB63C-87DC-4717-B480-1824D407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62880-4384-4027-932B-9A4E88C4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30 независимых партий с известным свойством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0A943-29F7-4AAB-A812-637C8413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49715-4381-4736-923D-64ABDD8D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87B60-31B1-4F9F-A8BF-574B9F0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1–4 компоненты сравнивают групповой 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9730B-CC9E-4BDB-9DC2-CFBDDBF8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1029C-6FC7-42AA-BADD-634FC9B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6467C-3940-4AD7-BC56-76686C3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Числа демонстрируют API, а не химическую калибровку</a:t>
            </a:r>
          </a:p>
        </p:txBody>
      </p:sp>
    </p:spTree>
    <p:extLst>
      <p:ext uri="{BB962C8B-B14F-4D97-AF65-F5344CB8AC3E}">
        <p14:creationId xmlns:p14="http://schemas.microsoft.com/office/powerpoint/2010/main" val="1474344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378C7-900A-4551-A7C7-D3DB485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0609D-701A-4702-B12D-A261BF43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647CC-155B-4D50-A42C-D18DE59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F9C0D-6E9A-48F6-89B3-9F738DE7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Предобработка спектра без утечки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2AF83-7170-45CC-A49F-9E820D4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88AC-560E-46F8-BF0C-6DAB68C5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7D21D-777A-49B3-BEB1-D4E7D18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4F955-A31E-4BA4-89FF-9D95CFB7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328EF-DC7F-4618-9D67-AE62248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00D71-3543-4B82-96E0-2B233F30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AE8FE-5260-4F61-85F1-4A61B3AB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Физически фиксированный протокол можно применить ко всем файлам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257B0-99A6-4507-988C-5E85277D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BD69-A9F7-4B23-9480-ED2DAD08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8926D-B728-47DD-A89F-2DB7350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CF751-59F2-447B-97B8-370F451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Обучаемые параметры оценки — внутри складки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3B4FD-738B-41F4-B619-B1D0E19E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F0F2C-B3CF-4DE1-8756-9CC6833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32C91-F733-4152-A86B-3C7E3209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289A4-0E52-4424-B38B-4FE18136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Отбор каналов по y на всём наборе запрещён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5F5A9-F610-4B9F-A84D-84FB738B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992F7-92AD-4CB7-950B-E75CCB9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Параметры из теста не должны попадать в 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10633585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D405F-0B6C-4767-AC27-7C426E6E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8D314-8F50-4E24-A097-FFD697D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74FE3-3730-4F07-B7D2-EB77A14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8358-C333-48D3-8396-FF8D27EF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Дерево: разделения по порогам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2C54E-C35D-4F8B-A74A-F653449D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1A500-7BC5-4FC0-810E-33EB0C5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FE5E2-D8F1-4177-A991-5658ECF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9EB6F-38CB-4CAC-946F-6717EF0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3B9A9-B6ED-4599-92E6-9AF2960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A8C6F-114A-4994-BDE3-41E5007D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Пороговые взаимодействия читаются по ветвям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8BB8F-C4B8-4DE2-BF0C-92639C0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B4FC9-DE55-4542-A45A-25DA550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Глубокое дерево легко подстроить под шум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BFC7F-A6B0-422A-94DE-52F2FEA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67E93-B82F-4457-93B9-4837C37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Ограничьте max_depth и min_samples_leaf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24F83-13B1-483D-BD27-2D18741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41CBD-B9AE-42BD-8D75-6679F38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Новые партии проверяют устойчивость порогов</a:t>
            </a:r>
          </a:p>
        </p:txBody>
      </p:sp>
    </p:spTree>
    <p:extLst>
      <p:ext uri="{BB962C8B-B14F-4D97-AF65-F5344CB8AC3E}">
        <p14:creationId xmlns:p14="http://schemas.microsoft.com/office/powerpoint/2010/main" val="54684036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15334-A2DC-4492-95F5-37AD8086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E2EAA-E4E2-4356-940D-503DBCF4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66000-53D8-4AAC-AE7B-DD9AB23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081BE-77F4-48B8-BBD9-9350362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Лес: усреднение многих деревьев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38402-6CC0-4D06-861D-7D3C3E7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0621E-17A7-4F6B-A240-E00BD654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E53B-6B62-4A77-8422-B18A269F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2BB26-0CC3-4F2A-9AA5-8F5B6877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5A412-E9FD-4FBA-9A26-68B3D0E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Деревья обучаются на разных выборках и усредняются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8BC18-F788-49FA-8B8D-DB6B137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0C74A-339D-458C-B196-9B97201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Каждое дерево строится без зависимости от остальных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A51D3-276F-41A2-9645-47FEE55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78DE6-01E9-42F1-80D1-8DAE1B9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Bootstrap строк не создаёт новых физических партий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1A39E-6780-4A28-A943-C7A505FE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6B0AC-CF6D-4833-8983-67241A4C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0E189-6679-49EA-8D3E-638858BF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температура &lt; 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CC673-49FF-46EA-B256-00CC9E8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B241-0534-45FE-BD56-71822192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9E408-0842-4735-A76E-F3B6FA7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62350"/>
            <a:ext cx="14763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0B0E2-5DB0-47E9-8BCC-E624145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480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ПАВ &lt; c?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51228-C90E-498A-ADEA-E3E319D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2668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9C7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04D96-060F-4AE7-97A7-11022B2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480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лист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5B229-C571-46B9-A911-30DA5CA0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05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↙      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0F077-C0BD-40E7-B09C-172D2856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48200"/>
            <a:ext cx="13144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8EDB7-488B-45B2-A120-AB66A50D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7339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лист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03F40-66A4-46F0-B528-A7223C7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13144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F7B7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C2CF3-53D8-4C2F-8826-261939F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33925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7B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B7B"/>
                </a:solidFill>
                <a:latin typeface="DejaVu Sans"/>
                <a:ea typeface="DejaVu Sans"/>
                <a:cs typeface="DejaVu Sans"/>
              </a:rPr>
              <a:t>лист</a:t>
            </a:r>
          </a:p>
        </p:txBody>
      </p:sp>
    </p:spTree>
    <p:extLst>
      <p:ext uri="{BB962C8B-B14F-4D97-AF65-F5344CB8AC3E}">
        <p14:creationId xmlns:p14="http://schemas.microsoft.com/office/powerpoint/2010/main" val="12291721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690C4-56B1-420A-90A3-C779DF2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5AB0A-07E0-4DBF-B820-FCD3637B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7BE37-BDDF-49D6-81CB-4B44CEF9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F5EC1-7B33-4674-8F80-E5C1C0CA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 и бустинг: два способа собрать деревья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7CC44-C8D7-4302-81E6-8D86A90D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A5588-7D65-4D6D-8B6A-3DE8C59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D4CB-E64E-4226-BFD9-9551B015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65BC7-D39B-4A50-9AF1-EDD2416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06DC3-187B-420F-B7B1-DC20A01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56164-1677-4E24-B027-4272550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Лес: независимые деревья, средний прогноз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A185-0A4E-4D5D-BCE7-15AFA87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5F4A2-855B-4B18-952E-A94A844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7AEFA-7A22-4CC1-9E72-174F5AD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Бустинг: каждое дерево исправляет прежние ошибки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F6C51-F5F9-4928-8097-D2B4295E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F96C0-D932-41B1-87BE-27B16EE4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26733-81D2-48E8-B068-EEB3AA2F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Оба метода проверяют на тех же новых партиях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B5D0F-1EE6-4EE1-B3B6-08A5619D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B6D05-3941-4DB6-92C8-614F8CCD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Больше деревьев не означает больше экспериментов</a:t>
            </a:r>
          </a:p>
        </p:txBody>
      </p:sp>
    </p:spTree>
    <p:extLst>
      <p:ext uri="{BB962C8B-B14F-4D97-AF65-F5344CB8AC3E}">
        <p14:creationId xmlns:p14="http://schemas.microsoft.com/office/powerpoint/2010/main" val="5739393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A660F-67B4-4FEB-BEB5-85CD39A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43D2-C576-4C2D-ACE6-86EE213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D06FD-80AA-403F-9F50-99E9BCA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D8D5C-C960-4988-B49D-3664971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Бустинг: четыре условных опыта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BEB50-1C7B-4F14-95CC-623B235F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17057-2B04-4F71-B4EC-854BBB5F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E46D-E621-422B-9574-16A1E989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D7444-57BE-4699-986B-CBC9D1FF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1BBF1-C563-468D-903F-B3F9837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Температура: 80, 85, 95, 100 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1D4A0-ED47-4CB3-89E8-FD273751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03077-D65D-4271-A01C-AA0BC515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8FDEA-4A0D-442B-BB08-26DA53A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Свойство: 4, 6, 10, 12 усл. ед.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7D769-A4D2-4D76-86EB-4C523F5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A4F99-31EE-4817-9C98-610E7A4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898C2-E8FC-4438-9FB3-C2E833B9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Первая модель: среднее F₀ = 8 для всех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C9856-D6F9-4D4B-BB6A-E082F22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DFE23-6C17-4ACC-BF9A-2A2CB8C1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32E33-4850-4EAD-93E8-9FF54E4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Исходный MAE = (4 + 2 + 2 + 4) / 4 = 3</a:t>
            </a:r>
          </a:p>
        </p:txBody>
      </p:sp>
    </p:spTree>
    <p:extLst>
      <p:ext uri="{BB962C8B-B14F-4D97-AF65-F5344CB8AC3E}">
        <p14:creationId xmlns:p14="http://schemas.microsoft.com/office/powerpoint/2010/main" val="24683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9640B-3374-4FC4-8243-F6D1F4C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D02D-6C68-4228-913A-706D88F0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19F4D-58CF-46C5-92A4-DD3B897C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26B4F-809A-4630-ADD3-4892FD6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Первое дерево учится на остатках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02F00-E080-4A01-BDE2-378EA675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CF5E-7A48-405B-89D2-679C3C14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6A799-CAD4-4674-9987-DE9FB55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ABB83-E37D-4DE5-9E55-4798570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876FA-C99F-44E5-AFD7-1782FFE6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6FD5E-5241-4750-9293-3533FBF8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53133-C10B-4683-8851-41F3D62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y − F₀ = −4, −2, +2, +4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B8F16-5A52-49AA-A15C-A2ED47A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A416C-4591-499C-AFB7-AB7873B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D6544-9493-49EE-90C1-295686CE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8F883-7097-47D8-A253-EEFCCB63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 90 °C разделяет низкие и высокие 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5D42F-A513-4012-8965-B30A05C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D469E-6ACC-4D9A-80DF-6E787E07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B9D1E-9B61-4C62-9F02-08E83F8E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2BCFD-6C0C-448F-A7D6-7177743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Средний остаток: −3 слева, +3 справа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F6EE3-900B-4533-B132-54A5F34E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316E1-6E42-49ED-94F4-1A22781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Дерево моделирует то, что пока не объяснила сумма</a:t>
            </a:r>
          </a:p>
        </p:txBody>
      </p:sp>
    </p:spTree>
    <p:extLst>
      <p:ext uri="{BB962C8B-B14F-4D97-AF65-F5344CB8AC3E}">
        <p14:creationId xmlns:p14="http://schemas.microsoft.com/office/powerpoint/2010/main" val="1098537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1C8CA-39C3-4821-90B9-F238F99C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27133-F1BF-4427-B29A-253F1E73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7EAE-7C98-4E34-8C54-BDC84F4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6AEFF-CD74-4E81-845F-D2982F6F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После одного шага бустинга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BEE95-1100-4243-A3E9-262B2DB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6335A-4729-4DD2-8463-68654DA5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C3523-0BEE-415D-A9F6-84093D34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90C8-BF2D-4111-8AE7-E8579EAC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A7589-FDF2-464E-AF1F-F30F41F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BF853-E60B-49AC-9666-CB7F7D5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F₁ = F₀ + 0,5 · дерево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DA3E9-BB93-4EE8-B98B-720BEF36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13B3-E8EE-4A85-BE1C-C7344B2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Прогноз: 6,5; 6,5; 9,5; 9,5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7CF44-CECB-4A5F-B4D9-EB2C4FB7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3C934-784A-4789-8E7D-EF0FC456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Новые остатки: −2,5; −0,5; +0,5; +2,5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4F245-1F11-4339-9FC5-729CEC1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92816-93F6-4584-8AF3-64CCBD7A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MAE уменьшился с 3 до 1,5 усл. ед.</a:t>
            </a:r>
          </a:p>
        </p:txBody>
      </p:sp>
    </p:spTree>
    <p:extLst>
      <p:ext uri="{BB962C8B-B14F-4D97-AF65-F5344CB8AC3E}">
        <p14:creationId xmlns:p14="http://schemas.microsoft.com/office/powerpoint/2010/main" val="11687270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F9804-D5DE-4913-9EED-CD370C5F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656A4-0084-4C0A-A06B-7237C36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B2479-A218-4208-BC46-7E9BFDB4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316AE-617A-4C00-B73E-30D33D28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регулирует сложность бустинга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57C16-117B-4FE7-BB29-8BB9B04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06E8B-C057-4CDC-A4D5-2124FE69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CA858-723D-4B5F-AC2C-0A7414E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EB0A-ED20-4565-90F4-4C3C661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3FBD7-052E-4739-9627-379D399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83C7-3530-494A-8A80-8C70B21F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Мелкое дерево исправляет простой остаток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73EC-A527-4279-A8FC-B3B2A7E5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F1608-55DA-43CE-8B94-262343E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A583A-774E-47EA-A99C-C0BCFABC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learning_rate задаёт размер каждого шага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4CA37-3FE6-4DEF-9250-4FBB00AE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F48DD-4EA7-40D1-9CD4-C43FEEFC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B5566-7307-49B4-8A77-C3904458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n_estimators задаёт число последовательных шагов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63EF1-A1E4-4379-B8BA-8736885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56399-9B58-489B-AB85-5ABB307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Выбирайте настройки на групповой проверке</a:t>
            </a:r>
          </a:p>
        </p:txBody>
      </p:sp>
    </p:spTree>
    <p:extLst>
      <p:ext uri="{BB962C8B-B14F-4D97-AF65-F5344CB8AC3E}">
        <p14:creationId xmlns:p14="http://schemas.microsoft.com/office/powerpoint/2010/main" val="2564769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54481-6BC8-4B6B-A72A-54E38DE2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340EE-179E-41F6-AF1B-FDB016BE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0382C-E847-4DAE-8460-292B158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C5F00-25F5-4459-BFCF-7AFD13D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Лес против бустинга: честный протокол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AF858-EEB0-48B9-A12E-0448EFB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230B5-E831-4549-810B-3BBDB907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62A27-6F16-48BB-80B9-7176B78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3F2EA-9581-409A-AD09-89994228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C123E-3165-4B83-A63C-68DE21D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B77EF-20B5-413A-A6D8-2F4C409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 и тот же тест новых партий для всех моделей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152F4-5292-4F12-93E5-463D9A0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08F2F-BE6B-41FA-AC71-C91423D5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4998D-C71D-42EB-99D5-1240B500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Одинаковая метрика и групповые складки разработки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6A280-6365-438E-A36D-A1AFD87B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195F7-95C3-4D66-B8E8-F50D3C07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1AFC7-8797-4610-A429-4B7892D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Встроенную случайную остановку проверяйте отдельно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EA66E-AF74-498E-8222-8A9E2C3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4FBE6-8BB0-4ADA-B675-5ED63A7D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Сообщите ошибку каждой кампании, а не только среднюю</a:t>
            </a:r>
          </a:p>
        </p:txBody>
      </p:sp>
    </p:spTree>
    <p:extLst>
      <p:ext uri="{BB962C8B-B14F-4D97-AF65-F5344CB8AC3E}">
        <p14:creationId xmlns:p14="http://schemas.microsoft.com/office/powerpoint/2010/main" val="9454876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94197-8911-4BD6-9638-98F9830F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614E0-E08F-4371-99B3-22929F6B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02409-F74B-496D-BBF4-B7FBACE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A8360-9B0B-42BB-A57D-3FE00CCB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Неопределённость прогноза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DA88-C92C-4045-AE3A-2B78E72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C1859-6B0D-4272-8E5D-688825C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A9DA7-64AC-4578-AE59-391B8A4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5C97-0FDF-44D2-A42A-3A4EA79C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0A6E1-9AF7-44E6-90E9-DACC198D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Различайте средний прогноз и новый 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A73B6-A1AC-48BA-BAA2-9026902B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22EAD-2C39-4D3E-B19E-95626CD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677DF-3F73-4E9E-9F65-3E72C21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Учтите разброс партий и ошибку измерения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E2F50-9A3A-46E6-A188-C2096D0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24A2-D706-456E-AB89-443190F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ED0DC-C402-4B13-A21A-6B5D1E24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Покрытие интервала проверяйте на новых партиях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0D3F0-432F-40B8-87FE-2F5AB02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D1406-EB55-4D6D-A8FB-D444286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4536B-2C51-4B7C-BC60-F89CB94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Число ±σ без определения источника неопределённости малоинформативно</a:t>
            </a:r>
          </a:p>
        </p:txBody>
      </p:sp>
    </p:spTree>
    <p:extLst>
      <p:ext uri="{BB962C8B-B14F-4D97-AF65-F5344CB8AC3E}">
        <p14:creationId xmlns:p14="http://schemas.microsoft.com/office/powerpoint/2010/main" val="23666279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6CE40-1003-4BBA-A561-C3936056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8C36-C0AD-4D1F-BBBD-8ACE9D2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B78E2-60C4-4664-9536-0CE93F0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F1470-216D-4511-87D2-649FD58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 внутри прогнозного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23AF-4064-4DFD-8D7F-6E720C5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E47D8-632B-4DD9-8904-0798584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CB586-3D68-41E1-9136-A471E70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C67B0-57C4-4263-A877-3605AAD6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AB861-370D-45FD-B582-4259AA2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4DF61-6480-4B63-8D48-EC98380F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22C52-21B7-48D2-90CF-CDAB161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PCA.fit на всей таблице видит распределение теста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3727C-EA24-4DA7-BA9C-4CE4A6B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B9604-99FE-4806-BD28-0839922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5FFA1-B065-465A-A443-F9F1662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132E8-E594-458B-8038-8962B39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 каждой складке scaler и PCA обучаются заново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FA9D0-613D-4273-914A-F974883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61604-5C0D-4DF6-8F31-3F5DCB23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5DC07-1EEF-4126-B358-DB0E423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18C38-945B-4C64-9704-307A6C83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 используется только на этапе supervised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1B312-9029-4A7F-B528-551567E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DEF3A-AA9E-49B1-B016-299AAD2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Unsupervised не означает безопасно до разбиения</a:t>
            </a:r>
          </a:p>
        </p:txBody>
      </p:sp>
    </p:spTree>
    <p:extLst>
      <p:ext uri="{BB962C8B-B14F-4D97-AF65-F5344CB8AC3E}">
        <p14:creationId xmlns:p14="http://schemas.microsoft.com/office/powerpoint/2010/main" val="184668692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DC4712-9E94-41F2-9369-6F8BBB1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1EE15-D388-4EB0-B8E8-E4EB567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D7ABF-5820-4F63-9C8A-79564845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31381-964E-4BE9-855F-1BD0491B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Кластеризация: геометрия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568AA-A682-49CD-A712-075914A7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B78B2-8420-4912-95FB-5ECB83DC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0FF7-C9ED-4524-811F-473BB32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55F7B-7443-4716-A2DC-DE7B10F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618BC-2CA8-47A4-A116-AFAC3256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KMeans требует число кластеров заранее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1E011-D01A-4F55-9625-927DB37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99657-1546-4241-BFE7-4E25E47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Результат зависит от масштаба и признаков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064A9-FE7B-48E5-8570-2BA3C5C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C196F-AA92-4BCD-AC0E-7FA248E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Номера кластеров произвольны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BC70A-7CDD-4560-AAE0-B6702693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258A1-D13F-4AC7-925E-D5931E93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35A34-4F12-4525-81D1-C5DA152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00EF9-E051-4D4C-B29C-E23C59AA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9DC98-1785-4AC7-B6A1-38125B5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8CE56-9A0A-4D49-A02E-47E4164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CDA23-078F-46C2-A187-0372183E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F9D6C-A896-461E-BE32-DC32E914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5F86A-A9B2-4C5A-BC00-E8820D8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7AAE9-30C0-41E5-B261-CEF82E8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53EF1-2B58-4244-B561-98EDEDA5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D44D9-A7E4-4987-858A-8E95B45D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0B4BE-44EE-4FC6-BD10-39D71BE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51911-42BA-4768-BB31-F621B23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4D139-A86F-42A0-8E01-3BA5DD48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EC017-C80C-4BA0-9177-89B7362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1B9AB-3DAB-45F4-8AB5-50245E45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4FCA1-C7A6-4532-ACCF-5AEF89C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B7C13-459C-4CD2-B85F-2A5087C9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C86AC-7ABC-4E39-A61A-359EFEEF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B9F1B8-A118-435E-AAA9-B3B7F63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77F711-5256-4C38-AC70-8BCF981E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B4559-3206-49E7-94F3-14D0678E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9A7EBE-F9E2-4BDF-BBF6-EE5B98AF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B3F18-DED3-48AD-AF55-2C2566B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685696-45D8-40B0-BDAA-910BAA02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3B87A9-2733-45D7-AFB8-6A7063D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501CA-5DF1-4D94-8C95-BF5802CB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AE58F8-F490-4D80-AEC6-322AB17C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C12DED-9835-4EC0-BE09-69D88D1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62525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Кластеры ≠ фазы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120977569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6F5CF-A891-43FE-B409-0B9AFC4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E020A-902C-417D-90E9-C470A28C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1D86D-2FBE-4498-A1BF-B117B6ED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0335D-EEF1-4450-9A2A-E89E7576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Silhouette и его предел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E51B5-2FBD-4324-A429-BDF3E3B8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DB1AB-83D3-4FB9-A274-69EB181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6D1AD-D82D-4B00-9116-1B04F560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4C628-8834-404B-88C2-3134C49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E83E3-899B-4F24-AADB-86C433A6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ADF94-408A-48C9-983D-F56439B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Оценивает компактность и отделение групп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CA744-E7DF-4895-867D-C5AF314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57B79-15CF-473C-8DEB-A37B693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ABA97-A975-4108-8FCD-E92AB058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Может предпочесть структуру прибора или дня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47851-9CD9-4B6F-A100-AC1CE76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8295E-7B16-4AB6-96EF-B0DD978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B54C7-7065-42F0-87DD-4582E3F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 подтверждает физический механизм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5AE46-F731-4EC9-A395-ACC2860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03AA5-6EC2-40B8-96E0-6662C1D5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Сопоставьте кластеры с независимыми измерениями</a:t>
            </a:r>
          </a:p>
        </p:txBody>
      </p:sp>
    </p:spTree>
    <p:extLst>
      <p:ext uri="{BB962C8B-B14F-4D97-AF65-F5344CB8AC3E}">
        <p14:creationId xmlns:p14="http://schemas.microsoft.com/office/powerpoint/2010/main" val="198809718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F0914-E8A6-4F02-A12E-91B06B7F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3740C-C3BE-45B1-84F7-7793D980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E3CF-7373-4FC2-8E40-5C80C05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A6133-C89B-4AA2-9719-2A01408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Сдвиг прибора как ложное открытие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44E42-3599-4B37-BECA-D216861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97E1-B442-4EEE-AFA1-15B1DDBC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F2A0C-E072-4E24-9EB5-5CA69C8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E4C80-D363-4899-ADAF-25C0212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FF9F6-1ABF-4D9F-B35A-5E9A499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166E5-BA11-4CC4-A5D0-5CF46FC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Два прибора дают разные спектральные фоны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27784-C7BF-4021-A964-4CCE849D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B01FA-0EAD-48D6-AC41-931324C8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F1387-413C-46DB-A341-1511FE2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PCA и KMeans могут разделить приборы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B53EC-ED32-403B-8A57-A5CE94E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9B41F-417D-485B-A13F-4BE731D4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CFF58-7A3C-4D31-A2FC-7AC86C94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 свойства затем теряет качество вне прибора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A27BB-C3BF-433E-B544-53708F16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6E352-222C-4DBE-A178-190F73B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Раскрасьте PCA по прибору до именования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61468344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E2AED-50B0-4084-BC4A-3E9693B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47727-166B-45D9-AC51-B0FA815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5D208-FE43-466B-A1C2-F4622506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411AF-00B9-47C9-B042-6931933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Kaggle: pH по трём каналам RGB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74924-241F-49D5-8ED4-ECFC5F1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1E108-3282-4E0A-A9C2-A38BCDFA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0F5A2-D26C-4EB3-8ABC-B9A74BB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C56FD-3D81-465D-B32E-B03D973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8DBCA-F780-463E-9A7D-9621AB0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Входы: R, G, B; цель: pH раствора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16EBA-51C7-4A17-BD15-4054C82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3128C-196C-4520-A3A9-FA387440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BC7CD-C0DB-42F4-B63D-398FE83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Это таблица цветов, исходные пиксели не заявлены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488E6-34A4-4CBF-8E21-BDD0D367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2626-3B65-4D4E-9C43-CD29793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DA47F-F8C0-476B-808C-120CF13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Проверьте колонки, диапазоны и повторяющиеся строки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C4ABA-9330-4D62-A144-4EDE64A7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74D14-85A6-4FA9-A455-B843654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E2782-5DCF-49D6-8D9D-BADCD393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Цвет зависит также от освещения и съёмки</a:t>
            </a:r>
          </a:p>
        </p:txBody>
      </p:sp>
    </p:spTree>
    <p:extLst>
      <p:ext uri="{BB962C8B-B14F-4D97-AF65-F5344CB8AC3E}">
        <p14:creationId xmlns:p14="http://schemas.microsoft.com/office/powerpoint/2010/main" val="98977070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3A9CC-B812-419A-9425-338D2B57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AEB3E-F958-475E-A2F9-1D953FF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82D36-E286-49EA-B157-2E46E4C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B1746-D291-4EB8-AA82-80DCA27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pH: какие модели сравнить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39BF3-9C0B-4E81-BF32-5AF7BBB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8718-DA2F-488B-8ED6-7B9A43B6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C9027-B33D-4863-BC5D-67DBBC13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8C46C-63A2-429D-A9A4-C50B062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A204A-8BBA-44C0-94D7-AAC18A5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74AB3-480E-4561-9F8D-148CD13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90787-C4E2-4ECE-8A97-1CE75B51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Константа и Ridge: простые отправные точки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096E4-0800-49E5-A598-DC21A52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96BCA-73A7-47A7-BD6C-DA72EB19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B8AD-61DA-40B2-B583-C81E568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18C1D-ACAB-4FB5-9530-E4876047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Неглубокий бустинг: нелинейная связь RGB и 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3F126-A6AF-48EB-98BA-B02C1F7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210BB-4E52-4D6E-9497-FB36E98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3ED0D-1CF3-4F59-952E-6406516C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429BB-E796-4193-B1D1-835FE1F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Малая сеть 3 → 8 → 1: факультативное сравнение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41A73-94EA-4413-9AC9-C80CF0FA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89F16-E7D0-402E-B238-9E130605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MAE в pH; перенос на новый прибор требует новых съёмок</a:t>
            </a:r>
          </a:p>
        </p:txBody>
      </p:sp>
    </p:spTree>
    <p:extLst>
      <p:ext uri="{BB962C8B-B14F-4D97-AF65-F5344CB8AC3E}">
        <p14:creationId xmlns:p14="http://schemas.microsoft.com/office/powerpoint/2010/main" val="36087272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E8C94-809E-46BD-BF70-4043885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E6051-0E7F-4B95-9223-4830152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55396-280D-47F8-9902-59D83F22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46AD-0804-4847-BDDF-4BE4F931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Активное обучение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3A83D-D0E1-4C66-B7D8-A9D9AB68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EB6B0-24FA-464F-A36F-BAEA6D0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2C68E-DD99-4CF9-972E-D9CC312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F93F6-9028-4669-A03E-62180DA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D0B73-DB30-4C39-8B6A-BF96F643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 предлагает условия и оценивает неопределённость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45991-23F4-4BC8-855F-F1714987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9B44F-7A68-4C25-B909-A8AC1F4C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Человек проверяет область, безопасность и цену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5512-38F2-4EB4-9F6B-CC380E5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E8A17-451A-4C78-82A4-C967092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партия обновляет данные и прогноз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8F37F-9836-4178-BFED-2F6A7DCA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F7ECE-6E6C-4DBD-987F-185981D8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384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5B1BD-76FD-4EEE-BEFC-87BFADAB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241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предложить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2D2D7-7E52-4C77-A985-65F3175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31F2F-1365-43CA-8184-8D9D9025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242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DD279-C9F9-4850-93DC-C9F275E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099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синтезировать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E3DF9-E4F7-40D9-96BA-D6C7950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43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9D40E-3045-44B4-A280-4B4F8FF5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100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A1613-3F42-49C5-A68B-9F46B2C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957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измерить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A978A-25EE-4A8B-B0B5-E3425D15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291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8E8CE-1B89-4B27-9630-023C9D36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495800"/>
            <a:ext cx="2914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9C7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A63DB-2D94-4734-AC02-34C508E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815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обновить</a:t>
            </a:r>
          </a:p>
        </p:txBody>
      </p:sp>
    </p:spTree>
    <p:extLst>
      <p:ext uri="{BB962C8B-B14F-4D97-AF65-F5344CB8AC3E}">
        <p14:creationId xmlns:p14="http://schemas.microsoft.com/office/powerpoint/2010/main" val="118760417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4EB56-29D5-413E-A7A6-4180BE7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5174-1124-4195-8212-E26293C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1F4E3-5B08-41A3-A7CC-6A793F64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F0B9-7F93-44B5-B0C6-057499F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Активный выбор: прогноз и неопределённость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2FF0A-A962-47FF-A794-3B4A12A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A2FB6-EBC8-425D-9044-0DF5AF2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21DFD-61C9-463C-815E-438817D8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A13A2-5D1D-4E5A-87EB-BBB0CF4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1C155-C6BD-4B9D-B48E-DD7F188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E2274-B6A7-4D6F-80B5-1B31CDED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A: 95 ± 2; B: 90 ± 8; числа условные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7AD9C-5026-4F71-9C13-D5E7E0AA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9D4F2-7D05-4766-92C9-B5F94400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7B038-F870-426C-889A-7ABF6BB8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score = прогноз + неопределённость: 97 и 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65BE9-1871-4E4E-926D-98E2DF6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8967E-156B-4142-A25C-28458C1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90141-5B96-4F70-A2B0-EBDA978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 изучает более неопределённый участок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02CBE-E7BE-424D-9BD0-6762151B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A8077-E91C-407B-92C8-56C7886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Оцените допустимость и повторите спорный опыт</a:t>
            </a:r>
          </a:p>
        </p:txBody>
      </p:sp>
    </p:spTree>
    <p:extLst>
      <p:ext uri="{BB962C8B-B14F-4D97-AF65-F5344CB8AC3E}">
        <p14:creationId xmlns:p14="http://schemas.microsoft.com/office/powerpoint/2010/main" val="65994186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1EB1B-20EE-408F-B0D3-3A09D840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F2C27-E427-4702-9760-4DF036CD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8E68-1B75-4194-8BD4-1FDC3932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173DE-43B1-47B1-8E17-4CA6DDFD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Активное обучение и RL — разные постановки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C7262-FFAC-491C-8411-E9384FEF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D6D62-3F12-49B4-A83E-EB57A1B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E6A54-2E5B-4384-8575-E21AF2DD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5CFC0-8DE8-4C2A-B750-0FFACAB5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7BF2A-97F5-4331-8C1C-2C0EE70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Активное обучение выбирает информативный опыт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FB892-F624-4FCA-9D83-1ED7249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BC44D-D8F0-4FD4-8A99-FED89FD7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RL выбирает действия в последовательности состояний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DBA34-3CC6-463B-BDC6-B3AE3BC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F6ED4-9127-478C-9BD4-BD006967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Обе постановки требуют явной цели и ограничений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83981-41AB-4230-A06F-2C5A4C8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554B6-475B-4343-A26F-9F0C1A6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62225"/>
            <a:ext cx="3200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881D9-9BEF-4E84-8F29-FF5F8227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Активное обучение: новый опыт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56BDB-6F89-469D-94D2-452B1572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29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62718-1E77-4D54-AEA4-54CC5BCF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24325"/>
            <a:ext cx="3200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CFC99-37A6-46D6-881A-847179AE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RL: действия во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251820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AFD63-0979-40FE-901C-F92E0F55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26A8B-0601-4171-BA0E-880D5A4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5117-603C-4677-AF5B-774106E8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4C351-8E55-46D4-A17E-6C7AE5D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Нейронная сеть вычисляет прогноз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B217-5A60-4FC9-8B57-7C0AD05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B6A3-3AA6-4496-A2B4-75C7B4C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A10B2-C5F6-4630-8FD7-FFAC3438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1C7AD-0F57-44CA-9A5D-EFB8FD1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365C6-FD45-45C3-A4C3-48647D68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Скрытый слой: h = ReLU(W₁x + b₁)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FCA48-9E50-471C-8174-AC6DEDC7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81529-3043-441B-B877-85089F9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FB794-9F08-494F-8CA8-4425A1FC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Выход регрессии: ŷ = W₂h + b₂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6604E-C1D8-4226-82B2-D1F69E9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EB288-B7B2-488F-91A6-B831345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DE1D2-5647-4FE3-A30D-A6BACC2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Веса обновляются по градиенту функции потерь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ADD7A-707C-4B3C-891D-ABDAAF4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95AA9-94AB-4EF2-9050-2C36D78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5B00B-1D7C-4E79-878D-7DAC133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Нелинейность даёт гибкость и риск переобучения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169932429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F434D-E0E6-4F1C-897C-30DBA132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D2C5-F7ED-40EA-8643-E58C20D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47548-405D-4461-97E7-C714B820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98A00-BDB4-43E7-BAC9-D178199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Малая сеть для RGB: 3 → 8 →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75EFE-F40A-4778-A85D-41222F4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F878-A7F5-451C-9298-779B6BF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D986E-037D-4A05-AFBC-6C3164A3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13F68-DD36-49BE-AF40-C9F93CDF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08AFE-818A-4051-BEB9-40A5140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01054-3460-463D-96F5-C6C30C2F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4153F-FD18-48AF-B14C-7B6C2579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Три входа и восемь скрытых нейронов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36E68-15DE-4A82-B713-43D0885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A976A-9A08-4858-970F-E71A5BE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505FE-6A9D-4817-BCAF-001E816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DE34A-C50F-4179-8208-729706E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(3 + 1) × 8 + (8 + 1) = 41 параметр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E3684-A949-4B21-B309-E2F3AA2C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CAB40-647C-494E-9773-1516B1BC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6DD2E-C791-420D-9FE2-B27E06A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75A2D-FC62-439C-9F6B-83E3C3AB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Масштаб и подбор эпох учатся только на 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E9C87-C87C-48CC-84FE-64B1FCD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F8A2E-5AF4-4FD2-BEAD-4408DE5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На небольшой таблице Ridge может быть устойчивее</a:t>
            </a:r>
          </a:p>
        </p:txBody>
      </p:sp>
    </p:spTree>
    <p:extLst>
      <p:ext uri="{BB962C8B-B14F-4D97-AF65-F5344CB8AC3E}">
        <p14:creationId xmlns:p14="http://schemas.microsoft.com/office/powerpoint/2010/main" val="93140138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34F5-4DAA-455D-BFEA-FE46CF1E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821DF-99CB-4601-AC34-DE649EB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E4002-7B7F-4E9E-B5B9-C7156F2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04CED-3971-44CF-8F7C-486FC4CF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Kaggle: липофильность молекул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8D293-21CC-40C7-A725-484939D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7BD27-69C5-40C6-8FEE-296AC1A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D94EE-74AD-49A7-B050-69D5B7E3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24B81-0E68-4CB9-96E9-E863EBC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7127A-C769-4D5F-B2F9-D0C5C1EF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E8143-EBE4-4522-B106-AFE28983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экспериментальный log D при pH 7,4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BA218-31AE-45B8-A49B-317D891B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F5AE7-5CFE-46C4-9432-FF000608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Вход: молекулярные дескрипторы и структура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099B9-A2B1-4B1A-BC8B-4EC59FD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A85B4-EF98-438F-9016-FE86C8E2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Ноутбук сравнивает SVR, Keras и модели поверх неё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0AE86-206F-4B67-94F3-49E34E5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E17B4-FFD6-4C9A-85CF-7A0F026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химическая серия — отдельный тест переноса</a:t>
            </a:r>
          </a:p>
        </p:txBody>
      </p:sp>
    </p:spTree>
    <p:extLst>
      <p:ext uri="{BB962C8B-B14F-4D97-AF65-F5344CB8AC3E}">
        <p14:creationId xmlns:p14="http://schemas.microsoft.com/office/powerpoint/2010/main" val="164141962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F7B26-424F-4465-8C9B-022C153C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54163-B706-4E21-8BEB-C6D6AABA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3E324-D3CD-4CE8-8ABF-687861A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C4109-BF21-4357-8B90-9DF7813F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Утечка: преобразование до разбиения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46DF2-A04C-4093-AECB-DF9528E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B3F92-F820-4F9A-BE8E-A05224D0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4583C-AD55-43B2-9E30-75558A3F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38A34-5065-47C3-A13F-CF8F00EE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79AE9-D40F-4BF9-91BC-88B5469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F5961-CEB2-4332-B20C-A178380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StandardScaler.fit на всех дескрипторах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4308A-0AFC-41CF-B47E-15A7E8A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FFCB0-D41F-4DC5-8E44-7D8DB499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D56D0-12DC-4FAD-B7B9-E9A175AF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KernelPCA.fit тоже до train_test_split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0382E-D6D4-425E-853B-2BD27DC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7A477-E07F-4D3D-AFE9-BF9748A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67706-723C-4C05-B2CE-ADF9B84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Тестовые X участвуют в подготовке модели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CCEE6-14F6-4F12-8E65-2E151403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F508F-7140-4B16-94AD-714A64E0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Преобразования без y также влияют на честность теста</a:t>
            </a:r>
          </a:p>
        </p:txBody>
      </p:sp>
    </p:spTree>
    <p:extLst>
      <p:ext uri="{BB962C8B-B14F-4D97-AF65-F5344CB8AC3E}">
        <p14:creationId xmlns:p14="http://schemas.microsoft.com/office/powerpoint/2010/main" val="20273135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5738D-7E32-41D7-8FFB-1949E32D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12B6-13C8-4B38-956B-104F48D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05397-4A6E-497B-B48D-FC6B7A3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50DE8-5F89-4AB5-A3C9-B31CB7C1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Вторая утечка и исправленный порядок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1DE7-643F-4CA4-8224-75C513E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04C8C-B704-4BD8-A3FD-9F4BDC7F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283B6-84A7-406E-BB15-BBB647B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8CE6-0F28-429F-A63A-2FEC5451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A02D8-86A4-45C2-B14C-E6434CF3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17011-97CC-469C-A8B4-6670396D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После split снова объединены X_train и X_test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9D7D-2495-492D-BDA6-9972228C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2BA28-1E66-4776-B4E3-B3D5EA6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C4B29-09B5-479C-AA43-DE9F4255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Scaler и KernelPCA обучены на объединении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70BFE-EB09-418F-8115-2D27F196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2E423-D0E4-4EAE-A99F-353CBF7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A3EA7-E8B4-4DF2-8F2E-C73A49B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Сначала split, затем каждый fit внутри CV на 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88DEC-9520-4039-B5C2-C0F561E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E461C-EB0F-480A-8FBC-2DD4DF69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Удержанный тест оценивают однократно после выбора</a:t>
            </a:r>
          </a:p>
        </p:txBody>
      </p:sp>
    </p:spTree>
    <p:extLst>
      <p:ext uri="{BB962C8B-B14F-4D97-AF65-F5344CB8AC3E}">
        <p14:creationId xmlns:p14="http://schemas.microsoft.com/office/powerpoint/2010/main" val="99901395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61BE3-9BB5-41DF-9895-CEDD7AC8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42133-803D-49C5-94C2-89BC2976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9092-EC91-4AAF-9AED-08845CF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 И МЕТОД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22353-FE67-41F7-9142-404D89D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RL: постановка для процесса во времени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AB3F0-6DD9-49F4-B624-05F3F0FE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A05F9-7CB1-4D56-B453-8A73AB67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30C1F-527E-4A23-8FD6-4FF7A828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F0F2A-54C4-4FF2-AC7F-3640093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9CC98-F6AC-4913-9C24-E2126E8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Состояние: доступная сейчас T и показания датчика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8ED31-A834-48D3-8979-1D4F8EC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5BDA7-683A-4404-8930-CE4B1F3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FDB45-CA15-4DE4-9015-59B9F9B0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Действие: разрешённое изменение мощности нагрева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50F6F-D034-4692-95F8-600E3389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ADCD7-764C-423A-9E02-676316B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BEDB7-7014-4AFA-A792-45183FE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Награда: итоговое качество с затратой и штрафом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9BFC0-8C50-4B05-81FB-978BA9C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9C5FE-9B99-42C3-AA02-31B8EE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5C18C-1107-4DDA-BBD2-1689831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Нужны траектории и проверенный симулятор</a:t>
            </a:r>
          </a:p>
        </p:txBody>
      </p:sp>
    </p:spTree>
    <p:extLst>
      <p:ext uri="{BB962C8B-B14F-4D97-AF65-F5344CB8AC3E}">
        <p14:creationId xmlns:p14="http://schemas.microsoft.com/office/powerpoint/2010/main" val="158529336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7F4FD-7055-4009-B1D8-7DE509B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AF63-91D4-4E4C-B57B-B61EE4A2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08242-66B8-4029-9490-FF5DE6FC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ТРИ ОПОРНЫХ ПУНКТА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E48B6-FC8B-4D78-8CE6-5364D142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Два действия и отложенный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04552-7588-484F-8CAF-E5720AF5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590FB-D84C-4FE1-B300-92D7273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83969-C2D0-4493-B997-AF462A8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2D9FA-6484-465A-B799-82305F2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84DDE-38FD-4693-A1B1-81439E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FBF39-F2CE-4B5E-B8CA-7F0A83D0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37240-486B-40D6-9D10-141AB02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Быстро: сейчас +3, затем лучший итог −6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FC6BB-BEF8-4A09-99D9-AE146F21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A42DE-8321-4245-A093-1DDB3B39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75936-4BB1-4CB5-974E-6FEC597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EE9E0-D9EB-45A1-94F1-40BA1B9B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Плавно: сейчас 0, затем лучший итог +4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B087C-BA59-422E-99E4-E026B54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B67F1-3E24-41BF-97BB-6344772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53B54-F80E-4A6D-AE4B-7DEA930F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6CBD-65BF-4DC0-8CE3-8F24EA9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γ = 0,9: Q = −2,4 против +3,6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1C6CD-3F23-4811-882C-175CF87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33A85-580B-4485-94D1-6AABBFF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Числа условные; это не режим для установки</a:t>
            </a:r>
          </a:p>
        </p:txBody>
      </p:sp>
    </p:spTree>
    <p:extLst>
      <p:ext uri="{BB962C8B-B14F-4D97-AF65-F5344CB8AC3E}">
        <p14:creationId xmlns:p14="http://schemas.microsoft.com/office/powerpoint/2010/main" val="170803276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607D2-E998-432C-98D5-EDD8AE2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84715-90BF-43D8-B66F-2F350E0A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386A6-BCE0-4C79-BCBA-E82FE06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ПРОВЕРКА И 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F2F69-0501-4082-A983-267A54D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Метод выбирают по задаче и проверке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A29B3-2392-41A7-A05C-FD937BBB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22464-C016-47FF-AF79-1365345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7DD09-23F4-473A-9BD0-4356CCC8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7A684-8E09-4951-83FF-EEB1E64A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8562A-06A3-4953-85B9-2DA5E5C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C4A5F-DBB2-41D7-968C-808999F5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Ансамбли и сеть сравнивают на одном честном тесте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B5E25-4C26-4122-87D2-4CAB2B45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ADB8F-4314-4050-A746-3DB32B13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Активный выбор предлагает следующий эксперимент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94ACA-7B97-4654-9A83-4C6D591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FA728-283D-4C27-8576-61A8C025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RL задаёт последовательность действий во времени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33FF0-CE7F-446D-9A31-26E2694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1ACFA-3F48-4E53-B0E4-01CE3244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Код и задания по Kaggle — в конспекте и домашней работе</a:t>
            </a:r>
          </a:p>
        </p:txBody>
      </p:sp>
    </p:spTree>
    <p:extLst>
      <p:ext uri="{BB962C8B-B14F-4D97-AF65-F5344CB8AC3E}">
        <p14:creationId xmlns:p14="http://schemas.microsoft.com/office/powerpoint/2010/main" val="62153964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6DED3-46BA-44D5-8B30-9E8B14A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77287-0C53-4720-B007-8401A684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654A9-C4D2-4053-90C5-F41A565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И 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DF155-E749-4D23-9588-BD9C6E1D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Источники и дальнейшее чтение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16C9-2E3A-4D93-87B1-AD8E701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A825A-6FEF-4B18-B87B-02EBB093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24182-1911-42A7-A92D-9458983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91879-106D-4F5F-BECF-F1683B6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8F58A-C16D-4AE1-9B2F-2DC0A4A1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25763-E0EF-48BF-9D05-DD8F20BF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PLS, ensembles и MLP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32381-69D6-456D-8DFD-2B3E061D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6C5B9-4AB1-4067-9759-8C57C9E9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4BA25-2FBC-43D3-A43E-9F4EF55A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Kaggle: pH-recognition; Lipophilicity notebook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96C32-283B-4932-B432-CC5831D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49822-0731-42C9-8FB8-93ADFA8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89740-7619-45CB-8044-B4AFC61B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MoleculeNet: исходная задача log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9505A-9DE5-4BAE-86CE-D2D9F8B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2E0C1-E771-4BEC-BA33-81B1F3F3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Подробности и задания — в конспекте лекции 12</a:t>
            </a:r>
          </a:p>
        </p:txBody>
      </p:sp>
    </p:spTree>
    <p:extLst>
      <p:ext uri="{BB962C8B-B14F-4D97-AF65-F5344CB8AC3E}">
        <p14:creationId xmlns:p14="http://schemas.microsoft.com/office/powerpoint/2010/main" val="1789102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2026-09-25T14:30:56.6710000Z</dcterms:created>
  <dcterms:modified xsi:type="dcterms:W3CDTF">2026-09-25T14:30:56.6710000Z</dcterms:modified>
</coreProperties>
</file>