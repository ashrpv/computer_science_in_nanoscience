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slides/charts/chart1.xml" ContentType="application/vnd.openxmlformats-officedocument.drawingml.chart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98f905a664495d" /><Relationship Type="http://schemas.openxmlformats.org/officeDocument/2006/relationships/extended-properties" Target="/docProps/app.xml" Id="R1ac0d995401c400f" /><Relationship Type="http://schemas.openxmlformats.org/officeDocument/2006/relationships/officeDocument" Target="/ppt/presentation.xml" Id="R5fe80daaa46e47e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1eb1ad633f74873"/>
  </p:sldMasterIdLst>
  <p:notesMasterIdLst>
    <p:notesMasterId xmlns:r="http://schemas.openxmlformats.org/officeDocument/2006/relationships" r:id="R7bfb602741be4e2f"/>
  </p:notesMasterIdLst>
  <p:sldIdLst>
    <p:sldId xmlns:r="http://schemas.openxmlformats.org/officeDocument/2006/relationships" id="256" r:id="R3383c5dc602f4e00"/>
    <p:sldId xmlns:r="http://schemas.openxmlformats.org/officeDocument/2006/relationships" id="257" r:id="R03ef1fe11f87488a"/>
    <p:sldId xmlns:r="http://schemas.openxmlformats.org/officeDocument/2006/relationships" id="258" r:id="R4a7c90f0c4184048"/>
    <p:sldId xmlns:r="http://schemas.openxmlformats.org/officeDocument/2006/relationships" id="259" r:id="Rd6468f50a1ef4c71"/>
    <p:sldId xmlns:r="http://schemas.openxmlformats.org/officeDocument/2006/relationships" id="260" r:id="Rde8c9d3182264f84"/>
    <p:sldId xmlns:r="http://schemas.openxmlformats.org/officeDocument/2006/relationships" id="261" r:id="Rd8a979341c824a2c"/>
    <p:sldId xmlns:r="http://schemas.openxmlformats.org/officeDocument/2006/relationships" id="262" r:id="Ree148342229b4215"/>
    <p:sldId xmlns:r="http://schemas.openxmlformats.org/officeDocument/2006/relationships" id="263" r:id="R6e1f20851ea74b86"/>
    <p:sldId xmlns:r="http://schemas.openxmlformats.org/officeDocument/2006/relationships" id="264" r:id="R76a04426f91e4e9c"/>
    <p:sldId xmlns:r="http://schemas.openxmlformats.org/officeDocument/2006/relationships" id="265" r:id="Rfd7ae4d06ce44008"/>
    <p:sldId xmlns:r="http://schemas.openxmlformats.org/officeDocument/2006/relationships" id="266" r:id="R76e3d9f4da164691"/>
    <p:sldId xmlns:r="http://schemas.openxmlformats.org/officeDocument/2006/relationships" id="267" r:id="Rc395c438c8984db7"/>
    <p:sldId xmlns:r="http://schemas.openxmlformats.org/officeDocument/2006/relationships" id="268" r:id="Rf50a2f643cd14d53"/>
    <p:sldId xmlns:r="http://schemas.openxmlformats.org/officeDocument/2006/relationships" id="269" r:id="R98ead5ca98934ce6"/>
    <p:sldId xmlns:r="http://schemas.openxmlformats.org/officeDocument/2006/relationships" id="270" r:id="Rc646e643c3594590"/>
    <p:sldId xmlns:r="http://schemas.openxmlformats.org/officeDocument/2006/relationships" id="271" r:id="R40ddccde3cbc436a"/>
    <p:sldId xmlns:r="http://schemas.openxmlformats.org/officeDocument/2006/relationships" id="272" r:id="R6b4b6d91a8444007"/>
    <p:sldId xmlns:r="http://schemas.openxmlformats.org/officeDocument/2006/relationships" id="273" r:id="Ra63aec31bcaf4894"/>
    <p:sldId xmlns:r="http://schemas.openxmlformats.org/officeDocument/2006/relationships" id="274" r:id="R323bf87532414bdb"/>
    <p:sldId xmlns:r="http://schemas.openxmlformats.org/officeDocument/2006/relationships" id="275" r:id="R8c24234ead3b49bb"/>
    <p:sldId xmlns:r="http://schemas.openxmlformats.org/officeDocument/2006/relationships" id="276" r:id="Rb813779d8d0949b2"/>
    <p:sldId xmlns:r="http://schemas.openxmlformats.org/officeDocument/2006/relationships" id="277" r:id="R51d8e923146e44b0"/>
    <p:sldId xmlns:r="http://schemas.openxmlformats.org/officeDocument/2006/relationships" id="278" r:id="Rc2cb9794ca6d4eb3"/>
    <p:sldId xmlns:r="http://schemas.openxmlformats.org/officeDocument/2006/relationships" id="279" r:id="Rbf54127a6de04e6f"/>
    <p:sldId xmlns:r="http://schemas.openxmlformats.org/officeDocument/2006/relationships" id="280" r:id="Rf8da0c8565db450f"/>
    <p:sldId xmlns:r="http://schemas.openxmlformats.org/officeDocument/2006/relationships" id="281" r:id="Ra3a28121dc2e4f25"/>
    <p:sldId xmlns:r="http://schemas.openxmlformats.org/officeDocument/2006/relationships" id="282" r:id="R848ef35a577546bf"/>
    <p:sldId xmlns:r="http://schemas.openxmlformats.org/officeDocument/2006/relationships" id="283" r:id="R39bbef329ee84468"/>
    <p:sldId xmlns:r="http://schemas.openxmlformats.org/officeDocument/2006/relationships" id="284" r:id="R25cf6ac74bc74420"/>
    <p:sldId xmlns:r="http://schemas.openxmlformats.org/officeDocument/2006/relationships" id="285" r:id="Rb98d30eed15f485e"/>
    <p:sldId xmlns:r="http://schemas.openxmlformats.org/officeDocument/2006/relationships" id="286" r:id="R8e851095273b4489"/>
    <p:sldId xmlns:r="http://schemas.openxmlformats.org/officeDocument/2006/relationships" id="287" r:id="R53d11a5aafc84bc6"/>
    <p:sldId xmlns:r="http://schemas.openxmlformats.org/officeDocument/2006/relationships" id="288" r:id="R364849c55f5d4b79"/>
    <p:sldId xmlns:r="http://schemas.openxmlformats.org/officeDocument/2006/relationships" id="289" r:id="R60d1bd0602024734"/>
    <p:sldId xmlns:r="http://schemas.openxmlformats.org/officeDocument/2006/relationships" id="290" r:id="R5292a8493bb44acb"/>
    <p:sldId xmlns:r="http://schemas.openxmlformats.org/officeDocument/2006/relationships" id="291" r:id="R21ba18d232dc4305"/>
    <p:sldId xmlns:r="http://schemas.openxmlformats.org/officeDocument/2006/relationships" id="292" r:id="R0262aaca665f4dd4"/>
    <p:sldId xmlns:r="http://schemas.openxmlformats.org/officeDocument/2006/relationships" id="293" r:id="R20ee5b1c9e7e4c3d"/>
    <p:sldId xmlns:r="http://schemas.openxmlformats.org/officeDocument/2006/relationships" id="294" r:id="R942723a30fdc4abb"/>
    <p:sldId xmlns:r="http://schemas.openxmlformats.org/officeDocument/2006/relationships" id="295" r:id="R6d8492c99ffc45b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48e801c73c4d10" /><Relationship Type="http://schemas.openxmlformats.org/officeDocument/2006/relationships/slideMaster" Target="/ppt/slideMasters/slideMaster1.xml" Id="R41eb1ad633f74873" /><Relationship Type="http://schemas.openxmlformats.org/officeDocument/2006/relationships/notesMaster" Target="/ppt/notesMasters/notesMaster1.xml" Id="R7bfb602741be4e2f" /><Relationship Type="http://schemas.openxmlformats.org/officeDocument/2006/relationships/presProps" Target="/ppt/presProps.xml" Id="Rf3ab8d696f8c4c31" /><Relationship Type="http://schemas.openxmlformats.org/officeDocument/2006/relationships/tableStyles" Target="/ppt/tableStyles.xml" Id="Rdff1247d6ec946d2" /><Relationship Type="http://schemas.openxmlformats.org/officeDocument/2006/relationships/slide" Target="/ppt/slides/slide1.xml" Id="R3383c5dc602f4e00" /><Relationship Type="http://schemas.openxmlformats.org/officeDocument/2006/relationships/slide" Target="/ppt/slides/slide2.xml" Id="R03ef1fe11f87488a" /><Relationship Type="http://schemas.openxmlformats.org/officeDocument/2006/relationships/slide" Target="/ppt/slides/slide3.xml" Id="R4a7c90f0c4184048" /><Relationship Type="http://schemas.openxmlformats.org/officeDocument/2006/relationships/slide" Target="/ppt/slides/slide4.xml" Id="Rd6468f50a1ef4c71" /><Relationship Type="http://schemas.openxmlformats.org/officeDocument/2006/relationships/slide" Target="/ppt/slides/slide5.xml" Id="Rde8c9d3182264f84" /><Relationship Type="http://schemas.openxmlformats.org/officeDocument/2006/relationships/slide" Target="/ppt/slides/slide6.xml" Id="Rd8a979341c824a2c" /><Relationship Type="http://schemas.openxmlformats.org/officeDocument/2006/relationships/slide" Target="/ppt/slides/slide7.xml" Id="Ree148342229b4215" /><Relationship Type="http://schemas.openxmlformats.org/officeDocument/2006/relationships/slide" Target="/ppt/slides/slide8.xml" Id="R6e1f20851ea74b86" /><Relationship Type="http://schemas.openxmlformats.org/officeDocument/2006/relationships/slide" Target="/ppt/slides/slide9.xml" Id="R76a04426f91e4e9c" /><Relationship Type="http://schemas.openxmlformats.org/officeDocument/2006/relationships/slide" Target="/ppt/slides/slide10.xml" Id="Rfd7ae4d06ce44008" /><Relationship Type="http://schemas.openxmlformats.org/officeDocument/2006/relationships/slide" Target="/ppt/slides/slide11.xml" Id="R76e3d9f4da164691" /><Relationship Type="http://schemas.openxmlformats.org/officeDocument/2006/relationships/slide" Target="/ppt/slides/slide12.xml" Id="Rc395c438c8984db7" /><Relationship Type="http://schemas.openxmlformats.org/officeDocument/2006/relationships/slide" Target="/ppt/slides/slide13.xml" Id="Rf50a2f643cd14d53" /><Relationship Type="http://schemas.openxmlformats.org/officeDocument/2006/relationships/slide" Target="/ppt/slides/slide14.xml" Id="R98ead5ca98934ce6" /><Relationship Type="http://schemas.openxmlformats.org/officeDocument/2006/relationships/slide" Target="/ppt/slides/slide15.xml" Id="Rc646e643c3594590" /><Relationship Type="http://schemas.openxmlformats.org/officeDocument/2006/relationships/slide" Target="/ppt/slides/slide16.xml" Id="R40ddccde3cbc436a" /><Relationship Type="http://schemas.openxmlformats.org/officeDocument/2006/relationships/slide" Target="/ppt/slides/slide17.xml" Id="R6b4b6d91a8444007" /><Relationship Type="http://schemas.openxmlformats.org/officeDocument/2006/relationships/slide" Target="/ppt/slides/slide18.xml" Id="Ra63aec31bcaf4894" /><Relationship Type="http://schemas.openxmlformats.org/officeDocument/2006/relationships/slide" Target="/ppt/slides/slide19.xml" Id="R323bf87532414bdb" /><Relationship Type="http://schemas.openxmlformats.org/officeDocument/2006/relationships/slide" Target="/ppt/slides/slide20.xml" Id="R8c24234ead3b49bb" /><Relationship Type="http://schemas.openxmlformats.org/officeDocument/2006/relationships/slide" Target="/ppt/slides/slide21.xml" Id="Rb813779d8d0949b2" /><Relationship Type="http://schemas.openxmlformats.org/officeDocument/2006/relationships/slide" Target="/ppt/slides/slide22.xml" Id="R51d8e923146e44b0" /><Relationship Type="http://schemas.openxmlformats.org/officeDocument/2006/relationships/slide" Target="/ppt/slides/slide23.xml" Id="Rc2cb9794ca6d4eb3" /><Relationship Type="http://schemas.openxmlformats.org/officeDocument/2006/relationships/slide" Target="/ppt/slides/slide24.xml" Id="Rbf54127a6de04e6f" /><Relationship Type="http://schemas.openxmlformats.org/officeDocument/2006/relationships/slide" Target="/ppt/slides/slide25.xml" Id="Rf8da0c8565db450f" /><Relationship Type="http://schemas.openxmlformats.org/officeDocument/2006/relationships/slide" Target="/ppt/slides/slide26.xml" Id="Ra3a28121dc2e4f25" /><Relationship Type="http://schemas.openxmlformats.org/officeDocument/2006/relationships/slide" Target="/ppt/slides/slide27.xml" Id="R848ef35a577546bf" /><Relationship Type="http://schemas.openxmlformats.org/officeDocument/2006/relationships/slide" Target="/ppt/slides/slide28.xml" Id="R39bbef329ee84468" /><Relationship Type="http://schemas.openxmlformats.org/officeDocument/2006/relationships/slide" Target="/ppt/slides/slide29.xml" Id="R25cf6ac74bc74420" /><Relationship Type="http://schemas.openxmlformats.org/officeDocument/2006/relationships/slide" Target="/ppt/slides/slide30.xml" Id="Rb98d30eed15f485e" /><Relationship Type="http://schemas.openxmlformats.org/officeDocument/2006/relationships/slide" Target="/ppt/slides/slide31.xml" Id="R8e851095273b4489" /><Relationship Type="http://schemas.openxmlformats.org/officeDocument/2006/relationships/slide" Target="/ppt/slides/slide32.xml" Id="R53d11a5aafc84bc6" /><Relationship Type="http://schemas.openxmlformats.org/officeDocument/2006/relationships/slide" Target="/ppt/slides/slide33.xml" Id="R364849c55f5d4b79" /><Relationship Type="http://schemas.openxmlformats.org/officeDocument/2006/relationships/slide" Target="/ppt/slides/slide34.xml" Id="R60d1bd0602024734" /><Relationship Type="http://schemas.openxmlformats.org/officeDocument/2006/relationships/slide" Target="/ppt/slides/slide35.xml" Id="R5292a8493bb44acb" /><Relationship Type="http://schemas.openxmlformats.org/officeDocument/2006/relationships/slide" Target="/ppt/slides/slide36.xml" Id="R21ba18d232dc4305" /><Relationship Type="http://schemas.openxmlformats.org/officeDocument/2006/relationships/slide" Target="/ppt/slides/slide37.xml" Id="R0262aaca665f4dd4" /><Relationship Type="http://schemas.openxmlformats.org/officeDocument/2006/relationships/slide" Target="/ppt/slides/slide38.xml" Id="R20ee5b1c9e7e4c3d" /><Relationship Type="http://schemas.openxmlformats.org/officeDocument/2006/relationships/slide" Target="/ppt/slides/slide39.xml" Id="R942723a30fdc4abb" /><Relationship Type="http://schemas.openxmlformats.org/officeDocument/2006/relationships/slide" Target="/ppt/slides/slide40.xml" Id="R6d8492c99ffc45b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6cf690511de4da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75df3414d994c0d" /><Relationship Type="http://schemas.openxmlformats.org/officeDocument/2006/relationships/notesMaster" Target="/ppt/notesMasters/notesMaster1.xml" Id="R119dee3a63cb466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195823a1d1b4f37" /><Relationship Type="http://schemas.openxmlformats.org/officeDocument/2006/relationships/notesMaster" Target="/ppt/notesMasters/notesMaster1.xml" Id="R070d2b473e4a45e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c3acbe18db74621" /><Relationship Type="http://schemas.openxmlformats.org/officeDocument/2006/relationships/notesMaster" Target="/ppt/notesMasters/notesMaster1.xml" Id="Rc374148cb993465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c64374c100841d3" /><Relationship Type="http://schemas.openxmlformats.org/officeDocument/2006/relationships/notesMaster" Target="/ppt/notesMasters/notesMaster1.xml" Id="R3e391f88fa4e47a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40a24cbf09e4f41" /><Relationship Type="http://schemas.openxmlformats.org/officeDocument/2006/relationships/notesMaster" Target="/ppt/notesMasters/notesMaster1.xml" Id="Rf274b95d9c5840a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fde5f24a3984b39" /><Relationship Type="http://schemas.openxmlformats.org/officeDocument/2006/relationships/notesMaster" Target="/ppt/notesMasters/notesMaster1.xml" Id="R86d67676b472467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22b567c88af4a89" /><Relationship Type="http://schemas.openxmlformats.org/officeDocument/2006/relationships/notesMaster" Target="/ppt/notesMasters/notesMaster1.xml" Id="Rca994442a4cc49c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b4a2b4ef5cd4727" /><Relationship Type="http://schemas.openxmlformats.org/officeDocument/2006/relationships/notesMaster" Target="/ppt/notesMasters/notesMaster1.xml" Id="R08a31bb2c8754e2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22ec0fafa48479c" /><Relationship Type="http://schemas.openxmlformats.org/officeDocument/2006/relationships/notesMaster" Target="/ppt/notesMasters/notesMaster1.xml" Id="Ra9b43aceadc24a9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e34956a602c448d" /><Relationship Type="http://schemas.openxmlformats.org/officeDocument/2006/relationships/notesMaster" Target="/ppt/notesMasters/notesMaster1.xml" Id="R9989546691cd493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a9151b522074c0c" /><Relationship Type="http://schemas.openxmlformats.org/officeDocument/2006/relationships/notesMaster" Target="/ppt/notesMasters/notesMaster1.xml" Id="R4756257f0de449f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5855f1d4b5845e4" /><Relationship Type="http://schemas.openxmlformats.org/officeDocument/2006/relationships/notesMaster" Target="/ppt/notesMasters/notesMaster1.xml" Id="Re4662e6d65c84de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48f1bade93644a3" /><Relationship Type="http://schemas.openxmlformats.org/officeDocument/2006/relationships/notesMaster" Target="/ppt/notesMasters/notesMaster1.xml" Id="R6a45d8249bc84ec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761faad4f56472d" /><Relationship Type="http://schemas.openxmlformats.org/officeDocument/2006/relationships/notesMaster" Target="/ppt/notesMasters/notesMaster1.xml" Id="R6f3f668bf5a24a2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ff65efa9c06414d" /><Relationship Type="http://schemas.openxmlformats.org/officeDocument/2006/relationships/notesMaster" Target="/ppt/notesMasters/notesMaster1.xml" Id="R5ffc8c359411499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11a7e82af75450d" /><Relationship Type="http://schemas.openxmlformats.org/officeDocument/2006/relationships/notesMaster" Target="/ppt/notesMasters/notesMaster1.xml" Id="R991f2572619e4f7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94989f1e4754c40" /><Relationship Type="http://schemas.openxmlformats.org/officeDocument/2006/relationships/notesMaster" Target="/ppt/notesMasters/notesMaster1.xml" Id="Rb3f2ea8ec417446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017509e2be443ea" /><Relationship Type="http://schemas.openxmlformats.org/officeDocument/2006/relationships/notesMaster" Target="/ppt/notesMasters/notesMaster1.xml" Id="R53c48f93c1d9475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fbfbea5a4954655" /><Relationship Type="http://schemas.openxmlformats.org/officeDocument/2006/relationships/notesMaster" Target="/ppt/notesMasters/notesMaster1.xml" Id="R7c337734977a4e5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d3eee1b13f34385" /><Relationship Type="http://schemas.openxmlformats.org/officeDocument/2006/relationships/notesMaster" Target="/ppt/notesMasters/notesMaster1.xml" Id="R3217adb5883b4d3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6153fb5004d4efc" /><Relationship Type="http://schemas.openxmlformats.org/officeDocument/2006/relationships/notesMaster" Target="/ppt/notesMasters/notesMaster1.xml" Id="Ra879a7ee60a34e5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e5536b690964f81" /><Relationship Type="http://schemas.openxmlformats.org/officeDocument/2006/relationships/notesMaster" Target="/ppt/notesMasters/notesMaster1.xml" Id="R23f365febf834aa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05793f54bdd4a75" /><Relationship Type="http://schemas.openxmlformats.org/officeDocument/2006/relationships/notesMaster" Target="/ppt/notesMasters/notesMaster1.xml" Id="R5818536577534ee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d1a59e2be764c37" /><Relationship Type="http://schemas.openxmlformats.org/officeDocument/2006/relationships/notesMaster" Target="/ppt/notesMasters/notesMaster1.xml" Id="R7750dc27222241d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10915ce952e46c4" /><Relationship Type="http://schemas.openxmlformats.org/officeDocument/2006/relationships/notesMaster" Target="/ppt/notesMasters/notesMaster1.xml" Id="Rd73ca5f66e12471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d02146c193043e9" /><Relationship Type="http://schemas.openxmlformats.org/officeDocument/2006/relationships/notesMaster" Target="/ppt/notesMasters/notesMaster1.xml" Id="R60d17655ef90448c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081235cf3044c0d" /><Relationship Type="http://schemas.openxmlformats.org/officeDocument/2006/relationships/notesMaster" Target="/ppt/notesMasters/notesMaster1.xml" Id="R89cd66d161a34ac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650b461615340b6" /><Relationship Type="http://schemas.openxmlformats.org/officeDocument/2006/relationships/notesMaster" Target="/ppt/notesMasters/notesMaster1.xml" Id="R04b139185d534db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c6787a3cf3c64997" /><Relationship Type="http://schemas.openxmlformats.org/officeDocument/2006/relationships/notesMaster" Target="/ppt/notesMasters/notesMaster1.xml" Id="R2abd476f248849f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6d008648c784bf4" /><Relationship Type="http://schemas.openxmlformats.org/officeDocument/2006/relationships/notesMaster" Target="/ppt/notesMasters/notesMaster1.xml" Id="R052d54a79d7c43e5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16ead83cbe4a4e54" /><Relationship Type="http://schemas.openxmlformats.org/officeDocument/2006/relationships/notesMaster" Target="/ppt/notesMasters/notesMaster1.xml" Id="R544327e7b7274181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d15147aafbe744b4" /><Relationship Type="http://schemas.openxmlformats.org/officeDocument/2006/relationships/notesMaster" Target="/ppt/notesMasters/notesMaster1.xml" Id="Rd50c371defc748c7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db849ee5de6e464a" /><Relationship Type="http://schemas.openxmlformats.org/officeDocument/2006/relationships/notesMaster" Target="/ppt/notesMasters/notesMaster1.xml" Id="R61f747a0c9304fd1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c03e2e49d1554b99" /><Relationship Type="http://schemas.openxmlformats.org/officeDocument/2006/relationships/notesMaster" Target="/ppt/notesMasters/notesMaster1.xml" Id="Ra189eafc19ff4244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775f67eca1c14c06" /><Relationship Type="http://schemas.openxmlformats.org/officeDocument/2006/relationships/notesMaster" Target="/ppt/notesMasters/notesMaster1.xml" Id="R4e6f97572f45474c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61e9dac2f5b149d0" /><Relationship Type="http://schemas.openxmlformats.org/officeDocument/2006/relationships/notesMaster" Target="/ppt/notesMasters/notesMaster1.xml" Id="R2273468812b848ba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ed5ca16fcd5040a2" /><Relationship Type="http://schemas.openxmlformats.org/officeDocument/2006/relationships/notesMaster" Target="/ppt/notesMasters/notesMaster1.xml" Id="Ra4809df1894d4166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19d26cee8c124225" /><Relationship Type="http://schemas.openxmlformats.org/officeDocument/2006/relationships/notesMaster" Target="/ppt/notesMasters/notesMaster1.xml" Id="R277d03598ffc4451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abea00b754094db4" /><Relationship Type="http://schemas.openxmlformats.org/officeDocument/2006/relationships/notesMaster" Target="/ppt/notesMasters/notesMaster1.xml" Id="Rf5590c80b91c4fea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af751d18e6344fb0" /><Relationship Type="http://schemas.openxmlformats.org/officeDocument/2006/relationships/notesMaster" Target="/ppt/notesMasters/notesMaster1.xml" Id="R5891ea1c2229404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Обзор: условный пример дисперсии SiO₂. Все числа учебные.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пояснения: https://nvlpubs.nist.gov/nistpubs/SpecialPublications/NIST.SP.1200-6.pdf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пояснения: Уравнение баланса приведено как модель идеального перемешивания.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пояснения: https://pubs.acs.org/doi/10.1021/ie990431u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пояснения: https://pubs.acs.org/doi/10.1021/ie990431u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пояснения: https://nvlpubs.nist.gov/nistpubs/SpecialPublications/NIST.SP.1200-6.pdf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пояснения: https://pandas.pydata.org/docs/reference/api/pandas.merge_asof.html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пояснения: https://pandas.pydata.org/docs/reference/api/pandas.DataFrame.merge.html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пояснения: Числа искусственные. Источник: production/13-homework.md.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пояснения: https://www.itl.nist.gov/div898/handbook/pri/section3/pri33.htm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Учебные средние: R1 116,5 и 127,0; R2 111,0 и 119,0 нм. Отдельные точки партий приведены в конспекте.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пояснения: https://www.itl.nist.gov/div898/handbook/pri/section3/pri32.htm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a81eb72d764ac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c0f0c9c99ab4fb9" /><Relationship Type="http://schemas.openxmlformats.org/officeDocument/2006/relationships/slideLayout" Target="/ppt/slideLayouts/slideLayout1.xml" Id="R80d4e963a353490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0d4e963a353490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fc8e3d7ae44ac8" /><Relationship Type="http://schemas.openxmlformats.org/officeDocument/2006/relationships/notesSlide" Target="/ppt/notesSlides/notesSlide1.xml" Id="R770adf9c4f6d4be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129891f3bc4651" /><Relationship Type="http://schemas.openxmlformats.org/officeDocument/2006/relationships/notesSlide" Target="/ppt/notesSlides/notesSlide2.xml" Id="Rf0f39099a02b4c1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0fe4ff2f894fa7" /><Relationship Type="http://schemas.openxmlformats.org/officeDocument/2006/relationships/notesSlide" Target="/ppt/notesSlides/notesSlide3.xml" Id="Rb407b6fb5bd04be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d3a8d61308416a" /><Relationship Type="http://schemas.openxmlformats.org/officeDocument/2006/relationships/notesSlide" Target="/ppt/notesSlides/notesSlide4.xml" Id="Rdbce2e7bd51542a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8fba4b997b423c" /><Relationship Type="http://schemas.openxmlformats.org/officeDocument/2006/relationships/notesSlide" Target="/ppt/notesSlides/notesSlide5.xml" Id="R9563c7b606c7435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cef7d70e714e45" /><Relationship Type="http://schemas.openxmlformats.org/officeDocument/2006/relationships/notesSlide" Target="/ppt/notesSlides/notesSlide6.xml" Id="R3cbef94e2ab5490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67a4fa561f46bc" /><Relationship Type="http://schemas.openxmlformats.org/officeDocument/2006/relationships/notesSlide" Target="/ppt/notesSlides/notesSlide7.xml" Id="Rfcaf60ec0290445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90b95d5a5e47e2" /><Relationship Type="http://schemas.openxmlformats.org/officeDocument/2006/relationships/notesSlide" Target="/ppt/notesSlides/notesSlide8.xml" Id="R208cb766941a4db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9cfb30373b416b" /><Relationship Type="http://schemas.openxmlformats.org/officeDocument/2006/relationships/notesSlide" Target="/ppt/notesSlides/notesSlide9.xml" Id="R73bec55ed1a442c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ac42ad656040cd" /><Relationship Type="http://schemas.openxmlformats.org/officeDocument/2006/relationships/notesSlide" Target="/ppt/notesSlides/notesSlide10.xml" Id="R03fe14ce8cda437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f6dd4ae1f34731" /><Relationship Type="http://schemas.openxmlformats.org/officeDocument/2006/relationships/notesSlide" Target="/ppt/notesSlides/notesSlide11.xml" Id="R534ab36c344b414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38a1344bb34353" /><Relationship Type="http://schemas.openxmlformats.org/officeDocument/2006/relationships/notesSlide" Target="/ppt/notesSlides/notesSlide12.xml" Id="R6165ef7b8e464cf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56f7c807d64a81" /><Relationship Type="http://schemas.openxmlformats.org/officeDocument/2006/relationships/notesSlide" Target="/ppt/notesSlides/notesSlide13.xml" Id="Refc43e178c65467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a043368bbb4aeb" /><Relationship Type="http://schemas.openxmlformats.org/officeDocument/2006/relationships/notesSlide" Target="/ppt/notesSlides/notesSlide14.xml" Id="R03ed946010274eb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b3a02cf6ed4c05" /><Relationship Type="http://schemas.openxmlformats.org/officeDocument/2006/relationships/notesSlide" Target="/ppt/notesSlides/notesSlide15.xml" Id="R134b4a3af562413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61f8898f3047c1" /><Relationship Type="http://schemas.openxmlformats.org/officeDocument/2006/relationships/notesSlide" Target="/ppt/notesSlides/notesSlide16.xml" Id="Re2e11b1bed634a6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fb2a72336c40a5" /><Relationship Type="http://schemas.openxmlformats.org/officeDocument/2006/relationships/notesSlide" Target="/ppt/notesSlides/notesSlide17.xml" Id="Rd027bc06ca2a4dd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51f70164d34831" /><Relationship Type="http://schemas.openxmlformats.org/officeDocument/2006/relationships/notesSlide" Target="/ppt/notesSlides/notesSlide18.xml" Id="R30b0bea12e8e460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5720254ea44dd7" /><Relationship Type="http://schemas.openxmlformats.org/officeDocument/2006/relationships/notesSlide" Target="/ppt/notesSlides/notesSlide19.xml" Id="R8444366f861b4b1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587b044e6642cf" /><Relationship Type="http://schemas.openxmlformats.org/officeDocument/2006/relationships/notesSlide" Target="/ppt/notesSlides/notesSlide20.xml" Id="Raef09924ed9d4da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ebd46f526f41e6" /><Relationship Type="http://schemas.openxmlformats.org/officeDocument/2006/relationships/notesSlide" Target="/ppt/notesSlides/notesSlide21.xml" Id="Rc6ae062c14d24fa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b2fbca79f54b17" /><Relationship Type="http://schemas.openxmlformats.org/officeDocument/2006/relationships/notesSlide" Target="/ppt/notesSlides/notesSlide22.xml" Id="Rfca7da405074440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296a1b5ef44a16" /><Relationship Type="http://schemas.openxmlformats.org/officeDocument/2006/relationships/notesSlide" Target="/ppt/notesSlides/notesSlide23.xml" Id="Rde5f868980644a8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009b13ec254089" /><Relationship Type="http://schemas.openxmlformats.org/officeDocument/2006/relationships/notesSlide" Target="/ppt/notesSlides/notesSlide24.xml" Id="R84228b7d65724ba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ac1a977c0e4266" /><Relationship Type="http://schemas.openxmlformats.org/officeDocument/2006/relationships/notesSlide" Target="/ppt/notesSlides/notesSlide25.xml" Id="R56d453255ff1495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db69a04b8541cd" /><Relationship Type="http://schemas.openxmlformats.org/officeDocument/2006/relationships/notesSlide" Target="/ppt/notesSlides/notesSlide26.xml" Id="Rc2cd54e704e2474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ad32e50e3d4688" /><Relationship Type="http://schemas.openxmlformats.org/officeDocument/2006/relationships/notesSlide" Target="/ppt/notesSlides/notesSlide27.xml" Id="R3d8672670f00414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6eca0dbe4e4eb4" /><Relationship Type="http://schemas.openxmlformats.org/officeDocument/2006/relationships/notesSlide" Target="/ppt/notesSlides/notesSlide28.xml" Id="Raf8bb5105ddb4eb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3de87828c6414e" /><Relationship Type="http://schemas.openxmlformats.org/officeDocument/2006/relationships/notesSlide" Target="/ppt/notesSlides/notesSlide29.xml" Id="R9416c64fbd05476e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5eada6d20d49d1" /><Relationship Type="http://schemas.openxmlformats.org/officeDocument/2006/relationships/notesSlide" Target="/ppt/notesSlides/notesSlide30.xml" Id="Rb67d0fea40754fe4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6dbed82ee044ac" /><Relationship Type="http://schemas.openxmlformats.org/officeDocument/2006/relationships/chart" Target="/ppt/slides/charts/chart1.xml" Id="R4dc1c60de44b4b8a" /><Relationship Type="http://schemas.openxmlformats.org/officeDocument/2006/relationships/notesSlide" Target="/ppt/notesSlides/notesSlide31.xml" Id="R7d8285ea014b4cc6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03ba1c5b654845" /><Relationship Type="http://schemas.openxmlformats.org/officeDocument/2006/relationships/notesSlide" Target="/ppt/notesSlides/notesSlide32.xml" Id="R7635cba56d374c95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f72d64a60044ab" /><Relationship Type="http://schemas.openxmlformats.org/officeDocument/2006/relationships/notesSlide" Target="/ppt/notesSlides/notesSlide33.xml" Id="R0de0eac969ef4f4b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039eb0bc3a40f9" /><Relationship Type="http://schemas.openxmlformats.org/officeDocument/2006/relationships/notesSlide" Target="/ppt/notesSlides/notesSlide34.xml" Id="R55efdb84b9b04266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6be005dbf84583" /><Relationship Type="http://schemas.openxmlformats.org/officeDocument/2006/relationships/notesSlide" Target="/ppt/notesSlides/notesSlide35.xml" Id="R1b9725e0621e4cc5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aeee2ce16f4704" /><Relationship Type="http://schemas.openxmlformats.org/officeDocument/2006/relationships/notesSlide" Target="/ppt/notesSlides/notesSlide36.xml" Id="R81c0fc68b1ef451a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30782c876d4a56" /><Relationship Type="http://schemas.openxmlformats.org/officeDocument/2006/relationships/notesSlide" Target="/ppt/notesSlides/notesSlide37.xml" Id="Ra83191f664f14413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6a86eb24ab467b" /><Relationship Type="http://schemas.openxmlformats.org/officeDocument/2006/relationships/notesSlide" Target="/ppt/notesSlides/notesSlide38.xml" Id="Ra30942f5ecb742f1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f7547fd7954e13" /><Relationship Type="http://schemas.openxmlformats.org/officeDocument/2006/relationships/notesSlide" Target="/ppt/notesSlides/notesSlide39.xml" Id="R90308bd8862c47ba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f1933c33134430" /><Relationship Type="http://schemas.openxmlformats.org/officeDocument/2006/relationships/notesSlide" Target="/ppt/notesSlides/notesSlide40.xml" Id="Rb1d772d6506b4823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ser>
          <c:idx val="0"/>
          <c:order val="0"/>
          <c:tx>
            <c:v>R1</c:v>
          </c:tx>
          <c:spPr>
            <a:ln xmlns:a="http://schemas.openxmlformats.org/drawingml/2006/main" w="38100">
              <a:solidFill>
                <a:srgbClr val="A0E6DC"/>
              </a:solidFill>
              <a:prstDash val="solid"/>
            </a:ln>
          </c:spPr>
          <c:marker>
            <c:symbol val="circle"/>
            <c:size val="12"/>
            <c:spPr>
              <a:solidFill xmlns:a="http://schemas.openxmlformats.org/drawingml/2006/main">
                <a:srgbClr val="A0E6DC"/>
              </a:solidFill>
            </c:spPr>
          </c:marker>
          <c:cat>
            <c:strRef>
              <c:f>'Chart Data'!$A$2:$A$3</c:f>
              <c:strCache>
                <c:ptCount val="2"/>
                <c:pt idx="0">
                  <c:v>2 л</c:v>
                </c:pt>
                <c:pt idx="1">
                  <c:v>20 л</c:v>
                </c:pt>
              </c:strCache>
            </c:strRef>
          </c:cat>
          <c:val>
            <c:numRef>
              <c:f>'Chart Data'!$B$2:$B$3</c:f>
              <c:numCache>
                <c:formatCode>0.0</c:formatCode>
                <c:ptCount val="2"/>
                <c:pt idx="0">
                  <c:v>116.5</c:v>
                </c:pt>
                <c:pt idx="1">
                  <c:v>127</c:v>
                </c:pt>
              </c:numCache>
            </c:numRef>
          </c:val>
        </c:ser>
        <c:ser>
          <c:idx val="1"/>
          <c:order val="1"/>
          <c:tx>
            <c:v>R2</c:v>
          </c:tx>
          <c:spPr>
            <a:ln xmlns:a="http://schemas.openxmlformats.org/drawingml/2006/main" w="38100">
              <a:solidFill>
                <a:srgbClr val="E8BA8E"/>
              </a:solidFill>
              <a:prstDash val="solid"/>
            </a:ln>
          </c:spPr>
          <c:marker>
            <c:symbol val="circle"/>
            <c:size val="12"/>
            <c:spPr>
              <a:solidFill xmlns:a="http://schemas.openxmlformats.org/drawingml/2006/main">
                <a:srgbClr val="E8BA8E"/>
              </a:solidFill>
            </c:spPr>
          </c:marker>
          <c:cat>
            <c:strRef>
              <c:f>'Chart Data'!$C$2:$C$3</c:f>
              <c:strCache>
                <c:ptCount val="2"/>
                <c:pt idx="0">
                  <c:v>2 л</c:v>
                </c:pt>
                <c:pt idx="1">
                  <c:v>20 л</c:v>
                </c:pt>
              </c:strCache>
            </c:strRef>
          </c:cat>
          <c:val>
            <c:numRef>
              <c:f>'Chart Data'!$D$2:$D$3</c:f>
              <c:numCache>
                <c:formatCode>0.0</c:formatCode>
                <c:ptCount val="2"/>
                <c:pt idx="0">
                  <c:v>111</c:v>
                </c:pt>
                <c:pt idx="1">
                  <c:v>119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DejaVu Sans"/>
                  <a:ea typeface="DejaVu Sans"/>
                  <a:cs typeface="DejaVu Sa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75">
                    <a:solidFill>
                      <a:srgbClr val="F2F1E9"/>
                    </a:solidFill>
                    <a:latin typeface="DejaVu Sans"/>
                    <a:ea typeface="DejaVu Sans"/>
                    <a:cs typeface="DejaVu Sans"/>
                  </a:rPr>
                  <a:t>Объём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F2F1E9"/>
                  </a:solidFill>
                  <a:latin typeface="DejaVu Sans"/>
                  <a:ea typeface="DejaVu Sans"/>
                  <a:cs typeface="DejaVu San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72768"/>
      </c:catAx>
      <c:valAx>
        <c:axId val="48672768"/>
        <c:scaling>
          <c:orientation val="minMax"/>
          <c:max val="130"/>
          <c:min val="105"/>
        </c:scaling>
        <c:delete val="0"/>
        <c:axPos val="l"/>
        <c:majorGridlines>
          <c:spPr>
            <a:ln xmlns:a="http://schemas.openxmlformats.org/drawingml/2006/main" w="9525">
              <a:solidFill>
                <a:srgbClr val="52616D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75">
                    <a:solidFill>
                      <a:srgbClr val="F2F1E9"/>
                    </a:solidFill>
                    <a:latin typeface="DejaVu Sans"/>
                    <a:ea typeface="DejaVu Sans"/>
                    <a:cs typeface="DejaVu Sans"/>
                  </a:rPr>
                  <a:t>Средний размер DLS, нм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F2F1E9"/>
                  </a:solidFill>
                  <a:latin typeface="DejaVu Sans"/>
                  <a:ea typeface="DejaVu Sans"/>
                  <a:cs typeface="DejaVu Sans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50112"/>
        <c:crossBetween val="between"/>
        <c:majorUnit val="5"/>
      </c:valAx>
      <c:spPr>
        <a:solidFill xmlns:a="http://schemas.openxmlformats.org/drawingml/2006/main">
          <a:srgbClr val="1B242B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F2F1E9"/>
              </a:solidFill>
              <a:latin typeface="DejaVu Sans"/>
              <a:ea typeface="DejaVu Sans"/>
              <a:cs typeface="DejaVu Sans"/>
            </a:defRPr>
          </a:pPr>
        </a:p>
      </c:txPr>
    </c:legend>
    <c:plotVisOnly val="1"/>
  </c:chart>
  <c:spPr>
    <a:solidFill xmlns:a="http://schemas.openxmlformats.org/drawingml/2006/main">
      <a:srgbClr val="1B242B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454460-5EB1-4A7B-9902-A57ADE263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01 / 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69B618-5CDE-4468-ACFD-DDFD503DC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52600"/>
            <a:ext cx="102870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4500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От лаборатории к</a:t>
            </a:r>
          </a:p>
          <a:p xmlns:a="http://schemas.openxmlformats.org/drawingml/2006/main">
            <a:pPr>
              <a:defRPr sz="4500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4500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производству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79012E-271B-46DC-80AB-7FF672E8D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19600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Лекция 13. Масштабирование и данные партий</a:t>
            </a:r>
          </a:p>
        </p:txBody>
      </p:sp>
    </p:spTree>
    <p:extLst>
      <p:ext uri="{BB962C8B-B14F-4D97-AF65-F5344CB8AC3E}">
        <p14:creationId xmlns:p14="http://schemas.microsoft.com/office/powerpoint/2010/main" val="13232976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DC3AA8-FFFE-4970-92AB-942BF5CD3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Результат занятия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47EA5A-4A99-42FF-9149-3CB6C5137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02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E455F4-8F09-45B1-B387-F7F038483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Физика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717D75-B430-48F3-AEF5-001A7795B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6573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Вывести последствия разных критериев переноса от 2 к 20 л.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AF3681-CD1E-4C83-AFEE-8F76858B6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Данные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5ABF86-7C98-4026-A98D-49775607F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00990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Получить одну аналитическую строку на независимую партию.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241198-B548-41FF-8D6C-F0684A0AB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Вывод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0EDF7A-1C3C-43C1-85D7-93ED7BBF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3624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Разделить сравнение режимов, гипотезу и проверяющий опыт.</a:t>
            </a:r>
          </a:p>
        </p:txBody>
      </p:sp>
    </p:spTree>
    <p:extLst>
      <p:ext uri="{BB962C8B-B14F-4D97-AF65-F5344CB8AC3E}">
        <p14:creationId xmlns:p14="http://schemas.microsoft.com/office/powerpoint/2010/main" val="1174741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DF7416-C991-4B8A-A334-9519FD93E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Сквозной пример SiO₂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BE372F-1E1F-48B0-9A25-47017499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03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15F43D-60D3-4685-8859-7241BEA54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Процесс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8908A1-D1B8-4E5C-B31D-A55CCAFB7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6573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Условный гидролиз прекурсора в аппарате с мешалкой.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6D4283-6033-47CA-8148-6EE9D491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14625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Вход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140D94-4416-4A78-98BF-73336F3A1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714625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Рецепт, дозирование, геометрия, охлаждение и сырьё.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20A469-DEB6-49C6-9E59-0DA541F8D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Отклик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A82178-5061-4D2F-9B36-F1F0C89AB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77190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Размер по DLS в согласованный момент после отбора.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3D2085-17F6-4BD5-B8B5-308CA32F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29175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Статус чисел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C345C8-5E44-4E00-99DE-203474263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829175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Все значения учебные. Они не задают режим производства.</a:t>
            </a:r>
          </a:p>
        </p:txBody>
      </p:sp>
    </p:spTree>
    <p:extLst>
      <p:ext uri="{BB962C8B-B14F-4D97-AF65-F5344CB8AC3E}">
        <p14:creationId xmlns:p14="http://schemas.microsoft.com/office/powerpoint/2010/main" val="17948967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570CDA-0DD5-4CF7-A7F4-2CEF5B4AB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Рецепт и траектория процесса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CC19D4-4BD8-4F39-A9BB-197A76527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04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5A546E-D0DA-4A65-9559-EC4B5345C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Один состав ≠ один процесс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8EFDB7-CCE3-4503-ACEA-52C9E49F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00037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При росте аппарата меняются смешение у точки подачи и отвод тепла.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0BE426-3346-4D13-B94D-AB7132C5F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886200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Сравниваем процесс, метод QC и независимые партии.</a:t>
            </a:r>
          </a:p>
        </p:txBody>
      </p:sp>
    </p:spTree>
    <p:extLst>
      <p:ext uri="{BB962C8B-B14F-4D97-AF65-F5344CB8AC3E}">
        <p14:creationId xmlns:p14="http://schemas.microsoft.com/office/powerpoint/2010/main" val="5529478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91B637-FCB9-46C4-8960-10E9690A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Идеальное геометрическое подобие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8970F-953A-44D6-8919-515389B7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05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85B9F7-218C-483E-B82F-428F05E4F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20 / 2 = 10;  k = 10^(1/3) ≈ 2,154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5E65F4-2EEC-45BE-9810-991803CCE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00037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Характерный линейный размер увеличится в 2,154 раза.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F617C6-2794-4522-8BFE-78BC28548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886200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Предпосылки: подобная геометрия и одинаковая доля заполнения.</a:t>
            </a:r>
          </a:p>
        </p:txBody>
      </p:sp>
    </p:spTree>
    <p:extLst>
      <p:ext uri="{BB962C8B-B14F-4D97-AF65-F5344CB8AC3E}">
        <p14:creationId xmlns:p14="http://schemas.microsoft.com/office/powerpoint/2010/main" val="7265157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7AE531-BBDE-4606-B531-9482C12D4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Площадь на единицу объёма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8995AB-38CB-4D24-B73B-7150295E3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06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6C266F-4653-46DB-90B7-174725388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A/V:  1 / k ≈ 0,464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B0EB75-9EDB-4E62-B50F-B47692810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00037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Подобная площадь растёт в k² ≈ 4,642 раза, объём в 10 раз.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69CD93-0CA3-453C-98FC-0C5E88D2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886200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Реальная рубашка и поверхность теплообмена требуют обмера.</a:t>
            </a:r>
          </a:p>
        </p:txBody>
      </p:sp>
    </p:spTree>
    <p:extLst>
      <p:ext uri="{BB962C8B-B14F-4D97-AF65-F5344CB8AC3E}">
        <p14:creationId xmlns:p14="http://schemas.microsoft.com/office/powerpoint/2010/main" val="12328792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A44F50-C5D9-4C50-BB38-BF8719A83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Условный энергетический баланс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B85A64-0498-43D6-A6DB-B60A131B0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07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76FA43-AFFD-4040-BBE7-2AAD95845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ρCpV·dT/dt = Q̇реакции − UA(T − Tc) + Q̇потоков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142B2A-AF62-489C-A82A-2CB5020CB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00037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UA(T − Tc) описывает отвод тепла через эффективную поверхность.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8BF1CC-46B6-463F-9BFA-97FDC76DF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886200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Температуру пилота нельзя вывести только из отношения A/V.</a:t>
            </a:r>
          </a:p>
        </p:txBody>
      </p:sp>
    </p:spTree>
    <p:extLst>
      <p:ext uri="{BB962C8B-B14F-4D97-AF65-F5344CB8AC3E}">
        <p14:creationId xmlns:p14="http://schemas.microsoft.com/office/powerpoint/2010/main" val="39029527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B6ED60-EEB6-4FD7-B5AF-9AF2E1142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Что измерить для проверки тепла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F2E544-35D4-497A-8729-F4ADA22F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08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066D58-A103-4B06-A56F-1153EE8C9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В реакторе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CB78C9-4C5F-4F21-89B8-DC2F07E7D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6573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Температура по времени и в нескольких точках.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3A4FAF-628D-4D9C-B1C9-8B4829A3F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В рубашке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608B64-0B3D-4FC6-A33D-3A47EA6EE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00990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Температура и расход теплоносителя.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B3065D-894A-43E0-8B2A-AA1905DBF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В журнале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DAEFFE-EC6B-41E3-8C38-E6C3DF30F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3624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Вмешательства регулятора и остановки подачи.</a:t>
            </a:r>
          </a:p>
        </p:txBody>
      </p:sp>
    </p:spTree>
    <p:extLst>
      <p:ext uri="{BB962C8B-B14F-4D97-AF65-F5344CB8AC3E}">
        <p14:creationId xmlns:p14="http://schemas.microsoft.com/office/powerpoint/2010/main" val="47573542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FB72BC-B9D0-420E-AD89-D6EC82E71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Модель перемешивания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C1D434-8459-43D3-BFFD-795AE041D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09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27C0A6-93F8-4CC9-BCAE-A7CD4FA2E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uкромки = πND;  P = NₚρN³D⁵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15B204-943A-47C6-A12C-CC4C865CC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00037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Допущения: подобная крыльчатка, ньютоновская жидкость.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0452B1-30AC-424F-A166-6C14CE319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886200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При почти постоянном Nₚ имеем P/V ∝ N³D².</a:t>
            </a:r>
          </a:p>
        </p:txBody>
      </p:sp>
    </p:spTree>
    <p:extLst>
      <p:ext uri="{BB962C8B-B14F-4D97-AF65-F5344CB8AC3E}">
        <p14:creationId xmlns:p14="http://schemas.microsoft.com/office/powerpoint/2010/main" val="123041600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032437-6493-400A-9892-4493D71C7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Три критерия переноса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96B10D-514F-490D-BBBC-621CED3B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10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F5EC1A-C577-4C0B-8DF7-26CDB372C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Постоянное 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1A1DF6-5599-4012-A417-9690FFEAA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6573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Скорость кромки ×2,154; P/V ×4,642.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C4E8DD-95A2-4B5F-8EC3-E883FB741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Постоянное 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D3E494-E167-408B-9AB2-F2248E9C6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00990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Частота ×0,464; P/V ×0,464.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A1290B-D5F1-4E13-8B35-773B17462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Постоянное P/V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3D7950-EF24-4456-B82E-D4EB02702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3624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Частота ×0,599; скорость кромки ×1,292.</a:t>
            </a:r>
          </a:p>
        </p:txBody>
      </p:sp>
    </p:spTree>
    <p:extLst>
      <p:ext uri="{BB962C8B-B14F-4D97-AF65-F5344CB8AC3E}">
        <p14:creationId xmlns:p14="http://schemas.microsoft.com/office/powerpoint/2010/main" val="116470044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AA6F93-53C6-4953-9B4E-3C953BC8E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Один критерий не решает всё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45D0E5-8D7C-4F92-9936-16E49672D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11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8504BA-922C-4F8C-A6AD-308F905D8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P/V одинаково, локальное смешение может различаться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05EA97-CDC2-4DF5-AC04-31A65ED0F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00037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Точка подачи, вязкость и геометрия меняют условия образования частиц.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D56145-5C39-4EBD-9934-23C42CB9F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886200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Проверяем физический механизм до выбора режима.</a:t>
            </a:r>
          </a:p>
        </p:txBody>
      </p:sp>
    </p:spTree>
    <p:extLst>
      <p:ext uri="{BB962C8B-B14F-4D97-AF65-F5344CB8AC3E}">
        <p14:creationId xmlns:p14="http://schemas.microsoft.com/office/powerpoint/2010/main" val="194651569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5893F3-EBEB-41CE-B62A-FCDF7E085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Сопоставление характерных времён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CCFDF8-826C-465B-B887-72D7C9313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12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5BED82-8AB8-41AC-ABEF-78087E403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Rₘ = tсмешения / tреакции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572B3A-219F-4971-A5F1-A3F99A61E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00037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Условно: 12 / 30 = 0,40 в лаборатории; 40 / 30 = 1,33 в пилоте.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2B529C-07FA-45F7-8C6F-34A678B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886200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Отношение диагностирует риск локальных условий, не размер SiO₂.</a:t>
            </a:r>
          </a:p>
        </p:txBody>
      </p:sp>
    </p:spTree>
    <p:extLst>
      <p:ext uri="{BB962C8B-B14F-4D97-AF65-F5344CB8AC3E}">
        <p14:creationId xmlns:p14="http://schemas.microsoft.com/office/powerpoint/2010/main" val="73759416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539FA6-25E2-4C70-8D5F-794B42285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Что именно означает «размер»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AFFDBF-6CA3-4A71-A5EB-D934BE3D1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13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1E1E66-CDFD-4E44-BA55-80AE886E2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Метод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E40934-2C86-4CE9-AA1A-1424F8720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6573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Гидродинамический размер DLS и вид среднего.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5F71C6-ECF5-4CE0-9888-822CAAAF9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Подготовка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968946-9E1A-4CB2-BD9D-A33D4C3B7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00990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Среда, разбавление, время после отбора.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597C79-3402-4C66-919B-3EE1C163F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Контекст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4C7DFA-161E-44CD-B59D-566D80177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3624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Температура, прибор, версия анализа и статус QC.</a:t>
            </a:r>
          </a:p>
        </p:txBody>
      </p:sp>
    </p:spTree>
    <p:extLst>
      <p:ext uri="{BB962C8B-B14F-4D97-AF65-F5344CB8AC3E}">
        <p14:creationId xmlns:p14="http://schemas.microsoft.com/office/powerpoint/2010/main" val="87212591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19B0E1-C8FE-468E-A876-E9E093933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Независимая единица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425F0B-C9EE-4B79-AD97-E0491FB33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14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9EE741-64BD-4753-B0EF-A17935611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8 партий → 16 проб → 32 измерения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A0DEE4-8BEB-41F1-9907-5BF7B2D85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00037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Партия — самостоятельный запуск; проба — отобранный материал.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87D4A1-B933-4B14-BD82-96B38C726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886200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Два повтора пробы показывают точность анализа, не выпуск.</a:t>
            </a:r>
          </a:p>
        </p:txBody>
      </p:sp>
    </p:spTree>
    <p:extLst>
      <p:ext uri="{BB962C8B-B14F-4D97-AF65-F5344CB8AC3E}">
        <p14:creationId xmlns:p14="http://schemas.microsoft.com/office/powerpoint/2010/main" val="13438569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F95E07-0F6F-4576-BBF0-BBB4282A5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Три компонента вариации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FBDA42-3CBB-4928-8958-F7EED398E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15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EAF203-A2B8-408F-94EF-CA9AC69E1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yᵢⱼₖ = μ + bᵢ + sᵢⱼ + εᵢⱼₖ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5456D9-4FEA-4C44-A59D-ABA87DD6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00037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Партия bᵢ, проба sᵢⱼ, техническое измерение εᵢⱼₖ.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F7BE3A-9AE5-4D59-B5FF-21A41A0FA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886200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Для среднего партии: σ²b + σ²s/m + σ²ε/(mr).</a:t>
            </a:r>
          </a:p>
        </p:txBody>
      </p:sp>
    </p:spTree>
    <p:extLst>
      <p:ext uri="{BB962C8B-B14F-4D97-AF65-F5344CB8AC3E}">
        <p14:creationId xmlns:p14="http://schemas.microsoft.com/office/powerpoint/2010/main" val="211986855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DFCE51-5E9C-4D79-AEFD-D65A7E950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Числовой пример вариации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1DA149-922C-4340-A787-73DB6D73D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16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924B54-C34A-416D-93C0-DEFAF1439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5² + 2²/2 + 1²/4 = 27,25 нм²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CFDFCF-4A54-4C84-9D89-4E4855346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00037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Две пробы × два повтора: дисперсия среднего партии 27,25 нм².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04BE2F-0128-45B6-9717-1F12578C1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886200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Одна проба × восемь повторов: 25 + 4 + 1/8 = 29,125 нм².</a:t>
            </a:r>
          </a:p>
        </p:txBody>
      </p:sp>
    </p:spTree>
    <p:extLst>
      <p:ext uri="{BB962C8B-B14F-4D97-AF65-F5344CB8AC3E}">
        <p14:creationId xmlns:p14="http://schemas.microsoft.com/office/powerpoint/2010/main" val="206020741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8C472A-9569-4F11-9D8E-732B6CE47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Пять связанных таблиц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9BC353-DEA7-4A58-BEF7-33642338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17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346B39-5153-4D01-A246-64054FC96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batches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0DEBA9-473A-4F0C-AE26-959DD578B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6573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Одна строка на запуск; рецепт, аппарат и сырьё.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24B804-2E49-45C2-853D-51F3AD379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14625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events, sensor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BA8E20-E03F-4396-AE40-7301FB17F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714625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События и показания с временем, единицей, калибровкой.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D79E46-DECE-4090-A46B-2F794EAF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samples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508C55-BD19-460B-8B6E-E977ABA82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77190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Проба, позиция, момент и способ подготовки.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951F7C-6402-4A81-9F7D-F2EF1C720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29175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measurements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34F453-5AE1-4FAD-AF5C-AF3A962F4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829175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Отсчёт QC, метод и результат с флагом качества.</a:t>
            </a:r>
          </a:p>
        </p:txBody>
      </p:sp>
    </p:spTree>
    <p:extLst>
      <p:ext uri="{BB962C8B-B14F-4D97-AF65-F5344CB8AC3E}">
        <p14:creationId xmlns:p14="http://schemas.microsoft.com/office/powerpoint/2010/main" val="187600869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F49295-E0F8-4120-9008-67974385C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Временная ось партии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2F4CED-81B0-4CE6-9910-9E8F97805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18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C0FF1E-0E37-4E47-8FCC-AD2C82BBD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10 мин: подача    35 мин: отбор    50 мин: QC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745AF6-78CE-4C72-9BCE-28CA96440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00037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Результат QC в 50 мин относится к пробе, взятой в 35 мин.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0246AF-48BA-4A53-98DF-1B2ECC87A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886200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Сохраняем обе отметки и единую временную зону.</a:t>
            </a:r>
          </a:p>
        </p:txBody>
      </p:sp>
    </p:spTree>
    <p:extLst>
      <p:ext uri="{BB962C8B-B14F-4D97-AF65-F5344CB8AC3E}">
        <p14:creationId xmlns:p14="http://schemas.microsoft.com/office/powerpoint/2010/main" val="187192114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9ED112-8A2E-4C97-A4F2-805766DD8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Три момента решения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A4ADBE-3DB3-4301-A402-F2AA624AA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19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70478B-7790-4A20-85F8-395A35488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До запуска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6C6CEB-4960-4BBC-8579-557BE8BCF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6573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Доступны рецепт, сырьё и запланированные уставки.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E76B65-EF82-4FB5-B523-ADF08813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В 35 минут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B16869-C87B-45CA-A731-A30EF9B39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00990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Добавляются только уже записанные датчики и события.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B733E8-8323-43E4-B075-6A8FC688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После QC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9510BC-5D31-4DE6-8AB4-0C3522B2E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3624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Можно анализировать весь запуск, но это другая задача.</a:t>
            </a:r>
          </a:p>
        </p:txBody>
      </p:sp>
    </p:spTree>
    <p:extLst>
      <p:ext uri="{BB962C8B-B14F-4D97-AF65-F5344CB8AC3E}">
        <p14:creationId xmlns:p14="http://schemas.microsoft.com/office/powerpoint/2010/main" val="87410980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72A34C-A5E4-468B-BCFA-B0A3994CA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Признаки из температурного ряда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59FA90-49CA-4FB7-92B8-E74DBD85C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20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32782A-3308-4A3C-ABD4-7E610BCF4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До подачи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B989EF-CFFF-429E-B735-3C535DC6A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6573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Последняя корректная температура до 10 минут.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4D2BC4-09A0-4BA3-87DB-BA0495252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14625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10–35 мин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C34329-39B8-40C0-A9F1-A878D4DA8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714625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Максимум температуры, °C.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DCE545-41B5-483E-80E7-9B9260D2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10–35 мин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F3928C-11EC-4222-AC5F-243AD9725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77190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Интеграл превышения порога, °C·мин.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7E2814-F792-44F9-BA40-08B0CB1BE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29175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Протокол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941CF4-4663-4866-8104-16DCF9659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829175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Порог и окно указаны до просмотра размера.</a:t>
            </a:r>
          </a:p>
        </p:txBody>
      </p:sp>
    </p:spTree>
    <p:extLst>
      <p:ext uri="{BB962C8B-B14F-4D97-AF65-F5344CB8AC3E}">
        <p14:creationId xmlns:p14="http://schemas.microsoft.com/office/powerpoint/2010/main" val="11683116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1F25FB-9345-4AF9-88E9-F58D33522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pH в момент отбора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BBB558-6B83-4A8E-9C74-C887596B5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21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129D6E-C55F-429B-AE9E-62885DE4C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Последний корректный отсчёт не позже 35 мин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75545C-DE66-48AB-A0A4-AC6F6DA53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00037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Значение в 37 мин — информация из будущего для решения в 35 мин.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D6A9AF-3CCE-4EB1-B065-6D5A9F15F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886200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При пропуске задаём предел давности и помечаем недоступность.</a:t>
            </a:r>
          </a:p>
        </p:txBody>
      </p:sp>
    </p:spTree>
    <p:extLst>
      <p:ext uri="{BB962C8B-B14F-4D97-AF65-F5344CB8AC3E}">
        <p14:creationId xmlns:p14="http://schemas.microsoft.com/office/powerpoint/2010/main" val="19766027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8F18D3-75F9-434C-A8F7-137EC4148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Соединение рядов по batch_id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363793-9CFF-4C18-B210-D3AEFF270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22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F476FF-05C0-4C8A-AD48-BE28DE568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51 показание × 4 результата = 204 строки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F0F96C-DBE7-4EE3-BF79-A2014FBF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00037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Это всё ещё одна независимая партия.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25B9CE-4B17-42DC-B334-EB3BBE975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886200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Прямое соединение создаёт искусственные повторы отклика.</a:t>
            </a:r>
          </a:p>
        </p:txBody>
      </p:sp>
    </p:spTree>
    <p:extLst>
      <p:ext uri="{BB962C8B-B14F-4D97-AF65-F5344CB8AC3E}">
        <p14:creationId xmlns:p14="http://schemas.microsoft.com/office/powerpoint/2010/main" val="213442019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B8D85E-8534-4FC0-9076-FC557CCDA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Одна строка партии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F7C305-2716-4734-A5D5-52720C61B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23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F96AB9-CD2D-495B-B11E-B24226441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Датчики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B32AEF-BD91-4201-8ED6-7256102D8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6573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Агрегируем только разрешённые временные окна.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35720F-7FBF-4B80-BE17-9E8B38E9D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QC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219735-FB83-4D36-A4E1-ED84075B4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00990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Усредняем повторы пробы, затем считаем отклик партии.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66E9F0-31E6-4919-81EF-73FE96B0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Связь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724606-F3C3-4025-8F7E-C5AB3E7DA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3624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validate=one_to_one и проверка всех исходных ID.</a:t>
            </a:r>
          </a:p>
        </p:txBody>
      </p:sp>
    </p:spTree>
    <p:extLst>
      <p:ext uri="{BB962C8B-B14F-4D97-AF65-F5344CB8AC3E}">
        <p14:creationId xmlns:p14="http://schemas.microsoft.com/office/powerpoint/2010/main" val="69889887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AAD93F-43B9-476F-A256-265FA8C89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Паспорт производственных данных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6902BB-DB35-45B3-8E8B-3C77DA106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24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EB2507-4119-4957-A5C2-6F6B32B3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Ключи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5875F5-6B2A-41A9-8145-B88FC8156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6573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Уникальность каждого уровня и отсутствие потерянных партий.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EBB628-6F55-484B-AB1C-365059318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14625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Единицы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D5BA09-D7E6-45A8-B661-8B90F6B67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714625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Минуты/секунды, нанометры/микрометры, pH и °C.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1DD5C7-E53A-40F8-B4DA-45460F19B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Изменения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F2B0F4-F89E-4D9B-BC45-DF75237D0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77190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Калибровки, замены, остановки и действия оператора.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CEEECD-DDFB-4E5F-BD30-6485D478D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29175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Файлы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686C89-7E64-4DC8-8763-AA4389D2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829175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Первичные ряды и версия преобразования сохраняются.</a:t>
            </a:r>
          </a:p>
        </p:txBody>
      </p:sp>
    </p:spTree>
    <p:extLst>
      <p:ext uri="{BB962C8B-B14F-4D97-AF65-F5344CB8AC3E}">
        <p14:creationId xmlns:p14="http://schemas.microsoft.com/office/powerpoint/2010/main" val="69018495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72094A-0C8F-4BCF-A2D3-8207FDB21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Наблюдательные 12 партий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ECBE1D-929A-4A5F-808C-BDBE063B6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25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E79A9E-DEDF-4593-B351-A979A077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B01–B06: 2 л, R1; B07–B12: 20 л, R2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AE8F77-0E86-47CF-8D2B-32677FA8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00037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Объём, рецепт и порядок изменились одновременно.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27BA91-4C5F-405D-94FD-54B51D34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886200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Различие среднего размера нельзя приписать одному фактору.</a:t>
            </a:r>
          </a:p>
        </p:txBody>
      </p:sp>
    </p:spTree>
    <p:extLst>
      <p:ext uri="{BB962C8B-B14F-4D97-AF65-F5344CB8AC3E}">
        <p14:creationId xmlns:p14="http://schemas.microsoft.com/office/powerpoint/2010/main" val="104642367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F18482-5AF5-4404-9488-ED4A65950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Недостающие сочетания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AEBA10-CC68-4EEB-88BB-C0D09BECF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26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3992EF-1D96-4D78-BFB3-C1E54BB15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2 л / R2 и 20 л / R1 не наблюдались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DF8A45-7B1D-4955-815F-4C0EED7E2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00037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Ни корреляция, ни сложная модель не восстановят их из этих данных.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1B8345-B160-4860-8C03-889C83651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886200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Нужны независимые запуски при обоих рецептах и масштабах.</a:t>
            </a:r>
          </a:p>
        </p:txBody>
      </p:sp>
    </p:spTree>
    <p:extLst>
      <p:ext uri="{BB962C8B-B14F-4D97-AF65-F5344CB8AC3E}">
        <p14:creationId xmlns:p14="http://schemas.microsoft.com/office/powerpoint/2010/main" val="74038514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B23323-699A-45D6-96DD-028246629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Пилот 2 ×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35A357-3BC3-4666-A198-CDD591DC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27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7BB093-AE0B-4606-8783-3840E05C3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2 л, R1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F847AF-5289-4B17-B111-1541CAF2F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6573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115 и 118 нм; среднее 116,5 нм.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DB3F15-75F3-4DB3-9445-AA9F50AB4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14625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2 л, R2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6AF272-AFE3-4A2F-A405-36533D54A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714625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110 и 112 нм; среднее 111,0 нм.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34AEBF-4A54-4835-A96B-DB36411A7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20 л, R1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D79EF2-4BA3-4551-A0E0-7A944D7B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77190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126 и 128 нм; среднее 127,0 нм.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6EACE8-8F0F-4F78-B04E-763B227A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29175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20 л, R2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CC8C90-383C-406A-B49D-6224DA528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829175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118 и 120 нм; среднее 119,0 нм.</a:t>
            </a:r>
          </a:p>
        </p:txBody>
      </p:sp>
    </p:spTree>
    <p:extLst>
      <p:ext uri="{BB962C8B-B14F-4D97-AF65-F5344CB8AC3E}">
        <p14:creationId xmlns:p14="http://schemas.microsoft.com/office/powerpoint/2010/main" val="169398705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92ED4B-A2C9-431B-AF51-059031047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Разница масштабов для R1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B81885-C757-41A4-8181-2FEA56D97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28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4A1AEC-D69B-4E3C-827C-0D1E098E0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127,0 − 116,5 = +10,5 нм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518E60-694B-4968-9F95-4E3311F55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00037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Разность средних двух независимых партий на каждом объёме.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B35669-4426-40A6-A871-8793435ED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886200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Погрешность этого контраста велика при двух партиях на ячейку.</a:t>
            </a:r>
          </a:p>
        </p:txBody>
      </p:sp>
    </p:spTree>
    <p:extLst>
      <p:ext uri="{BB962C8B-B14F-4D97-AF65-F5344CB8AC3E}">
        <p14:creationId xmlns:p14="http://schemas.microsoft.com/office/powerpoint/2010/main" val="101722340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C65778-8BA9-4D73-8A73-9E19EC8F7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Разница масштабов для R2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29CB60-25A5-4D12-BD5F-944521714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29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7C7EF3-DD4C-403A-B490-455934EE9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119,0 − 111,0 = +8,0 нм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65F24E-29F7-4B49-8C70-4675EB85B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00037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Контраст здесь меньше, чем для R1, на тех же объёмах.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0A627E-C12F-495E-811D-FA069D337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886200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Рецепт и масштаб должны встречаться во всех четырёх сочетаниях.</a:t>
            </a:r>
          </a:p>
        </p:txBody>
      </p:sp>
    </p:spTree>
    <p:extLst>
      <p:ext uri="{BB962C8B-B14F-4D97-AF65-F5344CB8AC3E}">
        <p14:creationId xmlns:p14="http://schemas.microsoft.com/office/powerpoint/2010/main" val="183384560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EDF72D-AB67-40A4-81C0-5245EA6DA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Взаимодействие объёма и рецепта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11EF03-1E1C-4789-8156-2C3BE35D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30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4AFB19-D2A0-452F-A618-827C90C65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(+8,0) − (+10,5) = −2,5 нм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A6351D-295F-4BA0-9219-8119FC0AD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00037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На шкале разностей увеличение размера для R2 меньше на 2,5 нм.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AB7C5E-02FB-4A38-B9B4-7C6CDB915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886200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Это описание учебной таблицы, а не доказанный физический эффект.</a:t>
            </a:r>
          </a:p>
        </p:txBody>
      </p:sp>
    </p:spTree>
    <p:extLst>
      <p:ext uri="{BB962C8B-B14F-4D97-AF65-F5344CB8AC3E}">
        <p14:creationId xmlns:p14="http://schemas.microsoft.com/office/powerpoint/2010/main" val="99856661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F7ADBE-AA0F-46C8-A739-2A93CA154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График взаимодействия: средние партий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AA80F8-049A-4E8D-8FE2-C22AAA201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31 / 40</a:t>
            </a:r>
          </a:p>
        </p:txBody>
      </p:sp>
      <p:graphicFrame>
        <p:nvGraphicFramePr>
          <p:cNvPr id="6" name="Chart"/>
          <p:cNvGraphicFramePr/>
          <p:nvPr/>
        </p:nvGraphicFramePr>
        <p:xfrm>
          <a:off xmlns:a="http://schemas.openxmlformats.org/drawingml/2006/main" x="809625" y="1447800"/>
          <a:ext xmlns:a="http://schemas.openxmlformats.org/drawingml/2006/main" cx="10287000" cy="42767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dc1c60de44b4b8a"/>
          </a:graphicData>
        </a:graphic>
      </p:graphicFrame>
    </p:spTree>
    <p:extLst>
      <p:ext uri="{BB962C8B-B14F-4D97-AF65-F5344CB8AC3E}">
        <p14:creationId xmlns:p14="http://schemas.microsoft.com/office/powerpoint/2010/main" val="109654532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F40E76-E0AC-4678-B011-4541E77A7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Чего недостаточно в восьми строках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52210F-0178-4583-A933-CE0F54944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32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696EB2-F645-43B0-8A9A-68879707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Назначение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DDA0B2-38C6-49BF-AAB5-C83608104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6573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Порядок опытов и блокирование не указаны.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6976FE-BF73-4C49-989A-5FBFF998E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Перенос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119A86-7B98-4944-B87D-14E60B07F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00990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Только две сырьевые партии и один метод QC.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31D67C-464F-4162-881C-C6F62307E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Надёжность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C007BD-9B55-43CA-A5BA-250041227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3624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Две партии в ячейке не определяют риск редких сбоев.</a:t>
            </a:r>
          </a:p>
        </p:txBody>
      </p:sp>
    </p:spTree>
    <p:extLst>
      <p:ext uri="{BB962C8B-B14F-4D97-AF65-F5344CB8AC3E}">
        <p14:creationId xmlns:p14="http://schemas.microsoft.com/office/powerpoint/2010/main" val="154589268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23D609-A348-409D-AD1D-31708F063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Две физические гипотезы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105BEA-8FA6-4653-B030-DB3CE905B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33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646359-7DB7-4471-BAAB-6F4D415BA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Смешение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BD521E-609F-4981-AE29-F2319EB78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6573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Время и поле концентраций у места ввода изменились.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307D58-4AEB-4148-A72B-6FD74E332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Тепло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EFC862-C0C2-43DC-BC2E-E6C55CD18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00990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Изменилась температурная траектория и отвод тепла.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D0263C-E4F4-4875-84BA-6C195AF56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Проверка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CF43F5-6FD4-4CC6-BF5E-DA8F5E2D3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3624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Для каждой гипотезы нужен отличающий прогноз.</a:t>
            </a:r>
          </a:p>
        </p:txBody>
      </p:sp>
    </p:spTree>
    <p:extLst>
      <p:ext uri="{BB962C8B-B14F-4D97-AF65-F5344CB8AC3E}">
        <p14:creationId xmlns:p14="http://schemas.microsoft.com/office/powerpoint/2010/main" val="373666582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4AB42E-0D67-416D-8D62-0D4D9C22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Почему охлаждение коррелирует с браком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F6E5BD-A73F-4331-9E94-FDEC87AE9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34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F4501A-B25C-401C-94BB-39CE60058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Оператор усилил охлаждение после перегрева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F98B31-8E14-4328-89E9-C022794B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00037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Журнал времени действий показывает возможную обратную причинность.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3C70B8-93F9-49FA-9E81-56486EDCE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886200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Новый опыт или более сильный дизайн нужен для проверки причины.</a:t>
            </a:r>
          </a:p>
        </p:txBody>
      </p:sp>
    </p:spTree>
    <p:extLst>
      <p:ext uri="{BB962C8B-B14F-4D97-AF65-F5344CB8AC3E}">
        <p14:creationId xmlns:p14="http://schemas.microsoft.com/office/powerpoint/2010/main" val="444826273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6DE41C-0DC5-4178-85AB-45E930F1B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План проверяющего пилота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F9F3FD-BF9D-40DB-8471-41F072612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35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E355D8-5C46-4E10-B95F-55F732E25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Режимы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21D08C-C8D1-4B50-B84E-1E6BF9E58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6573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Факторы и уровни внутри допустимого окна аппарата.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AF3FE-2599-41C6-BCD0-25297D788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14625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Повторы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5C20CD-2992-4282-8CA4-A0AE00194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714625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Новые независимые партии в каждом нужном сочетании.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B8E58C-F297-4234-8689-5964B4866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Порядок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285E83-DAF1-4773-B5FE-2FA42AA83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77190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Рандомизация либо блоки с повторным контролем.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3E2DB4-2A1E-49EB-BCD4-390065A8A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29175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Критерий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010589-E495-414A-A93F-08F139D52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829175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Метод QC и правило решения заданы до запуска.</a:t>
            </a:r>
          </a:p>
        </p:txBody>
      </p:sp>
    </p:spTree>
    <p:extLst>
      <p:ext uri="{BB962C8B-B14F-4D97-AF65-F5344CB8AC3E}">
        <p14:creationId xmlns:p14="http://schemas.microsoft.com/office/powerpoint/2010/main" val="11834523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787272-EB6F-444E-B827-70A7FC94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Практика: данные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6E0F4F-B657-4118-9AD7-6623D8E76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36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2C388D-1814-427F-989A-B906B925F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Схема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14B5FD-E47E-44A8-9C14-7445D6989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6573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batches, events, sensor, samples, measurements.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AFF920-C17A-4ECA-9324-49E03D985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Ключи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9D6728-413B-47C6-B1BD-2252503D9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00990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Проверить уникальность и число независимых партий.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9F6E5A-F77B-4D1C-9121-81925B62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Время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B6D8CA-3A36-4886-A62A-77D84067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3624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Зафиксировать события 10, 35 и 50 минут.</a:t>
            </a:r>
          </a:p>
        </p:txBody>
      </p:sp>
    </p:spTree>
    <p:extLst>
      <p:ext uri="{BB962C8B-B14F-4D97-AF65-F5344CB8AC3E}">
        <p14:creationId xmlns:p14="http://schemas.microsoft.com/office/powerpoint/2010/main" val="1474148755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C74698-9E05-46A4-BABF-668E24A2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Практика: вычисление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21243D-7FD2-4E11-AB83-16DA697AA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37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D13851-0557-44A5-A946-38F41D878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Признаки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B6FEB4-C3C4-4592-8797-05A0D4DC1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6573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Использовать только данные, доступные к 35 минутам.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05028B-3B47-4B34-AC0E-5F23FF88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Отклик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5B9EC9-B320-4FAB-9C97-C4CC4B676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00990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От повторов пробы к среднему партии.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10C64F-44F7-46A2-9ACB-2D9807590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Контрасты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4FCC4D-450C-454A-80B0-97397EC8F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3624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10,5 нм, 8,0 нм, взаимодействие −2,5 нм.</a:t>
            </a:r>
          </a:p>
        </p:txBody>
      </p:sp>
    </p:spTree>
    <p:extLst>
      <p:ext uri="{BB962C8B-B14F-4D97-AF65-F5344CB8AC3E}">
        <p14:creationId xmlns:p14="http://schemas.microsoft.com/office/powerpoint/2010/main" val="206737954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D596AF-514E-4B8E-B7E1-AC2065AED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Домашний мини-проект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0B076F-4483-4C50-A4D4-E2ACF389E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38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1C3E58-52A9-46AE-A50C-BE15B7998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Физика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161500-FD9F-4E2A-93C3-77A8FBA04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6573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Сравнить критерии переноса 2 → 20 л.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D6C8D3-9118-42E9-AE18-860D48EAC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Данные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BB5A0E-E155-4573-8865-582CF599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00990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Приложить схему ID, таблицу партий и рисунок.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1F4CC7-9DEB-4053-8F3D-BD185AEE0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Решение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FE58B3-B438-48AC-B7DB-2D68C131A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3624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Предложить проверяющий пилот с допустимыми уровнями.</a:t>
            </a:r>
          </a:p>
        </p:txBody>
      </p:sp>
    </p:spTree>
    <p:extLst>
      <p:ext uri="{BB962C8B-B14F-4D97-AF65-F5344CB8AC3E}">
        <p14:creationId xmlns:p14="http://schemas.microsoft.com/office/powerpoint/2010/main" val="2117555876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9194B6-828F-4551-9053-E5D6013B5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Границы вывода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178877-2F1C-4DD1-9FC2-D8D728ABE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39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BD2433-454A-479E-BBBA-28CF731E2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Наблюдали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0FA393-9CA7-4D4D-B6C1-33BD3592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6573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Размер и траектории учебных партий различаются.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0C2DBF-B9F7-4461-A7A3-C0D299A47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Предположили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772409-96DE-4789-BD87-B2B93831B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00990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Механизм смешения или теплообмена.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0553A3-A995-4873-B346-D59EDD8F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Проверим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35A4DE-29B9-4BD5-BD47-60746714B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3624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Новые партии, контроль метода QC, измерение механизма.</a:t>
            </a:r>
          </a:p>
        </p:txBody>
      </p:sp>
    </p:spTree>
    <p:extLst>
      <p:ext uri="{BB962C8B-B14F-4D97-AF65-F5344CB8AC3E}">
        <p14:creationId xmlns:p14="http://schemas.microsoft.com/office/powerpoint/2010/main" val="1518360510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1B24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DCBB77-D0FA-4F8F-9D82-4DDFCE6B6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Следующая лекция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42227B-5B2F-48C3-8DA3-E5359769C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96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B6C3D0"/>
                </a:solidFill>
                <a:latin typeface="DejaVu Sans"/>
                <a:ea typeface="DejaVu Sans"/>
                <a:cs typeface="DejaVu Sans"/>
              </a:rPr>
              <a:t>40 / 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C8157B-C7DF-48FC-9E27-5826CE1F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Мониторинг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8B5F98-775E-4F4C-BC79-180C80C4D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6573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Контрольные сигналы по новым партиям.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463C31-F406-46FE-B5B7-0C55720B6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Модель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7B0BF1-E103-4627-A370-743F26969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00990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Состояние процесса и проверка цифрового двойника.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79E008-6601-45D7-A709-0839FE3AF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3067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0E6DC"/>
                </a:solidFill>
                <a:latin typeface="DejaVu Sans"/>
                <a:ea typeface="DejaVu Sans"/>
                <a:cs typeface="DejaVu Sans"/>
              </a:rPr>
              <a:t>Решение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CFB024-805C-4365-9F18-9A88CFCE0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362450"/>
            <a:ext cx="742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2F1E9"/>
                </a:solidFill>
                <a:latin typeface="DejaVu Sans"/>
                <a:ea typeface="DejaVu Sans"/>
                <a:cs typeface="DejaVu Sans"/>
              </a:rPr>
              <a:t>Каким должен быть следующий допустимый запуск.</a:t>
            </a:r>
          </a:p>
        </p:txBody>
      </p:sp>
    </p:spTree>
    <p:extLst>
      <p:ext uri="{BB962C8B-B14F-4D97-AF65-F5344CB8AC3E}">
        <p14:creationId xmlns:p14="http://schemas.microsoft.com/office/powerpoint/2010/main" val="17619329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2026-09-25T15:47:47.1860000Z</dcterms:created>
  <dcterms:modified xsi:type="dcterms:W3CDTF">2026-09-25T15:47:47.1860000Z</dcterms:modified>
</coreProperties>
</file>