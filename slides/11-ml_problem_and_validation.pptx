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9bcdf7d3d94b57" /><Relationship Type="http://schemas.openxmlformats.org/officeDocument/2006/relationships/extended-properties" Target="/docProps/app.xml" Id="R7fbef1fcf82d43cd" /><Relationship Type="http://schemas.openxmlformats.org/officeDocument/2006/relationships/officeDocument" Target="/ppt/presentation.xml" Id="Ra0be9903fcb245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9a4c3787f44b1c"/>
  </p:sldMasterIdLst>
  <p:notesMasterIdLst>
    <p:notesMasterId xmlns:r="http://schemas.openxmlformats.org/officeDocument/2006/relationships" r:id="R3c4aeca61def4818"/>
  </p:notesMasterIdLst>
  <p:sldIdLst>
    <p:sldId xmlns:r="http://schemas.openxmlformats.org/officeDocument/2006/relationships" id="256" r:id="R1457e7abe97b4247"/>
    <p:sldId xmlns:r="http://schemas.openxmlformats.org/officeDocument/2006/relationships" id="257" r:id="Rd17a99ef6bb9449b"/>
    <p:sldId xmlns:r="http://schemas.openxmlformats.org/officeDocument/2006/relationships" id="258" r:id="R52bf098f62e943d2"/>
    <p:sldId xmlns:r="http://schemas.openxmlformats.org/officeDocument/2006/relationships" id="259" r:id="R9940800bdddd42ec"/>
    <p:sldId xmlns:r="http://schemas.openxmlformats.org/officeDocument/2006/relationships" id="260" r:id="R3299c752e258402d"/>
    <p:sldId xmlns:r="http://schemas.openxmlformats.org/officeDocument/2006/relationships" id="261" r:id="Rb2f61b377b794594"/>
    <p:sldId xmlns:r="http://schemas.openxmlformats.org/officeDocument/2006/relationships" id="262" r:id="R87f7e9d7ee2e4715"/>
    <p:sldId xmlns:r="http://schemas.openxmlformats.org/officeDocument/2006/relationships" id="263" r:id="Rff380cbf34d840e2"/>
    <p:sldId xmlns:r="http://schemas.openxmlformats.org/officeDocument/2006/relationships" id="264" r:id="R84e4e514c87c49e1"/>
    <p:sldId xmlns:r="http://schemas.openxmlformats.org/officeDocument/2006/relationships" id="265" r:id="R1fe45e25aafa424d"/>
    <p:sldId xmlns:r="http://schemas.openxmlformats.org/officeDocument/2006/relationships" id="266" r:id="R0e5e2638b4464dda"/>
    <p:sldId xmlns:r="http://schemas.openxmlformats.org/officeDocument/2006/relationships" id="267" r:id="R1d395fc12d494614"/>
    <p:sldId xmlns:r="http://schemas.openxmlformats.org/officeDocument/2006/relationships" id="268" r:id="R980ffdbbdf154d3e"/>
    <p:sldId xmlns:r="http://schemas.openxmlformats.org/officeDocument/2006/relationships" id="269" r:id="R3977f7e522f5423c"/>
    <p:sldId xmlns:r="http://schemas.openxmlformats.org/officeDocument/2006/relationships" id="270" r:id="Rd4acdd17cde841ba"/>
    <p:sldId xmlns:r="http://schemas.openxmlformats.org/officeDocument/2006/relationships" id="271" r:id="R482d5bb498274a18"/>
    <p:sldId xmlns:r="http://schemas.openxmlformats.org/officeDocument/2006/relationships" id="272" r:id="Rb6bff566ab3d4d7a"/>
    <p:sldId xmlns:r="http://schemas.openxmlformats.org/officeDocument/2006/relationships" id="273" r:id="R5bd055d2376b4e8d"/>
    <p:sldId xmlns:r="http://schemas.openxmlformats.org/officeDocument/2006/relationships" id="274" r:id="R32528b4e74274406"/>
    <p:sldId xmlns:r="http://schemas.openxmlformats.org/officeDocument/2006/relationships" id="275" r:id="R6f078de731834e82"/>
    <p:sldId xmlns:r="http://schemas.openxmlformats.org/officeDocument/2006/relationships" id="276" r:id="R49bb57b9a8d04d96"/>
    <p:sldId xmlns:r="http://schemas.openxmlformats.org/officeDocument/2006/relationships" id="277" r:id="Rd05381b7abcf4940"/>
    <p:sldId xmlns:r="http://schemas.openxmlformats.org/officeDocument/2006/relationships" id="278" r:id="R61225d7e60694c67"/>
    <p:sldId xmlns:r="http://schemas.openxmlformats.org/officeDocument/2006/relationships" id="279" r:id="Rb4fc5c8aeed8403b"/>
    <p:sldId xmlns:r="http://schemas.openxmlformats.org/officeDocument/2006/relationships" id="280" r:id="Rb8eda7d498e5439f"/>
    <p:sldId xmlns:r="http://schemas.openxmlformats.org/officeDocument/2006/relationships" id="281" r:id="R0026eddd6efa4841"/>
    <p:sldId xmlns:r="http://schemas.openxmlformats.org/officeDocument/2006/relationships" id="282" r:id="R368267138277424d"/>
    <p:sldId xmlns:r="http://schemas.openxmlformats.org/officeDocument/2006/relationships" id="283" r:id="R0afb6607bcbe4708"/>
    <p:sldId xmlns:r="http://schemas.openxmlformats.org/officeDocument/2006/relationships" id="284" r:id="Rde01fd274dc14dd0"/>
    <p:sldId xmlns:r="http://schemas.openxmlformats.org/officeDocument/2006/relationships" id="285" r:id="R5787034b9a954b3e"/>
    <p:sldId xmlns:r="http://schemas.openxmlformats.org/officeDocument/2006/relationships" id="286" r:id="R92f39c7bc29c4ff3"/>
    <p:sldId xmlns:r="http://schemas.openxmlformats.org/officeDocument/2006/relationships" id="287" r:id="Rde466655917b4cde"/>
    <p:sldId xmlns:r="http://schemas.openxmlformats.org/officeDocument/2006/relationships" id="288" r:id="R3ba0abd60f7544f9"/>
    <p:sldId xmlns:r="http://schemas.openxmlformats.org/officeDocument/2006/relationships" id="289" r:id="Reeef97944cc94150"/>
    <p:sldId xmlns:r="http://schemas.openxmlformats.org/officeDocument/2006/relationships" id="290" r:id="R916b03643a2148b8"/>
    <p:sldId xmlns:r="http://schemas.openxmlformats.org/officeDocument/2006/relationships" id="291" r:id="R379a0dda07184538"/>
    <p:sldId xmlns:r="http://schemas.openxmlformats.org/officeDocument/2006/relationships" id="292" r:id="R7f1ba871c0e14b23"/>
    <p:sldId xmlns:r="http://schemas.openxmlformats.org/officeDocument/2006/relationships" id="293" r:id="R25d3a772b1bd45a8"/>
    <p:sldId xmlns:r="http://schemas.openxmlformats.org/officeDocument/2006/relationships" id="294" r:id="R0ea5596496dc441c"/>
    <p:sldId xmlns:r="http://schemas.openxmlformats.org/officeDocument/2006/relationships" id="295" r:id="R4b789da87cf144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52e08f07c14964" /><Relationship Type="http://schemas.openxmlformats.org/officeDocument/2006/relationships/slideMaster" Target="/ppt/slideMasters/slideMaster1.xml" Id="R109a4c3787f44b1c" /><Relationship Type="http://schemas.openxmlformats.org/officeDocument/2006/relationships/notesMaster" Target="/ppt/notesMasters/notesMaster1.xml" Id="R3c4aeca61def4818" /><Relationship Type="http://schemas.openxmlformats.org/officeDocument/2006/relationships/presProps" Target="/ppt/presProps.xml" Id="Rb40e1ddaade94770" /><Relationship Type="http://schemas.openxmlformats.org/officeDocument/2006/relationships/tableStyles" Target="/ppt/tableStyles.xml" Id="Rf2c12d49e59e463d" /><Relationship Type="http://schemas.openxmlformats.org/officeDocument/2006/relationships/slide" Target="/ppt/slides/slide1.xml" Id="R1457e7abe97b4247" /><Relationship Type="http://schemas.openxmlformats.org/officeDocument/2006/relationships/slide" Target="/ppt/slides/slide2.xml" Id="Rd17a99ef6bb9449b" /><Relationship Type="http://schemas.openxmlformats.org/officeDocument/2006/relationships/slide" Target="/ppt/slides/slide3.xml" Id="R52bf098f62e943d2" /><Relationship Type="http://schemas.openxmlformats.org/officeDocument/2006/relationships/slide" Target="/ppt/slides/slide4.xml" Id="R9940800bdddd42ec" /><Relationship Type="http://schemas.openxmlformats.org/officeDocument/2006/relationships/slide" Target="/ppt/slides/slide5.xml" Id="R3299c752e258402d" /><Relationship Type="http://schemas.openxmlformats.org/officeDocument/2006/relationships/slide" Target="/ppt/slides/slide6.xml" Id="Rb2f61b377b794594" /><Relationship Type="http://schemas.openxmlformats.org/officeDocument/2006/relationships/slide" Target="/ppt/slides/slide7.xml" Id="R87f7e9d7ee2e4715" /><Relationship Type="http://schemas.openxmlformats.org/officeDocument/2006/relationships/slide" Target="/ppt/slides/slide8.xml" Id="Rff380cbf34d840e2" /><Relationship Type="http://schemas.openxmlformats.org/officeDocument/2006/relationships/slide" Target="/ppt/slides/slide9.xml" Id="R84e4e514c87c49e1" /><Relationship Type="http://schemas.openxmlformats.org/officeDocument/2006/relationships/slide" Target="/ppt/slides/slide10.xml" Id="R1fe45e25aafa424d" /><Relationship Type="http://schemas.openxmlformats.org/officeDocument/2006/relationships/slide" Target="/ppt/slides/slide11.xml" Id="R0e5e2638b4464dda" /><Relationship Type="http://schemas.openxmlformats.org/officeDocument/2006/relationships/slide" Target="/ppt/slides/slide12.xml" Id="R1d395fc12d494614" /><Relationship Type="http://schemas.openxmlformats.org/officeDocument/2006/relationships/slide" Target="/ppt/slides/slide13.xml" Id="R980ffdbbdf154d3e" /><Relationship Type="http://schemas.openxmlformats.org/officeDocument/2006/relationships/slide" Target="/ppt/slides/slide14.xml" Id="R3977f7e522f5423c" /><Relationship Type="http://schemas.openxmlformats.org/officeDocument/2006/relationships/slide" Target="/ppt/slides/slide15.xml" Id="Rd4acdd17cde841ba" /><Relationship Type="http://schemas.openxmlformats.org/officeDocument/2006/relationships/slide" Target="/ppt/slides/slide16.xml" Id="R482d5bb498274a18" /><Relationship Type="http://schemas.openxmlformats.org/officeDocument/2006/relationships/slide" Target="/ppt/slides/slide17.xml" Id="Rb6bff566ab3d4d7a" /><Relationship Type="http://schemas.openxmlformats.org/officeDocument/2006/relationships/slide" Target="/ppt/slides/slide18.xml" Id="R5bd055d2376b4e8d" /><Relationship Type="http://schemas.openxmlformats.org/officeDocument/2006/relationships/slide" Target="/ppt/slides/slide19.xml" Id="R32528b4e74274406" /><Relationship Type="http://schemas.openxmlformats.org/officeDocument/2006/relationships/slide" Target="/ppt/slides/slide20.xml" Id="R6f078de731834e82" /><Relationship Type="http://schemas.openxmlformats.org/officeDocument/2006/relationships/slide" Target="/ppt/slides/slide21.xml" Id="R49bb57b9a8d04d96" /><Relationship Type="http://schemas.openxmlformats.org/officeDocument/2006/relationships/slide" Target="/ppt/slides/slide22.xml" Id="Rd05381b7abcf4940" /><Relationship Type="http://schemas.openxmlformats.org/officeDocument/2006/relationships/slide" Target="/ppt/slides/slide23.xml" Id="R61225d7e60694c67" /><Relationship Type="http://schemas.openxmlformats.org/officeDocument/2006/relationships/slide" Target="/ppt/slides/slide24.xml" Id="Rb4fc5c8aeed8403b" /><Relationship Type="http://schemas.openxmlformats.org/officeDocument/2006/relationships/slide" Target="/ppt/slides/slide25.xml" Id="Rb8eda7d498e5439f" /><Relationship Type="http://schemas.openxmlformats.org/officeDocument/2006/relationships/slide" Target="/ppt/slides/slide26.xml" Id="R0026eddd6efa4841" /><Relationship Type="http://schemas.openxmlformats.org/officeDocument/2006/relationships/slide" Target="/ppt/slides/slide27.xml" Id="R368267138277424d" /><Relationship Type="http://schemas.openxmlformats.org/officeDocument/2006/relationships/slide" Target="/ppt/slides/slide28.xml" Id="R0afb6607bcbe4708" /><Relationship Type="http://schemas.openxmlformats.org/officeDocument/2006/relationships/slide" Target="/ppt/slides/slide29.xml" Id="Rde01fd274dc14dd0" /><Relationship Type="http://schemas.openxmlformats.org/officeDocument/2006/relationships/slide" Target="/ppt/slides/slide30.xml" Id="R5787034b9a954b3e" /><Relationship Type="http://schemas.openxmlformats.org/officeDocument/2006/relationships/slide" Target="/ppt/slides/slide31.xml" Id="R92f39c7bc29c4ff3" /><Relationship Type="http://schemas.openxmlformats.org/officeDocument/2006/relationships/slide" Target="/ppt/slides/slide32.xml" Id="Rde466655917b4cde" /><Relationship Type="http://schemas.openxmlformats.org/officeDocument/2006/relationships/slide" Target="/ppt/slides/slide33.xml" Id="R3ba0abd60f7544f9" /><Relationship Type="http://schemas.openxmlformats.org/officeDocument/2006/relationships/slide" Target="/ppt/slides/slide34.xml" Id="Reeef97944cc94150" /><Relationship Type="http://schemas.openxmlformats.org/officeDocument/2006/relationships/slide" Target="/ppt/slides/slide35.xml" Id="R916b03643a2148b8" /><Relationship Type="http://schemas.openxmlformats.org/officeDocument/2006/relationships/slide" Target="/ppt/slides/slide36.xml" Id="R379a0dda07184538" /><Relationship Type="http://schemas.openxmlformats.org/officeDocument/2006/relationships/slide" Target="/ppt/slides/slide37.xml" Id="R7f1ba871c0e14b23" /><Relationship Type="http://schemas.openxmlformats.org/officeDocument/2006/relationships/slide" Target="/ppt/slides/slide38.xml" Id="R25d3a772b1bd45a8" /><Relationship Type="http://schemas.openxmlformats.org/officeDocument/2006/relationships/slide" Target="/ppt/slides/slide39.xml" Id="R0ea5596496dc441c" /><Relationship Type="http://schemas.openxmlformats.org/officeDocument/2006/relationships/slide" Target="/ppt/slides/slide40.xml" Id="R4b789da87cf144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acf4b29daa49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30900c52ed43f2" /><Relationship Type="http://schemas.openxmlformats.org/officeDocument/2006/relationships/notesMaster" Target="/ppt/notesMasters/notesMaster1.xml" Id="R8fa12b96ef0c40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12f158772b4b83" /><Relationship Type="http://schemas.openxmlformats.org/officeDocument/2006/relationships/notesMaster" Target="/ppt/notesMasters/notesMaster1.xml" Id="R178b3ff443cd4c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b18441ce8b4ecf" /><Relationship Type="http://schemas.openxmlformats.org/officeDocument/2006/relationships/notesMaster" Target="/ppt/notesMasters/notesMaster1.xml" Id="R45042d7b9e6f4c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954fd24f3845cd" /><Relationship Type="http://schemas.openxmlformats.org/officeDocument/2006/relationships/notesMaster" Target="/ppt/notesMasters/notesMaster1.xml" Id="Ra3dd94db1e8346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aa127129994ac9" /><Relationship Type="http://schemas.openxmlformats.org/officeDocument/2006/relationships/notesMaster" Target="/ppt/notesMasters/notesMaster1.xml" Id="Ref34b4a1e99e49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efeb644c4f433d" /><Relationship Type="http://schemas.openxmlformats.org/officeDocument/2006/relationships/notesMaster" Target="/ppt/notesMasters/notesMaster1.xml" Id="R93972ca4625e4f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d8097cf9724da3" /><Relationship Type="http://schemas.openxmlformats.org/officeDocument/2006/relationships/notesMaster" Target="/ppt/notesMasters/notesMaster1.xml" Id="R42644cb60b6540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f6c4fc187b48fa" /><Relationship Type="http://schemas.openxmlformats.org/officeDocument/2006/relationships/notesMaster" Target="/ppt/notesMasters/notesMaster1.xml" Id="R1af980a3355a46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1d0535620649fc" /><Relationship Type="http://schemas.openxmlformats.org/officeDocument/2006/relationships/notesMaster" Target="/ppt/notesMasters/notesMaster1.xml" Id="Rc0c47139669941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79068ca39204d7f" /><Relationship Type="http://schemas.openxmlformats.org/officeDocument/2006/relationships/notesMaster" Target="/ppt/notesMasters/notesMaster1.xml" Id="R929f3fc46155451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833406c9aaf4d5e" /><Relationship Type="http://schemas.openxmlformats.org/officeDocument/2006/relationships/notesMaster" Target="/ppt/notesMasters/notesMaster1.xml" Id="Rad9532830b1946a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acac1390ec3419e" /><Relationship Type="http://schemas.openxmlformats.org/officeDocument/2006/relationships/notesMaster" Target="/ppt/notesMasters/notesMaster1.xml" Id="R08edc9e280bc41c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609d96a8d5c437c" /><Relationship Type="http://schemas.openxmlformats.org/officeDocument/2006/relationships/notesMaster" Target="/ppt/notesMasters/notesMaster1.xml" Id="R47c80cfdb1854b8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7e6b8ba683d4717" /><Relationship Type="http://schemas.openxmlformats.org/officeDocument/2006/relationships/notesMaster" Target="/ppt/notesMasters/notesMaster1.xml" Id="Rf9e191ca905d425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5fdab3191244055" /><Relationship Type="http://schemas.openxmlformats.org/officeDocument/2006/relationships/notesMaster" Target="/ppt/notesMasters/notesMaster1.xml" Id="Rbad3ce62998143e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6c0668bbfc64834" /><Relationship Type="http://schemas.openxmlformats.org/officeDocument/2006/relationships/notesMaster" Target="/ppt/notesMasters/notesMaster1.xml" Id="R40716c048e78425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532f64d5cc94aeb" /><Relationship Type="http://schemas.openxmlformats.org/officeDocument/2006/relationships/notesMaster" Target="/ppt/notesMasters/notesMaster1.xml" Id="R856a288b01d442c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563db74bcd94e69" /><Relationship Type="http://schemas.openxmlformats.org/officeDocument/2006/relationships/notesMaster" Target="/ppt/notesMasters/notesMaster1.xml" Id="Rd1b5746575dd434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b864ce2e27347cb" /><Relationship Type="http://schemas.openxmlformats.org/officeDocument/2006/relationships/notesMaster" Target="/ppt/notesMasters/notesMaster1.xml" Id="R18fa868e7109442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273c6f1b00d45e1" /><Relationship Type="http://schemas.openxmlformats.org/officeDocument/2006/relationships/notesMaster" Target="/ppt/notesMasters/notesMaster1.xml" Id="Ra9f67a5b053d4c8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d5d9245fcf046a5" /><Relationship Type="http://schemas.openxmlformats.org/officeDocument/2006/relationships/notesMaster" Target="/ppt/notesMasters/notesMaster1.xml" Id="Rb3548fd52a854cb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76146a11f924cd5" /><Relationship Type="http://schemas.openxmlformats.org/officeDocument/2006/relationships/notesMaster" Target="/ppt/notesMasters/notesMaster1.xml" Id="Re3d59ab7fcc0430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95eaffc436b4574" /><Relationship Type="http://schemas.openxmlformats.org/officeDocument/2006/relationships/notesMaster" Target="/ppt/notesMasters/notesMaster1.xml" Id="Redd83fe195824b6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43ce88f87e24769" /><Relationship Type="http://schemas.openxmlformats.org/officeDocument/2006/relationships/notesMaster" Target="/ppt/notesMasters/notesMaster1.xml" Id="R3dd22bd6e3bc4bc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aa12876ed58440e" /><Relationship Type="http://schemas.openxmlformats.org/officeDocument/2006/relationships/notesMaster" Target="/ppt/notesMasters/notesMaster1.xml" Id="R6cb195d44faf4aa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ad87dc3f73c4617" /><Relationship Type="http://schemas.openxmlformats.org/officeDocument/2006/relationships/notesMaster" Target="/ppt/notesMasters/notesMaster1.xml" Id="R8d3313923bb44d6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e800b4c3d6640d8" /><Relationship Type="http://schemas.openxmlformats.org/officeDocument/2006/relationships/notesMaster" Target="/ppt/notesMasters/notesMaster1.xml" Id="R9d6cf22f44974c6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d8010cbd5d14c76" /><Relationship Type="http://schemas.openxmlformats.org/officeDocument/2006/relationships/notesMaster" Target="/ppt/notesMasters/notesMaster1.xml" Id="R6f8a235efece42e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ae7d9ea933c4f37" /><Relationship Type="http://schemas.openxmlformats.org/officeDocument/2006/relationships/notesMaster" Target="/ppt/notesMasters/notesMaster1.xml" Id="R1eb2fea1c2344e1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81ea69d375f4689" /><Relationship Type="http://schemas.openxmlformats.org/officeDocument/2006/relationships/notesMaster" Target="/ppt/notesMasters/notesMaster1.xml" Id="Rd626b4ac8f804ba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0010bcb51c34450" /><Relationship Type="http://schemas.openxmlformats.org/officeDocument/2006/relationships/notesMaster" Target="/ppt/notesMasters/notesMaster1.xml" Id="Rcdbda31b062d449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13f56b613ca4b55" /><Relationship Type="http://schemas.openxmlformats.org/officeDocument/2006/relationships/notesMaster" Target="/ppt/notesMasters/notesMaster1.xml" Id="R9e748a3a914c43e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3593080b393427a" /><Relationship Type="http://schemas.openxmlformats.org/officeDocument/2006/relationships/notesMaster" Target="/ppt/notesMasters/notesMaster1.xml" Id="Rf1e66f7bb70f4e6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7ecaa2a8b1e4a0f" /><Relationship Type="http://schemas.openxmlformats.org/officeDocument/2006/relationships/notesMaster" Target="/ppt/notesMasters/notesMaster1.xml" Id="R58687dfaa176412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ab204c8c4004bb4" /><Relationship Type="http://schemas.openxmlformats.org/officeDocument/2006/relationships/notesMaster" Target="/ppt/notesMasters/notesMaster1.xml" Id="R46c7b756d9f8486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ee0d2a483dd4e97" /><Relationship Type="http://schemas.openxmlformats.org/officeDocument/2006/relationships/notesMaster" Target="/ppt/notesMasters/notesMaster1.xml" Id="R3f802ea2e601446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c5f2810daed4290" /><Relationship Type="http://schemas.openxmlformats.org/officeDocument/2006/relationships/notesMaster" Target="/ppt/notesMasters/notesMaster1.xml" Id="Re4c897fba9a2423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b43f979795943cd" /><Relationship Type="http://schemas.openxmlformats.org/officeDocument/2006/relationships/notesMaster" Target="/ppt/notesMasters/notesMaster1.xml" Id="Rfe77bf816a06407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e65ed3e2ef04071" /><Relationship Type="http://schemas.openxmlformats.org/officeDocument/2006/relationships/notesMaster" Target="/ppt/notesMasters/notesMaster1.xml" Id="Rc156b8eef8c7486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269c88add564696" /><Relationship Type="http://schemas.openxmlformats.org/officeDocument/2006/relationships/notesMaster" Target="/ppt/notesMasters/notesMaster1.xml" Id="R91666a0da2da4f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Лекция 11. Определения, вывод формул и воспроизводимый пример: machine_learning/11-ml-problem_and_validation.md. Все числа в примерах учебные.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Лекция 11. Определения, вывод формул и воспроизводимый пример: machine_learning/11-ml-problem_and_validation.md. Все числа в примерах учебные.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Лекция 11. Определения, вывод формул и воспроизводимый пример: machine_learning/11-ml-problem_and_validation.md. Все числа в примерах учебные.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Лекция 11. Определения, вывод формул и воспроизводимый пример: machine_learning/11-ml-problem_and_validation.md. Все числа в примерах учебные.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Лекция 11. Определения, вывод формул и воспроизводимый пример: machine_learning/11-ml-problem_and_validation.md. Все числа в примерах учебные.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Лекция 11. Определения, вывод формул и воспроизводимый пример: machine_learning/11-ml-problem_and_validation.md. Все числа в примерах учебные.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Лекция 11. Определения, вывод формул и воспроизводимый пример: machine_learning/11-ml-problem_and_validation.md. Все числа в примерах учебные.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Лекция 11. Определения, вывод формул и воспроизводимый пример: machine_learning/11-ml-problem_and_validation.md. Все числа в примерах учебные.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Лекция 11. Определения, вывод формул и воспроизводимый пример: machine_learning/11-ml-problem_and_validation.md. Все числа в примерах учебные.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Лекция 11. Определения, вывод формул и воспроизводимый пример: machine_learning/11-ml-problem_and_validation.md. Все числа в примерах учебные.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Лекция 11. Определения, вывод формул и воспроизводимый пример: machine_learning/11-ml-problem_and_validation.md. Все числа в примерах учебные. Документация: https://scikit-learn.org/stable/modules/cross_validation.html ;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Лекция 11. Определения, вывод формул и воспроизводимый пример: machine_learning/11-ml-problem_and_validation.md. Все числа в примерах учебные. Документация: https://scikit-learn.org/stable/modules/cross_validation.html ;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Лекция 11. Определения, вывод формул и воспроизводимый пример: machine_learning/11-ml-problem_and_validation.md. Все числа в примерах учебные. Документация: https://scikit-learn.org/stable/modules/cross_validation.html ;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Лекция 11. Определения, вывод формул и воспроизводимый пример: machine_learning/11-ml-problem_and_validation.md. Все числа в примерах учебные. Документация: https://scikit-learn.org/stable/modules/cross_validation.html ;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Лекция 11. Определения, вывод формул и воспроизводимый пример: machine_learning/11-ml-problem_and_validation.md. Все числа в примерах учебные. Документация: https://scikit-learn.org/stable/modules/cross_validation.html ;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Лекция 11. Определения, вывод формул и воспроизводимый пример: machine_learning/11-ml-problem_and_validation.md. Все числа в примерах учебные. Документация: https://scikit-learn.org/stable/modules/cross_validation.html ;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Лекция 11. Определения, вывод формул и воспроизводимый пример: machine_learning/11-ml-problem_and_validation.md. Все числа в примерах учебные. Документация: https://scikit-learn.org/stable/modules/cross_validation.html ;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Лекция 11. Определения, вывод формул и воспроизводимый пример: machine_learning/11-ml-problem_and_validation.md. Все числа в примерах учебные. Документация: https://scikit-learn.org/stable/modules/cross_validation.html ; 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Лекция 11. Определения, вывод формул и воспроизводимый пример: machine_learning/11-ml-problem_and_validation.md. Все числа в примерах учебные. Документация: https://scikit-learn.org/stable/modules/model_evaluation.html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Лекция 11. Определения, вывод формул и воспроизводимый пример: machine_learning/11-ml-problem_and_validation.md. Все числа в примерах учебные. Документация: https://scikit-learn.org/stable/modules/model_evaluation.html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Лекция 11. Определения, вывод формул и воспроизводимый пример: machine_learning/11-ml-problem_and_validation.md. Все числа в примерах учебные. Документация: https://scikit-learn.org/stable/modules/model_evaluation.html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Лекция 11. Определения, вывод формул и воспроизводимый пример: machine_learning/11-ml-problem_and_validation.md. Все числа в примерах учебные. Документация: https://scikit-learn.org/stable/modules/model_evaluation.html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Лекция 11. Определения, вывод формул и воспроизводимый пример: machine_learning/11-ml-problem_and_validation.md. Все числа в примерах учебные. Документация: https://scikit-learn.org/stable/modules/model_evaluation.html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Лекция 11. Определения, вывод формул и воспроизводимый пример: machine_learning/11-ml-problem_and_validation.md. Все числа в примерах учебные. Документация: https://scikit-learn.org/stable/modules/model_evaluation.html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Лекция 11. Определения, вывод формул и воспроизводимый пример: machine_learning/11-ml-problem_and_validation.md. Все числа в примерах учебные. Документация: https://scikit-learn.org/stable/modules/model_evaluation.html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Лекция 11. Определения, вывод формул и воспроизводимый пример: machine_learning/11-ml-problem_and_validation.md. Все числа в примерах учебные. Документация: https://scikit-learn.org/stable/modules/calibration.html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Лекция 11. Определения, вывод формул и воспроизводимый пример: machine_learning/11-ml-problem_and_validation.md. Все числа в примерах учебные. Документация: https://scikit-learn.org/stable/modules/calibration.html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Лекция 11. Определения, вывод формул и воспроизводимый пример: machine_learning/11-ml-problem_and_validation.md. Все числа в примерах учебные. Документация: https://scikit-learn.org/stable/modules/calibration.html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Лекция 11. Определения, вывод формул и воспроизводимый пример: machine_learning/11-ml-problem_and_validation.md. Все числа в примерах учебные. Документация: https://scikit-learn.org/stable/modules/cross_validation.html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Лекция 11. Определения, вывод формул и воспроизводимый пример: machine_learning/11-ml-problem_and_validation.md. Все числа в примерах учебные. Документация: https://scikit-learn.org/stable/modules/cross_validation.html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Лекция 11. Определения, вывод формул и воспроизводимый пример: machine_learning/11-ml-problem_and_validation.md. Все числа в примерах учебные. Документация: https://scikit-learn.org/stable/modules/cross_validation.html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Лекция 11. Определения, вывод формул и воспроизводимый пример: machine_learning/11-ml-problem_and_validation.md. Все числа в примерах учебные. Документация: https://scikit-learn.org/stable/modules/cross_validation.html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Лекция 11. Определения, вывод формул и воспроизводимый пример: machine_learning/11-ml-problem_and_validation.md. Все числа в примерах учебные. Документация: https://scikit-learn.org/stable/modules/cross_validation.html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Лекция 11. Определения, вывод формул и воспроизводимый пример: machine_learning/11-ml-problem_and_validation.md. Все числа в примерах учебные. Документация: https://scikit-learn.org/stable/modules/cross_validation.html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Лекция 11. Определения, вывод формул и воспроизводимый пример: machine_learning/11-ml-problem_and_validation.md. Все числа в примерах учебные. Документация: https://scikit-learn.org/stable/modules/cross_validation.html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Лекция 11. Определения, вывод формул и воспроизводимый пример: machine_learning/11-ml-problem_and_validation.md. Все числа в примерах учебные. Документация: https://scikit-learn.org/stable/modules/cross_validation.html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Лекция 11. Определения, вывод формул и воспроизводимый пример: machine_learning/11-ml-problem_and_validation.md. Все числа в примерах учебные. Документация: https://scikit-learn.org/stable/modules/cross_validation.html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Лекция 11. Определения, вывод формул и воспроизводимый пример: machine_learning/11-ml-problem_and_validation.md. Все числа в примерах учебные. Документация: https://scikit-learn.org/stable/modules/cross_validation.html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Лекция 11. Определения, вывод формул и воспроизводимый пример: machine_learning/11-ml-problem_and_validation.md. Все числа в примерах учебные. Документация: https://scikit-learn.org/stable/modules/cross_validation.html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Лекция 11. Определения, вывод формул и воспроизводимый пример: machine_learning/11-ml-problem_and_validation.md. Все числа в примерах учебные. Документация: https://scikit-learn.org/stable/modules/cross_validation.html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e122dad33048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0a88471d5f4acc" /><Relationship Type="http://schemas.openxmlformats.org/officeDocument/2006/relationships/slideLayout" Target="/ppt/slideLayouts/slideLayout1.xml" Id="Ra14bf905eb6a43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4bf905eb6a43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c33000b0e04fc6" /><Relationship Type="http://schemas.openxmlformats.org/officeDocument/2006/relationships/notesSlide" Target="/ppt/notesSlides/notesSlide1.xml" Id="R16d36693a86a42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5391737dd4a61" /><Relationship Type="http://schemas.openxmlformats.org/officeDocument/2006/relationships/notesSlide" Target="/ppt/notesSlides/notesSlide2.xml" Id="R74f6fbfcd5ba4f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407ae988249f7" /><Relationship Type="http://schemas.openxmlformats.org/officeDocument/2006/relationships/notesSlide" Target="/ppt/notesSlides/notesSlide3.xml" Id="R42213c0ea5824b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f0c33a1b94b04" /><Relationship Type="http://schemas.openxmlformats.org/officeDocument/2006/relationships/notesSlide" Target="/ppt/notesSlides/notesSlide4.xml" Id="R91345d717f2c4b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422b5864d54319" /><Relationship Type="http://schemas.openxmlformats.org/officeDocument/2006/relationships/notesSlide" Target="/ppt/notesSlides/notesSlide5.xml" Id="R4f78ff06b43c43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eb40a50184358" /><Relationship Type="http://schemas.openxmlformats.org/officeDocument/2006/relationships/notesSlide" Target="/ppt/notesSlides/notesSlide6.xml" Id="R27cc3d4ef45a4b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2cf27766c4b1b" /><Relationship Type="http://schemas.openxmlformats.org/officeDocument/2006/relationships/notesSlide" Target="/ppt/notesSlides/notesSlide7.xml" Id="R448cca08c0ba4b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0ccb8e4a94bda" /><Relationship Type="http://schemas.openxmlformats.org/officeDocument/2006/relationships/notesSlide" Target="/ppt/notesSlides/notesSlide8.xml" Id="R8bdae7bd7a704d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a1c6dfdc14363" /><Relationship Type="http://schemas.openxmlformats.org/officeDocument/2006/relationships/notesSlide" Target="/ppt/notesSlides/notesSlide9.xml" Id="Ra533db9ac4204d9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c7ef2aaa834c5a" /><Relationship Type="http://schemas.openxmlformats.org/officeDocument/2006/relationships/notesSlide" Target="/ppt/notesSlides/notesSlide10.xml" Id="R07e4e403ff434da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9fbe16bef74b45" /><Relationship Type="http://schemas.openxmlformats.org/officeDocument/2006/relationships/notesSlide" Target="/ppt/notesSlides/notesSlide11.xml" Id="R19b94c1d75994db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7d70cc0b2e4a0a" /><Relationship Type="http://schemas.openxmlformats.org/officeDocument/2006/relationships/notesSlide" Target="/ppt/notesSlides/notesSlide12.xml" Id="R6197f3ae86fe401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7e6e415746452d" /><Relationship Type="http://schemas.openxmlformats.org/officeDocument/2006/relationships/notesSlide" Target="/ppt/notesSlides/notesSlide13.xml" Id="R6c659c6cffb6475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62f2862744d59" /><Relationship Type="http://schemas.openxmlformats.org/officeDocument/2006/relationships/notesSlide" Target="/ppt/notesSlides/notesSlide14.xml" Id="Rfc1e7a715273421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10cc694b64a01" /><Relationship Type="http://schemas.openxmlformats.org/officeDocument/2006/relationships/notesSlide" Target="/ppt/notesSlides/notesSlide15.xml" Id="R7510ffb2ae8c4df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328e65d76491f" /><Relationship Type="http://schemas.openxmlformats.org/officeDocument/2006/relationships/notesSlide" Target="/ppt/notesSlides/notesSlide16.xml" Id="Rf6dd8a18937e495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1a03e620e64993" /><Relationship Type="http://schemas.openxmlformats.org/officeDocument/2006/relationships/notesSlide" Target="/ppt/notesSlides/notesSlide17.xml" Id="Rb18d8b7fd8c04f3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36c721d5f4939" /><Relationship Type="http://schemas.openxmlformats.org/officeDocument/2006/relationships/notesSlide" Target="/ppt/notesSlides/notesSlide18.xml" Id="Rc179e752b7bc4ad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91781cbe54909" /><Relationship Type="http://schemas.openxmlformats.org/officeDocument/2006/relationships/notesSlide" Target="/ppt/notesSlides/notesSlide19.xml" Id="R490787af2b4044d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f2fff8624047c0" /><Relationship Type="http://schemas.openxmlformats.org/officeDocument/2006/relationships/notesSlide" Target="/ppt/notesSlides/notesSlide20.xml" Id="Rd8d7cf0aa4694f2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21e1b16294ad2" /><Relationship Type="http://schemas.openxmlformats.org/officeDocument/2006/relationships/notesSlide" Target="/ppt/notesSlides/notesSlide21.xml" Id="R0beecc26b2a5414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0d8430725a48a1" /><Relationship Type="http://schemas.openxmlformats.org/officeDocument/2006/relationships/notesSlide" Target="/ppt/notesSlides/notesSlide22.xml" Id="Rbf2a6f9c14f54a0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68a89d5be4b8c" /><Relationship Type="http://schemas.openxmlformats.org/officeDocument/2006/relationships/notesSlide" Target="/ppt/notesSlides/notesSlide23.xml" Id="Rbeb395c69ab3404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036472d4848c3" /><Relationship Type="http://schemas.openxmlformats.org/officeDocument/2006/relationships/notesSlide" Target="/ppt/notesSlides/notesSlide24.xml" Id="R5ec065c674fd492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42434067e4460" /><Relationship Type="http://schemas.openxmlformats.org/officeDocument/2006/relationships/notesSlide" Target="/ppt/notesSlides/notesSlide25.xml" Id="Rd0d1f018f71348f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f83705afd4430" /><Relationship Type="http://schemas.openxmlformats.org/officeDocument/2006/relationships/notesSlide" Target="/ppt/notesSlides/notesSlide26.xml" Id="R585463946ede474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6360c953704d6c" /><Relationship Type="http://schemas.openxmlformats.org/officeDocument/2006/relationships/notesSlide" Target="/ppt/notesSlides/notesSlide27.xml" Id="R73da782d36174b5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787da2e464f41" /><Relationship Type="http://schemas.openxmlformats.org/officeDocument/2006/relationships/notesSlide" Target="/ppt/notesSlides/notesSlide28.xml" Id="R7d867a480df74ec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c98a4d35a4abb" /><Relationship Type="http://schemas.openxmlformats.org/officeDocument/2006/relationships/notesSlide" Target="/ppt/notesSlides/notesSlide29.xml" Id="R9a2a4e5265ff44f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2cc682418c4e05" /><Relationship Type="http://schemas.openxmlformats.org/officeDocument/2006/relationships/notesSlide" Target="/ppt/notesSlides/notesSlide30.xml" Id="R126be250cc274d5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78f1d96724dd2" /><Relationship Type="http://schemas.openxmlformats.org/officeDocument/2006/relationships/notesSlide" Target="/ppt/notesSlides/notesSlide31.xml" Id="R61e7d0e7dedf468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45406373f74838" /><Relationship Type="http://schemas.openxmlformats.org/officeDocument/2006/relationships/notesSlide" Target="/ppt/notesSlides/notesSlide32.xml" Id="Rac7145c168c049d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a37fe8ef0b4c49" /><Relationship Type="http://schemas.openxmlformats.org/officeDocument/2006/relationships/notesSlide" Target="/ppt/notesSlides/notesSlide33.xml" Id="Rce9949e7314a45b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a88dbdb1b045a9" /><Relationship Type="http://schemas.openxmlformats.org/officeDocument/2006/relationships/notesSlide" Target="/ppt/notesSlides/notesSlide34.xml" Id="R40fc073423e1404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02637d88249bd" /><Relationship Type="http://schemas.openxmlformats.org/officeDocument/2006/relationships/notesSlide" Target="/ppt/notesSlides/notesSlide35.xml" Id="R2786ef3d6fae46f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888d4048754401" /><Relationship Type="http://schemas.openxmlformats.org/officeDocument/2006/relationships/notesSlide" Target="/ppt/notesSlides/notesSlide36.xml" Id="R829133e2035b45b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c5c8cd2ca4ecd" /><Relationship Type="http://schemas.openxmlformats.org/officeDocument/2006/relationships/notesSlide" Target="/ppt/notesSlides/notesSlide37.xml" Id="Ra5d83568ff264b1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2e708b96b4495" /><Relationship Type="http://schemas.openxmlformats.org/officeDocument/2006/relationships/notesSlide" Target="/ppt/notesSlides/notesSlide38.xml" Id="R79a04b624b3a42e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c01a2277db40bd" /><Relationship Type="http://schemas.openxmlformats.org/officeDocument/2006/relationships/notesSlide" Target="/ppt/notesSlides/notesSlide39.xml" Id="Rfd5ee53079534a7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d0b5e89694d85" /><Relationship Type="http://schemas.openxmlformats.org/officeDocument/2006/relationships/notesSlide" Target="/ppt/notesSlides/notesSlide40.xml" Id="R83fb83a768c14da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353FAD-1BED-4672-A492-DAA19D5D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63AB9C-AA40-4DFD-8633-199EFAC23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735D7-D755-4AD8-A815-EE73A37F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38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FD0E8D-AC29-458F-A850-30507E3C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"/>
            <a:ext cx="676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19D901-0E62-4830-BA73-7913D8C7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66850"/>
            <a:ext cx="5905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Машинное обучение:</a:t>
            </a:r>
          </a:p>
          <a:p xmlns:a="http://schemas.openxmlformats.org/drawingml/2006/main">
            <a:pPr algn="l">
              <a:buNone/>
              <a:defRPr sz="32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задача, данные и проверка прогноза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994DA4-26AF-44AC-AD04-E53F43DA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81450"/>
            <a:ext cx="5953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Новые партии наноэмульсии: от решения до честной ошибки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0F8D14-B72E-4D7A-A840-328340D1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53050"/>
            <a:ext cx="552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Лекция 11 · 40 слайдов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3A89B-E9AC-4185-BF4E-93397A8F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571625"/>
            <a:ext cx="4476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88DED0-1806-4EDE-ABEA-18C7A424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336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FF7294-B22A-4781-AFAB-47F28A8C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956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97DF5-E82C-4453-AD8D-350ED163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57625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0A363F-9B17-4DB2-AE7D-5708A804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2386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FA4272-4C6E-4948-BE24-A80C781B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005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F7818F-430C-4F8A-AE07-2E4669F3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005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5CC494-514A-46A4-A14F-1C23547F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2195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A36EE9-5318-48A8-83D4-A8EEBDAB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21957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0CFD4B-E12E-4E87-A866-E0A34C2E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909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743D05-3A72-4BD7-BA14-7B4F455A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909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B7F0F8-C6C3-420B-8ECD-AE96B85E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6480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528E2F-99D1-45EB-B525-82EAD7D5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64807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E5E4F9-8C59-406D-BDCC-A04F0B4D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3375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3049B0-150B-4C44-B481-A1946A5C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337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145808-E2EF-4A38-968A-21C4B04A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1718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2D9188-398D-410E-9756-45614225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1718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52DFC9-DDA8-40F0-9621-4F8FAD8C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003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7E684B-86F4-4844-AA08-53A125BC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0037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9B3E79-CE11-4A6F-AF65-DC63F725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1337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3BA6A7-5422-4361-B7A4-0CAB9E6B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1337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D62A76-0B0E-4824-A563-F6349A28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6384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AFBAC0-CBC9-4536-B3DA-2ADC3A40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6384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1A74CA-253E-4088-BE3D-A6DBB06B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25812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BB1D88-1EF0-460E-8435-B888841E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258127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E8C30F-A86B-40AA-87D9-0A0759B6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3717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CD0077-DA98-43C5-918E-BFB8CB0C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7625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ПРОГНОЗ • НОВЫЕ КАМПАНИИ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35C2B9-080B-4A2B-9778-F97A4A37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7AB8FC-C7D2-4DB1-9E2A-1FCEC4C9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590885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A4516E-CF82-46D4-AF96-B061E5EF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D32194-2A54-44EC-AE68-AC7EF29E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1D02A-1CBD-4C23-9B6B-050BAE95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ПОСТАНОВКА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3A6645-E90D-4D29-8D2A-AEACF37C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Контракт прогноза новой партии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A9A44A-C32A-43F8-A5D2-311C1DAB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A266E8-59B8-4D62-9830-13D98E87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E9423E-D6D9-4CD7-A39E-5C3AAD34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BBCE6D-107A-4451-B3C6-AFBD6DF4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9550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27FE3E-C34A-4268-A11A-1F6B89CB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3835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Решение: выбрать рецепт до приготовления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AE3117-AD90-4F3A-9166-9A3118C9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146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A4C07A-D131-4709-8DF5-2D5FD352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908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5CDCB2-D053-42DD-A658-7A0773CA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33725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Цель: средний диаметр трёх отсчётов, нм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95C7F5-CC4F-46B6-B9C0-C0F41E07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1002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C26F5B-5AA2-4A0A-978F-A1F2D235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862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911DFA-3D44-45CD-AB76-93769389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2910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Будущее: новый день, тот же прибор и диапазон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FB4949-B285-4D51-A6FE-B79ACEB8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054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8F2C2A-BDFD-45CE-92CB-B1BE74CB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970CC2-B65E-4F3E-A856-E9164721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Фиксируем решение, цель и новизну до просмотра метрик</a:t>
            </a:r>
          </a:p>
        </p:txBody>
      </p:sp>
    </p:spTree>
    <p:extLst>
      <p:ext uri="{BB962C8B-B14F-4D97-AF65-F5344CB8AC3E}">
        <p14:creationId xmlns:p14="http://schemas.microsoft.com/office/powerpoint/2010/main" val="10871695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6025E3-EC91-46CC-8A6B-1B959458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90D26C-AA0C-4E18-9F71-408674E9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66101-41BD-4FE0-8A1C-CFEF7FAB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ПОСТАНОВКА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ED5FA6-A8C5-40C3-8AB6-FD4F213A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Формальная цель оценки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56B1C5-4D8D-441A-BEF2-509FAC48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D9BC61-9D42-4FE6-9AD1-54CB8466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795C01-1F25-43C1-BA3B-C6225982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E0B17B-0D14-4AA1-8D13-F750659D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463E12-F1E1-409D-B16C-D053A168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AB361C-6720-4F40-B139-D6E05796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F1C36E-EA72-4B99-B174-926B6F6E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Единица данных: одна партия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85E287-18F8-4E85-A679-91E96637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EBD9F6-5728-43D1-AF26-C1851CAC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CFC15C-05C1-46B4-954C-100E7B68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AB1D2C-32E1-4073-A409-5C78F240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Модель обучена на прежних днях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C0552D-F477-40EB-822B-2235E3C4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6AD604-D511-4C07-8B56-EC3D0084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6F4B94-29D5-4FE2-8074-7F9C0A11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7C9890-1340-4536-ACBA-5A28E233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Цель: ошибка на будущих днях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505360-8315-4DFC-9109-AAA5442C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0A2794-085A-455C-B51D-2A3B4843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Тест должен представлять будущие условия применения</a:t>
            </a:r>
          </a:p>
        </p:txBody>
      </p:sp>
    </p:spTree>
    <p:extLst>
      <p:ext uri="{BB962C8B-B14F-4D97-AF65-F5344CB8AC3E}">
        <p14:creationId xmlns:p14="http://schemas.microsoft.com/office/powerpoint/2010/main" val="154666874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9FAEDF-DEDA-4016-AC55-E2566C7A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8080E1-84E9-4C48-BFA5-D42CFBCD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25D919-981E-438D-93B6-9273D05B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ПОСТАНОВКА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66364E-CA13-4A52-9EE4-5CD0B62C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Число или категория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7277C7-834D-4A3F-ACBB-FD7FABE7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91769-E116-4C17-862A-39711259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ED0E9-C713-4542-9EB8-7BF87B0C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6FFF6A-4CD8-4506-87E6-2EE07B40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6572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A475E0-DC64-4772-B79F-AA3E3D82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76475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F1A546-AA0E-4BBB-B306-9EA36B4D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38375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Регрессия сохраняет измеренный диаметр в нм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D829E0-1C8D-45F6-BC4B-B2544EFF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464E0D-9CCF-48C5-848C-08E07D46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0400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Классификация: «брак» по заранее заданному тесту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711BEC-C2D2-447E-9D1C-6976F37E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00525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E2A0DF-0BD2-4988-A624-AF544222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62425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Порог 135 нм здесь учебный, не норматив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AC9B58-62C5-4DD7-B771-6D66AC2B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381250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ПРОВЕРЬТЕ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ED225-D330-4159-9436-3B75DAE1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867025"/>
            <a:ext cx="32480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При пороге учитывайте повторяемость измерения</a:t>
            </a:r>
          </a:p>
        </p:txBody>
      </p:sp>
    </p:spTree>
    <p:extLst>
      <p:ext uri="{BB962C8B-B14F-4D97-AF65-F5344CB8AC3E}">
        <p14:creationId xmlns:p14="http://schemas.microsoft.com/office/powerpoint/2010/main" val="3080027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646EF5-3241-456D-AE03-EC77EE0A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F0E49-1A2B-4769-8B57-45780C64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55E18D-6200-44D6-BC3D-BAFD9822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ПОСТАНОВКА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A1498F-D305-4399-9A29-EB6C83B7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Какие признаки доступны до синтеза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09FAE8-359C-4CFC-AFC1-53C3DF40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A3F80-34C3-467D-83D2-45CEB066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B9AEB5-07F5-459D-BD5D-C4A3BBE5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FDAF6-6E55-465C-BCC7-54302542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1206E2-2E5C-4D07-A420-694F1E36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E789E7-F18D-4332-B671-1D12E024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Состав: сорт масла и доля компонента, мас. 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296D7C-AA8D-4876-B5E2-D7D18CF7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46E553-0681-4E52-BA08-6012545D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B89DC3-8204-4E21-98AE-BDE79E3B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2897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Режим: время обработки, мин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ED9B91-4167-4A21-9241-45412FEC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A9ADDD-6811-4C89-85CB-52F68E70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CA3452-D6E7-43B5-9307-68CC6B85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Изображение готовой партии появится позже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01665E-573D-498C-93B4-9A2ADED8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AC3A4B-AD65-4319-A0A0-E47DC9D3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Для позднего прогноза допустимые входы меняются</a:t>
            </a:r>
          </a:p>
        </p:txBody>
      </p:sp>
    </p:spTree>
    <p:extLst>
      <p:ext uri="{BB962C8B-B14F-4D97-AF65-F5344CB8AC3E}">
        <p14:creationId xmlns:p14="http://schemas.microsoft.com/office/powerpoint/2010/main" val="67436385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D65A2F-9E5C-41C6-88CA-2CD71745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3D8EDC-52DF-41D7-B714-56F06355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049F48-BAB6-4BC6-9771-1D397121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ПОСТАНОВКА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CA84F9-28B5-4A92-916E-AC886BD2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Временная ось признака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E82A3-F5CE-4F8A-8054-3D9512C2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CED7EB-38AF-4C06-AF01-E2F69F3C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CFDF07-7493-4184-883D-768B1324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BE6553-6303-47E4-AF2C-A97FFA3E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8749C9-4998-460A-A539-FCD0CC5F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61AAF6-88B2-45B7-8D70-727FADC6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Рецептура записана до запуска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52381E-94F2-47A3-929C-430CA105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BA1EF8-A9EB-44B6-99BB-609B3B9B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5BB15A-3A95-4C13-90AF-309B1322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Морфологию получают после приготовления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2784C6-718A-46E5-A021-EFB381CE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01A0ED-AA24-4E5B-822D-25D0BF96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2F4C41-B875-4C73-B695-2BDA8D59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QC и диаметр известны после измерения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1A4E1A-5897-4637-BD17-B970AA3D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261C67-B808-4472-85A1-736E04C1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Поздний признак в ранней модели сообщает будущее</a:t>
            </a:r>
          </a:p>
        </p:txBody>
      </p:sp>
    </p:spTree>
    <p:extLst>
      <p:ext uri="{BB962C8B-B14F-4D97-AF65-F5344CB8AC3E}">
        <p14:creationId xmlns:p14="http://schemas.microsoft.com/office/powerpoint/2010/main" val="123527498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5D6BD8-3DCB-43F8-993C-7288A1A8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64EBAD-D427-451B-A5D8-CABBE70C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1D6D08-FF73-49F5-B986-2BC8ED36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ДАННЫЕ И НЕЗАВИСИМОСТЬ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30858-ABF7-49CC-95CF-B1C28D9F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Уровни вложенности данных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4A4A8-3E68-42C6-9703-80649208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0EFDD1-BF6D-4A27-B77F-7A7101EC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4D9932-304D-4C8E-A05D-411DB3C6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D63156-9313-4777-A926-5A0515C0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85975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146866-AF39-4789-A173-06D149BC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День → партия → проба → измерение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19BDB2-0B81-4133-AE31-4D23C614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24200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C34780-277F-46C1-92A6-099DA13E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Повторы партии разделяют её условия получения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BC1DE4-3090-4DBC-984B-2157CD4F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62425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A5979C-050D-4BC8-8C82-90AEE211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Новый день требует удержать все его партии вместе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647792-A77F-4036-A739-E7E6A53F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619500" cy="3171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11281B-7E6A-4F64-BCE9-6B807CE3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19350"/>
            <a:ext cx="30289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E68700-DC57-41E9-BC78-B2ABA693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05075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Поставка масла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23C295-7E02-4299-AE18-8FC53520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4797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70D62B-C2BF-4655-91D0-AC9F855E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105150"/>
            <a:ext cx="27051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80ED9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FAE062-B167-463C-A415-F0757B87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190875"/>
            <a:ext cx="2705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День синтеза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85499D-8B3B-42A9-85B2-75D7BF0C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3377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72188A-77E3-4F2F-AB8C-1829A6E7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90950"/>
            <a:ext cx="2381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C4A7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9A4043-69E5-49A6-8C99-EC6BDB1A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766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Партия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9E848D-3800-4724-844B-23E6302E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219575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8FBF40-B1F0-4F56-8698-8CE42440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476750"/>
            <a:ext cx="20574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F9C74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16422E-F25A-4649-8F01-972F2144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562475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9C74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9C74F"/>
                </a:solidFill>
                <a:latin typeface="DejaVu Sans"/>
                <a:ea typeface="DejaVu Sans"/>
                <a:cs typeface="DejaVu Sans"/>
              </a:rPr>
              <a:t>Отсчёт</a:t>
            </a:r>
          </a:p>
        </p:txBody>
      </p:sp>
    </p:spTree>
    <p:extLst>
      <p:ext uri="{BB962C8B-B14F-4D97-AF65-F5344CB8AC3E}">
        <p14:creationId xmlns:p14="http://schemas.microsoft.com/office/powerpoint/2010/main" val="21467454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3829E1-E21B-48EE-8E21-F44C5F6D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CDEF09-C22E-4C68-AC5E-DD8DCA95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16A0A-3DE0-423E-B417-3564A23B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ДАННЫЕ И НЕЗАВИСИМОСТЬ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6390CE-738D-4F91-87AA-224073BE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Почему повторы не заменяют синтезы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356797-9E1A-49A7-9666-D96ABE1E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8BFFD-F93C-4352-B1A7-9432BDDD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61C248-A78B-4A90-BDA1-93E58D9E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5A4BC9-B546-4C69-A660-A2E948A5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0323D8-A97B-4461-8F44-3F1FEA71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D4DD78-A2ED-4043-892F-C4F1699F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1E6F26-C00D-4F8A-B43B-4388ACEE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y = рецепт + день + партия + шум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1EB66F-101E-420D-ABB4-F3AA9C18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E91746-1F3D-4D17-B327-429D70DA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09183D-54BE-446F-97A2-ABF8A6A1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E9C681-D523-4EF1-9A27-81608DFD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Var(среднего) = 36 + 16 + 9/m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2AFD35-F962-4A3F-9E8A-292099CE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50993B-39A6-485E-AC2D-FCDF48D7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7E4D13-F2FD-4586-80DF-CFE26A8D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BBE316-EF7E-45F4-9CF4-DD44E9F2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m = 1, 3, 9: 61, 55, 53 нм²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D311F6-72D3-4F5C-AA71-856A7D44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625C0F-C9F8-41D8-9106-96FE2B9A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Новые измерения снижают только последний член</a:t>
            </a:r>
          </a:p>
        </p:txBody>
      </p:sp>
    </p:spTree>
    <p:extLst>
      <p:ext uri="{BB962C8B-B14F-4D97-AF65-F5344CB8AC3E}">
        <p14:creationId xmlns:p14="http://schemas.microsoft.com/office/powerpoint/2010/main" val="195572774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1DCF6F-254F-4FBA-A909-51128C76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26F931-4547-4F5A-B3F6-F11DB282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F119D-E717-41A6-AA14-459838B1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ДАННЫЕ И НЕЗАВИСИМОСТЬ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D7502-A5E4-4A32-AE75-3E3A6324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Таблица на уровне партии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215FC0-A14B-418B-8FA9-AABA6F7F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3EBCB8-B4F1-424C-B35E-FDE82BDC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588091-029C-4587-A096-94694CE4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9CB268-2DBE-42CB-8343-8F4B3FEA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6572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E7470-EBA3-443E-947E-9C048AB7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76475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AACE6E-3CBD-4E88-A9F2-7AB719CD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38375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Одна строка: рецепт, ID дня и партии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7B9BE5-B18E-4423-B911-B9896CBA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6B7FC5-E38C-4EAD-94D3-E4ADA741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0400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Цель: среднее трёх отсчётов, нм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13989F-0360-4262-A89E-74A38260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00525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4A428C-CB2F-4538-8B43-CA43DF81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62425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Храните SD и число измерений для контроля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EE0A1B-54CB-4BFC-B3BC-7E8FD04A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381250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ПРОВЕРЬТЕ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D2E4E4-35D4-403E-8736-2559EAA0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867025"/>
            <a:ext cx="32480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ID и технический номер не передавайте как X</a:t>
            </a:r>
          </a:p>
        </p:txBody>
      </p:sp>
    </p:spTree>
    <p:extLst>
      <p:ext uri="{BB962C8B-B14F-4D97-AF65-F5344CB8AC3E}">
        <p14:creationId xmlns:p14="http://schemas.microsoft.com/office/powerpoint/2010/main" val="75139873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24EB40-1D22-4ED2-9901-C2555461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ADD1D1-AD2A-4BD9-9FF9-CF5DC412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FF2B4A-9223-43B3-913A-E3530A3B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ДАННЫЕ И НЕЗАВИСИМОСТЬ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00845F-4C4F-4EFC-9ED3-1C61F932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Разбиение следует за применением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817643-B535-428E-8276-74988290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BE951C-FD93-49FB-9F28-81BE5621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322D8-9662-4653-BED3-41C159CF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9E215B-0DD8-4DEA-B594-33A40052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CD917C-EF4B-4347-B6F8-7F13E337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2504CB-26CE-4AEA-A30B-F90337DF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Новая партия знакомого дня: группа batch_id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7789FF-69CA-4B50-8F40-BD836B97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8B2136-93D5-4582-A811-0C2B0572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6820AC-8508-46C5-8DFB-DE980808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2897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Новый день: группа campaign_id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DFB9C1-8697-4DEB-B81B-F0F0765A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4FDDD2-6B34-4CB4-9F8B-EE0DA5D2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64CB95-24EF-4DEE-8EE3-822F12F1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Новая поставка: группа supply_id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A08C7A-53B5-4DDF-83F3-13D6F1C1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8D1619-3E66-45BC-AFB0-591F31F2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Перенос на другой прибор проверяют отдельно</a:t>
            </a:r>
          </a:p>
        </p:txBody>
      </p:sp>
    </p:spTree>
    <p:extLst>
      <p:ext uri="{BB962C8B-B14F-4D97-AF65-F5344CB8AC3E}">
        <p14:creationId xmlns:p14="http://schemas.microsoft.com/office/powerpoint/2010/main" val="127041565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CBCFEA-70C7-4025-BCB1-93524710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72BB26-B4B7-451B-8578-FAC798CE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4FBEA-EC01-4D01-95D6-9100A7F5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СХЕМА ПРОВЕРКИ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1B977-A49B-4100-A19A-62A64C5F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Baseline должен быть доступен в работе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6E506F-8DEB-4273-8980-FA9DC13F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837F6-6589-4C99-A794-E5AB438D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201D66-0280-4104-BA66-AF0CC074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CAD6B2-E2F5-484D-ACBA-A5662698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B4EAE0-3333-4499-8537-127AE509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5F1F5B-C685-4EF8-A3BF-15E20A5C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Константа: средний диаметр только train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B56A09-7287-4727-9740-68E1DF05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5B787D-FC00-4C4E-A778-D627E467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F85FFD-E6CB-4532-A857-61D3C332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Лабораторное правило допустимо, если известно до синтеза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2C11CF-8BB1-431F-8F28-9D511876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8DBD93-65F3-4760-B9B6-72EF671C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836D11-D490-4548-815A-35C84471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Сравнение — на одних и тех же тестовых партиях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72419F-43CA-4706-A8EF-8954F37F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3FA13C-BB2F-4079-B347-4B67EDD4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Выигрыш в MAE ещё не устанавливает причинность</a:t>
            </a:r>
          </a:p>
        </p:txBody>
      </p:sp>
    </p:spTree>
    <p:extLst>
      <p:ext uri="{BB962C8B-B14F-4D97-AF65-F5344CB8AC3E}">
        <p14:creationId xmlns:p14="http://schemas.microsoft.com/office/powerpoint/2010/main" val="37977955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24F62E-2269-4BDF-BA40-0EE1A0C1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31C2B1-8191-48BE-A11E-FF4379F4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1C1187-04CE-423D-8E47-D6315C50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СХЕМА ПРОВЕРКИ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10D0D3-3F85-4A8D-BC29-E1B0B5A1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Внешний тест будущих дней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EEE509-3E09-4F41-AFE6-68633A84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395ECB-83DF-45C4-9D46-58DF60B6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7C9096-622E-4F8D-836B-BF1F4980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D522DF-3FAA-41F9-99B0-3961BEF4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85975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5968E1-FB69-4DDC-B61E-15084F33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Кампании 10 и 11 откладываем до настройки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4CE23A-440D-49F5-928C-FCD50484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24200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95122F-7162-4F98-84C0-1A0DD1F5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Признаки, метрику и порог пользы задаём раньше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689013-7C3E-45AE-9491-E2BBBCEB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62425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623AC1-0EE6-4C3A-83DF-18B1288C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После выбора метода считаем один финальный отчёт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90BF96-3CCD-446F-8FE1-429D6B28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619500" cy="3171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4E37ED-AEF4-4294-A75C-EE3D1F63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09825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ХРОНОЛОГИЧЕСКИЙ ТЕСТ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EE8736-D639-44AA-B679-067BAAE0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24175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День 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9C6F00-3516-4E44-B0F0-CD18BCF2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62275"/>
            <a:ext cx="1809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6DB68C-217D-41B1-BCD6-4DE2BF07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76625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День 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5E99B4-AE8D-4044-9E22-76C4E57F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14725"/>
            <a:ext cx="1809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18DB00-D11A-495F-A6B7-66114CC6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029075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День 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677083-A2A3-4AC8-B8BF-9BF0EBFA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67175"/>
            <a:ext cx="1809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406BDE-5F84-432E-B52F-86F5FD6B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81525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День 11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6C0B53-E83A-410C-8F27-DE41B1D4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619625"/>
            <a:ext cx="1809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884BCF-5D2C-4C8A-84B6-AE971622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Прежние: train   Новые: test</a:t>
            </a:r>
          </a:p>
        </p:txBody>
      </p:sp>
    </p:spTree>
    <p:extLst>
      <p:ext uri="{BB962C8B-B14F-4D97-AF65-F5344CB8AC3E}">
        <p14:creationId xmlns:p14="http://schemas.microsoft.com/office/powerpoint/2010/main" val="34021928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D194B8-FAA7-4D00-AC65-1368655A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E70862-7018-423E-87F5-F961C82C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FBFCB4-A5F8-4926-A6A4-603F5D9A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СХЕМА ПРОВЕРКИ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C96C3-A5A8-46DB-8263-09370AE3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Внутренняя проверка по дням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E950B-E309-4B57-BCDB-34F0E2E8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DA1775-1335-4C67-A741-A61299E7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187E88-C78E-4FB2-A33C-CA32A343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8EEB1D-F8CB-4919-8A6B-7390BE3C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03D9DC-FEC7-44DA-B1F0-2538EB8E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9B9F01-A90F-4533-95EC-FA6B24CD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6C7C39-87DA-4207-B6D2-8E2CB2D2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На днях 0–9: GroupKFold(n_splits=5)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6B67C9-E6A5-424B-914C-D78D7A62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8BF75D-90D0-43DC-9216-D76D371A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52E126-9AE5-484E-908D-B919854C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2C3A7A-77FD-4B37-8B03-4D96692A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В каждой складке остаются два полных дня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16D52C-8EC0-41A9-A86C-DFAB97C4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3BEDB6-3CF9-4D31-897B-E54DC113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69BD40-7BEF-4497-AD99-AD0E9C70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6C4963-29D1-4315-B98C-A0028CD9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Импутация, кодирование и Ridge переобучаются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19EE6D-5475-46C6-A8CD-370F3BEE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E4E45C-D382-4057-BF79-59BFDC1C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Проверьте число и состав групп каждой складки</a:t>
            </a:r>
          </a:p>
        </p:txBody>
      </p:sp>
    </p:spTree>
    <p:extLst>
      <p:ext uri="{BB962C8B-B14F-4D97-AF65-F5344CB8AC3E}">
        <p14:creationId xmlns:p14="http://schemas.microsoft.com/office/powerpoint/2010/main" val="208786278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261F10-4BE0-48C8-B761-FCD474EF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10B249-6CE8-462C-B636-9EE124A1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3B9F75-1AD2-446F-81B2-ECD772C3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СХЕМА ПРОВЕРКИ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235BD0-FF5F-445C-A776-6B784C70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Псевдорепликация в тесте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C2574-DB78-4990-B9C0-600CFAF5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AAFA80-68A2-4430-85F9-DB231C83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0921F9-603A-4FC7-A410-0F3F9AD5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F4245-7E02-478F-B2F9-DC453098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6572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E4B4BB-259D-4103-8161-10FE80E6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76475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8B9DAE-FF67-4B68-8A07-2110C83D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38375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144 отсчёта соответствуют лишь 48 партиям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98C6A5-0C01-4E1A-863D-66032CBC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955832-98CF-4C0F-AF6C-D3C68CC3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0400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Случайное деление строк смешивает повторы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197236-6C68-4894-BD61-6C716A83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00525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F24E52-6DEF-4519-9DA1-20891191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62425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При новом дне группируйте четыре партии дня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E69FAC-9E30-454C-8F2C-AC5C7BF5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381250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ПРОВЕРЬТЕ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D13D57-2940-4454-BBF7-6C02DE96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867025"/>
            <a:ext cx="32480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Проверяйте ID по обе стороны каждой границы</a:t>
            </a:r>
          </a:p>
        </p:txBody>
      </p:sp>
    </p:spTree>
    <p:extLst>
      <p:ext uri="{BB962C8B-B14F-4D97-AF65-F5344CB8AC3E}">
        <p14:creationId xmlns:p14="http://schemas.microsoft.com/office/powerpoint/2010/main" val="31997080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524243-27F9-4707-90C6-E91C06C6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DD3777-895B-4DF3-B91B-7FC32213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C17CDE-4177-4F98-903B-A50FA362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СХЕМА ПРОВЕРКИ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329003-03F9-45B3-B5F6-EABB4C99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Предобработка внутри складки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C76BD-C008-441C-8C68-3658ACDF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5B7B5A-4AAF-4EDF-9F0D-CD11BE31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9BC792-C62C-4C4D-8714-06D96CF4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464C21-7A5C-4610-B822-78F28AF8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85975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C1E7B3-2161-4977-8B68-977641CE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Медиана пропуска обучается только на train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07E61A-E00C-4A19-A2E5-24324551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24200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A031B1-22B6-4388-9007-B0559E9F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Масштаб и кодирование учатся без тестовых строк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76DB63-05F2-4EE2-AFB1-034DC552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62425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CD819A-D2C9-4EA1-A0B0-2A5ACFB9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Отбор пиков по y выполняется внутри CV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113022-5E7F-4DAE-A19F-D67DAC24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619500" cy="3171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91F696-5586-4C87-8993-689F2F7B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09825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ПРИМЕР СМЕШЕНИЯ ПОВТОРОВ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533AA3-3BF5-4994-9E74-E4D6233E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24175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25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Партия 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DE2539-7F06-45FF-BB56-156C93AE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62275"/>
            <a:ext cx="1809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3AA443-EAC7-4DE6-B40A-24D42466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76625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3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Партия 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884C5E-154E-481F-A710-9CB34C3F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14725"/>
            <a:ext cx="1809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415F47-B331-445B-808F-7C20EA34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029075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Партия 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F28AA8-6514-482B-8300-6ED9CCBC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67175"/>
            <a:ext cx="1809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F19524-A248-4AE8-A0D3-556F1AE0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81525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2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Партия 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864CF2-D528-4339-A672-FF50FF4F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619625"/>
            <a:ext cx="1809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C74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E5A22F-7679-4F3D-A8B5-5E2A09C8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1015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50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Один ID в train и test означает утечку</a:t>
            </a:r>
          </a:p>
        </p:txBody>
      </p:sp>
    </p:spTree>
    <p:extLst>
      <p:ext uri="{BB962C8B-B14F-4D97-AF65-F5344CB8AC3E}">
        <p14:creationId xmlns:p14="http://schemas.microsoft.com/office/powerpoint/2010/main" val="70474919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428181-1287-4842-8D17-0AF7E00A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B82CA-3FB7-4C7D-9A53-7A71EBD6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920A27-CEEB-42A5-95D3-23637A71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СХЕМА ПРОВЕРКИ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055414-64F8-4FA4-AAD1-B1D7AF46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Три разных утечки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0729D-AEA8-4253-9306-780396C2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411098-0D9D-436B-AA8F-0013C91D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58F9C-8DDB-4CF0-A27A-C4B75D7C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24CAD7-1A83-4A5F-8BE6-EE714B1D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B4ED60-7226-4C63-84E5-B2531857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77847F-7E3F-46D6-AB17-6A0D992D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Целевой результат QC в предсинтезных входах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AF8FBF-277D-4AFC-BD53-DEF733AA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1C3C05-EDF6-483A-AC9B-FBF2B0C9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AD41C6-E77F-4BF4-A765-69D67EFE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Отбор признаков по ответам всех кампаний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63B303-CD67-4378-9E1C-1C41EC36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54BBAA-B3C5-456F-B082-828C4F04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3D6010-7E03-47B1-9323-3F3629F4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Выбор лучшего seed по финальным двум дням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22E942-3230-4881-9B6F-8EA4C0D8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CF4C09-09F3-47A8-ABCE-FB391D4A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Аудит времени появления и происхождения полей</a:t>
            </a:r>
          </a:p>
        </p:txBody>
      </p:sp>
    </p:spTree>
    <p:extLst>
      <p:ext uri="{BB962C8B-B14F-4D97-AF65-F5344CB8AC3E}">
        <p14:creationId xmlns:p14="http://schemas.microsoft.com/office/powerpoint/2010/main" val="14567668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54CE29-0792-4B60-A907-C9F8D1B5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0CE2C-5853-45A5-A441-C0F90AEA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0C0925-5A35-4F03-BAC8-49AE2B12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СХЕМА ПРОВЕРКИ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DDB816-AF64-4DA6-8453-93A445B2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Процедура выбора модели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8654E7-F418-415E-A063-D4987ACB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552222-765A-4F33-A4CE-140EC6D5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964089-17EE-491C-9098-E36288BE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6EFFA4-8FBA-4C44-8ADB-8E3CD7DB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9550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FA631D-0C35-4510-8A43-BB06D21E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3835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1. Удержать новые дни до анализа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F3CBF0-93A1-4ECC-B5EC-2F5806A7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146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B2838A-4538-4A77-97B7-9EEEF029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908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6522F5-2F07-4E33-B14F-2473A14D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33725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2. Подобрать alpha по групповой CV на прежних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9057A8-2D9C-4912-A95B-0DC1CDF0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1002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669B8B-8FFE-4573-8132-1DF37BED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862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42C183-AB17-4016-AEAD-3CFF1A63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2910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3. Обучить на разработке и открыть тест один раз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D5596B-B8E8-4854-924F-9A8115DC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054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5CA6DF-ED11-4E44-B47D-0AFACF97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A52B2B-94A5-4CE0-9FB1-D99496DD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best_score_ после подбора не финальная оценка</a:t>
            </a:r>
          </a:p>
        </p:txBody>
      </p:sp>
    </p:spTree>
    <p:extLst>
      <p:ext uri="{BB962C8B-B14F-4D97-AF65-F5344CB8AC3E}">
        <p14:creationId xmlns:p14="http://schemas.microsoft.com/office/powerpoint/2010/main" val="207171223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891101-230E-4174-8D27-396944DB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DAE0A-8533-4F15-A41B-D37E7554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180CA3-46A1-4D71-BD08-A3452CC3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СХЕМА ПРОВЕРКИ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9115B8-80B8-453A-A8D3-BAD0FEBA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Из чего состоит Pipeline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3D97B-0805-4F74-BF40-07454367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081E0-25B8-4623-8A98-EF990E36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78D98C-92BA-4D4E-87C9-77726714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7F9DAF-5BDD-4F54-B2DD-C128DF51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D418C5-7764-4D02-AC8C-42A3626A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6C8935-EFF0-47A1-9393-0552C946B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9285A6-0DB6-45E5-B241-4FE8AF78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Числа: пропуски и масштаб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6D4360-8165-439D-BB63-5590B72F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10B597-E6BB-4C86-B84C-AF38C2A7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98F3E8-8887-4DFE-9FA7-5DA9DAE4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BFD72A-E930-4601-9943-EC77CB10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Масло: кодирование категорий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7A6B6E-E309-4A1E-80CB-D816672F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92A552-6BFF-4630-ADE9-404492F5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15B3E6-15EE-47CE-AE1C-4ECB4B98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C721D9-4C55-4E55-B3F7-2C3C86C5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Ridge: alpha = 0,1; 1; 10; 100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BC9FBA-DC8A-46E9-8E7B-D359B492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263ADD-C44C-4D2F-97F8-7F922072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GridSearchCV обучает весь конвейер в каждой складке</a:t>
            </a:r>
          </a:p>
        </p:txBody>
      </p:sp>
    </p:spTree>
    <p:extLst>
      <p:ext uri="{BB962C8B-B14F-4D97-AF65-F5344CB8AC3E}">
        <p14:creationId xmlns:p14="http://schemas.microsoft.com/office/powerpoint/2010/main" val="136430906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E5F157-64D2-46F9-AF38-6219B830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D4CA40-89AD-405E-AECE-E44422DC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448DBC-98E9-4155-ACAC-86320CF2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ОШИБКА И НЕОПРЕДЕЛЁННОСТЬ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A2BBE7-6EB0-42F7-A065-56265A0F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Ручной расчёт MAE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38B2A5-4B94-4CC7-9614-21DFB044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22150-AFC2-48AA-A1EF-FAB9838F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934EB-707B-40D1-889A-6F95F513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1548EC-40B6-4A70-B651-C452047D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85975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89A681-A5E5-4040-891C-E017AC61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Baseline: (17 + 3 + 12 + 28) / 4 = 15 нм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C28B2-9C48-40F9-BCEE-A62B31B7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24200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BCECB2-6D63-455B-ABE8-F8846C95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Модель: (4 + 4 + 7 + 7) / 4 = 5,5 нм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80DD21-E635-4EDB-A09F-4459BBFE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62425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BB092C-66DE-436F-B034-7471AFD8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Четыре условные партии не оценивают редкие промахи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77DB9B-2CA9-4703-957E-283EAA8D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619500" cy="3171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8B1FD2-7737-4050-B760-F28FC9D3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19375"/>
            <a:ext cx="190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7C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2B54CC-C326-49CA-A70F-7229BEA0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86325"/>
            <a:ext cx="264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B7C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C354D7-6E6D-42F6-AFFE-00DD5F06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476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7A7B73-84E5-4B9C-8B2C-C6653848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381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432858-E745-40CB-8408-234E425D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286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A14965-831F-48F3-B93A-037AA637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7338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E151FA-EEE6-4086-BDE9-B62E46A3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6385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64A304-35F8-4708-AC2A-76A501F1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543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B4B93A-7D18-49A3-9C29-8CC6C6F5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990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38CE47-7E72-4465-A97C-2C153612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953000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измерено 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37EF95-2015-4A0D-8803-787D0E9F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31457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ŷ и y</a:t>
            </a:r>
          </a:p>
        </p:txBody>
      </p:sp>
    </p:spTree>
    <p:extLst>
      <p:ext uri="{BB962C8B-B14F-4D97-AF65-F5344CB8AC3E}">
        <p14:creationId xmlns:p14="http://schemas.microsoft.com/office/powerpoint/2010/main" val="66258741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FEA5D5-0070-4F59-ADF0-F5BC7AD0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8F07AD-8545-4B3F-AD79-C1ECA639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30439-833F-4ECE-837F-D4FC70C4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ОШИБКА И НЕОПРЕДЕЛЁННОСТЬ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ACABBB-D700-4CF1-90ED-951427BF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RMSE и смещение на тех же партиях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8D5AE-07CB-4A44-81D9-377C8715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E4973-C64B-49BC-9159-77129AE3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F6C9BD-45CE-4840-85E7-DAAD147E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198218-7920-4B98-91B4-7AE2E1D2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12877D-6662-45A9-9791-9CBA5B3D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5936B4-53EC-4A4F-9452-67E11429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RMSE = √[(16 + 16 + 49 + 49) / 4]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7A857C-A3A7-4FE6-89FD-FC1861EF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95B10E-81A2-4E37-9A3F-ED0472FC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52B61B-8A7B-4A7D-B957-0083E5FA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2897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Результат: около 5,70 нм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278B1C-ADEE-4D1A-B7EC-7B150E95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885E12-30F5-4238-9C75-A4B4E3E2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DBA26A-4B0B-474C-825D-866CDB86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Средняя ошибка ŷ − y = −3,5 нм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ACED33-E6DF-4560-B4D5-71E3AC21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4DD48D-0FCE-4F9D-8EDE-BCB29BD7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Отдельно проверьте край диапазона и порог</a:t>
            </a:r>
          </a:p>
        </p:txBody>
      </p:sp>
    </p:spTree>
    <p:extLst>
      <p:ext uri="{BB962C8B-B14F-4D97-AF65-F5344CB8AC3E}">
        <p14:creationId xmlns:p14="http://schemas.microsoft.com/office/powerpoint/2010/main" val="1424868164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FAE1AC-7A93-425F-9925-A4E48E64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CE25C-CB52-443C-9A00-448A1156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EFF9DD-592C-4B27-AACE-B4972F18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ОШИБКА И НЕОПРЕДЕЛЁННОСТЬ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CAAF20-980D-4F50-A552-968248EA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Графики дополняют среднюю ошибку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F463B-15AE-45DF-8DFB-FE50E0CF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42C3E9-9AF7-463E-9C6E-D8590577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DDB6B-28EF-47B7-A223-6A50BEC0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17B0F6-FBEF-4C69-AA7A-8FBA663D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88ED17-0479-4791-A060-7D8C8AB4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70ECBB-F3FC-4907-A307-02EF61A8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Факт против прогноза: линия равенства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2F41FE-FE67-49AA-BC18-E4D18751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F539CD-D7EC-4D83-93A0-6FCAA6B3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BBEF78-73CB-4D75-B4C6-FA6D79B6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Подписанная ошибка против условий синтеза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853467-EA53-4EF0-A28C-C06BC4A3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B9A438-35C6-4253-B44A-69CCAC8A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54FA1A-3A79-4968-AFDE-A645FB34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Ошибки отдельно для дня 10 и дня 11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98EEB2-383B-43C6-B785-E62B9B68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EA4BA4-992A-4473-BE3B-80287416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Общий MAE может скрыть сдвиг одного дня</a:t>
            </a:r>
          </a:p>
        </p:txBody>
      </p:sp>
    </p:spTree>
    <p:extLst>
      <p:ext uri="{BB962C8B-B14F-4D97-AF65-F5344CB8AC3E}">
        <p14:creationId xmlns:p14="http://schemas.microsoft.com/office/powerpoint/2010/main" val="60773751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DE4F61-AEC6-4F07-896F-7B310979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483D0D-7F99-43E7-90D1-697EDEDF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2DB24-77B8-41B8-A54E-5E27666E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ОШИБКА И НЕОПРЕДЕЛЁННОСТЬ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4F5BD7-9371-4E1D-8BFD-71FFC6A7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Что именно усредняется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B7BD1-1035-462B-876A-F765476C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B39CE9-7D0E-438B-9118-99C1E56A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78928D-8E06-4BAC-8DD5-555FF245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C5C53E-D444-4882-A520-A9DE6C0A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9550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174804-A32D-4EBF-9744-B11D9DF8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3835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MAE по партиям взвешивает каждую партию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03A25A-E73C-465B-902F-D0202508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146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50B3B3-8EEE-4831-8FA8-7AB21B76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908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2EC7AC-C96F-4C9D-92E3-B53A5F49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33725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Среднее MAE по дням взвешивает каждый день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0095C6-E80B-4139-A013-13EDB85B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1002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31973A-71BD-4E10-A69A-EE4049E6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862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8681EC-5DA9-48BB-98B0-4850B12C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2910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Неопределённость оценивают по независимым дням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DDAE4B-558F-45CE-812E-B08FC236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054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D88AA6-327D-4F2B-B414-2441A883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84EC82-A2D3-45C7-8000-C621B5A6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Два тестовых дня не дают точного интервала</a:t>
            </a:r>
          </a:p>
        </p:txBody>
      </p:sp>
    </p:spTree>
    <p:extLst>
      <p:ext uri="{BB962C8B-B14F-4D97-AF65-F5344CB8AC3E}">
        <p14:creationId xmlns:p14="http://schemas.microsoft.com/office/powerpoint/2010/main" val="207290498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797DA9-C406-41CE-A38F-EAA2B63B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F0144C-A89C-4E34-B0A9-4B534C13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D00A6E-3941-4EF1-8A5E-AEC612C8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ОШИБКА И НЕОПРЕДЕЛЁННОСТЬ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7A444E-898C-4E24-9B92-72879AA1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Интервалы имеют разный смысл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10B69-3874-4C78-BB4C-A5FA8A93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0B79B8-4256-4BF3-8FAB-0885F104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48059-BBB9-45CF-9C97-FEAB66F3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809EC4-5C14-4E2A-84B6-0507A2AB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BDD914-CFC1-4F4C-B59B-50CD52A2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D8D3F4-6288-4627-AEFE-B00623BA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2C7A9A-2E2C-4539-B971-244495B1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SD измерений: повторяемость внутри партии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B81E92-F9D1-4013-B8AB-A1B05F4A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04ACA1-C7CB-4E0F-A0AE-6769EDBC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4CEC48-7D03-4919-A091-40442F7E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062638-102E-494E-BF7C-677E5A63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Прогнозный интервал: результат новой партии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AFB2DD-1E99-4DEE-88FD-CF8C5A16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E38977-FB49-4C43-B9AD-041ED69D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3A69EE-97BA-4D9F-A916-2B728A64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4D6B63-1AC6-471E-A14B-3502959D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Интервал ошибки модели: качество на новых днях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FCE730-FC68-4A11-8FD5-2270D858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3B98FC-A5B1-4D33-9488-82E0B908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Bootstrap по двум дням не создаст новые данные</a:t>
            </a:r>
          </a:p>
        </p:txBody>
      </p:sp>
    </p:spTree>
    <p:extLst>
      <p:ext uri="{BB962C8B-B14F-4D97-AF65-F5344CB8AC3E}">
        <p14:creationId xmlns:p14="http://schemas.microsoft.com/office/powerpoint/2010/main" val="2130030401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16B0F1-BAE5-45AA-A919-AF533FDD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63842C-CE16-4CDD-B8DC-B9B96336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85DA25-70E4-4CA8-9152-67D6E323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КЛАССИФИКАЦИЯ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20E46B-9570-454A-A3DF-E20F8DB3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Матрица ошибок для брака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A94FB9-7B75-4930-97E0-7C7EAF56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473CDC-5E50-4373-BE54-499643E3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C527CA-F009-4332-9FAF-2E182E20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5AA945-8321-4050-B6A8-AF01BE71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6572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F99500-DCCA-48E0-900F-BD124119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76475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1BD28-B8CD-4EEC-BD21-BE3018C1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38375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Положительный класс: партия с браком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25010C-69C3-4F68-87AD-C0149BB4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FA09D4-162E-429E-810A-B19D7BDE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0400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TP = найденный брак; FN = пропущенный брак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154614-3F35-4EAC-8214-399001C4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00525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56A9D4-FAC7-40AC-9662-A479777A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62425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FP = лишняя проверка; TN = верный пропуск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5C4B66-6DDC-4A91-9C01-F1AA1B74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381250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ПРОВЕРЬТЕ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C49AA2-5042-4749-8596-E1F93A59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867025"/>
            <a:ext cx="32480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Фиксируйте ориентацию y_true и y_pred</a:t>
            </a:r>
          </a:p>
        </p:txBody>
      </p:sp>
    </p:spTree>
    <p:extLst>
      <p:ext uri="{BB962C8B-B14F-4D97-AF65-F5344CB8AC3E}">
        <p14:creationId xmlns:p14="http://schemas.microsoft.com/office/powerpoint/2010/main" val="297909033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2CE6D9-FE51-4D02-BC7A-D5134204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358E46-112D-40C8-B2D7-370D122D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2DFF12-4D50-44DC-AFEA-10DF127D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КЛАССИФИКАЦИЯ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01A6F6-84CA-4E27-8C61-2B93984C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Accuracy скрывает пропуски брака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00D4A-C3CE-4A1E-BF8A-28745218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CBCB6-4CB3-4E5C-9AC1-597FD31F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71092-276B-4F59-8BA4-C91E97E2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891496-59E0-453C-B535-F85EC07C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85975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D64921-F174-4511-A2AB-35E47E99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10 бракованных из 100; «все годны» даёт 90%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EBA8CD-5B7B-4463-BA3D-93AEB720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24200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672FEF-AC35-489C-A2B7-803F81D8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Но recall брака для такого правила равен нулю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3948F5-13DA-4C8F-BA87-E24FF10F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62425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BAD8F0-5EB5-4BE5-9783-F3E5D987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Пример: TP=7, FN=3, FP=8, TN=82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42ECD9-9574-44F4-86AE-CC62C88A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619500" cy="3171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826E14-6ECE-4B92-BAA9-45A84752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717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ПРОГНОЗ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349EA8-B372-4ECA-ADB9-301016B0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914650"/>
            <a:ext cx="11144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19050">
            <a:solidFill>
              <a:srgbClr val="48CAE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D26B5E-25F1-46FC-91D1-0CB17692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76575"/>
            <a:ext cx="1085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5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TP 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11392E-6C7A-41EB-A914-57A26599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14650"/>
            <a:ext cx="11144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19050">
            <a:solidFill>
              <a:srgbClr val="80ED9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700FCA-C6C0-4EFD-BF3E-DF9D822B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76575"/>
            <a:ext cx="1085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5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FP 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869BE8-590C-4CE2-9265-31EBD4A0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914775"/>
            <a:ext cx="11144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19050">
            <a:solidFill>
              <a:srgbClr val="C4A7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E8AA93-72E9-475F-AF10-BCF3FED4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76700"/>
            <a:ext cx="1085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5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FN 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D57368-0627-43E1-AC96-EA866DB0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14775"/>
            <a:ext cx="11144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19050">
            <a:solidFill>
              <a:srgbClr val="F9C74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4E8AD8-B2D9-4F0B-88C5-2A5ACCB5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076700"/>
            <a:ext cx="1085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5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9C74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9C74F"/>
                </a:solidFill>
                <a:latin typeface="DejaVu Sans"/>
                <a:ea typeface="DejaVu Sans"/>
                <a:cs typeface="DejaVu Sans"/>
              </a:rPr>
              <a:t>TN 82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EADA9B-1E24-4183-9454-8D30AAAF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000625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Истина: брак / годен</a:t>
            </a:r>
          </a:p>
        </p:txBody>
      </p:sp>
    </p:spTree>
    <p:extLst>
      <p:ext uri="{BB962C8B-B14F-4D97-AF65-F5344CB8AC3E}">
        <p14:creationId xmlns:p14="http://schemas.microsoft.com/office/powerpoint/2010/main" val="170940238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228AC1-8E57-413C-9E3B-3956F1DA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0D41F4-DF85-4390-928D-47D7995F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5C39E-A26C-4FD9-AF01-46FD43E4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КЛАССИФИКАЦИЯ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A6CAE1-ADAC-40E8-86D8-DE80630C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Precision и recall на числах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DB9D9-BAF7-45D7-8932-3417F683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711695-1383-44D3-ACFB-8ADBC174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16B05F-F2FD-47F6-A8F0-31EB6404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66DC73-DA7C-458D-96A0-9A1E463B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120300-DCB0-4AE4-8062-EA5F4527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AD6632-78E0-4279-B239-18637BE0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Precision брака = 7 / 15 ≈ 0,47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AA7C4C-4FF0-4A3E-A90C-9D88D097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687881-A123-4912-9C71-0CB3111B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153320-40A0-4B26-9CFC-E6935326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Recall брака = 7 / 10 = 0,70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C69011-04F5-431A-B2AB-E240837C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E93448-D936-49A4-ACDC-EB70D67A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DB3E85-2396-4074-AD57-2A588E24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Специфичность = 82 / 90 ≈ 0,91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05CFA4-15FE-4415-83CF-B8352F47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3BC492-7A52-433A-97EF-58019078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Без числа положительных партий доли непрочны</a:t>
            </a:r>
          </a:p>
        </p:txBody>
      </p:sp>
    </p:spTree>
    <p:extLst>
      <p:ext uri="{BB962C8B-B14F-4D97-AF65-F5344CB8AC3E}">
        <p14:creationId xmlns:p14="http://schemas.microsoft.com/office/powerpoint/2010/main" val="205237890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CD5FF6-8701-4A55-9C01-A73EA240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FFAE40-E643-41E5-A15D-AC0EAD74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9D82CA-6ED3-4269-9F6D-15C5FD58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КЛАССИФИКАЦИЯ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6B17A-6580-41DB-BCAB-4144D4CC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Цена ошибки задаёт порог действия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ADB0A1-739A-42EE-902D-FB7F3DA1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FA974-2C2D-449F-BB97-3FF1D716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AF364B-DE7B-4D00-A886-50A58B62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5797B2-5BF9-4243-BB86-7BB06E82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9550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640B96-D665-4B45-B14C-9E523926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3835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Пропуск брака стоит 10 условных единиц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6EFF32-6ABC-40EB-9AAD-1773FF2B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146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CEFF45-F857-4D56-8B91-E50D6D1E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908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962C3D-6811-4D14-9B84-1D428501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33725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Лишняя проверка стоит 1; пример даёт 38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2236DF-C579-4B4B-8E40-7DB7F440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1002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77DBF4-03DF-4E52-A1C8-BDDD4BC8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862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D84F10-48F5-4C5C-994B-0A2B41CB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2910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При калиброванной p порог = 1 / 11 ≈ 0,09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912367-CCD4-4866-ACE5-D09598EE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054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65884E-6E16-40F8-AAF5-0DE7C269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8E74D3-3D51-4465-B821-6AF77D29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Цены и порог утверждают до финального теста</a:t>
            </a:r>
          </a:p>
        </p:txBody>
      </p:sp>
    </p:spTree>
    <p:extLst>
      <p:ext uri="{BB962C8B-B14F-4D97-AF65-F5344CB8AC3E}">
        <p14:creationId xmlns:p14="http://schemas.microsoft.com/office/powerpoint/2010/main" val="234589476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C81599-BD14-4D01-A491-FD97962D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E1267-1198-4A98-98CF-6C39F8F7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FEAD19-7FC4-4B13-85A8-ED7145E9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КЛАССИФИКАЦИЯ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4F9C6F-11CE-4F12-9E01-759AF099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Калибровка и смена частоты брака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AE8CD4-8D99-4D30-A602-9EF59C8A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A6EDC-0A2B-4FA7-978A-B31F507A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6B0603-EBC9-4FA9-8FEB-A697BB90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74582B-5132-4302-9FD0-B2282519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FAF162-8E6A-4AA9-97C7-EC63EF96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B25D48-3CE1-451C-B6CA-4830AEA0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ACEF86-5933-481C-8F69-AC70C1B1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predict_proba не гарантирует частоту событий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8DE6B1-5603-4728-9B26-781A7B2D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CC426E-BBBE-4432-977C-148ED458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AEB528-8675-4DBF-9D62-60D66157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55CBE1-C40C-4615-8677-7C3BB460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Калибровка учится только на разработке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EA8EB5-E7DA-4D7B-87CF-B181FF6C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AD72BC-D6C1-475A-97DC-4317F94F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8BD785-D139-4B45-BB96-93693A17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0C058D-E85C-4882-BDD6-4BE967BB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Новая поставка может изменить долю брака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98409C-BA83-4E1D-B699-E1068BE3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77FBB4-2719-471D-80ED-0A506AA1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Порог из старого процесса нуждается в проверке</a:t>
            </a:r>
          </a:p>
        </p:txBody>
      </p:sp>
    </p:spTree>
    <p:extLst>
      <p:ext uri="{BB962C8B-B14F-4D97-AF65-F5344CB8AC3E}">
        <p14:creationId xmlns:p14="http://schemas.microsoft.com/office/powerpoint/2010/main" val="617549478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3494A0-2C22-4844-B403-9509DD6D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4A07A6-C2DF-45E2-A6E5-54CDEB40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8E2638-B1FA-4B65-87C9-8F9E721B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ОБЛАСТЬ ПРИМЕНЕНИЯ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C66913-2AF4-42D8-B92B-BCE2DF65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Внутренняя и внешняя проверка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98DB02-361A-4688-845B-027528CA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D24964-CC0F-4CA3-BB3A-B9FA2F15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467C3-6C18-4D74-BD0A-A99EA83B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29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19F637-06AF-4069-88DB-F2EC1AF1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85975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F01AB2-D29B-4F39-B682-7EEA1765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CV по дням оценивает похожие будущие дни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5FD491-1047-46E0-B5F4-E5A33276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24200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456FE1-8FB8-4409-98F7-D7908379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Финальный тест: последние две кампании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97066C-4D78-4789-B664-126140DF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62425"/>
            <a:ext cx="57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747622-9964-4C9B-9C53-CB0267E6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6238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Поставка и другой прибор требуют нового теста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84BE9B-FA86-4365-9E88-60DFB722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619500" cy="3171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1A77EB-49B5-4F63-BD61-072921B7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907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ИЗУЧЕННЫЙ ДИАПАЗОН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A1A98C-8C9C-4805-A40E-99B954FE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67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95E1B9-315B-4B18-A3C6-0DBBE17C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67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C7A188-785C-40BD-BE97-DB9A64E9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67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69F19F-34AC-4460-A428-DCEC4C02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67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120932-B71E-44CD-BC58-F4DEC425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29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9B22F9-8B0D-4E66-8D1A-44D1AD29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29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DE1587-35EB-4A4F-926A-1999DC01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29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27AC5A-FBF7-4147-A682-3F0EF59B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29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1E0A9A-8504-46FF-9BFA-CC3416FC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90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206E80-36EB-4F15-908D-F34FD936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90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C5864F-ABE8-4E03-8FE3-58C4329B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90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A49410-1260-4DF5-BCFE-9E05EDAE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790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862B12-BC8A-4E45-B954-34885350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52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0064E1-7DD3-4350-B590-6248C9C2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52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FD150A-A883-473F-A66D-B543B532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52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09E382-79D5-4D2F-BC7D-1E6BD5F4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152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4EF986-8D6E-4A96-86FD-012FEDAF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8576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32D4B0-E9CE-44F4-9370-40A1BB28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33875"/>
            <a:ext cx="1438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99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7B7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7B7B"/>
                </a:solidFill>
                <a:latin typeface="DejaVu Sans"/>
                <a:ea typeface="DejaVu Sans"/>
                <a:cs typeface="DejaVu Sans"/>
              </a:rPr>
              <a:t>новые условия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AB056D-2DB9-4478-9B02-B4F99695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981575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состав →</a:t>
            </a:r>
          </a:p>
        </p:txBody>
      </p:sp>
    </p:spTree>
    <p:extLst>
      <p:ext uri="{BB962C8B-B14F-4D97-AF65-F5344CB8AC3E}">
        <p14:creationId xmlns:p14="http://schemas.microsoft.com/office/powerpoint/2010/main" val="1050911022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92D7A8-3200-4CA3-994A-E369D492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6B075D-3CF5-4597-A5E4-0ACD9891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BE611-1BFA-4F27-9819-C0203922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ОБЛАСТЬ ПРИМЕНЕНИЯ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44C06-65C1-49E9-8DD1-55E63F5F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Сквозной пример: 12 кампаний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9238C-D787-4191-82B6-14CF8029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07E86-C487-4B12-909A-9B7035D1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C0DF3-3834-4C81-9CE0-A8E6211B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E7D99C-AF79-4BC7-9DFF-ED10B2FD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4BCB93-03F1-47A7-BBA1-F8E697A5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7A9E06-E2A4-47D7-9A11-93D290DA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12 дней × 4 партии × 3 отсчёта = 144 измерения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7070A4-179D-4F7C-BEF4-164E3AA6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932915-61DE-496C-BFD5-E20DCA64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201293-FC40-45A5-AD78-3DBABA60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2897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После агрегации: 48 строк для регрессии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CDC4DD-4519-40D7-A78C-6D268874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FB9408-3287-4893-B75C-F2563AE1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77A93C-4E05-46AD-B355-8E53E35C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Обучение: 40 партий; тест: 8 партий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ADFB6A-34B7-4B73-8878-23C8354D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F910A5-8D65-4E87-A079-FAE2068C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Числа генератора искусственные, не физический закон</a:t>
            </a:r>
          </a:p>
        </p:txBody>
      </p:sp>
    </p:spTree>
    <p:extLst>
      <p:ext uri="{BB962C8B-B14F-4D97-AF65-F5344CB8AC3E}">
        <p14:creationId xmlns:p14="http://schemas.microsoft.com/office/powerpoint/2010/main" val="1750050275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E5B150-3474-4A1E-9955-9AEF2E37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96F0D-C93E-4428-8383-A7128799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59E56-E1E7-48CA-980C-1A2D8909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ОБЛАСТЬ ПРИМЕНЕНИЯ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81359-5A2F-4831-ACC6-5C18134E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Проверки в коде до обучения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757090-6ADF-466E-898B-9BCDA9AD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89AB3F-0EA4-403A-86D9-3DE58F9F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CAC54A-3000-4034-AFB6-DA754F2F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876F7B-23E0-4494-B112-7B0B0748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08156C-90F6-4393-9489-4FE4A0DE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A40914-055A-4E66-B9E2-832FCA0E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batch_id уникален в таблице партий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52E9CD-9626-41F8-8844-8B32751E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4FAB9E-1AA0-4442-BC06-B52B02DF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901DE6-BF8E-4063-A7FE-36E4B362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ID дней разработки и теста не пересекаются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B2C7DD-1512-4E31-9584-44A3F948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1F3EE9-8BBF-485E-BB9A-00519127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3865CA-AF68-4BF8-94C1-C68B93A8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В каждой складке также сверяются ID дней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B4E352-EC67-44E6-A688-0FAB6999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C4B174-6BE3-480E-BA06-9BE3372C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Хронологический тест не подбирают по seed</a:t>
            </a:r>
          </a:p>
        </p:txBody>
      </p:sp>
    </p:spTree>
    <p:extLst>
      <p:ext uri="{BB962C8B-B14F-4D97-AF65-F5344CB8AC3E}">
        <p14:creationId xmlns:p14="http://schemas.microsoft.com/office/powerpoint/2010/main" val="62563242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A77C1A-DB7D-42A3-97B8-50CD1580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410E3-992B-4A98-8C7D-4C07082B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6295E-1A96-47CC-A39D-209D0720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ОБЛАСТЬ ПРИМЕНЕНИЯ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A2D169-91FC-4C8C-B775-C7D51AE4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Настройка без доступа к тесту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9F2086-22A3-4C40-86E6-59757849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348C7-2719-4664-8227-746B52EA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14488-AC28-4CAD-9579-8B7F9D4F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4042F8-E5A2-409A-A5CB-79FE3D28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9550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2920E6-8FD8-4AFF-8A76-69C47C6A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3835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Четыре заранее выбранных значения alpha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A2A1E6-37A1-4867-8C73-87EA7E70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146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A1FF0F-B190-4731-AD87-7A0282D8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908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5A0BD-8147-4E6E-9F22-28DCE2FD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33725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5 складок по двум дням для выбора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4B1B44-12F9-4418-B088-0FF77B99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1002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3A1A63-911F-47B2-B7BE-FB26F200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862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6A62E5-574E-4110-9701-EE6FFF80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2910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GridSearchCV заново обучает Pipeline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A238D2-88EE-4A01-93C6-F0292331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054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DC9E4F-5E71-45D3-AA3F-FA7D06CF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0D7748-4A40-4DB0-8ED9-B55F4C49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best_score_ выбирает модель, но не оценивает победителя</a:t>
            </a:r>
          </a:p>
        </p:txBody>
      </p:sp>
    </p:spTree>
    <p:extLst>
      <p:ext uri="{BB962C8B-B14F-4D97-AF65-F5344CB8AC3E}">
        <p14:creationId xmlns:p14="http://schemas.microsoft.com/office/powerpoint/2010/main" val="878010814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0B4DA9-F5A6-4A8E-8390-1D341772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78DCE-515B-406D-8F62-7A254ABE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460005-5093-46D4-82B9-1D11F9C8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ОБЛАСТЬ ПРИМЕНЕНИЯ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B23A4B-1EA3-4DC7-B72B-6BB59423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Ограничения восьми тестовых партий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5C44B2-C1D4-4089-B69F-47EFED4B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959C6-171E-4D01-8953-502BF9D1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03C0A1-00CC-45C4-9834-17FA9CE5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82F56-0763-4492-B00A-F73EC632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CA0AAB-2C99-450A-B1C3-01A2D6E5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358E38-9961-4154-8EC8-F39C0119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20B278-15F3-4335-9AC7-26AD05BA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Покажите все восемь факт–прогноз–ошибка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FA429C-256E-47BA-B104-995D3F31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671AC6-6BC6-43B4-A160-9BB4BB79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0B8163-9B46-4407-AAFD-C2C875DE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041892-4DFA-42C3-927A-EE6E675A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Средняя ошибка может зависеть от двух дней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5281F6-C186-4B46-98C2-46D9ABBE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8A890F-3C6F-42C1-B30E-CCFF0515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152277-C6CB-4BEA-8917-CDE12936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A4FBDF-B95F-460F-A2B5-CE3CFEA2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Для нового прибора и сырья данных нет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AA8AFD-F0F5-4025-96F7-65861EA9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966599-2F8E-4EDC-827D-2FEC54ED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Следующий шаг — новые независимые кампании</a:t>
            </a:r>
          </a:p>
        </p:txBody>
      </p:sp>
    </p:spTree>
    <p:extLst>
      <p:ext uri="{BB962C8B-B14F-4D97-AF65-F5344CB8AC3E}">
        <p14:creationId xmlns:p14="http://schemas.microsoft.com/office/powerpoint/2010/main" val="975007771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8E6404-08E7-4F8E-B57A-D6E5DB81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2DC9E-F9F9-49F8-B64F-C26140D3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42DDF-0A97-4D78-A30B-1A37EDB5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ОБЛАСТЬ ПРИМЕНЕНИЯ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9658AF-3282-4758-BCA2-BD4C0C9B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Прогноз не определяет эффект фактора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00EF7A-05C9-417D-9EE3-00389088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11A90B-41A5-4C2A-8D13-0D9AD597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4BCEC3-7634-4B43-AF2B-AC1C66D7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34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957E41-8539-4DE4-B412-2FD6318F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6572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3B1292-BD17-4251-9B31-37491CC1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76475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68779F-7494-455F-A22A-7B63B38F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38375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Время обработки и состав могут быть смешаны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3D17F5-2E64-46A7-B410-0EA617D7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ADA249-F6DB-4E5E-AEBD-D4B87260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0400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Значимый коэффициент не доказывает механизм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F42FA4-A0A8-4600-A6C9-237A48D8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00525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2E0BCD-1E15-4EC7-B75B-910B166E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62425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Факторный опыт меняет факторы по плану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6ADF8B-ECED-4C63-B5FA-969F1798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381250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ПРОВЕРЬТЕ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F014DE-0001-40A7-9FBF-D9E2393D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867025"/>
            <a:ext cx="32480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Причинный вывод требует отдельного дизайна</a:t>
            </a:r>
          </a:p>
        </p:txBody>
      </p:sp>
    </p:spTree>
    <p:extLst>
      <p:ext uri="{BB962C8B-B14F-4D97-AF65-F5344CB8AC3E}">
        <p14:creationId xmlns:p14="http://schemas.microsoft.com/office/powerpoint/2010/main" val="1917444343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22CEAE-D48C-47B0-A669-AC93B32D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C3257-40A3-41CC-9BC0-08B2DE2E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C31B9-433F-4834-9C0D-868B89CB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ОБЛАСТЬ ПРИМЕНЕНИЯ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4569FE-E554-4072-9651-8640FA7C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Паспорт области применения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AF6D2-C9AD-4470-AA64-978883CD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B565AE-B1D3-407C-A048-9BD8AFB2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EDE35A-539C-4F25-8D31-19CE0D4B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35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346B89-7F52-4F2C-A273-C4D88A2E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613336-E930-4686-8C21-DD364271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A48275-9C4D-473A-A98A-D365A144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Масла, интервалы долей и времени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3DA905-DE76-4FF7-9894-38CCEF76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1352A1-E491-4B17-BE0E-A25D8B62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5B87AE-F7EA-4CE8-A01B-4AA998C5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2897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Покрытие сочетаний факторов, даты, прибор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EEC5CD-834A-4C16-836F-B71E9E24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63AF86-1F71-4FE3-B078-81DECE4C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363F2B-1117-466C-BCE0-43661955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MAE по дням и число независимых кампаний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C26C7E-A6A5-44FE-BE60-DD42DB1C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59AD62-D272-4219-90AF-5D8C171B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Флаг вне изученной области требует проверки</a:t>
            </a:r>
          </a:p>
        </p:txBody>
      </p:sp>
    </p:spTree>
    <p:extLst>
      <p:ext uri="{BB962C8B-B14F-4D97-AF65-F5344CB8AC3E}">
        <p14:creationId xmlns:p14="http://schemas.microsoft.com/office/powerpoint/2010/main" val="1241235970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3E35E2-885E-49F3-94F7-96918E48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8A0E2A-7A43-4972-994C-B5B9574B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819DCE-B2D3-45F0-A4B9-674A5652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ПРАКТИКА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BAAEAA-2C20-435B-A69A-52170D9F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Мини-проект: постановка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D812E6-3BA4-43E2-BC03-1026D15C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2C1AFC-9C10-4E28-A568-E2366597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EBAA96-C23A-4085-9577-D97F700A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36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9EF040-6E4D-4AD3-A8B5-E9436352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C26C85-8DF3-412A-B58E-D0702C21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DAF478-FC3A-4A90-A3B0-83462E28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Решение и момент получения входов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975066-6EE0-4081-9B39-B1E083DE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5A49EA-740D-4C22-8466-B83390FB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758B56-445E-44B3-BA8E-976954EA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Иерархия: день, партия, технический отсчёт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60C8C2-22C1-488F-B4D8-6D90A562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08597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523"/>
          </a:bodyPr>
          <a:lstStyle xmlns:a="http://schemas.openxmlformats.org/drawingml/2006/main"/>
          <a:p xmlns:a="http://schemas.openxmlformats.org/drawingml/2006/main">
            <a:pPr algn="l">
              <a:buNone/>
              <a:defRPr sz="3825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3825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47DEF9-FF3F-4C14-A9DD-768C168E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62250"/>
            <a:ext cx="3067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C9193A-970B-4FFC-BBEA-8A018696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067050"/>
            <a:ext cx="3067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Цель, единицы и правило агрегации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594F2D-7D0B-4FB5-9691-57B7B4DA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C962D0-2FD7-4D60-83E7-0C3BF1D0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Если групп мало, планируйте их получение</a:t>
            </a:r>
          </a:p>
        </p:txBody>
      </p:sp>
    </p:spTree>
    <p:extLst>
      <p:ext uri="{BB962C8B-B14F-4D97-AF65-F5344CB8AC3E}">
        <p14:creationId xmlns:p14="http://schemas.microsoft.com/office/powerpoint/2010/main" val="1413082078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44987F-3529-474D-AEE5-3DDC6832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822D32-5B08-46A9-A193-E10D7D8B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63D5C-3F02-4039-ABC9-3DCDA960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ПРАКТИКА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3AF7F5-A8F1-49D2-9229-AC2E2D5C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Мини-проект: независимая проверка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7439BB-4438-4F58-A71D-DC214C49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B6D127-D2AF-428E-B20E-0DF8D66D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F0BE3F-DBA1-42DA-94CE-415F443A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37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540270-EBA7-43DB-8092-25BA50AF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9550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1F94CC-F1B2-41CD-8A3C-C714A834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3835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Baseline и Pipeline на одинаковых партиях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705A63-B8D9-4CBE-9D96-ECDDF29A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1465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C9188E-F155-44B5-BD9E-D75E57A3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908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1F7229-1D89-4EBB-B0A8-D850242D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33725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MAE, RMSE и ошибки каждой кампании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E33615-FD3A-41B3-B531-77B431C7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1002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F5E201-7361-4B53-8E8F-57848ECF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8625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A6672C-2AE8-4414-B3DF-796EA68C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2910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График остатков и заранее записанный допуск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AE20C2-17B5-4343-A29D-E8377F7D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054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3E930F-29D1-4F31-A886-AC77DF90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EA9BEB-3FCD-4E19-99D6-3A8A7453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Отдельный опыт проверит поставку или прибор</a:t>
            </a:r>
          </a:p>
        </p:txBody>
      </p:sp>
    </p:spTree>
    <p:extLst>
      <p:ext uri="{BB962C8B-B14F-4D97-AF65-F5344CB8AC3E}">
        <p14:creationId xmlns:p14="http://schemas.microsoft.com/office/powerpoint/2010/main" val="572625535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F8792F-88ED-47F4-915A-40479797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C01D0B-ADF8-419A-A154-609BC33B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DBE894-14F6-4F62-804F-3740EE97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ПРАКТИКА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55BA45-EF1C-41B6-B982-38C4D650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Вопросы для обсуждения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CD48FD-7113-45CF-9CC7-432879C5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013A57-6491-4AD2-A6EF-13C86D13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4E11B6-E37D-4E96-B25F-4F33151B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38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92976F-2E23-4FA0-A83F-8F24E815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016AF8-8404-4474-B4D7-AB0C1793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FC0A6E-AD8B-40C2-8826-99C2776E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A3FF99-CF94-44C1-90FD-51336A05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Почему 144 отсчёта не равны 144 синтезам?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28DD3D-0C85-4C4B-9756-411DF179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652FDF-C528-4393-A67F-2370AAFF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88FEA4-91C1-497B-86D4-B4A5EF15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80ED9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2AE3A9-F722-4BB4-8519-B669B0EC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Что оценивает разбиение по campaign_id?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887B31-8008-4B89-9A67-9E9A7BBB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34BD0F-1EF6-4E06-9437-01AB8E75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47875"/>
            <a:ext cx="3438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D6EFE0-51CC-4B8A-A921-4EB22E14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57425"/>
            <a:ext cx="914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C4A7FF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9B24C9-ACEC-4E6A-AC4B-BC965A6D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38475"/>
            <a:ext cx="2971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Можно ли решить по прогнозу 134 нм при пороге 135?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D14F31-5BAA-4B05-AC75-898E2B3D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A72B35-0F6C-4B7E-9D0C-DC067043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Укажите повторяемость, цену ошибок и новый опыт</a:t>
            </a:r>
          </a:p>
        </p:txBody>
      </p:sp>
    </p:spTree>
    <p:extLst>
      <p:ext uri="{BB962C8B-B14F-4D97-AF65-F5344CB8AC3E}">
        <p14:creationId xmlns:p14="http://schemas.microsoft.com/office/powerpoint/2010/main" val="1354397772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BCF0B8-6D49-46F9-B809-DCED619F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9E27B8-CEA0-425A-9ED3-EEFB9DC0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6FE7D1-04EA-4914-89C6-F466C0F7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ПРАКТИКА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2CCE65-96AF-4994-92A9-E43D741E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Что делает прогноз проверяемым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E264CA-E6AA-462D-B97B-9AADFF8B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40B998-845F-4C8E-8CE0-C954B2DB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6DC77A-E981-446B-B54B-DB61A96C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39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817AFD-4A99-45ED-8DA1-DDA07FB1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65722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438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22FE2A-C88C-4CC6-8417-2EC4991F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76475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5BD847-9755-45EA-BB74-EB384A3E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38375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Контракт: решение, цель, момент, будущая группа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993420-FA08-44C6-8A0F-7B5A124A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EFAB0F-3B04-4624-9D34-CF18ADCF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00400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Непересечение дней и полный Pipeline в CV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546A82-8600-488E-B483-F9E93DF1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00525"/>
            <a:ext cx="666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D030A8-0EFA-4E92-8A2D-80A87A54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62425"/>
            <a:ext cx="581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Ошибка в нм, baseline и границы переноса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517837-7862-4C20-82D8-0D63E7CD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381250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ПРОВЕРЬТЕ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F7C85A-DFBE-48B4-8660-8BB48434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867025"/>
            <a:ext cx="32480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Методы и выбор нового опыта — лекция 12</a:t>
            </a:r>
          </a:p>
        </p:txBody>
      </p:sp>
    </p:spTree>
    <p:extLst>
      <p:ext uri="{BB962C8B-B14F-4D97-AF65-F5344CB8AC3E}">
        <p14:creationId xmlns:p14="http://schemas.microsoft.com/office/powerpoint/2010/main" val="1950099724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EDC310-BCBE-4782-A719-C9E07D83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9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C153BD-2AC3-4DB5-92C3-69A65B43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B7253F-69DB-478B-8E20-21D1B5A2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76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ИСТОЧНИКИ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7C6644-4F51-4628-AE1E-8D3F60BF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Источники и продолжение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832FBC-4A51-440A-BCB7-6DBB673D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10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45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2F565-050D-466D-B3E8-BBAC037A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МАШИННОЕ ОБУЧЕНИЕ 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4ABB63-7BA7-4BB1-9BFC-8E0490FE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3341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6B7C9"/>
                </a:solidFill>
                <a:latin typeface="DejaVu Sans"/>
                <a:ea typeface="DejaVu Sans"/>
                <a:cs typeface="DejaVu Sans"/>
              </a:rPr>
              <a:t>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AB5E7F-64BB-4598-80F0-87A59A7B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981E8D-C033-4A01-893B-506E6553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CAE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0D3BF8-6073-4409-A2F1-39749917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scikit-learn: cross-validation и GroupKFold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DD2347-DDD1-4C89-BD49-4772D338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E8135C-584D-40BD-8B4A-68DDA9DE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ED9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45FCB2-D82A-42EE-B14A-3ABE6679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2897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scikit-learn: common pitfalls, Pipeline, metrics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4AEAFA-B537-41E6-B5F6-BC7FDCF5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06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2944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A51300-ABD3-4926-9BBF-6FEA1D9E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57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7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8F0623-78DE-4022-9E56-BBC0B44C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4F7FB"/>
                </a:solidFill>
                <a:latin typeface="DejaVu Sans"/>
                <a:ea typeface="DejaVu Sans"/>
                <a:cs typeface="DejaVu Sans"/>
              </a:rPr>
              <a:t>Конспект 11: код, расчёт и научные ограничения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237158-E63C-448B-94DD-1C1176DA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57825"/>
            <a:ext cx="10382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34"/>
          </a:solidFill>
          <a:ln xmlns:a="http://schemas.openxmlformats.org/drawingml/2006/main" w="9525">
            <a:solidFill>
              <a:srgbClr val="48CAE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B7F5A3-F535-43A8-9A75-65FDE14A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7212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8CAE4"/>
                </a:solidFill>
                <a:latin typeface="DejaVu Sans"/>
                <a:ea typeface="DejaVu Sans"/>
                <a:cs typeface="DejaVu Sans"/>
              </a:rPr>
              <a:t>Лекция 12: методы и следующий эксперимент</a:t>
            </a:r>
          </a:p>
        </p:txBody>
      </p:sp>
    </p:spTree>
    <p:extLst>
      <p:ext uri="{BB962C8B-B14F-4D97-AF65-F5344CB8AC3E}">
        <p14:creationId xmlns:p14="http://schemas.microsoft.com/office/powerpoint/2010/main" val="9476181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2026-09-25T13:44:07.5820000Z</dcterms:created>
  <dcterms:modified xsi:type="dcterms:W3CDTF">2026-09-25T13:44:07.5820000Z</dcterms:modified>
</coreProperties>
</file>