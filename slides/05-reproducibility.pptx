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3b5e500cd2e4f46" /><Relationship Type="http://schemas.openxmlformats.org/officeDocument/2006/relationships/extended-properties" Target="/docProps/app.xml" Id="Raa50c0ec0db04b1c" /><Relationship Type="http://schemas.openxmlformats.org/officeDocument/2006/relationships/officeDocument" Target="/ppt/presentation.xml" Id="R3b56438612dc4bd3" /></Relationships>
</file>

<file path=ppt/presentation.xml><?xml version="1.0" encoding="utf-8"?>
<p:presentation xmlns:p="http://schemas.openxmlformats.org/presentationml/2006/main">
  <p:sldMasterIdLst>
    <p:sldMasterId xmlns:r="http://schemas.openxmlformats.org/officeDocument/2006/relationships" id="2147483648" r:id="Rdce96ee193a04808"/>
  </p:sldMasterIdLst>
  <p:notesMasterIdLst>
    <p:notesMasterId xmlns:r="http://schemas.openxmlformats.org/officeDocument/2006/relationships" r:id="Ree67d5857b9b455f"/>
  </p:notesMasterIdLst>
  <p:sldIdLst>
    <p:sldId xmlns:r="http://schemas.openxmlformats.org/officeDocument/2006/relationships" id="256" r:id="Rfa3bd7895c6d49de"/>
    <p:sldId xmlns:r="http://schemas.openxmlformats.org/officeDocument/2006/relationships" id="257" r:id="R2d2d0d08d6774e20"/>
    <p:sldId xmlns:r="http://schemas.openxmlformats.org/officeDocument/2006/relationships" id="258" r:id="Rd72c94321a7f4030"/>
    <p:sldId xmlns:r="http://schemas.openxmlformats.org/officeDocument/2006/relationships" id="259" r:id="R31595b2c021842ab"/>
    <p:sldId xmlns:r="http://schemas.openxmlformats.org/officeDocument/2006/relationships" id="260" r:id="R181b78eca056442d"/>
    <p:sldId xmlns:r="http://schemas.openxmlformats.org/officeDocument/2006/relationships" id="261" r:id="R1466b2cabb284f95"/>
    <p:sldId xmlns:r="http://schemas.openxmlformats.org/officeDocument/2006/relationships" id="262" r:id="Ra93c8d5d8e7943cb"/>
    <p:sldId xmlns:r="http://schemas.openxmlformats.org/officeDocument/2006/relationships" id="263" r:id="R2f1d6d4d321a44a1"/>
    <p:sldId xmlns:r="http://schemas.openxmlformats.org/officeDocument/2006/relationships" id="264" r:id="R14ad2faee1644972"/>
    <p:sldId xmlns:r="http://schemas.openxmlformats.org/officeDocument/2006/relationships" id="265" r:id="Ref68fc7f0c3949e8"/>
    <p:sldId xmlns:r="http://schemas.openxmlformats.org/officeDocument/2006/relationships" id="266" r:id="R33141280538d45dc"/>
    <p:sldId xmlns:r="http://schemas.openxmlformats.org/officeDocument/2006/relationships" id="267" r:id="R6cb4714608784658"/>
    <p:sldId xmlns:r="http://schemas.openxmlformats.org/officeDocument/2006/relationships" id="268" r:id="R2b09f1043e3247a9"/>
    <p:sldId xmlns:r="http://schemas.openxmlformats.org/officeDocument/2006/relationships" id="269" r:id="R64c131e74f654462"/>
    <p:sldId xmlns:r="http://schemas.openxmlformats.org/officeDocument/2006/relationships" id="270" r:id="R74acf10ae0914013"/>
    <p:sldId xmlns:r="http://schemas.openxmlformats.org/officeDocument/2006/relationships" id="271" r:id="R0d72d3d52f0245bf"/>
    <p:sldId xmlns:r="http://schemas.openxmlformats.org/officeDocument/2006/relationships" id="272" r:id="Ra0b2075894d24ed0"/>
    <p:sldId xmlns:r="http://schemas.openxmlformats.org/officeDocument/2006/relationships" id="273" r:id="Rc45753ca8c214218"/>
    <p:sldId xmlns:r="http://schemas.openxmlformats.org/officeDocument/2006/relationships" id="274" r:id="R68cd4b75614f4b96"/>
    <p:sldId xmlns:r="http://schemas.openxmlformats.org/officeDocument/2006/relationships" id="275" r:id="R74a792f05fb945db"/>
    <p:sldId xmlns:r="http://schemas.openxmlformats.org/officeDocument/2006/relationships" id="276" r:id="R9f5b806c02d64fec"/>
    <p:sldId xmlns:r="http://schemas.openxmlformats.org/officeDocument/2006/relationships" id="277" r:id="R14228463e6f64d58"/>
    <p:sldId xmlns:r="http://schemas.openxmlformats.org/officeDocument/2006/relationships" id="278" r:id="Re2f060b7c3bd49a9"/>
    <p:sldId xmlns:r="http://schemas.openxmlformats.org/officeDocument/2006/relationships" id="279" r:id="Re5593b576b894f63"/>
    <p:sldId xmlns:r="http://schemas.openxmlformats.org/officeDocument/2006/relationships" id="280" r:id="R86d85c5e2b12434f"/>
    <p:sldId xmlns:r="http://schemas.openxmlformats.org/officeDocument/2006/relationships" id="281" r:id="R6ee230524ca44635"/>
    <p:sldId xmlns:r="http://schemas.openxmlformats.org/officeDocument/2006/relationships" id="282" r:id="R1634cf1cf0d74359"/>
    <p:sldId xmlns:r="http://schemas.openxmlformats.org/officeDocument/2006/relationships" id="283" r:id="R1813cecd98a84210"/>
    <p:sldId xmlns:r="http://schemas.openxmlformats.org/officeDocument/2006/relationships" id="284" r:id="R0f7c1dcbe4194543"/>
    <p:sldId xmlns:r="http://schemas.openxmlformats.org/officeDocument/2006/relationships" id="285" r:id="R51067861d87143ee"/>
    <p:sldId xmlns:r="http://schemas.openxmlformats.org/officeDocument/2006/relationships" id="286" r:id="R0f556701b7e24205"/>
    <p:sldId xmlns:r="http://schemas.openxmlformats.org/officeDocument/2006/relationships" id="287" r:id="Rd633038f16a049d5"/>
    <p:sldId xmlns:r="http://schemas.openxmlformats.org/officeDocument/2006/relationships" id="288" r:id="R057cc907435c4ea7"/>
    <p:sldId xmlns:r="http://schemas.openxmlformats.org/officeDocument/2006/relationships" id="289" r:id="Rd881971c3b4d4d20"/>
    <p:sldId xmlns:r="http://schemas.openxmlformats.org/officeDocument/2006/relationships" id="290" r:id="R77c559bc06eb451b"/>
    <p:sldId xmlns:r="http://schemas.openxmlformats.org/officeDocument/2006/relationships" id="291" r:id="R5d69f97efcbb4ea8"/>
    <p:sldId xmlns:r="http://schemas.openxmlformats.org/officeDocument/2006/relationships" id="292" r:id="R3eafef0875114c3f"/>
    <p:sldId xmlns:r="http://schemas.openxmlformats.org/officeDocument/2006/relationships" id="293" r:id="R2d4e443ded85402d"/>
    <p:sldId xmlns:r="http://schemas.openxmlformats.org/officeDocument/2006/relationships" id="294" r:id="Rb67c559332f340ef"/>
    <p:sldId xmlns:r="http://schemas.openxmlformats.org/officeDocument/2006/relationships" id="295" r:id="Rc771e4986cb54b9d"/>
    <p:sldId xmlns:r="http://schemas.openxmlformats.org/officeDocument/2006/relationships" id="296" r:id="R12c32976ec3f46ba"/>
    <p:sldId xmlns:r="http://schemas.openxmlformats.org/officeDocument/2006/relationships" id="297" r:id="Rbf77487876804c5f"/>
    <p:sldId xmlns:r="http://schemas.openxmlformats.org/officeDocument/2006/relationships" id="298" r:id="R1e71b1ca47b84495"/>
    <p:sldId xmlns:r="http://schemas.openxmlformats.org/officeDocument/2006/relationships" id="299" r:id="R994465b1da0143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3561742ecb40c5" /><Relationship Type="http://schemas.openxmlformats.org/officeDocument/2006/relationships/slideMaster" Target="/ppt/slideMasters/slideMaster1.xml" Id="Rdce96ee193a04808" /><Relationship Type="http://schemas.openxmlformats.org/officeDocument/2006/relationships/notesMaster" Target="/ppt/notesMasters/notesMaster1.xml" Id="Ree67d5857b9b455f" /><Relationship Type="http://schemas.openxmlformats.org/officeDocument/2006/relationships/presProps" Target="/ppt/presProps.xml" Id="R2fa18c867f854c92" /><Relationship Type="http://schemas.openxmlformats.org/officeDocument/2006/relationships/tableStyles" Target="/ppt/tableStyles.xml" Id="Rd03d455eeebe47c1" /><Relationship Type="http://schemas.openxmlformats.org/officeDocument/2006/relationships/slide" Target="/ppt/slides/slide1.xml" Id="Rfa3bd7895c6d49de" /><Relationship Type="http://schemas.openxmlformats.org/officeDocument/2006/relationships/slide" Target="/ppt/slides/slide2.xml" Id="R2d2d0d08d6774e20" /><Relationship Type="http://schemas.openxmlformats.org/officeDocument/2006/relationships/slide" Target="/ppt/slides/slide3.xml" Id="Rd72c94321a7f4030" /><Relationship Type="http://schemas.openxmlformats.org/officeDocument/2006/relationships/slide" Target="/ppt/slides/slide4.xml" Id="R31595b2c021842ab" /><Relationship Type="http://schemas.openxmlformats.org/officeDocument/2006/relationships/slide" Target="/ppt/slides/slide5.xml" Id="R181b78eca056442d" /><Relationship Type="http://schemas.openxmlformats.org/officeDocument/2006/relationships/slide" Target="/ppt/slides/slide6.xml" Id="R1466b2cabb284f95" /><Relationship Type="http://schemas.openxmlformats.org/officeDocument/2006/relationships/slide" Target="/ppt/slides/slide7.xml" Id="Ra93c8d5d8e7943cb" /><Relationship Type="http://schemas.openxmlformats.org/officeDocument/2006/relationships/slide" Target="/ppt/slides/slide8.xml" Id="R2f1d6d4d321a44a1" /><Relationship Type="http://schemas.openxmlformats.org/officeDocument/2006/relationships/slide" Target="/ppt/slides/slide9.xml" Id="R14ad2faee1644972" /><Relationship Type="http://schemas.openxmlformats.org/officeDocument/2006/relationships/slide" Target="/ppt/slides/slide10.xml" Id="Ref68fc7f0c3949e8" /><Relationship Type="http://schemas.openxmlformats.org/officeDocument/2006/relationships/slide" Target="/ppt/slides/slide11.xml" Id="R33141280538d45dc" /><Relationship Type="http://schemas.openxmlformats.org/officeDocument/2006/relationships/slide" Target="/ppt/slides/slide12.xml" Id="R6cb4714608784658" /><Relationship Type="http://schemas.openxmlformats.org/officeDocument/2006/relationships/slide" Target="/ppt/slides/slide13.xml" Id="R2b09f1043e3247a9" /><Relationship Type="http://schemas.openxmlformats.org/officeDocument/2006/relationships/slide" Target="/ppt/slides/slide14.xml" Id="R64c131e74f654462" /><Relationship Type="http://schemas.openxmlformats.org/officeDocument/2006/relationships/slide" Target="/ppt/slides/slide15.xml" Id="R74acf10ae0914013" /><Relationship Type="http://schemas.openxmlformats.org/officeDocument/2006/relationships/slide" Target="/ppt/slides/slide16.xml" Id="R0d72d3d52f0245bf" /><Relationship Type="http://schemas.openxmlformats.org/officeDocument/2006/relationships/slide" Target="/ppt/slides/slide17.xml" Id="Ra0b2075894d24ed0" /><Relationship Type="http://schemas.openxmlformats.org/officeDocument/2006/relationships/slide" Target="/ppt/slides/slide18.xml" Id="Rc45753ca8c214218" /><Relationship Type="http://schemas.openxmlformats.org/officeDocument/2006/relationships/slide" Target="/ppt/slides/slide19.xml" Id="R68cd4b75614f4b96" /><Relationship Type="http://schemas.openxmlformats.org/officeDocument/2006/relationships/slide" Target="/ppt/slides/slide20.xml" Id="R74a792f05fb945db" /><Relationship Type="http://schemas.openxmlformats.org/officeDocument/2006/relationships/slide" Target="/ppt/slides/slide21.xml" Id="R9f5b806c02d64fec" /><Relationship Type="http://schemas.openxmlformats.org/officeDocument/2006/relationships/slide" Target="/ppt/slides/slide22.xml" Id="R14228463e6f64d58" /><Relationship Type="http://schemas.openxmlformats.org/officeDocument/2006/relationships/slide" Target="/ppt/slides/slide23.xml" Id="Re2f060b7c3bd49a9" /><Relationship Type="http://schemas.openxmlformats.org/officeDocument/2006/relationships/slide" Target="/ppt/slides/slide24.xml" Id="Re5593b576b894f63" /><Relationship Type="http://schemas.openxmlformats.org/officeDocument/2006/relationships/slide" Target="/ppt/slides/slide25.xml" Id="R86d85c5e2b12434f" /><Relationship Type="http://schemas.openxmlformats.org/officeDocument/2006/relationships/slide" Target="/ppt/slides/slide26.xml" Id="R6ee230524ca44635" /><Relationship Type="http://schemas.openxmlformats.org/officeDocument/2006/relationships/slide" Target="/ppt/slides/slide27.xml" Id="R1634cf1cf0d74359" /><Relationship Type="http://schemas.openxmlformats.org/officeDocument/2006/relationships/slide" Target="/ppt/slides/slide28.xml" Id="R1813cecd98a84210" /><Relationship Type="http://schemas.openxmlformats.org/officeDocument/2006/relationships/slide" Target="/ppt/slides/slide29.xml" Id="R0f7c1dcbe4194543" /><Relationship Type="http://schemas.openxmlformats.org/officeDocument/2006/relationships/slide" Target="/ppt/slides/slide30.xml" Id="R51067861d87143ee" /><Relationship Type="http://schemas.openxmlformats.org/officeDocument/2006/relationships/slide" Target="/ppt/slides/slide31.xml" Id="R0f556701b7e24205" /><Relationship Type="http://schemas.openxmlformats.org/officeDocument/2006/relationships/slide" Target="/ppt/slides/slide32.xml" Id="Rd633038f16a049d5" /><Relationship Type="http://schemas.openxmlformats.org/officeDocument/2006/relationships/slide" Target="/ppt/slides/slide33.xml" Id="R057cc907435c4ea7" /><Relationship Type="http://schemas.openxmlformats.org/officeDocument/2006/relationships/slide" Target="/ppt/slides/slide34.xml" Id="Rd881971c3b4d4d20" /><Relationship Type="http://schemas.openxmlformats.org/officeDocument/2006/relationships/slide" Target="/ppt/slides/slide35.xml" Id="R77c559bc06eb451b" /><Relationship Type="http://schemas.openxmlformats.org/officeDocument/2006/relationships/slide" Target="/ppt/slides/slide36.xml" Id="R5d69f97efcbb4ea8" /><Relationship Type="http://schemas.openxmlformats.org/officeDocument/2006/relationships/slide" Target="/ppt/slides/slide37.xml" Id="R3eafef0875114c3f" /><Relationship Type="http://schemas.openxmlformats.org/officeDocument/2006/relationships/slide" Target="/ppt/slides/slide38.xml" Id="R2d4e443ded85402d" /><Relationship Type="http://schemas.openxmlformats.org/officeDocument/2006/relationships/slide" Target="/ppt/slides/slide39.xml" Id="Rb67c559332f340ef" /><Relationship Type="http://schemas.openxmlformats.org/officeDocument/2006/relationships/slide" Target="/ppt/slides/slide40.xml" Id="Rc771e4986cb54b9d" /><Relationship Type="http://schemas.openxmlformats.org/officeDocument/2006/relationships/slide" Target="/ppt/slides/slide41.xml" Id="R12c32976ec3f46ba" /><Relationship Type="http://schemas.openxmlformats.org/officeDocument/2006/relationships/slide" Target="/ppt/slides/slide42.xml" Id="Rbf77487876804c5f" /><Relationship Type="http://schemas.openxmlformats.org/officeDocument/2006/relationships/slide" Target="/ppt/slides/slide43.xml" Id="R1e71b1ca47b84495" /><Relationship Type="http://schemas.openxmlformats.org/officeDocument/2006/relationships/slide" Target="/ppt/slides/slide44.xml" Id="R994465b1da0143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872c2ce38b4f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cientific dark">
      <a:dk1>
        <a:srgbClr val="000000"/>
      </a:dk1>
      <a:lt1>
        <a:srgbClr val="FFFFFF"/>
      </a:lt1>
      <a:dk2>
        <a:srgbClr val="101923"/>
      </a:dk2>
      <a:lt2>
        <a:srgbClr val="F2F1E9"/>
      </a:lt2>
      <a:accent1>
        <a:srgbClr val="81DFCE"/>
      </a:accent1>
      <a:accent2>
        <a:srgbClr val="F1B766"/>
      </a:accent2>
      <a:accent3>
        <a:srgbClr val="F29191"/>
      </a:accent3>
      <a:accent4>
        <a:srgbClr val="9EADEF"/>
      </a:accent4>
      <a:accent5>
        <a:srgbClr val="88B9E7"/>
      </a:accent5>
      <a:accent6>
        <a:srgbClr val="A4C68A"/>
      </a:accent6>
      <a:hlink>
        <a:srgbClr val="81DFCE"/>
      </a:hlink>
      <a:folHlink>
        <a:srgbClr val="9EADEF"/>
      </a:folHlink>
    </a:clrScheme>
    <a:fontScheme name="Office">
      <a:majorFont>
        <a:latin typeface="Calibri Light"/>
        <a:ea typeface="Calibri Light"/>
        <a:cs typeface="Calibri Light"/>
      </a:majorFont>
      <a:minorFont>
        <a:latin typeface="Calibri"/>
        <a:ea typeface="Calibri"/>
        <a:cs typeface="Calibri"/>
      </a:minorFont>
    </a:fontScheme>
    <a:fmtScheme name="Scientific dark">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0ee34b52eb46ee" /><Relationship Type="http://schemas.openxmlformats.org/officeDocument/2006/relationships/notesMaster" Target="/ppt/notesMasters/notesMaster1.xml" Id="Rb9bfeba8548147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4d0f221774428e" /><Relationship Type="http://schemas.openxmlformats.org/officeDocument/2006/relationships/notesMaster" Target="/ppt/notesMasters/notesMaster1.xml" Id="R0c89dd22ce4e43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751f0f07c74581" /><Relationship Type="http://schemas.openxmlformats.org/officeDocument/2006/relationships/notesMaster" Target="/ppt/notesMasters/notesMaster1.xml" Id="R0bde832bb8d645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a1201c5ed3443e" /><Relationship Type="http://schemas.openxmlformats.org/officeDocument/2006/relationships/notesMaster" Target="/ppt/notesMasters/notesMaster1.xml" Id="R1f162571a3ef45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4218e479284732" /><Relationship Type="http://schemas.openxmlformats.org/officeDocument/2006/relationships/notesMaster" Target="/ppt/notesMasters/notesMaster1.xml" Id="Rf1ed8a35b60347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8233b2341a46ab" /><Relationship Type="http://schemas.openxmlformats.org/officeDocument/2006/relationships/notesMaster" Target="/ppt/notesMasters/notesMaster1.xml" Id="Re53e516a082943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d22bb4bd1d489e" /><Relationship Type="http://schemas.openxmlformats.org/officeDocument/2006/relationships/notesMaster" Target="/ppt/notesMasters/notesMaster1.xml" Id="Recbdc83d3cf14f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4d360bccd140b3" /><Relationship Type="http://schemas.openxmlformats.org/officeDocument/2006/relationships/notesMaster" Target="/ppt/notesMasters/notesMaster1.xml" Id="R9c09412c697f48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22b56ec3fd4ded" /><Relationship Type="http://schemas.openxmlformats.org/officeDocument/2006/relationships/notesMaster" Target="/ppt/notesMasters/notesMaster1.xml" Id="Re57e8065a1024f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1c277f26134280" /><Relationship Type="http://schemas.openxmlformats.org/officeDocument/2006/relationships/notesMaster" Target="/ppt/notesMasters/notesMaster1.xml" Id="R2ab73775b0f04a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57706bf0d3437e" /><Relationship Type="http://schemas.openxmlformats.org/officeDocument/2006/relationships/notesMaster" Target="/ppt/notesMasters/notesMaster1.xml" Id="R06ff37f1911746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c86f57639e49ec" /><Relationship Type="http://schemas.openxmlformats.org/officeDocument/2006/relationships/notesMaster" Target="/ppt/notesMasters/notesMaster1.xml" Id="R4fb3a253104649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57fec2b7ba4ce3" /><Relationship Type="http://schemas.openxmlformats.org/officeDocument/2006/relationships/notesMaster" Target="/ppt/notesMasters/notesMaster1.xml" Id="R3c1033ce4dfb44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53d5bf682242a2" /><Relationship Type="http://schemas.openxmlformats.org/officeDocument/2006/relationships/notesMaster" Target="/ppt/notesMasters/notesMaster1.xml" Id="R7a5411c3a0d145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082e4b1704143d7" /><Relationship Type="http://schemas.openxmlformats.org/officeDocument/2006/relationships/notesMaster" Target="/ppt/notesMasters/notesMaster1.xml" Id="Rbaee24117a374ff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fe0da7a3d0a4627" /><Relationship Type="http://schemas.openxmlformats.org/officeDocument/2006/relationships/notesMaster" Target="/ppt/notesMasters/notesMaster1.xml" Id="R6d8424ee0f66495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8caa7dfec73474f" /><Relationship Type="http://schemas.openxmlformats.org/officeDocument/2006/relationships/notesMaster" Target="/ppt/notesMasters/notesMaster1.xml" Id="R029a77e724ef456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cbcf2602a6448a" /><Relationship Type="http://schemas.openxmlformats.org/officeDocument/2006/relationships/notesMaster" Target="/ppt/notesMasters/notesMaster1.xml" Id="R21b2c8b41f21449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a5674c061cf482f" /><Relationship Type="http://schemas.openxmlformats.org/officeDocument/2006/relationships/notesMaster" Target="/ppt/notesMasters/notesMaster1.xml" Id="R6b758b7f790e4b6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186ada5c9d74067" /><Relationship Type="http://schemas.openxmlformats.org/officeDocument/2006/relationships/notesMaster" Target="/ppt/notesMasters/notesMaster1.xml" Id="R03304b0b907a4a3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c4c2eada68b459e" /><Relationship Type="http://schemas.openxmlformats.org/officeDocument/2006/relationships/notesMaster" Target="/ppt/notesMasters/notesMaster1.xml" Id="Ra173d0bbf414444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c6eb2e29a2046d9" /><Relationship Type="http://schemas.openxmlformats.org/officeDocument/2006/relationships/notesMaster" Target="/ppt/notesMasters/notesMaster1.xml" Id="R64c89d4e141a42c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4d1919ce51e41e0" /><Relationship Type="http://schemas.openxmlformats.org/officeDocument/2006/relationships/notesMaster" Target="/ppt/notesMasters/notesMaster1.xml" Id="R18e13a922f1547e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d0d9e8dcc554e37" /><Relationship Type="http://schemas.openxmlformats.org/officeDocument/2006/relationships/notesMaster" Target="/ppt/notesMasters/notesMaster1.xml" Id="R8c6d02d3152d41b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95c5e98c6fb49ea" /><Relationship Type="http://schemas.openxmlformats.org/officeDocument/2006/relationships/notesMaster" Target="/ppt/notesMasters/notesMaster1.xml" Id="R724dbe4cfff3480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1ebf2d559cc4ad7" /><Relationship Type="http://schemas.openxmlformats.org/officeDocument/2006/relationships/notesMaster" Target="/ppt/notesMasters/notesMaster1.xml" Id="R7c8ea658797f451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7ca3fce99424e14" /><Relationship Type="http://schemas.openxmlformats.org/officeDocument/2006/relationships/notesMaster" Target="/ppt/notesMasters/notesMaster1.xml" Id="R774a7a968e274d1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b39af0fc7d54c94" /><Relationship Type="http://schemas.openxmlformats.org/officeDocument/2006/relationships/notesMaster" Target="/ppt/notesMasters/notesMaster1.xml" Id="Rea21340470244a4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fcdf81de81c44c2" /><Relationship Type="http://schemas.openxmlformats.org/officeDocument/2006/relationships/notesMaster" Target="/ppt/notesMasters/notesMaster1.xml" Id="R76bffd7440ae461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d6115b79f2d4e18" /><Relationship Type="http://schemas.openxmlformats.org/officeDocument/2006/relationships/notesMaster" Target="/ppt/notesMasters/notesMaster1.xml" Id="R66e2d9550c62459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a2e7821b83b47e2" /><Relationship Type="http://schemas.openxmlformats.org/officeDocument/2006/relationships/notesMaster" Target="/ppt/notesMasters/notesMaster1.xml" Id="R75c2974b33c4426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9be79a967e344d4" /><Relationship Type="http://schemas.openxmlformats.org/officeDocument/2006/relationships/notesMaster" Target="/ppt/notesMasters/notesMaster1.xml" Id="R69fa4bf95cc142e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0675bd52bf54047" /><Relationship Type="http://schemas.openxmlformats.org/officeDocument/2006/relationships/notesMaster" Target="/ppt/notesMasters/notesMaster1.xml" Id="Rce3fcf8e18c24a9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ff0a88ae7164d5b" /><Relationship Type="http://schemas.openxmlformats.org/officeDocument/2006/relationships/notesMaster" Target="/ppt/notesMasters/notesMaster1.xml" Id="Rd550cf2aeabe481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a0cf3a8465d455d" /><Relationship Type="http://schemas.openxmlformats.org/officeDocument/2006/relationships/notesMaster" Target="/ppt/notesMasters/notesMaster1.xml" Id="R7279feffdeb3494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59963dc0d554e26" /><Relationship Type="http://schemas.openxmlformats.org/officeDocument/2006/relationships/notesMaster" Target="/ppt/notesMasters/notesMaster1.xml" Id="R85348fe11fa44e9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bf2862ad2ae4c1b" /><Relationship Type="http://schemas.openxmlformats.org/officeDocument/2006/relationships/notesMaster" Target="/ppt/notesMasters/notesMaster1.xml" Id="R0b5662abb66940e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b966e044f484570" /><Relationship Type="http://schemas.openxmlformats.org/officeDocument/2006/relationships/notesMaster" Target="/ppt/notesMasters/notesMaster1.xml" Id="R76e0dbf93a4e44e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b2131f8acea4f26" /><Relationship Type="http://schemas.openxmlformats.org/officeDocument/2006/relationships/notesMaster" Target="/ppt/notesMasters/notesMaster1.xml" Id="R80a0251acbdc4c7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4cacf4f28f84636" /><Relationship Type="http://schemas.openxmlformats.org/officeDocument/2006/relationships/notesMaster" Target="/ppt/notesMasters/notesMaster1.xml" Id="R797556736cf04a7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560886083b049d7" /><Relationship Type="http://schemas.openxmlformats.org/officeDocument/2006/relationships/notesMaster" Target="/ppt/notesMasters/notesMaster1.xml" Id="Rd80d6abb6f414d6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d3d5ef2a02a425e" /><Relationship Type="http://schemas.openxmlformats.org/officeDocument/2006/relationships/notesMaster" Target="/ppt/notesMasters/notesMaster1.xml" Id="R02d5307bacbf421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0a5b766e3fc4ced" /><Relationship Type="http://schemas.openxmlformats.org/officeDocument/2006/relationships/notesMaster" Target="/ppt/notesMasters/notesMaster1.xml" Id="Rb45f4663414a40a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53579248e9e4945" /><Relationship Type="http://schemas.openxmlformats.org/officeDocument/2006/relationships/notesMaster" Target="/ppt/notesMasters/notesMaster1.xml" Id="R9e2d46fc877f4d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Тема занятия: организация экспериментальных данных как часть научного метода. Сквозной пример относится к исследованию материалов, но правила применимы также к химическим, биологическим и инженерным измерениям. Изображение на обложке служит иллюстрацией лабораторной среды.</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занятия обучающийся должен организовать небольшой набор данных так, чтобы другой человек смог проверить происхождение каждой строки и заново получить результат. Не требуется повторять основы дисперсионного анализа.</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используется соглашение NASEM 2019: воспроизводимость вычислений означает согласованный результат при тех же входных данных и методах, а репликация относится к новым данным. В метрологии повторяемость и воспроизводимость измерений имеют отдельные определения, связанные с условиями измерения. В разных дисциплинах английские термины используются неодинаково.</a:t>
            </a:r>
          </a:p>
          <a:p xmlns:a="http://schemas.openxmlformats.org/drawingml/2006/main">
            <a:r>
              <a:t/>
            </a:r>
          </a:p>
          <a:p xmlns:a="http://schemas.openxmlformats.org/drawingml/2006/main">
            <a:r>
              <a:t>Источники:</a:t>
            </a:r>
          </a:p>
          <a:p xmlns:a="http://schemas.openxmlformats.org/drawingml/2006/main">
            <a:r>
              <a:t>National Academies of Sciences, Engineering, and Medicine (2019). Reproducibility and Replicability in Science. https://doi.org/10.17226/25303</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Учебный эксперимент. Сравниваем два режима по удельной намагниченности насыщения. Всего шесть партий: для каждого режима три отдельных синтеза с отдельным отжигом. Режим назначают партии целиком. После обработки от каждой партии берут две навески и по три раза снимают магнитную петлю каждой навески. Значение sigma_s получают по одному и тому же правилу. Это описание дизайна, а не рекомендация по синтезу конкретного вещества.</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Партия может означать партию синтеза, реагента или приборную серию. В конкретном проекте надо зафиксировать смысл каждого batch_id, не смешивая эти сущности. Независимость определяется дизайном и вопросом исследования, а не названием столбца.</a:t>
            </a:r>
          </a:p>
          <a:p xmlns:a="http://schemas.openxmlformats.org/drawingml/2006/main">
            <a:r>
              <a:t/>
            </a:r>
          </a:p>
          <a:p xmlns:a="http://schemas.openxmlformats.org/drawingml/2006/main">
            <a:r>
              <a:t>Источники:</a:t>
            </a:r>
          </a:p>
          <a:p xmlns:a="http://schemas.openxmlformats.org/drawingml/2006/main">
            <a:r>
              <a:t>Lazic S. E., Clarke-Williams C. J., Munafò M. R. (2018). What exactly is N in cell culture and animal experiments? PLoS Biology 16(4): e2005282. https://doi.org/10.1371/journal.pbio.2005282</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управляемом эксперименте ключевой вопрос: какой единице независимо назначают воздействие? Единица наблюдения может быть мельче экспериментальной единицы. В наблюдательном исследовании ищут независимую единицу отбора и учитывают кластеры. Повторные измерения одной единицы могут требовать парного или иерархического анализа.</a:t>
            </a:r>
          </a:p>
          <a:p xmlns:a="http://schemas.openxmlformats.org/drawingml/2006/main">
            <a:r>
              <a:t/>
            </a:r>
          </a:p>
          <a:p xmlns:a="http://schemas.openxmlformats.org/drawingml/2006/main">
            <a:r>
              <a:t>Источники:</a:t>
            </a:r>
          </a:p>
          <a:p xmlns:a="http://schemas.openxmlformats.org/drawingml/2006/main">
            <a:r>
              <a:t>Lazic S. E., Clarke-Williams C. J., Munafò M. R. (2018). What exactly is N in cell culture and animal experiments? PLoS Biology 16(4): e2005282. https://doi.org/10.1371/journal.pbio.2005282</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Технические повторы помогают увидеть вариабельность процедуры измерения. Повторная пробоподготовка может добавлять ещё один вложенный уровень. Термин «биологический повтор» не заменяет описание дизайна. Разные названия проб сами по себе не доказывают независимость.</a:t>
            </a:r>
          </a:p>
          <a:p xmlns:a="http://schemas.openxmlformats.org/drawingml/2006/main">
            <a:r>
              <a:t/>
            </a:r>
          </a:p>
          <a:p xmlns:a="http://schemas.openxmlformats.org/drawingml/2006/main">
            <a:r>
              <a:t>Источники:</a:t>
            </a:r>
          </a:p>
          <a:p xmlns:a="http://schemas.openxmlformats.org/drawingml/2006/main">
            <a:r>
              <a:t>Lazic S. E., Clarke-Williams C. J., Munafò M. R. (2018). What exactly is N in cell culture and animal experiments? PLoS Biology 16(4): e2005282. https://doi.org/10.1371/journal.pbio.2005282</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Арифметика для сквозного примера: 2 режима × 3 партии × 2 навески × 3 запуска = 36 измерений. Для сравнения температур имеется по 3 независимые партии на условие, всего 6. Использование всех 36 запусков как независимых наблюдений является псевдорепликацией. Технические повторы полезны, но не расширяют число независимых реализаций воздействия.</a:t>
            </a:r>
          </a:p>
          <a:p xmlns:a="http://schemas.openxmlformats.org/drawingml/2006/main">
            <a:r>
              <a:t/>
            </a:r>
          </a:p>
          <a:p xmlns:a="http://schemas.openxmlformats.org/drawingml/2006/main">
            <a:r>
              <a:t>Источники:</a:t>
            </a:r>
          </a:p>
          <a:p xmlns:a="http://schemas.openxmlformats.org/drawingml/2006/main">
            <a:r>
              <a:t>Lazic S. E., Clarke-Williams C. J., Munafò M. R. (2018). What exactly is N in cell culture and animal experiments? PLoS Biology 16(4): e2005282. https://doi.org/10.1371/journal.pbio.2005282</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графике 36 учебных результатов: для каждой из шести партий две навески и по три повторных измерения. Небольшой горизонтальный сдвиг нужен только для различения точек. Значения 600 °C: B001 48.0,48.2,47.8,48.1,48.3,47.9; B002 52.0,52.2,51.8,52.1,52.3,51.9; B003 45.0,45.2,44.8,45.1,45.3,44.9. Для 700 °C: B004 54.0,54.2,53.8,54.1,54.3,53.9; B005 58.0,58.2,57.8,58.1,58.3,57.9; B006 51.0,51.2,50.8,51.1,51.3,50.9. Один простой анализ: сначала усреднить технические измерения навески, затем навески партии. Для несбалансированного дизайна или разных научных вопросов способ агрегации выбирают отдельно. Вложенная модель позволяет сохранить уровни.</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Даже отдельно приготовленные образцы могут разделять неучтённую причину: один день измерений, одну партию реагента или один цикл печи. Если все 600 °C выполнены только в понедельник, а все 700 °C только во вторник, эффект температуры нельзя отделить от эффекта дня. Здесь каждый синтез и отжиг отдельный, оба режима представлены в каждом дне. Порядок измерений рандомизируют или чередуют по плану.</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Обсуждение на 3–4 минуты. Ответы: 1) четыре независимо нанесённые плёнки, если условие назначают плёнке; десять точек дают вложенные измерения. 2) одна партия для вывода о повторяемости синтеза. 3) шесть людей, измерения до и после связаны попарно. Уточняющий вопрос: как изменится ответ, если четыре плёнки получены одновременно в одном цикле осаждения? Сначала спрашиваем о дизайне, затем называем n.</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Практическая рекомендация для учебного проекта. ID должен быть уникальным в оговорённом пространстве, стабильным и не использоваться повторно. Код проекта можно добавить, если данные объединяют между группами. Латиница и фиксированная длина облегчают обмен. Смысл кодов и правила генерации описывают в README.</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данном реестре две навески S0001 и S0002 происходят из одной партии B001. После химического превращения или выделения самостоятельной фракции можно создать новый объект S0013 и сохранить parent_sample_id. Повторный запуск прибора сохраняет sample_id, но получает новый measurement_id. Таблица событий пригодится для последовательных обработок одного и того же объекта.</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Численное значение и единица совместно определяют значение величины. При хранении числа в столбце единицу задают в заголовке или словаре данных. Необходимо различать магнитный момент, объёмную намагниченность и удельную намагниченность. В примере sigma_s относится к массе измеренной навески. А·м²/кг можно также записать как A m^2 kg^-1.</a:t>
            </a:r>
          </a:p>
          <a:p xmlns:a="http://schemas.openxmlformats.org/drawingml/2006/main">
            <a:r>
              <a:t/>
            </a:r>
          </a:p>
          <a:p xmlns:a="http://schemas.openxmlformats.org/drawingml/2006/main">
            <a:r>
              <a:t>Источники:</a:t>
            </a:r>
          </a:p>
          <a:p xmlns:a="http://schemas.openxmlformats.org/drawingml/2006/main">
            <a:r>
              <a:t>BIPM. The International System of Units (SI), 9th edition, version 4.01, June 2026. https://www.bipm.org/documents/20126/41483022/SI-Brochure-9-EN.pdf</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Исходные значения сохраняются в raw. Производные столбцы имеют явные названия с единицами. Переход из градусов Цельсия к кельвинам аффинный. Разность температур в этих шкалах одинакова по численному значению. В примере нет преобразования CGS для магнитных величин, поскольку оно требует точного определения измеряемой величины.</a:t>
            </a:r>
          </a:p>
          <a:p xmlns:a="http://schemas.openxmlformats.org/drawingml/2006/main">
            <a:r>
              <a:t/>
            </a:r>
          </a:p>
          <a:p xmlns:a="http://schemas.openxmlformats.org/drawingml/2006/main">
            <a:r>
              <a:t>Источники:</a:t>
            </a:r>
          </a:p>
          <a:p xmlns:a="http://schemas.openxmlformats.org/drawingml/2006/main">
            <a:r>
              <a:t>BIPM. The International System of Units (SI), 9th edition, version 4.01, June 2026. https://www.bipm.org/documents/20126/41483022/SI-Brochure-9-EN.pdf</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NA обозначает пропуск в нормализованной числовой колонке, а не текстовое значение физической величины. В CSV можно договориться о пустой ячейке и описать это в словаре. Условные коды статусов не являются универсальным стандартом. Причины пропусков могут быть связаны с самим процессом и влиять на вывод.</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Отдельный учебный пример элементного анализа. LOD относится к обнаружению при заданной процедуре и вероятностях ошибок. LOQ определяет нижний уровень количественного определения с заданными характеристиками качества. Числа выбраны для демонстрации. Если лаборатория располагает сырым сигналом или численной оценкой ниже порога, их сохраняют вместе с флагом. Универсальной подстановки для цензурированных значений нет; выбор анализа зависит от метода, доли таких результатов и вопроса.</a:t>
            </a:r>
          </a:p>
          <a:p xmlns:a="http://schemas.openxmlformats.org/drawingml/2006/main">
            <a:r>
              <a:t/>
            </a:r>
          </a:p>
          <a:p xmlns:a="http://schemas.openxmlformats.org/drawingml/2006/main">
            <a:r>
              <a:t>Источники:</a:t>
            </a:r>
          </a:p>
          <a:p xmlns:a="http://schemas.openxmlformats.org/drawingml/2006/main">
            <a:r>
              <a:t>Eurachem (2025). The Fitness for Purpose of Analytical Methods, 3rd edition. Section 5.3, LOD and LOQ. https://www.eurachem.org/index.php/3-publications/guides/144-gdmv2014</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Подозрительное значение может быть реальным наблюдением, проблемой единиц, ошибкой ввода, насыщением прибора или загрязнением. Автоматический флаг нужен для проверки. Пример 482.0 вместо ожидаемых около 48 сам по себе не доказывает десятикратную ошибку. Исключение требует причины, связанной с измерением или заранее заданным правилом. Полезно показать устойчивость вывода к включению спорной точки.</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Учебный текстовый экспорт. Для демонстрации обработки пропуска заменим одно из значений полного ряда на слайде 9 маркером ERROR. Две служебные строки, разделитель точка с запятой, десятичная запятая и три столбца технических повторов. Один файл содержит уже извлечённые оценки sigma_s, а не все точки магнитной петли. Исходные кривые при их наличии тоже сохраняются отдельно. ERROR является строковым маркером приборной ошибки.</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Tidy означает: переменная в столбце, наблюдение в строке и отдельный тип наблюдаемого объекта в своей таблице. Это не требование превращать любую таблицу в три колонки parameter-value-unit. В нашем случае наблюдением в таблице служит запуск прибора, а независимая единица анализа остаётся партией. Таблица показывает первые три строки предыдущего экспорта.</a:t>
            </a:r>
          </a:p>
          <a:p xmlns:a="http://schemas.openxmlformats.org/drawingml/2006/main">
            <a:r>
              <a:t/>
            </a:r>
          </a:p>
          <a:p xmlns:a="http://schemas.openxmlformats.org/drawingml/2006/main">
            <a:r>
              <a:t>Источники:</a:t>
            </a:r>
          </a:p>
          <a:p xmlns:a="http://schemas.openxmlformats.org/drawingml/2006/main">
            <a:r>
              <a:t>Wickham H. (2014). Tidy Data. Journal of Statistical Software 59(10). https://doi.org/10.18637/jss.v059.i10</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учебном проекте достаточно небольших связанных CSV-файлов. samples.csv содержит уникальный sample_id и batch_id. measurements.csv содержит уникальный measurement_id и внешний ключ sample_id. Исходный sample_id+номер повтора может быть уникален лишь внутри одной приборной серии, поэтому для объединения серий нужен measurement_id или полный составной ключ.</a:t>
            </a:r>
          </a:p>
          <a:p xmlns:a="http://schemas.openxmlformats.org/drawingml/2006/main">
            <a:r>
              <a:t/>
            </a:r>
          </a:p>
          <a:p xmlns:a="http://schemas.openxmlformats.org/drawingml/2006/main">
            <a:r>
              <a:t>Источники:</a:t>
            </a:r>
          </a:p>
          <a:p xmlns:a="http://schemas.openxmlformats.org/drawingml/2006/main">
            <a:r>
              <a:t>Wickham H. (2014). Tidy Data. Journal of Statistical Software 59(10). https://doi.org/10.18637/jss.v059.i10</a:t>
            </a:r>
          </a:p>
          <a:p xmlns:a="http://schemas.openxmlformats.org/drawingml/2006/main">
            <a:r>
              <a:t>pandas.DataFrame.merge, official documentation. https://pandas.pydata.org/docs/reference/api/pandas.DataFrame.merge.html</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Код относится к экспорту на слайде 19. Для данного примера все поля сначала читаются как строки, чтобы не потерять ERROR и исходное представление числа. skiprows=2 допустим, когда формат экспорта документирован. Для меняющегося заголовка лучше явно находить строку заголовка. Отсутствующие токены следует задать после чтения.</a:t>
            </a:r>
          </a:p>
          <a:p xmlns:a="http://schemas.openxmlformats.org/drawingml/2006/main">
            <a:r>
              <a:t/>
            </a:r>
          </a:p>
          <a:p xmlns:a="http://schemas.openxmlformats.org/drawingml/2006/main">
            <a:r>
              <a:t>Источники:</a:t>
            </a:r>
          </a:p>
          <a:p xmlns:a="http://schemas.openxmlformats.org/drawingml/2006/main">
            <a:r>
              <a:t>pandas.read_csv, official documentation. https://pandas.pydata.org/docs/reference/api/pandas.read_csv.html</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melt сохраняет идентификаторы, а R1–R3 превращает в значения replicate. Столбец raw_token нужен для аудита. Сначала распознаём известный маркер ERROR, затем строго преобразуем остальные числа. errors=raise помогает не замаскировать неожиданный текст под новый пропуск. После этого можно переименовать R1 в номер 1 и Temp_C в temperature_C.</a:t>
            </a:r>
          </a:p>
          <a:p xmlns:a="http://schemas.openxmlformats.org/drawingml/2006/main">
            <a:r>
              <a:t/>
            </a:r>
          </a:p>
          <a:p xmlns:a="http://schemas.openxmlformats.org/drawingml/2006/main">
            <a:r>
              <a:t>Источники:</a:t>
            </a:r>
          </a:p>
          <a:p xmlns:a="http://schemas.openxmlformats.org/drawingml/2006/main">
            <a:r>
              <a:t>pandas.melt, official documentation. https://pandas.pydata.org/docs/reference/api/pandas.melt.html</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явного переименования Sample в sample_id и Temp_C в temperature_C регистрируем измерения и выдаём measurement_id. Код иллюстрирует проверки нормализованных таблиц. Уникальный ID и наличие связей не доказывают качество измерения, поэтому отдельно проверяют допустимые значения и согласованность метаданных. Уместные физические границы определяет предметная область, а не универсальный порог.</a:t>
            </a:r>
          </a:p>
          <a:p xmlns:a="http://schemas.openxmlformats.org/drawingml/2006/main">
            <a:r>
              <a:t/>
            </a:r>
          </a:p>
          <a:p xmlns:a="http://schemas.openxmlformats.org/drawingml/2006/main">
            <a:r>
              <a:t>Источники:</a:t>
            </a:r>
          </a:p>
          <a:p xmlns:a="http://schemas.openxmlformats.org/drawingml/2006/main">
            <a:r>
              <a:t>pandas.DataFrame.merge, official documentation. https://pandas.pydata.org/docs/reference/api/pandas.DataFrame.merge.html</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Короткое задание: в экспорте две строки образцов и три повтора на образец. После melt ожидаем шесть строк, включая приборную ошибку. Если получилось пять строк, одна потерялась. raw_token вместе с source_file, source_row и replicate позволяет найти ячейку источника. Порядок строк может измениться, поэтому сопоставление строят по ключам.</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Метаданные бывают на уровне всего проекта, партии, образца и конкретного измерения. Постоянные для проекта значения можно хранить в паспорте. Изменяющиеся значения, например оператор или калибровка, лучше связывать с серией или строкой. В магнитном примере особенно важны масса нормировки, диапазон поля, температура измерения и правило определения насыщения.</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Словарь нужен и для понятных на первый взгляд полей. temperature_C в этом примере означает заданную температуру отжига, а не измеренную температуру образца и не температуру магнитного измерения. Аналогично mass_mg должна обозначать массу конкретной измеренной навески. Условные статусы описывают закрытым перечнем.</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Паспорт можно вести как README.md и небольшой машиночитаемый metadata.yaml. Представленный блок является примером содержания, а не универсальным стандартом. Рекомендуется указать версии протокола, источник данных, доступ и лицензию. Для внутренних данных вместо публичной лицензии фиксируют действующие условия доступа и повторного использования.</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 рекомендуемая структура для небольшого проекта. Имена каталогов можно адаптировать под группу. Главное, чтобы исходники отличались от производных файлов, а процедура восстановления была понятна.</a:t>
            </a:r>
          </a:p>
          <a:p xmlns:a="http://schemas.openxmlformats.org/drawingml/2006/main">
            <a:r>
              <a:t/>
            </a:r>
          </a:p>
          <a:p xmlns:a="http://schemas.openxmlformats.org/drawingml/2006/main">
            <a:r>
              <a:t>Источники:</a:t>
            </a:r>
          </a:p>
          <a:p xmlns:a="http://schemas.openxmlformats.org/drawingml/2006/main">
            <a:r>
              <a:t>Wilson G. et al. (2017). Good enough practices in scientific computing. PLoS Computational Biology 13(6): e1005510. https://doi.org/10.1371/journal.pcbi.1005510</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Сохранность оригиналов и воспроизводимость преобразования решают разные задачи. Хеш проверяет идентичность байтов относительно эталона, но не подтверждает научную корректность. Отдельная резервная копия нужна даже при использовании Git. Полезно проверять возможность восстановления, а не только наличие копии.</a:t>
            </a:r>
          </a:p>
          <a:p xmlns:a="http://schemas.openxmlformats.org/drawingml/2006/main">
            <a:r>
              <a:t/>
            </a:r>
          </a:p>
          <a:p xmlns:a="http://schemas.openxmlformats.org/drawingml/2006/main">
            <a:r>
              <a:t>Источники:</a:t>
            </a:r>
          </a:p>
          <a:p xmlns:a="http://schemas.openxmlformats.org/drawingml/2006/main">
            <a:r>
              <a:t>Wilson G. et al. (2017). Good enough practices in scientific computing. PLoS Computational Biology 13(6): e1005510. https://doi.org/10.1371/journal.pcbi.1005510</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Notebook сочетает код с объяснением решения. Для преподавания достаточно одного линейного notebook, который выполняется сверху вниз. Повторяющиеся функции постепенно выносят в src. В начале формулируют вопрос и единицу анализа, в конце явно называют число независимых единиц и ограничения.</a:t>
            </a:r>
          </a:p>
          <a:p xmlns:a="http://schemas.openxmlformats.org/drawingml/2006/main">
            <a:r>
              <a:t/>
            </a:r>
          </a:p>
          <a:p xmlns:a="http://schemas.openxmlformats.org/drawingml/2006/main">
            <a:r>
              <a:t>Источники:</a:t>
            </a:r>
          </a:p>
          <a:p xmlns:a="http://schemas.openxmlformats.org/drawingml/2006/main">
            <a:r>
              <a:t>JupyterLab. Commands. Restart Kernel and Run All Cells. https://jupyterlab.readthedocs.io/en/v4.5.x/user/commands.html</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Сохранённый результат ячейки может не соответствовать коду, который виден в notebook сейчас. Перезапуск ядра удаляет переменные из памяти, после чего выполнение всех ячеек проверяет линейный порядок. Но Restart &amp; Run All не выявляет все внешние зависимости: нужен ещё запуск в чистой копии проекта и подходящей среде.</a:t>
            </a:r>
          </a:p>
          <a:p xmlns:a="http://schemas.openxmlformats.org/drawingml/2006/main">
            <a:r>
              <a:t/>
            </a:r>
          </a:p>
          <a:p xmlns:a="http://schemas.openxmlformats.org/drawingml/2006/main">
            <a:r>
              <a:t>Источники:</a:t>
            </a:r>
          </a:p>
          <a:p xmlns:a="http://schemas.openxmlformats.org/drawingml/2006/main">
            <a:r>
              <a:t>JupyterLab. Commands. Restart Kernel and Run All Cells. https://jupyterlab.readthedocs.io/en/v4.5.x/user/commands.html</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Фиксация пакетов облегчает повторный запуск, но pip freeze не является полным переносимым описанием среды или универсальным lock-файлом. Отдельно записывают Python, ОС и внешние программы. rng нужен только при использовании случайных алгоритмов. Фиксированное зерно не гарантирует побитовую идентичность на другом оборудовании или с другими версиями библиотек.</a:t>
            </a:r>
          </a:p>
          <a:p xmlns:a="http://schemas.openxmlformats.org/drawingml/2006/main">
            <a:r>
              <a:t/>
            </a:r>
          </a:p>
          <a:p xmlns:a="http://schemas.openxmlformats.org/drawingml/2006/main">
            <a:r>
              <a:t>Источники:</a:t>
            </a:r>
          </a:p>
          <a:p xmlns:a="http://schemas.openxmlformats.org/drawingml/2006/main">
            <a:r>
              <a:t>pip freeze, official documentation. https://pip.pypa.io/en/stable/cli/pip_freeze/</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 сохраняет версии выбранных файлов в локальном репозитории. Команды выполняют в корне проекта после установки Git. Имя и email пользователь задаёт своими значениями; локальные настройки без --global относятся к этому репозиторию. add выбирает содержимое следующего снимка, commit создаёт снимок. Перед этим надо создать .gitignore из следующего блока лекции.</a:t>
            </a:r>
          </a:p>
          <a:p xmlns:a="http://schemas.openxmlformats.org/drawingml/2006/main">
            <a:r>
              <a:t/>
            </a:r>
          </a:p>
          <a:p xmlns:a="http://schemas.openxmlformats.org/drawingml/2006/main">
            <a:r>
              <a:t>Источники:</a:t>
            </a:r>
          </a:p>
          <a:p xmlns:a="http://schemas.openxmlformats.org/drawingml/2006/main">
            <a:r>
              <a:t>Pro Git, 2.2. Recording Changes to the Repository. https://git-scm.com/book/en/v2/Git-Basics-Recording-Changes-to-the-Repository</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 diff показывает ещё не добавленные изменения, git diff --staged показывает содержимое предстоящего commit относительно последнего commit. После просмотра изменения фиксируют. История не объясняет смысл правки без хорошего сообщения. Пример корректировки преобразования единиц должен сопровождаться пояснением того, какие результаты изменились.</a:t>
            </a:r>
          </a:p>
          <a:p xmlns:a="http://schemas.openxmlformats.org/drawingml/2006/main">
            <a:r>
              <a:t/>
            </a:r>
          </a:p>
          <a:p xmlns:a="http://schemas.openxmlformats.org/drawingml/2006/main">
            <a:r>
              <a:t>Источники:</a:t>
            </a:r>
          </a:p>
          <a:p xmlns:a="http://schemas.openxmlformats.org/drawingml/2006/main">
            <a:r>
              <a:t>Pro Git, 2.2. Recording Changes to the Repository. https://git-scm.com/book/en/v2/Git-Basics-Recording-Changes-to-the-Repository</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Аннотированный тег даёт читаемое имя выбранному commit. Для воспроизводимости записывают также полный commit hash, идентификатор версии данных и хеши исходников. Теги технически можно перемещать, поэтому политика проекта должна запрещать менять опубликованные теги. Здесь большие raw-файлы находятся вне Git, но имеют отдельное версионируемое хранилище. .gitignore действует на неотслеживаемые файлы, не удаляя уже сохранённые из истории.</a:t>
            </a:r>
          </a:p>
          <a:p xmlns:a="http://schemas.openxmlformats.org/drawingml/2006/main">
            <a:r>
              <a:t/>
            </a:r>
          </a:p>
          <a:p xmlns:a="http://schemas.openxmlformats.org/drawingml/2006/main">
            <a:r>
              <a:t>Источники:</a:t>
            </a:r>
          </a:p>
          <a:p xmlns:a="http://schemas.openxmlformats.org/drawingml/2006/main">
            <a:r>
              <a:t>Pro Git, 2.6. Tagging. https://git-scm.com/book/en/v2/Git-Basics-Tagging</a:t>
            </a:r>
          </a:p>
          <a:p xmlns:a="http://schemas.openxmlformats.org/drawingml/2006/main">
            <a:r>
              <a:t>Pro Git, 2.2. Recording Changes to the Repository. https://git-scm.com/book/en/v2/Git-Basics-Recording-Changes-to-the-Repository</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Provenance описывает происхождение цифровых объектов: какие входы использованы, какое действие выполнено и кто за него отвечает. Для маленького проекта достаточно понятной таблицы или манифеста. Не требуется изучать синтаксис стандарта PROV. Важна возможность пройти путь обратно от вывода к исходнику.</a:t>
            </a:r>
          </a:p>
          <a:p xmlns:a="http://schemas.openxmlformats.org/drawingml/2006/main">
            <a:r>
              <a:t/>
            </a:r>
          </a:p>
          <a:p xmlns:a="http://schemas.openxmlformats.org/drawingml/2006/main">
            <a:r>
              <a:t>Источники:</a:t>
            </a:r>
          </a:p>
          <a:p xmlns:a="http://schemas.openxmlformats.org/drawingml/2006/main">
            <a:r>
              <a:t>W3C (2013). PROV Model Primer. https://www.w3.org/TR/prov-primer/</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рисунке может быть много точек, но связь с данными должна оставаться однозначной. В журнале удобно иметь запись протокола и список batch_id/sample_id. В манифесте рисунка указывают источник, версию кода, параметры, исключения и единицу анализа. DOI присваивает репозиторий реальному опубликованному объекту; учебный пример не содержит вымышленного DOI.</a:t>
            </a:r>
          </a:p>
          <a:p xmlns:a="http://schemas.openxmlformats.org/drawingml/2006/main">
            <a:r>
              <a:t/>
            </a:r>
          </a:p>
          <a:p xmlns:a="http://schemas.openxmlformats.org/drawingml/2006/main">
            <a:r>
              <a:t>Источники:</a:t>
            </a:r>
          </a:p>
          <a:p xmlns:a="http://schemas.openxmlformats.org/drawingml/2006/main">
            <a:r>
              <a:t>W3C (2013). PROV Model Primer. https://www.w3.org/TR/prov-primer/</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FAIR сформулированы для улучшения обнаружения и повторного использования данных людьми и машинами. Accessible допускает аутентификацию и авторизацию. Поэтому FAIR не означает обязательную открытость всех данных. Формат CSV сам по себе также не делает набор FAIR.</a:t>
            </a:r>
          </a:p>
          <a:p xmlns:a="http://schemas.openxmlformats.org/drawingml/2006/main">
            <a:r>
              <a:t/>
            </a:r>
          </a:p>
          <a:p xmlns:a="http://schemas.openxmlformats.org/drawingml/2006/main">
            <a:r>
              <a:t>Источники:</a:t>
            </a:r>
          </a:p>
          <a:p xmlns:a="http://schemas.openxmlformats.org/drawingml/2006/main">
            <a:r>
              <a:t>Wilkinson M. D. et al. (2016). The FAIR Guiding Principles for scientific data management and stewardship. Scientific Data 3, 160018. https://doi.org/10.1038/sdata.2016.18</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ELN: Electronic Laboratory Notebook, электронный лабораторный журнал. LIMS: Laboratory Information Management System, система управления лабораторной информацией. Это функциональные акценты, а не строгая непересекающаяся классификация: реальные продукты нередко совмещают роли. На занятии изучаем принципы записей, идентификаторов и связей, без освоения корпоративных систем.</a:t>
            </a:r>
          </a:p>
          <a:p xmlns:a="http://schemas.openxmlformats.org/drawingml/2006/main">
            <a:r>
              <a:t/>
            </a:r>
          </a:p>
          <a:p xmlns:a="http://schemas.openxmlformats.org/drawingml/2006/main">
            <a:r>
              <a:t>Источники:</a:t>
            </a:r>
          </a:p>
          <a:p xmlns:a="http://schemas.openxmlformats.org/drawingml/2006/main">
            <a:r>
              <a:t>Institutional ELN/LIMS deployment: Highly customizable ELN/LIMS platform as a cornerstone of digital transformation for life sciences research institutes (2020). https://pmc.ncbi.nlm.nih.gov/articles/PMC7054672/</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Задание можно выполнить на материале научной работы или близком учебном наборе. Объём небольшой: одна исследовательская задача и один итоговый рисунок или таблица. Если исходники нельзя распространять, используйте разрешённый обезличенный фрагмент либо синтетический пример и честно опишите ограничение. На защиту удобно принести версию проекта с тегом.</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Формат взаимной проверки: студент передаёт проект однокурснику, который выполняет README, не задавая вопросов автору. Оцениваем объяснимость схемы, сохранность первичных данных, правильность единицы анализа и повторный запуск. Для обсуждения можно попросить найти один результат и восстановить его происхождение до записи лабораторного журнала.</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для углубления. Подробные ссылки также приведены в заметках к тематическим слайдам. Материал пересказан, прямые цитаты не используются. Числовые примеры являются авторскими учебными примерами.</a:t>
            </a:r>
          </a:p>
          <a:p xmlns:a="http://schemas.openxmlformats.org/drawingml/2006/main">
            <a:r>
              <a:t/>
            </a:r>
          </a:p>
          <a:p xmlns:a="http://schemas.openxmlformats.org/drawingml/2006/main">
            <a:r>
              <a:t>Источники:</a:t>
            </a:r>
          </a:p>
          <a:p xmlns:a="http://schemas.openxmlformats.org/drawingml/2006/main">
            <a:r>
              <a:t>Lazic S. E., Clarke-Williams C. J., Munafò M. R. (2018). What exactly is N in cell culture and animal experiments? PLoS Biology 16(4): e2005282. https://doi.org/10.1371/journal.pbio.2005282</a:t>
            </a:r>
          </a:p>
          <a:p xmlns:a="http://schemas.openxmlformats.org/drawingml/2006/main">
            <a:r>
              <a:t>National Academies of Sciences, Engineering, and Medicine (2019). Reproducibility and Replicability in Science. https://doi.org/10.17226/25303</a:t>
            </a:r>
          </a:p>
          <a:p xmlns:a="http://schemas.openxmlformats.org/drawingml/2006/main">
            <a:r>
              <a:t>BIPM. The International System of Units (SI), 9th edition, version 4.01, June 2026. https://www.bipm.org/documents/20126/41483022/SI-Brochure-9-EN.pdf</a:t>
            </a:r>
          </a:p>
          <a:p xmlns:a="http://schemas.openxmlformats.org/drawingml/2006/main">
            <a:r>
              <a:t>Eurachem (2025). The Fitness for Purpose of Analytical Methods, 3rd edition. Section 5.3, LOD and LOQ. https://www.eurachem.org/index.php/3-publications/guides/144-gdmv2014</a:t>
            </a:r>
          </a:p>
          <a:p xmlns:a="http://schemas.openxmlformats.org/drawingml/2006/main">
            <a:r>
              <a:t>Wickham H. (2014). Tidy Data. Journal of Statistical Software 59(10). https://doi.org/10.18637/jss.v059.i10</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Ссылки на документацию pandas.read_csv и pandas.melt находятся в заметках к слайдам 22–23. JupyterLab Commands: https://jupyterlab.readthedocs.io/en/v4.5.x/user/commands.html . pip freeze: https://pip.pypa.io/en/stable/cli/pip_freeze/ . pandas.merge: https://pandas.pydata.org/docs/reference/api/pandas.DataFrame.merge.html .</a:t>
            </a:r>
          </a:p>
          <a:p xmlns:a="http://schemas.openxmlformats.org/drawingml/2006/main">
            <a:r>
              <a:t/>
            </a:r>
          </a:p>
          <a:p xmlns:a="http://schemas.openxmlformats.org/drawingml/2006/main">
            <a:r>
              <a:t>Источники:</a:t>
            </a:r>
          </a:p>
          <a:p xmlns:a="http://schemas.openxmlformats.org/drawingml/2006/main">
            <a:r>
              <a:t>Wilson G. et al. (2017). Good enough practices in scientific computing. PLoS Computational Biology 13(6): e1005510. https://doi.org/10.1371/journal.pcbi.1005510</a:t>
            </a:r>
          </a:p>
          <a:p xmlns:a="http://schemas.openxmlformats.org/drawingml/2006/main">
            <a:r>
              <a:t>Wilkinson M. D. et al. (2016). The FAIR Guiding Principles for scientific data management and stewardship. Scientific Data 3, 160018. https://doi.org/10.1038/sdata.2016.18</a:t>
            </a:r>
          </a:p>
          <a:p xmlns:a="http://schemas.openxmlformats.org/drawingml/2006/main">
            <a:r>
              <a:t>Pro Git, 2.2. Recording Changes to the Repository. https://git-scm.com/book/en/v2/Git-Basics-Recording-Changes-to-the-Repository</a:t>
            </a:r>
          </a:p>
          <a:p xmlns:a="http://schemas.openxmlformats.org/drawingml/2006/main">
            <a:r>
              <a:t>Pro Git, 2.6. Tagging. https://git-scm.com/book/en/v2/Git-Basics-Tagging</a:t>
            </a:r>
          </a:p>
          <a:p xmlns:a="http://schemas.openxmlformats.org/drawingml/2006/main">
            <a:r>
              <a:t>W3C (2013). PROV Model Primer. https://www.w3.org/TR/prov-primer/</a:t>
            </a:r>
          </a:p>
          <a:p xmlns:a="http://schemas.openxmlformats.org/drawingml/2006/main">
            <a:r>
              <a:t>Institutional ELN/LIMS deployment: Highly customizable ELN/LIMS platform as a cornerstone of digital transformation for life sciences research institutes (2020). https://pmc.ncbi.nlm.nih.gov/articles/PMC7054672/</a:t>
            </a:r>
          </a:p>
          <a:p xmlns:a="http://schemas.openxmlformats.org/drawingml/2006/main">
            <a:r>
              <a:t/>
            </a:r>
          </a:p>
          <a:p xmlns:a="http://schemas.openxmlformats.org/drawingml/2006/main">
            <a:r>
              <a:t>Все числовые примеры, обозначения образцов и версии в примерах условные.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9877926b0249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4148cf53b64d72" /><Relationship Type="http://schemas.openxmlformats.org/officeDocument/2006/relationships/slideLayout" Target="/ppt/slideLayouts/slideLayout1.xml" Id="R8d252c0a7e164f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252c0a7e164f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cientific dark">
      <a:dk1>
        <a:srgbClr val="000000"/>
      </a:dk1>
      <a:lt1>
        <a:srgbClr val="FFFFFF"/>
      </a:lt1>
      <a:dk2>
        <a:srgbClr val="101923"/>
      </a:dk2>
      <a:lt2>
        <a:srgbClr val="F2F1E9"/>
      </a:lt2>
      <a:accent1>
        <a:srgbClr val="81DFCE"/>
      </a:accent1>
      <a:accent2>
        <a:srgbClr val="F1B766"/>
      </a:accent2>
      <a:accent3>
        <a:srgbClr val="F29191"/>
      </a:accent3>
      <a:accent4>
        <a:srgbClr val="9EADEF"/>
      </a:accent4>
      <a:accent5>
        <a:srgbClr val="88B9E7"/>
      </a:accent5>
      <a:accent6>
        <a:srgbClr val="A4C68A"/>
      </a:accent6>
      <a:hlink>
        <a:srgbClr val="81DFCE"/>
      </a:hlink>
      <a:folHlink>
        <a:srgbClr val="9EADEF"/>
      </a:folHlink>
    </a:clrScheme>
    <a:fontScheme name="Office">
      <a:majorFont>
        <a:latin typeface="Calibri Light"/>
        <a:ea typeface="Calibri Light"/>
        <a:cs typeface="Calibri Light"/>
      </a:majorFont>
      <a:minorFont>
        <a:latin typeface="Calibri"/>
        <a:ea typeface="Calibri"/>
        <a:cs typeface="Calibri"/>
      </a:minorFont>
    </a:fontScheme>
    <a:fmtScheme name="Scientific dark">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fbde6b62264d59" /><Relationship Type="http://schemas.openxmlformats.org/officeDocument/2006/relationships/image" Target="/ppt/media/image.png" Id="R52901afb778949a8" /><Relationship Type="http://schemas.openxmlformats.org/officeDocument/2006/relationships/notesSlide" Target="/ppt/notesSlides/notesSlide1.xml" Id="Re98ad46b90d04a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f671961e694482" /><Relationship Type="http://schemas.openxmlformats.org/officeDocument/2006/relationships/notesSlide" Target="/ppt/notesSlides/notesSlide2.xml" Id="R544f69da197749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55c471404d4418" /><Relationship Type="http://schemas.openxmlformats.org/officeDocument/2006/relationships/notesSlide" Target="/ppt/notesSlides/notesSlide3.xml" Id="R708fa28696d343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0ae54c23df4e78" /><Relationship Type="http://schemas.openxmlformats.org/officeDocument/2006/relationships/notesSlide" Target="/ppt/notesSlides/notesSlide4.xml" Id="Ra7ae0e399a1845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a8fbd58bf32449b" /><Relationship Type="http://schemas.openxmlformats.org/officeDocument/2006/relationships/notesSlide" Target="/ppt/notesSlides/notesSlide5.xml" Id="Ra04ae83cc17340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d355abd7f9419c" /><Relationship Type="http://schemas.openxmlformats.org/officeDocument/2006/relationships/notesSlide" Target="/ppt/notesSlides/notesSlide6.xml" Id="R4767e71c2e8344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2f65affc5eb4046" /><Relationship Type="http://schemas.openxmlformats.org/officeDocument/2006/relationships/notesSlide" Target="/ppt/notesSlides/notesSlide7.xml" Id="Rd3551d96358b42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198a0427794add" /><Relationship Type="http://schemas.openxmlformats.org/officeDocument/2006/relationships/notesSlide" Target="/ppt/notesSlides/notesSlide8.xml" Id="R51731e48e01345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33f8c671e14204" /><Relationship Type="http://schemas.openxmlformats.org/officeDocument/2006/relationships/chart" Target="/ppt/slides/charts/chart1.xml" Id="R8813e7942f4e439e" /><Relationship Type="http://schemas.openxmlformats.org/officeDocument/2006/relationships/notesSlide" Target="/ppt/notesSlides/notesSlide9.xml" Id="Rd1650fb2a9fa41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ff836cb65c4bfd" /><Relationship Type="http://schemas.openxmlformats.org/officeDocument/2006/relationships/notesSlide" Target="/ppt/notesSlides/notesSlide10.xml" Id="R734340837d2c4f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db6e81270045ae" /><Relationship Type="http://schemas.openxmlformats.org/officeDocument/2006/relationships/notesSlide" Target="/ppt/notesSlides/notesSlide11.xml" Id="Rbdf5bf19e95348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b5d841ac08945e3" /><Relationship Type="http://schemas.openxmlformats.org/officeDocument/2006/relationships/notesSlide" Target="/ppt/notesSlides/notesSlide12.xml" Id="R5bbb566687df4a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9937341651c47f9" /><Relationship Type="http://schemas.openxmlformats.org/officeDocument/2006/relationships/notesSlide" Target="/ppt/notesSlides/notesSlide13.xml" Id="Rfbd242e218334c4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730581c3ddc41e5" /><Relationship Type="http://schemas.openxmlformats.org/officeDocument/2006/relationships/notesSlide" Target="/ppt/notesSlides/notesSlide14.xml" Id="R161d8d634e194a6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3b3459edf1c4f9f" /><Relationship Type="http://schemas.openxmlformats.org/officeDocument/2006/relationships/notesSlide" Target="/ppt/notesSlides/notesSlide15.xml" Id="R380bdb726ead41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5c2c489f18b41e9" /><Relationship Type="http://schemas.openxmlformats.org/officeDocument/2006/relationships/notesSlide" Target="/ppt/notesSlides/notesSlide16.xml" Id="Ra7cefa4b9e994a9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f5a5d8ca798448a" /><Relationship Type="http://schemas.openxmlformats.org/officeDocument/2006/relationships/notesSlide" Target="/ppt/notesSlides/notesSlide17.xml" Id="Rad0283552f6f4c2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aa7b08876734ad2" /><Relationship Type="http://schemas.openxmlformats.org/officeDocument/2006/relationships/notesSlide" Target="/ppt/notesSlides/notesSlide18.xml" Id="R86824cc9435f47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ffd3568632c4893" /><Relationship Type="http://schemas.openxmlformats.org/officeDocument/2006/relationships/notesSlide" Target="/ppt/notesSlides/notesSlide19.xml" Id="R8389002c9bf6425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8371a34ffc94751" /><Relationship Type="http://schemas.openxmlformats.org/officeDocument/2006/relationships/notesSlide" Target="/ppt/notesSlides/notesSlide20.xml" Id="R6c2b1a20fd1a48e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a01748fb87e4097" /><Relationship Type="http://schemas.openxmlformats.org/officeDocument/2006/relationships/notesSlide" Target="/ppt/notesSlides/notesSlide21.xml" Id="Rc3b0a2af527a4b5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43654f842934c09" /><Relationship Type="http://schemas.openxmlformats.org/officeDocument/2006/relationships/notesSlide" Target="/ppt/notesSlides/notesSlide22.xml" Id="Rd9039d4db8b44e0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beb85d8b07a40c5" /><Relationship Type="http://schemas.openxmlformats.org/officeDocument/2006/relationships/notesSlide" Target="/ppt/notesSlides/notesSlide23.xml" Id="R9beb99176144403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1d12c1237404270" /><Relationship Type="http://schemas.openxmlformats.org/officeDocument/2006/relationships/notesSlide" Target="/ppt/notesSlides/notesSlide24.xml" Id="R8bb54095752a4c3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b04583811ce4964" /><Relationship Type="http://schemas.openxmlformats.org/officeDocument/2006/relationships/notesSlide" Target="/ppt/notesSlides/notesSlide25.xml" Id="R929bed926b4245a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0e23d96e7f7410e" /><Relationship Type="http://schemas.openxmlformats.org/officeDocument/2006/relationships/notesSlide" Target="/ppt/notesSlides/notesSlide26.xml" Id="R7b528798de8b41b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7c11d08629b41c1" /><Relationship Type="http://schemas.openxmlformats.org/officeDocument/2006/relationships/notesSlide" Target="/ppt/notesSlides/notesSlide27.xml" Id="R3f3f1ffa19324dc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b697d9af6854024" /><Relationship Type="http://schemas.openxmlformats.org/officeDocument/2006/relationships/notesSlide" Target="/ppt/notesSlides/notesSlide28.xml" Id="Radb6d703dad7429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bf91ac505324475" /><Relationship Type="http://schemas.openxmlformats.org/officeDocument/2006/relationships/notesSlide" Target="/ppt/notesSlides/notesSlide29.xml" Id="Rd60e9b841a6e4b6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97dfef81824469a" /><Relationship Type="http://schemas.openxmlformats.org/officeDocument/2006/relationships/notesSlide" Target="/ppt/notesSlides/notesSlide30.xml" Id="R9aab2452c9c04e0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3b35b6b9a354388" /><Relationship Type="http://schemas.openxmlformats.org/officeDocument/2006/relationships/notesSlide" Target="/ppt/notesSlides/notesSlide31.xml" Id="R519a703b3374407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30159f1bed54883" /><Relationship Type="http://schemas.openxmlformats.org/officeDocument/2006/relationships/notesSlide" Target="/ppt/notesSlides/notesSlide32.xml" Id="R7bb62fc99a70413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02197c0ae64485d" /><Relationship Type="http://schemas.openxmlformats.org/officeDocument/2006/relationships/notesSlide" Target="/ppt/notesSlides/notesSlide33.xml" Id="R80e53ac62f8042a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3d29f7e9b3e48f3" /><Relationship Type="http://schemas.openxmlformats.org/officeDocument/2006/relationships/notesSlide" Target="/ppt/notesSlides/notesSlide34.xml" Id="R6cb22cfb665045e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d3b578e5ff34bc4" /><Relationship Type="http://schemas.openxmlformats.org/officeDocument/2006/relationships/notesSlide" Target="/ppt/notesSlides/notesSlide35.xml" Id="R55e96e59ce19414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0a7cc3c94524467" /><Relationship Type="http://schemas.openxmlformats.org/officeDocument/2006/relationships/notesSlide" Target="/ppt/notesSlides/notesSlide36.xml" Id="Rf5d620b5721b404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04c466ab7e64ee7" /><Relationship Type="http://schemas.openxmlformats.org/officeDocument/2006/relationships/notesSlide" Target="/ppt/notesSlides/notesSlide37.xml" Id="R973e15cb2bef403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85264ae91744d0f" /><Relationship Type="http://schemas.openxmlformats.org/officeDocument/2006/relationships/notesSlide" Target="/ppt/notesSlides/notesSlide38.xml" Id="R0bcd45e06d0f488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a2ad4a36a904d32" /><Relationship Type="http://schemas.openxmlformats.org/officeDocument/2006/relationships/notesSlide" Target="/ppt/notesSlides/notesSlide39.xml" Id="R3aa84ab703d944d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73365cbc7184b07" /><Relationship Type="http://schemas.openxmlformats.org/officeDocument/2006/relationships/notesSlide" Target="/ppt/notesSlides/notesSlide40.xml" Id="R1c68e8b42e194d8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c7036fd6fad43a6" /><Relationship Type="http://schemas.openxmlformats.org/officeDocument/2006/relationships/notesSlide" Target="/ppt/notesSlides/notesSlide41.xml" Id="R56827291bfad400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29ed5acfcaa04c70" /><Relationship Type="http://schemas.openxmlformats.org/officeDocument/2006/relationships/notesSlide" Target="/ppt/notesSlides/notesSlide42.xml" Id="Re527ac514dd1466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d22598fbeef4027" /><Relationship Type="http://schemas.openxmlformats.org/officeDocument/2006/relationships/hyperlink" Target="https://doi.org/10.1371/journal.pbio.2005282" TargetMode="External" Id="R63a149c345d64709" /><Relationship Type="http://schemas.openxmlformats.org/officeDocument/2006/relationships/hyperlink" Target="https://doi.org/10.17226/25303" TargetMode="External" Id="R9980c7f324234ab9" /><Relationship Type="http://schemas.openxmlformats.org/officeDocument/2006/relationships/hyperlink" Target="https://www.bipm.org/en/publications/si-brochure" TargetMode="External" Id="R7ffe4d3f737c4482" /><Relationship Type="http://schemas.openxmlformats.org/officeDocument/2006/relationships/hyperlink" Target="https://www.eurachem.org/index.php/3-publications/guides/144-gdmv2014" TargetMode="External" Id="Rf924903ea29341e6" /><Relationship Type="http://schemas.openxmlformats.org/officeDocument/2006/relationships/hyperlink" Target="https://doi.org/10.18637/jss.v059.i10" TargetMode="External" Id="R1892ee7c4dab4f40" /><Relationship Type="http://schemas.openxmlformats.org/officeDocument/2006/relationships/notesSlide" Target="/ppt/notesSlides/notesSlide43.xml" Id="R7b24f0931ccd461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ff7fbb418884165" /><Relationship Type="http://schemas.openxmlformats.org/officeDocument/2006/relationships/hyperlink" Target="https://doi.org/10.1371/journal.pcbi.1005510" TargetMode="External" Id="R5116a614e7ce48a0" /><Relationship Type="http://schemas.openxmlformats.org/officeDocument/2006/relationships/hyperlink" Target="https://git-scm.com/book/en/v2" TargetMode="External" Id="R4dd9a23bc3744fde" /><Relationship Type="http://schemas.openxmlformats.org/officeDocument/2006/relationships/hyperlink" Target="https://doi.org/10.1038/sdata.2016.18" TargetMode="External" Id="R5f21acb7a1a84de4" /><Relationship Type="http://schemas.openxmlformats.org/officeDocument/2006/relationships/hyperlink" Target="https://www.w3.org/TR/prov-primer/" TargetMode="External" Id="R22c3515c0cdf4f6c" /><Relationship Type="http://schemas.openxmlformats.org/officeDocument/2006/relationships/hyperlink" Target="https://pmc.ncbi.nlm.nih.gov/articles/PMC7054672/" TargetMode="External" Id="R98c1dfadeb9f4182" /><Relationship Type="http://schemas.openxmlformats.org/officeDocument/2006/relationships/notesSlide" Target="/ppt/notesSlides/notesSlide44.xml" Id="Re5fb6747260741e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ser>
          <c:idx val="0"/>
          <c:order val="0"/>
          <c:tx>
            <c:v>600 °C: B001–B003</c:v>
          </c:tx>
          <c:spPr>
            <a:solidFill xmlns:a="http://schemas.openxmlformats.org/drawingml/2006/main">
              <a:srgbClr val="81DFCE"/>
            </a:solidFill>
            <a:ln xmlns:a="http://schemas.openxmlformats.org/drawingml/2006/main" w="0">
              <a:noFill/>
            </a:ln>
          </c:spPr>
          <c:marker>
            <c:symbol val="circle"/>
            <c:size val="9"/>
            <c:spPr>
              <a:noFill xmlns:a="http://schemas.openxmlformats.org/drawingml/2006/main"/>
            </c:spPr>
          </c:marker>
          <c:xVal>
            <c:numRef>
              <c:f>'Chart Data'!$A$2:$A$19</c:f>
              <c:numCache>
                <c:formatCode>General</c:formatCode>
                <c:ptCount val="18"/>
                <c:pt idx="0">
                  <c:v>0.82</c:v>
                </c:pt>
                <c:pt idx="1">
                  <c:v>0.89</c:v>
                </c:pt>
                <c:pt idx="2">
                  <c:v>0.96</c:v>
                </c:pt>
                <c:pt idx="3">
                  <c:v>1.04</c:v>
                </c:pt>
                <c:pt idx="4">
                  <c:v>1.11</c:v>
                </c:pt>
                <c:pt idx="5">
                  <c:v>1.18</c:v>
                </c:pt>
                <c:pt idx="6">
                  <c:v>1.82</c:v>
                </c:pt>
                <c:pt idx="7">
                  <c:v>1.89</c:v>
                </c:pt>
                <c:pt idx="8">
                  <c:v>1.96</c:v>
                </c:pt>
                <c:pt idx="9">
                  <c:v>2.04</c:v>
                </c:pt>
                <c:pt idx="10">
                  <c:v>2.11</c:v>
                </c:pt>
                <c:pt idx="11">
                  <c:v>2.18</c:v>
                </c:pt>
                <c:pt idx="12">
                  <c:v>2.82</c:v>
                </c:pt>
                <c:pt idx="13">
                  <c:v>2.89</c:v>
                </c:pt>
                <c:pt idx="14">
                  <c:v>2.96</c:v>
                </c:pt>
                <c:pt idx="15">
                  <c:v>3.04</c:v>
                </c:pt>
                <c:pt idx="16">
                  <c:v>3.11</c:v>
                </c:pt>
                <c:pt idx="17">
                  <c:v>3.18</c:v>
                </c:pt>
              </c:numCache>
            </c:numRef>
          </c:xVal>
          <c:yVal>
            <c:numRef>
              <c:f>'Chart Data'!$B$2:$B$19</c:f>
              <c:numCache>
                <c:formatCode>0</c:formatCode>
                <c:ptCount val="18"/>
                <c:pt idx="0">
                  <c:v>48</c:v>
                </c:pt>
                <c:pt idx="1">
                  <c:v>48.2</c:v>
                </c:pt>
                <c:pt idx="2">
                  <c:v>47.8</c:v>
                </c:pt>
                <c:pt idx="3">
                  <c:v>48.1</c:v>
                </c:pt>
                <c:pt idx="4">
                  <c:v>48.3</c:v>
                </c:pt>
                <c:pt idx="5">
                  <c:v>47.9</c:v>
                </c:pt>
                <c:pt idx="6">
                  <c:v>52</c:v>
                </c:pt>
                <c:pt idx="7">
                  <c:v>52.2</c:v>
                </c:pt>
                <c:pt idx="8">
                  <c:v>51.8</c:v>
                </c:pt>
                <c:pt idx="9">
                  <c:v>52.1</c:v>
                </c:pt>
                <c:pt idx="10">
                  <c:v>52.3</c:v>
                </c:pt>
                <c:pt idx="11">
                  <c:v>51.9</c:v>
                </c:pt>
                <c:pt idx="12">
                  <c:v>45</c:v>
                </c:pt>
                <c:pt idx="13">
                  <c:v>45.2</c:v>
                </c:pt>
                <c:pt idx="14">
                  <c:v>44.8</c:v>
                </c:pt>
                <c:pt idx="15">
                  <c:v>45.1</c:v>
                </c:pt>
                <c:pt idx="16">
                  <c:v>45.3</c:v>
                </c:pt>
                <c:pt idx="17">
                  <c:v>44.9</c:v>
                </c:pt>
              </c:numCache>
            </c:numRef>
          </c:yVal>
        </c:ser>
        <c:ser>
          <c:idx val="1"/>
          <c:order val="1"/>
          <c:tx>
            <c:v>700 °C: B004–B006</c:v>
          </c:tx>
          <c:spPr>
            <a:solidFill xmlns:a="http://schemas.openxmlformats.org/drawingml/2006/main">
              <a:srgbClr val="F1B766"/>
            </a:solidFill>
            <a:ln xmlns:a="http://schemas.openxmlformats.org/drawingml/2006/main" w="0">
              <a:noFill/>
            </a:ln>
          </c:spPr>
          <c:marker>
            <c:symbol val="circle"/>
            <c:size val="9"/>
            <c:spPr>
              <a:noFill xmlns:a="http://schemas.openxmlformats.org/drawingml/2006/main"/>
            </c:spPr>
          </c:marker>
          <c:xVal>
            <c:numRef>
              <c:f>'Chart Data'!$C$2:$C$19</c:f>
              <c:numCache>
                <c:formatCode>General</c:formatCode>
                <c:ptCount val="18"/>
                <c:pt idx="0">
                  <c:v>3.82</c:v>
                </c:pt>
                <c:pt idx="1">
                  <c:v>3.89</c:v>
                </c:pt>
                <c:pt idx="2">
                  <c:v>3.96</c:v>
                </c:pt>
                <c:pt idx="3">
                  <c:v>4.04</c:v>
                </c:pt>
                <c:pt idx="4">
                  <c:v>4.11</c:v>
                </c:pt>
                <c:pt idx="5">
                  <c:v>4.18</c:v>
                </c:pt>
                <c:pt idx="6">
                  <c:v>4.82</c:v>
                </c:pt>
                <c:pt idx="7">
                  <c:v>4.89</c:v>
                </c:pt>
                <c:pt idx="8">
                  <c:v>4.96</c:v>
                </c:pt>
                <c:pt idx="9">
                  <c:v>5.04</c:v>
                </c:pt>
                <c:pt idx="10">
                  <c:v>5.11</c:v>
                </c:pt>
                <c:pt idx="11">
                  <c:v>5.18</c:v>
                </c:pt>
                <c:pt idx="12">
                  <c:v>5.82</c:v>
                </c:pt>
                <c:pt idx="13">
                  <c:v>5.89</c:v>
                </c:pt>
                <c:pt idx="14">
                  <c:v>5.96</c:v>
                </c:pt>
                <c:pt idx="15">
                  <c:v>6.04</c:v>
                </c:pt>
                <c:pt idx="16">
                  <c:v>6.11</c:v>
                </c:pt>
                <c:pt idx="17">
                  <c:v>6.18</c:v>
                </c:pt>
              </c:numCache>
            </c:numRef>
          </c:xVal>
          <c:yVal>
            <c:numRef>
              <c:f>'Chart Data'!$D$2:$D$19</c:f>
              <c:numCache>
                <c:formatCode>0</c:formatCode>
                <c:ptCount val="18"/>
                <c:pt idx="0">
                  <c:v>54</c:v>
                </c:pt>
                <c:pt idx="1">
                  <c:v>54.2</c:v>
                </c:pt>
                <c:pt idx="2">
                  <c:v>53.8</c:v>
                </c:pt>
                <c:pt idx="3">
                  <c:v>54.1</c:v>
                </c:pt>
                <c:pt idx="4">
                  <c:v>54.3</c:v>
                </c:pt>
                <c:pt idx="5">
                  <c:v>53.9</c:v>
                </c:pt>
                <c:pt idx="6">
                  <c:v>58</c:v>
                </c:pt>
                <c:pt idx="7">
                  <c:v>58.2</c:v>
                </c:pt>
                <c:pt idx="8">
                  <c:v>57.8</c:v>
                </c:pt>
                <c:pt idx="9">
                  <c:v>58.1</c:v>
                </c:pt>
                <c:pt idx="10">
                  <c:v>58.3</c:v>
                </c:pt>
                <c:pt idx="11">
                  <c:v>57.9</c:v>
                </c:pt>
                <c:pt idx="12">
                  <c:v>51</c:v>
                </c:pt>
                <c:pt idx="13">
                  <c:v>51.2</c:v>
                </c:pt>
                <c:pt idx="14">
                  <c:v>50.8</c:v>
                </c:pt>
                <c:pt idx="15">
                  <c:v>51.1</c:v>
                </c:pt>
                <c:pt idx="16">
                  <c:v>51.3</c:v>
                </c:pt>
                <c:pt idx="17">
                  <c:v>50.9</c:v>
                </c:pt>
              </c:numCache>
            </c:numRef>
          </c:y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42"/>
        </c:scaling>
        <c:delete val="0"/>
        <c:axPos val="l"/>
        <c:majorGridlines>
          <c:spPr>
            <a:ln xmlns:a="http://schemas.openxmlformats.org/drawingml/2006/main" w="6668">
              <a:solidFill>
                <a:srgbClr val="3B4A58"/>
              </a:solidFill>
            </a:ln>
          </c:spPr>
        </c:majorGridlines>
        <c:title>
          <c:tx>
            <c:rich>
              <a:bodyPr xmlns:a="http://schemas.openxmlformats.org/drawingml/2006/main"/>
              <a:lstStyle xmlns:a="http://schemas.openxmlformats.org/drawingml/2006/main"/>
              <a:p xmlns:a="http://schemas.openxmlformats.org/drawingml/2006/main">
                <a:r>
                  <a:rPr sz="1575">
                    <a:solidFill>
                      <a:srgbClr val="F2F1E9"/>
                    </a:solidFill>
                    <a:latin typeface="DejaVu Sans"/>
                    <a:ea typeface="DejaVu Sans"/>
                    <a:cs typeface="DejaVu Sans"/>
                  </a:rPr>
                  <a:t>σs, А·м²/кг</a:t>
                </a:r>
              </a:p>
            </c:rich>
          </c:tx>
          <c:overlay val="0"/>
          <c:txPr>
            <a:bodyPr xmlns:a="http://schemas.openxmlformats.org/drawingml/2006/main" anchorCtr="1"/>
            <a:lstStyle xmlns:a="http://schemas.openxmlformats.org/drawingml/2006/main"/>
            <a:p xmlns:a="http://schemas.openxmlformats.org/drawingml/2006/main">
              <a:pPr>
                <a:defRPr sz="1575">
                  <a:solidFill>
                    <a:srgbClr val="F2F1E9"/>
                  </a:solidFill>
                  <a:latin typeface="DejaVu Sans"/>
                  <a:ea typeface="DejaVu Sans"/>
                  <a:cs typeface="DejaVu Sans"/>
                </a:defRPr>
              </a:pPr>
            </a:p>
          </c:txPr>
        </c:title>
        <c:numFmt formatCode="0"/>
        <c:majorTickMark val="none"/>
        <c:minorTickMark val="none"/>
        <c:spPr>
          <a:ln xmlns:a="http://schemas.openxmlformats.org/drawingml/2006/main" w="9525">
            <a:solidFill>
              <a:srgbClr val="B6C3D0"/>
            </a:solidFill>
          </a:ln>
        </c:spPr>
        <c:txPr>
          <a:bodyPr xmlns:a="http://schemas.openxmlformats.org/drawingml/2006/main" anchorCtr="1"/>
          <a:lstStyle xmlns:a="http://schemas.openxmlformats.org/drawingml/2006/main"/>
          <a:p xmlns:a="http://schemas.openxmlformats.org/drawingml/2006/main">
            <a:pPr>
              <a:defRPr sz="1500">
                <a:solidFill>
                  <a:srgbClr val="F2F1E9"/>
                </a:solidFill>
                <a:latin typeface="DejaVu Sans"/>
                <a:ea typeface="DejaVu Sans"/>
                <a:cs typeface="DejaVu Sans"/>
              </a:defRPr>
            </a:pPr>
          </a:p>
        </c:txPr>
        <c:crossAx val="48650112"/>
        <c:majorUnit val="6"/>
      </c:valAx>
      <c:valAx>
        <c:axId val="48650112"/>
        <c:scaling>
          <c:orientation val="minMax"/>
          <c:max val="7"/>
          <c:min val="0"/>
        </c:scaling>
        <c:delete val="0"/>
        <c:axPos val="b"/>
        <c:title>
          <c:tx>
            <c:rich>
              <a:bodyPr xmlns:a="http://schemas.openxmlformats.org/drawingml/2006/main"/>
              <a:lstStyle xmlns:a="http://schemas.openxmlformats.org/drawingml/2006/main"/>
              <a:p xmlns:a="http://schemas.openxmlformats.org/drawingml/2006/main">
                <a:r>
                  <a:rPr sz="1575">
                    <a:solidFill>
                      <a:srgbClr val="F2F1E9"/>
                    </a:solidFill>
                    <a:latin typeface="DejaVu Sans"/>
                    <a:ea typeface="DejaVu Sans"/>
                    <a:cs typeface="DejaVu Sans"/>
                  </a:rPr>
                  <a:t>Номер партии B001–B006</a:t>
                </a:r>
              </a:p>
            </c:rich>
          </c:tx>
          <c:overlay val="0"/>
          <c:txPr>
            <a:bodyPr xmlns:a="http://schemas.openxmlformats.org/drawingml/2006/main" anchorCtr="1"/>
            <a:lstStyle xmlns:a="http://schemas.openxmlformats.org/drawingml/2006/main"/>
            <a:p xmlns:a="http://schemas.openxmlformats.org/drawingml/2006/main">
              <a:pPr>
                <a:defRPr sz="1575">
                  <a:solidFill>
                    <a:srgbClr val="F2F1E9"/>
                  </a:solidFill>
                  <a:latin typeface="DejaVu Sans"/>
                  <a:ea typeface="DejaVu Sans"/>
                  <a:cs typeface="DejaVu Sans"/>
                </a:defRPr>
              </a:pPr>
            </a:p>
          </c:txPr>
        </c:title>
        <c:numFmt formatCode="0"/>
        <c:majorTickMark val="none"/>
        <c:minorTickMark val="none"/>
        <c:spPr>
          <a:ln xmlns:a="http://schemas.openxmlformats.org/drawingml/2006/main" w="9525">
            <a:solidFill>
              <a:srgbClr val="B6C3D0"/>
            </a:solidFill>
          </a:ln>
        </c:spPr>
        <c:txPr>
          <a:bodyPr xmlns:a="http://schemas.openxmlformats.org/drawingml/2006/main" anchorCtr="1"/>
          <a:lstStyle xmlns:a="http://schemas.openxmlformats.org/drawingml/2006/main"/>
          <a:p xmlns:a="http://schemas.openxmlformats.org/drawingml/2006/main">
            <a:pPr>
              <a:defRPr sz="1500">
                <a:solidFill>
                  <a:srgbClr val="F2F1E9"/>
                </a:solidFill>
                <a:latin typeface="DejaVu Sans"/>
                <a:ea typeface="DejaVu Sans"/>
                <a:cs typeface="DejaVu Sans"/>
              </a:defRPr>
            </a:pPr>
          </a:p>
        </c:txPr>
        <c:crossAx val="48672768"/>
        <c:majorUnit val="1"/>
      </c:valAx>
      <c:spPr>
        <a:solidFill xmlns:a="http://schemas.openxmlformats.org/drawingml/2006/main">
          <a:srgbClr val="101923"/>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575">
              <a:solidFill>
                <a:srgbClr val="F2F1E9"/>
              </a:solidFill>
              <a:latin typeface="DejaVu Sans"/>
              <a:ea typeface="DejaVu Sans"/>
              <a:cs typeface="DejaVu Sans"/>
            </a:defRPr>
          </a:pPr>
        </a:p>
      </c:txPr>
    </c:legend>
    <c:plotVisOnly val="1"/>
  </c:chart>
  <c:spPr>
    <a:solidFill xmlns:a="http://schemas.openxmlformats.org/drawingml/2006/main">
      <a:srgbClr val="101923"/>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2901afb778949a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0AF2B9-509F-4C34-854E-2A5B539D55B6}"/>
              </a:ext>
            </a:extLst>
          </p:cNvPr>
          <p:cNvSpPr>
            <a:spLocks xmlns:a="http://schemas.openxmlformats.org/drawingml/2006/main" noGrp="1"/>
          </p:cNvSpPr>
          <p:nvPr/>
        </p:nvSpPr>
        <p:spPr>
          <a:xfrm xmlns:a="http://schemas.openxmlformats.org/drawingml/2006/main">
            <a:off x="609600" y="1657350"/>
            <a:ext cx="8001000"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4200" b="1">
                <a:solidFill>
                  <a:srgbClr val="F2F1E9"/>
                </a:solidFill>
                <a:latin typeface="DejaVu Sans"/>
                <a:ea typeface="DejaVu Sans"/>
                <a:cs typeface="DejaVu Sans"/>
              </a:defRPr>
            </a:pPr>
            <a:r>
              <a:rPr sz="4200" b="1">
                <a:solidFill>
                  <a:srgbClr val="F2F1E9"/>
                </a:solidFill>
                <a:latin typeface="DejaVu Sans"/>
                <a:ea typeface="DejaVu Sans"/>
                <a:cs typeface="DejaVu Sans"/>
              </a:rPr>
              <a:t>Экспериментальные</a:t>
            </a:r>
          </a:p>
          <a:p xmlns:a="http://schemas.openxmlformats.org/drawingml/2006/main">
            <a:pPr>
              <a:lnSpc>
                <a:spcPct val="112000"/>
              </a:lnSpc>
              <a:buNone/>
              <a:defRPr sz="4200" b="1">
                <a:solidFill>
                  <a:srgbClr val="F2F1E9"/>
                </a:solidFill>
                <a:latin typeface="DejaVu Sans"/>
                <a:ea typeface="DejaVu Sans"/>
                <a:cs typeface="DejaVu Sans"/>
              </a:defRPr>
            </a:pPr>
            <a:r>
              <a:rPr sz="4200" b="1">
                <a:solidFill>
                  <a:srgbClr val="F2F1E9"/>
                </a:solidFill>
                <a:latin typeface="DejaVu Sans"/>
                <a:ea typeface="DejaVu Sans"/>
                <a:cs typeface="DejaVu Sans"/>
              </a:rPr>
              <a:t>данные и</a:t>
            </a:r>
          </a:p>
          <a:p xmlns:a="http://schemas.openxmlformats.org/drawingml/2006/main">
            <a:pPr>
              <a:lnSpc>
                <a:spcPct val="112000"/>
              </a:lnSpc>
              <a:buNone/>
              <a:defRPr sz="4200" b="1">
                <a:solidFill>
                  <a:srgbClr val="F2F1E9"/>
                </a:solidFill>
                <a:latin typeface="DejaVu Sans"/>
                <a:ea typeface="DejaVu Sans"/>
                <a:cs typeface="DejaVu Sans"/>
              </a:defRPr>
            </a:pPr>
            <a:r>
              <a:rPr sz="4200" b="1">
                <a:solidFill>
                  <a:srgbClr val="F2F1E9"/>
                </a:solidFill>
                <a:latin typeface="DejaVu Sans"/>
                <a:ea typeface="DejaVu Sans"/>
                <a:cs typeface="DejaVu Sans"/>
              </a:rPr>
              <a:t>воспроизводимость</a:t>
            </a:r>
          </a:p>
        </p:txBody>
      </p:sp>
      <p:sp>
        <p:nvSpPr>
          <p:cNvPr id="3" name="">
            <a:extLst xmlns:a="http://schemas.openxmlformats.org/drawingml/2006/main">
              <a:ext uri="{FF2B5EF4-FFF2-40B4-BE49-F238E27FC236}">
                <a16:creationId xmlns:a16="http://schemas.microsoft.com/office/drawing/2014/main" id="{32CEDFCB-43BD-4F59-A1DB-3B725182A9D0}"/>
              </a:ext>
            </a:extLst>
          </p:cNvPr>
          <p:cNvSpPr>
            <a:spLocks xmlns:a="http://schemas.openxmlformats.org/drawingml/2006/main" noGrp="1"/>
          </p:cNvSpPr>
          <p:nvPr/>
        </p:nvSpPr>
        <p:spPr>
          <a:xfrm xmlns:a="http://schemas.openxmlformats.org/drawingml/2006/main">
            <a:off x="647700" y="4857750"/>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B6C3D0"/>
                </a:solidFill>
                <a:latin typeface="DejaVu Sans"/>
                <a:ea typeface="DejaVu Sans"/>
                <a:cs typeface="DejaVu Sans"/>
              </a:defRPr>
            </a:pPr>
            <a:r>
              <a:rPr sz="2100" b="0">
                <a:solidFill>
                  <a:srgbClr val="B6C3D0"/>
                </a:solidFill>
                <a:latin typeface="DejaVu Sans"/>
                <a:ea typeface="DejaVu Sans"/>
                <a:cs typeface="DejaVu Sans"/>
              </a:rPr>
              <a:t>Организация научного проекта</a:t>
            </a:r>
          </a:p>
          <a:p xmlns:a="http://schemas.openxmlformats.org/drawingml/2006/main">
            <a:pPr>
              <a:lnSpc>
                <a:spcPct val="112000"/>
              </a:lnSpc>
              <a:buNone/>
              <a:defRPr sz="2100" b="0">
                <a:solidFill>
                  <a:srgbClr val="B6C3D0"/>
                </a:solidFill>
                <a:latin typeface="DejaVu Sans"/>
                <a:ea typeface="DejaVu Sans"/>
                <a:cs typeface="DejaVu Sans"/>
              </a:defRPr>
            </a:pPr>
            <a:r>
              <a:rPr sz="2100" b="0">
                <a:solidFill>
                  <a:srgbClr val="B6C3D0"/>
                </a:solidFill>
                <a:latin typeface="DejaVu Sans"/>
                <a:ea typeface="DejaVu Sans"/>
                <a:cs typeface="DejaVu Sans"/>
              </a:rPr>
              <a:t>Python, notebook и основы Git</a:t>
            </a:r>
          </a:p>
        </p:txBody>
      </p:sp>
      <p:sp>
        <p:nvSpPr>
          <p:cNvPr id="4" name="">
            <a:extLst xmlns:a="http://schemas.openxmlformats.org/drawingml/2006/main">
              <a:ext uri="{FF2B5EF4-FFF2-40B4-BE49-F238E27FC236}">
                <a16:creationId xmlns:a16="http://schemas.microsoft.com/office/drawing/2014/main" id="{A4747E2A-E14A-46F8-A031-AC71876B31D5}"/>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01 / 44</a:t>
            </a:r>
          </a:p>
        </p:txBody>
      </p:sp>
    </p:spTree>
    <p:extLst>
      <p:ext uri="{BB962C8B-B14F-4D97-AF65-F5344CB8AC3E}">
        <p14:creationId xmlns:p14="http://schemas.microsoft.com/office/powerpoint/2010/main" val="1678041389"/>
      </p:ext>
    </p:extLst>
  </p:cSld>
</p:sld>
</file>

<file path=ppt/slides/slide2.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6031BFE-8B41-4AD9-A672-DEE01E8C2A78}"/>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Результат занятия</a:t>
            </a:r>
          </a:p>
        </p:txBody>
      </p:sp>
      <p:sp>
        <p:nvSpPr>
          <p:cNvPr id="2" name="">
            <a:extLst xmlns:a="http://schemas.openxmlformats.org/drawingml/2006/main">
              <a:ext uri="{FF2B5EF4-FFF2-40B4-BE49-F238E27FC236}">
                <a16:creationId xmlns:a16="http://schemas.microsoft.com/office/drawing/2014/main" id="{99B1BEAA-B921-4A3A-982A-A4EDA18083B8}"/>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02 / 44</a:t>
            </a:r>
          </a:p>
        </p:txBody>
      </p:sp>
      <p:sp>
        <p:nvSpPr>
          <p:cNvPr id="3" name="">
            <a:extLst xmlns:a="http://schemas.openxmlformats.org/drawingml/2006/main">
              <a:ext uri="{FF2B5EF4-FFF2-40B4-BE49-F238E27FC236}">
                <a16:creationId xmlns:a16="http://schemas.microsoft.com/office/drawing/2014/main" id="{16810E57-49A0-4197-80AD-78BF0A3D5204}"/>
              </a:ext>
            </a:extLst>
          </p:cNvPr>
          <p:cNvSpPr>
            <a:spLocks xmlns:a="http://schemas.openxmlformats.org/drawingml/2006/main" noGrp="1"/>
          </p:cNvSpPr>
          <p:nvPr/>
        </p:nvSpPr>
        <p:spPr>
          <a:xfrm xmlns:a="http://schemas.openxmlformats.org/drawingml/2006/main">
            <a:off x="609600" y="1676400"/>
            <a:ext cx="2333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1DFCE"/>
                </a:solidFill>
                <a:latin typeface="DejaVu Sans"/>
                <a:ea typeface="DejaVu Sans"/>
                <a:cs typeface="DejaVu Sans"/>
              </a:defRPr>
            </a:pPr>
            <a:r>
              <a:rPr sz="2100" b="1">
                <a:solidFill>
                  <a:srgbClr val="81DFCE"/>
                </a:solidFill>
                <a:latin typeface="DejaVu Sans"/>
                <a:ea typeface="DejaVu Sans"/>
                <a:cs typeface="DejaVu Sans"/>
              </a:rPr>
              <a:t>Дизайн</a:t>
            </a:r>
          </a:p>
        </p:txBody>
      </p:sp>
      <p:sp>
        <p:nvSpPr>
          <p:cNvPr id="4" name="">
            <a:extLst xmlns:a="http://schemas.openxmlformats.org/drawingml/2006/main">
              <a:ext uri="{FF2B5EF4-FFF2-40B4-BE49-F238E27FC236}">
                <a16:creationId xmlns:a16="http://schemas.microsoft.com/office/drawing/2014/main" id="{C6B872B1-67C1-4B55-9A1A-23E64A90FFC7}"/>
              </a:ext>
            </a:extLst>
          </p:cNvPr>
          <p:cNvSpPr>
            <a:spLocks xmlns:a="http://schemas.openxmlformats.org/drawingml/2006/main" noGrp="1"/>
          </p:cNvSpPr>
          <p:nvPr/>
        </p:nvSpPr>
        <p:spPr>
          <a:xfrm xmlns:a="http://schemas.openxmlformats.org/drawingml/2006/main">
            <a:off x="3171825" y="1676400"/>
            <a:ext cx="82010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F2F1E9"/>
                </a:solidFill>
                <a:latin typeface="DejaVu Sans"/>
                <a:ea typeface="DejaVu Sans"/>
                <a:cs typeface="DejaVu Sans"/>
              </a:defRPr>
            </a:pPr>
            <a:r>
              <a:rPr sz="2100" b="0">
                <a:solidFill>
                  <a:srgbClr val="F2F1E9"/>
                </a:solidFill>
                <a:latin typeface="DejaVu Sans"/>
                <a:ea typeface="DejaVu Sans"/>
                <a:cs typeface="DejaVu Sans"/>
              </a:rPr>
              <a:t>Определить независимую единицу и типы повторов.</a:t>
            </a:r>
          </a:p>
        </p:txBody>
      </p:sp>
      <p:sp>
        <p:nvSpPr>
          <p:cNvPr id="5" name="">
            <a:extLst xmlns:a="http://schemas.openxmlformats.org/drawingml/2006/main">
              <a:ext uri="{FF2B5EF4-FFF2-40B4-BE49-F238E27FC236}">
                <a16:creationId xmlns:a16="http://schemas.microsoft.com/office/drawing/2014/main" id="{2BD6D00A-7923-40A5-859D-03E31C38B772}"/>
              </a:ext>
            </a:extLst>
          </p:cNvPr>
          <p:cNvSpPr>
            <a:spLocks xmlns:a="http://schemas.openxmlformats.org/drawingml/2006/main" noGrp="1"/>
          </p:cNvSpPr>
          <p:nvPr/>
        </p:nvSpPr>
        <p:spPr>
          <a:xfrm xmlns:a="http://schemas.openxmlformats.org/drawingml/2006/main">
            <a:off x="609600" y="2667000"/>
            <a:ext cx="2333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1DFCE"/>
                </a:solidFill>
                <a:latin typeface="DejaVu Sans"/>
                <a:ea typeface="DejaVu Sans"/>
                <a:cs typeface="DejaVu Sans"/>
              </a:defRPr>
            </a:pPr>
            <a:r>
              <a:rPr sz="2100" b="1">
                <a:solidFill>
                  <a:srgbClr val="81DFCE"/>
                </a:solidFill>
                <a:latin typeface="DejaVu Sans"/>
                <a:ea typeface="DejaVu Sans"/>
                <a:cs typeface="DejaVu Sans"/>
              </a:rPr>
              <a:t>Данные</a:t>
            </a:r>
          </a:p>
        </p:txBody>
      </p:sp>
      <p:sp>
        <p:nvSpPr>
          <p:cNvPr id="6" name="">
            <a:extLst xmlns:a="http://schemas.openxmlformats.org/drawingml/2006/main">
              <a:ext uri="{FF2B5EF4-FFF2-40B4-BE49-F238E27FC236}">
                <a16:creationId xmlns:a16="http://schemas.microsoft.com/office/drawing/2014/main" id="{8A6501C5-9106-4715-A5DA-0F0A96AFD959}"/>
              </a:ext>
            </a:extLst>
          </p:cNvPr>
          <p:cNvSpPr>
            <a:spLocks xmlns:a="http://schemas.openxmlformats.org/drawingml/2006/main" noGrp="1"/>
          </p:cNvSpPr>
          <p:nvPr/>
        </p:nvSpPr>
        <p:spPr>
          <a:xfrm xmlns:a="http://schemas.openxmlformats.org/drawingml/2006/main">
            <a:off x="3171825" y="2667000"/>
            <a:ext cx="82010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F2F1E9"/>
                </a:solidFill>
                <a:latin typeface="DejaVu Sans"/>
                <a:ea typeface="DejaVu Sans"/>
                <a:cs typeface="DejaVu Sans"/>
              </a:defRPr>
            </a:pPr>
            <a:r>
              <a:rPr sz="2100" b="0">
                <a:solidFill>
                  <a:srgbClr val="F2F1E9"/>
                </a:solidFill>
                <a:latin typeface="DejaVu Sans"/>
                <a:ea typeface="DejaVu Sans"/>
                <a:cs typeface="DejaVu Sans"/>
              </a:rPr>
              <a:t>Собрать таблицу с идентификаторами, единицами и статусами.</a:t>
            </a:r>
          </a:p>
        </p:txBody>
      </p:sp>
      <p:sp>
        <p:nvSpPr>
          <p:cNvPr id="7" name="">
            <a:extLst xmlns:a="http://schemas.openxmlformats.org/drawingml/2006/main">
              <a:ext uri="{FF2B5EF4-FFF2-40B4-BE49-F238E27FC236}">
                <a16:creationId xmlns:a16="http://schemas.microsoft.com/office/drawing/2014/main" id="{85FD47B1-90D8-4E4A-8D5D-6D4D0D3218FB}"/>
              </a:ext>
            </a:extLst>
          </p:cNvPr>
          <p:cNvSpPr>
            <a:spLocks xmlns:a="http://schemas.openxmlformats.org/drawingml/2006/main" noGrp="1"/>
          </p:cNvSpPr>
          <p:nvPr/>
        </p:nvSpPr>
        <p:spPr>
          <a:xfrm xmlns:a="http://schemas.openxmlformats.org/drawingml/2006/main">
            <a:off x="609600" y="3657600"/>
            <a:ext cx="2333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1DFCE"/>
                </a:solidFill>
                <a:latin typeface="DejaVu Sans"/>
                <a:ea typeface="DejaVu Sans"/>
                <a:cs typeface="DejaVu Sans"/>
              </a:defRPr>
            </a:pPr>
            <a:r>
              <a:rPr sz="2100" b="1">
                <a:solidFill>
                  <a:srgbClr val="81DFCE"/>
                </a:solidFill>
                <a:latin typeface="DejaVu Sans"/>
                <a:ea typeface="DejaVu Sans"/>
                <a:cs typeface="DejaVu Sans"/>
              </a:rPr>
              <a:t>Анализ</a:t>
            </a:r>
          </a:p>
        </p:txBody>
      </p:sp>
      <p:sp>
        <p:nvSpPr>
          <p:cNvPr id="8" name="">
            <a:extLst xmlns:a="http://schemas.openxmlformats.org/drawingml/2006/main">
              <a:ext uri="{FF2B5EF4-FFF2-40B4-BE49-F238E27FC236}">
                <a16:creationId xmlns:a16="http://schemas.microsoft.com/office/drawing/2014/main" id="{EDF5E1CB-B2F2-4F6E-98AE-C160FD868715}"/>
              </a:ext>
            </a:extLst>
          </p:cNvPr>
          <p:cNvSpPr>
            <a:spLocks xmlns:a="http://schemas.openxmlformats.org/drawingml/2006/main" noGrp="1"/>
          </p:cNvSpPr>
          <p:nvPr/>
        </p:nvSpPr>
        <p:spPr>
          <a:xfrm xmlns:a="http://schemas.openxmlformats.org/drawingml/2006/main">
            <a:off x="3171825" y="3657600"/>
            <a:ext cx="82010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F2F1E9"/>
                </a:solidFill>
                <a:latin typeface="DejaVu Sans"/>
                <a:ea typeface="DejaVu Sans"/>
                <a:cs typeface="DejaVu Sans"/>
              </a:defRPr>
            </a:pPr>
            <a:r>
              <a:rPr sz="2100" b="0">
                <a:solidFill>
                  <a:srgbClr val="F2F1E9"/>
                </a:solidFill>
                <a:latin typeface="DejaVu Sans"/>
                <a:ea typeface="DejaVu Sans"/>
                <a:cs typeface="DejaVu Sans"/>
              </a:rPr>
              <a:t>Запустить notebook с начала и восстановить результат.</a:t>
            </a:r>
          </a:p>
        </p:txBody>
      </p:sp>
      <p:sp>
        <p:nvSpPr>
          <p:cNvPr id="9" name="">
            <a:extLst xmlns:a="http://schemas.openxmlformats.org/drawingml/2006/main">
              <a:ext uri="{FF2B5EF4-FFF2-40B4-BE49-F238E27FC236}">
                <a16:creationId xmlns:a16="http://schemas.microsoft.com/office/drawing/2014/main" id="{1D41955B-F373-4F66-8F0B-2AE4B8DCBFF7}"/>
              </a:ext>
            </a:extLst>
          </p:cNvPr>
          <p:cNvSpPr>
            <a:spLocks xmlns:a="http://schemas.openxmlformats.org/drawingml/2006/main" noGrp="1"/>
          </p:cNvSpPr>
          <p:nvPr/>
        </p:nvSpPr>
        <p:spPr>
          <a:xfrm xmlns:a="http://schemas.openxmlformats.org/drawingml/2006/main">
            <a:off x="609600" y="4648200"/>
            <a:ext cx="2333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1DFCE"/>
                </a:solidFill>
                <a:latin typeface="DejaVu Sans"/>
                <a:ea typeface="DejaVu Sans"/>
                <a:cs typeface="DejaVu Sans"/>
              </a:defRPr>
            </a:pPr>
            <a:r>
              <a:rPr sz="2100" b="1">
                <a:solidFill>
                  <a:srgbClr val="81DFCE"/>
                </a:solidFill>
                <a:latin typeface="DejaVu Sans"/>
                <a:ea typeface="DejaVu Sans"/>
                <a:cs typeface="DejaVu Sans"/>
              </a:rPr>
              <a:t>Передача</a:t>
            </a:r>
          </a:p>
        </p:txBody>
      </p:sp>
      <p:sp>
        <p:nvSpPr>
          <p:cNvPr id="10" name="">
            <a:extLst xmlns:a="http://schemas.openxmlformats.org/drawingml/2006/main">
              <a:ext uri="{FF2B5EF4-FFF2-40B4-BE49-F238E27FC236}">
                <a16:creationId xmlns:a16="http://schemas.microsoft.com/office/drawing/2014/main" id="{DB70EA87-4DFC-477B-9CE1-01FA7A325701}"/>
              </a:ext>
            </a:extLst>
          </p:cNvPr>
          <p:cNvSpPr>
            <a:spLocks xmlns:a="http://schemas.openxmlformats.org/drawingml/2006/main" noGrp="1"/>
          </p:cNvSpPr>
          <p:nvPr/>
        </p:nvSpPr>
        <p:spPr>
          <a:xfrm xmlns:a="http://schemas.openxmlformats.org/drawingml/2006/main">
            <a:off x="3171825" y="4648200"/>
            <a:ext cx="82010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F2F1E9"/>
                </a:solidFill>
                <a:latin typeface="DejaVu Sans"/>
                <a:ea typeface="DejaVu Sans"/>
                <a:cs typeface="DejaVu Sans"/>
              </a:defRPr>
            </a:pPr>
            <a:r>
              <a:rPr sz="2100" b="0">
                <a:solidFill>
                  <a:srgbClr val="F2F1E9"/>
                </a:solidFill>
                <a:latin typeface="DejaVu Sans"/>
                <a:ea typeface="DejaVu Sans"/>
                <a:cs typeface="DejaVu Sans"/>
              </a:rPr>
              <a:t>Связать версию данных и кода с рисунком или отчётом.</a:t>
            </a:r>
          </a:p>
        </p:txBody>
      </p:sp>
    </p:spTree>
    <p:extLst>
      <p:ext uri="{BB962C8B-B14F-4D97-AF65-F5344CB8AC3E}">
        <p14:creationId xmlns:p14="http://schemas.microsoft.com/office/powerpoint/2010/main" val="454356870"/>
      </p:ext>
    </p:extLst>
  </p:cSld>
</p:sld>
</file>

<file path=ppt/slides/slide3.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4D5CC18-458A-4EA6-BDDB-BCF3AA08F384}"/>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Воспроизводимость: что проверяем</a:t>
            </a:r>
          </a:p>
        </p:txBody>
      </p:sp>
      <p:sp>
        <p:nvSpPr>
          <p:cNvPr id="2" name="">
            <a:extLst xmlns:a="http://schemas.openxmlformats.org/drawingml/2006/main">
              <a:ext uri="{FF2B5EF4-FFF2-40B4-BE49-F238E27FC236}">
                <a16:creationId xmlns:a16="http://schemas.microsoft.com/office/drawing/2014/main" id="{A0E76026-A6C7-44C9-AB5E-811415A73B7E}"/>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03 / 44</a:t>
            </a:r>
          </a:p>
        </p:txBody>
      </p:sp>
      <p:graphicFrame>
        <p:nvGraphicFramePr>
          <p:cNvPr id="7" name=""/>
          <p:cNvGraphicFramePr/>
          <p:nvPr/>
        </p:nvGraphicFramePr>
        <p:xfrm>
          <a:off xmlns:a="http://schemas.openxmlformats.org/drawingml/2006/main" x="609600" y="1619250"/>
          <a:ext xmlns:a="http://schemas.openxmlformats.org/drawingml/2006/main" cx="10972800" cy="2762250"/>
        </p:xfrm>
        <a:graphic xmlns:a="http://schemas.openxmlformats.org/drawingml/2006/main">
          <a:graphicData uri="http://schemas.openxmlformats.org/drawingml/2006/table">
            <a:tbl>
              <a:tblPr firstRow="0" bandRow="0"/>
              <a:tblGrid>
                <a:gridCol w="3176337"/>
                <a:gridCol w="3753853"/>
                <a:gridCol w="4042611"/>
              </a:tblGrid>
              <a:tr h="920750">
                <a:tc>
                  <a:txBody>
                    <a:bodyPr anchor="ctr">
                      <a:noAutofit/>
                    </a:bodyPr>
                    <a:lstStyle/>
                    <a:p>
                      <a:r>
                        <a:rPr sz="1875" b="1">
                          <a:solidFill>
                            <a:srgbClr val="81DFCE"/>
                          </a:solidFill>
                          <a:latin typeface="DejaVu Sans"/>
                          <a:ea typeface="DejaVu Sans"/>
                          <a:cs typeface="DejaVu Sans"/>
                        </a:rPr>
                        <a:t>Проверка</a:t>
                      </a:r>
                    </a:p>
                  </a:txBody>
                  <a:tcPr marL="142875" marR="114300" marT="95250" marB="95250" anchor="ctr">
                    <a:solidFill>
                      <a:srgbClr val="21343F"/>
                    </a:solidFill>
                  </a:tcPr>
                </a:tc>
                <a:tc>
                  <a:txBody>
                    <a:bodyPr anchor="ctr">
                      <a:noAutofit/>
                    </a:bodyPr>
                    <a:lstStyle/>
                    <a:p>
                      <a:r>
                        <a:rPr sz="1875" b="1">
                          <a:solidFill>
                            <a:srgbClr val="81DFCE"/>
                          </a:solidFill>
                          <a:latin typeface="DejaVu Sans"/>
                          <a:ea typeface="DejaVu Sans"/>
                          <a:cs typeface="DejaVu Sans"/>
                        </a:rPr>
                        <a:t>Что повторяем</a:t>
                      </a:r>
                    </a:p>
                  </a:txBody>
                  <a:tcPr marL="142875" marR="114300" marT="95250" marB="95250" anchor="ctr">
                    <a:solidFill>
                      <a:srgbClr val="21343F"/>
                    </a:solidFill>
                  </a:tcPr>
                </a:tc>
                <a:tc>
                  <a:txBody>
                    <a:bodyPr anchor="ctr">
                      <a:noAutofit/>
                    </a:bodyPr>
                    <a:lstStyle/>
                    <a:p>
                      <a:r>
                        <a:rPr sz="1875" b="1">
                          <a:solidFill>
                            <a:srgbClr val="81DFCE"/>
                          </a:solidFill>
                          <a:latin typeface="DejaVu Sans"/>
                          <a:ea typeface="DejaVu Sans"/>
                          <a:cs typeface="DejaVu Sans"/>
                        </a:rPr>
                        <a:t>Что сохраняем</a:t>
                      </a:r>
                    </a:p>
                  </a:txBody>
                  <a:tcPr marL="142875" marR="114300" marT="95250" marB="95250" anchor="ctr">
                    <a:solidFill>
                      <a:srgbClr val="21343F"/>
                    </a:solidFill>
                  </a:tcPr>
                </a:tc>
              </a:tr>
              <a:tr h="920750">
                <a:tc>
                  <a:txBody>
                    <a:bodyPr anchor="ctr">
                      <a:noAutofit/>
                    </a:bodyPr>
                    <a:lstStyle/>
                    <a:p>
                      <a:r>
                        <a:rPr sz="1875" b="0">
                          <a:solidFill>
                            <a:srgbClr val="F2F1E9"/>
                          </a:solidFill>
                          <a:latin typeface="DejaVu Sans"/>
                          <a:ea typeface="DejaVu Sans"/>
                          <a:cs typeface="DejaVu Sans"/>
                        </a:rPr>
                        <a:t>Вычислительная</a:t>
                      </a:r>
                    </a:p>
                    <a:p>
                      <a:r>
                        <a:rPr sz="1875" b="0">
                          <a:solidFill>
                            <a:srgbClr val="F2F1E9"/>
                          </a:solidFill>
                          <a:latin typeface="DejaVu Sans"/>
                          <a:ea typeface="DejaVu Sans"/>
                          <a:cs typeface="DejaVu Sans"/>
                        </a:rPr>
                        <a:t>воспроизводимость</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Расчёт на тех же данных</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Файлы, код, параметры,</a:t>
                      </a:r>
                    </a:p>
                    <a:p>
                      <a:r>
                        <a:rPr sz="1875" b="0">
                          <a:solidFill>
                            <a:srgbClr val="F2F1E9"/>
                          </a:solidFill>
                          <a:latin typeface="DejaVu Sans"/>
                          <a:ea typeface="DejaVu Sans"/>
                          <a:cs typeface="DejaVu Sans"/>
                        </a:rPr>
                        <a:t>среду выполнения</a:t>
                      </a:r>
                    </a:p>
                  </a:txBody>
                  <a:tcPr marL="142875" marR="114300" marT="95250" marB="95250" anchor="ctr">
                    <a:solidFill>
                      <a:srgbClr val="101923"/>
                    </a:solidFill>
                  </a:tcPr>
                </a:tc>
              </a:tr>
              <a:tr h="920750">
                <a:tc>
                  <a:txBody>
                    <a:bodyPr anchor="ctr">
                      <a:noAutofit/>
                    </a:bodyPr>
                    <a:lstStyle/>
                    <a:p>
                      <a:r>
                        <a:rPr sz="1875" b="0">
                          <a:solidFill>
                            <a:srgbClr val="F2F1E9"/>
                          </a:solidFill>
                          <a:latin typeface="DejaVu Sans"/>
                          <a:ea typeface="DejaVu Sans"/>
                          <a:cs typeface="DejaVu Sans"/>
                        </a:rPr>
                        <a:t>Повторное</a:t>
                      </a:r>
                    </a:p>
                    <a:p>
                      <a:r>
                        <a:rPr sz="1875" b="0">
                          <a:solidFill>
                            <a:srgbClr val="F2F1E9"/>
                          </a:solidFill>
                          <a:latin typeface="DejaVu Sans"/>
                          <a:ea typeface="DejaVu Sans"/>
                          <a:cs typeface="DejaVu Sans"/>
                        </a:rPr>
                        <a:t>исследование</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Эксперимент с новыми</a:t>
                      </a:r>
                    </a:p>
                    <a:p>
                      <a:r>
                        <a:rPr sz="1875" b="0">
                          <a:solidFill>
                            <a:srgbClr val="F2F1E9"/>
                          </a:solidFill>
                          <a:latin typeface="DejaVu Sans"/>
                          <a:ea typeface="DejaVu Sans"/>
                          <a:cs typeface="DejaVu Sans"/>
                        </a:rPr>
                        <a:t>независимыми данными</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Дизайн, протокол,</a:t>
                      </a:r>
                    </a:p>
                    <a:p>
                      <a:r>
                        <a:rPr sz="1875" b="0">
                          <a:solidFill>
                            <a:srgbClr val="F2F1E9"/>
                          </a:solidFill>
                          <a:latin typeface="DejaVu Sans"/>
                          <a:ea typeface="DejaVu Sans"/>
                          <a:cs typeface="DejaVu Sans"/>
                        </a:rPr>
                        <a:t>критерии сравнения</a:t>
                      </a:r>
                    </a:p>
                  </a:txBody>
                  <a:tcPr marL="142875" marR="114300" marT="95250" marB="95250" anchor="ctr">
                    <a:solidFill>
                      <a:srgbClr val="14212D"/>
                    </a:solidFill>
                  </a:tcPr>
                </a:tc>
              </a:tr>
            </a:tbl>
          </a:graphicData>
        </a:graphic>
      </p:graphicFrame>
      <p:sp>
        <p:nvSpPr>
          <p:cNvPr id="4" name="">
            <a:extLst xmlns:a="http://schemas.openxmlformats.org/drawingml/2006/main">
              <a:ext uri="{FF2B5EF4-FFF2-40B4-BE49-F238E27FC236}">
                <a16:creationId xmlns:a16="http://schemas.microsoft.com/office/drawing/2014/main" id="{25F29EC1-289E-4DC8-9302-59E7136B5A28}"/>
              </a:ext>
            </a:extLst>
          </p:cNvPr>
          <p:cNvSpPr>
            <a:spLocks xmlns:a="http://schemas.openxmlformats.org/drawingml/2006/main" noGrp="1"/>
          </p:cNvSpPr>
          <p:nvPr/>
        </p:nvSpPr>
        <p:spPr>
          <a:xfrm xmlns:a="http://schemas.openxmlformats.org/drawingml/2006/main">
            <a:off x="609600" y="50482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Термины зависят от области. В этой лекции договоримся о таком значении.</a:t>
            </a:r>
          </a:p>
        </p:txBody>
      </p:sp>
    </p:spTree>
    <p:extLst>
      <p:ext uri="{BB962C8B-B14F-4D97-AF65-F5344CB8AC3E}">
        <p14:creationId xmlns:p14="http://schemas.microsoft.com/office/powerpoint/2010/main" val="2083912453"/>
      </p:ext>
    </p:extLst>
  </p:cSld>
</p:sld>
</file>

<file path=ppt/slides/slide4.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2FD304-ACFA-4495-A72B-6B4C9DD06847}"/>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Сквозной пример: отжиг материала</a:t>
            </a:r>
          </a:p>
        </p:txBody>
      </p:sp>
      <p:sp>
        <p:nvSpPr>
          <p:cNvPr id="2" name="">
            <a:extLst xmlns:a="http://schemas.openxmlformats.org/drawingml/2006/main">
              <a:ext uri="{FF2B5EF4-FFF2-40B4-BE49-F238E27FC236}">
                <a16:creationId xmlns:a16="http://schemas.microsoft.com/office/drawing/2014/main" id="{F9308696-57BF-41FE-BDE5-F2C61690B965}"/>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04 / 44</a:t>
            </a:r>
          </a:p>
        </p:txBody>
      </p:sp>
      <p:graphicFrame>
        <p:nvGraphicFramePr>
          <p:cNvPr id="7" name=""/>
          <p:cNvGraphicFramePr/>
          <p:nvPr/>
        </p:nvGraphicFramePr>
        <p:xfrm>
          <a:off xmlns:a="http://schemas.openxmlformats.org/drawingml/2006/main" x="609600" y="1619250"/>
          <a:ext xmlns:a="http://schemas.openxmlformats.org/drawingml/2006/main" cx="10972800" cy="3429000"/>
        </p:xfrm>
        <a:graphic xmlns:a="http://schemas.openxmlformats.org/drawingml/2006/main">
          <a:graphicData uri="http://schemas.openxmlformats.org/drawingml/2006/table">
            <a:tbl>
              <a:tblPr firstRow="0" bandRow="0"/>
              <a:tblGrid>
                <a:gridCol w="2743200"/>
                <a:gridCol w="8229600"/>
              </a:tblGrid>
              <a:tr h="571500">
                <a:tc>
                  <a:txBody>
                    <a:bodyPr anchor="ctr">
                      <a:noAutofit/>
                    </a:bodyPr>
                    <a:lstStyle/>
                    <a:p>
                      <a:r>
                        <a:rPr sz="1950" b="1">
                          <a:solidFill>
                            <a:srgbClr val="81DFCE"/>
                          </a:solidFill>
                          <a:latin typeface="DejaVu Sans"/>
                          <a:ea typeface="DejaVu Sans"/>
                          <a:cs typeface="DejaVu Sans"/>
                        </a:rPr>
                        <a:t>Уровень</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План эксперимента</a:t>
                      </a:r>
                    </a:p>
                  </a:txBody>
                  <a:tcPr marL="142875" marR="114300" marT="95250" marB="95250" anchor="ctr">
                    <a:solidFill>
                      <a:srgbClr val="21343F"/>
                    </a:solidFill>
                  </a:tcPr>
                </a:tc>
              </a:tr>
              <a:tr h="571500">
                <a:tc>
                  <a:txBody>
                    <a:bodyPr anchor="ctr">
                      <a:noAutofit/>
                    </a:bodyPr>
                    <a:lstStyle/>
                    <a:p>
                      <a:r>
                        <a:rPr sz="1950" b="0">
                          <a:solidFill>
                            <a:srgbClr val="F2F1E9"/>
                          </a:solidFill>
                          <a:latin typeface="DejaVu Sans"/>
                          <a:ea typeface="DejaVu Sans"/>
                          <a:cs typeface="DejaVu Sans"/>
                        </a:rPr>
                        <a:t>Условие</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600 °C и 700 °C</a:t>
                      </a:r>
                    </a:p>
                  </a:txBody>
                  <a:tcPr marL="142875" marR="114300" marT="95250" marB="95250" anchor="ctr">
                    <a:solidFill>
                      <a:srgbClr val="101923"/>
                    </a:solidFill>
                  </a:tcPr>
                </a:tc>
              </a:tr>
              <a:tr h="571500">
                <a:tc>
                  <a:txBody>
                    <a:bodyPr anchor="ctr">
                      <a:noAutofit/>
                    </a:bodyPr>
                    <a:lstStyle/>
                    <a:p>
                      <a:r>
                        <a:rPr sz="1950" b="0">
                          <a:solidFill>
                            <a:srgbClr val="F2F1E9"/>
                          </a:solidFill>
                          <a:latin typeface="DejaVu Sans"/>
                          <a:ea typeface="DejaVu Sans"/>
                          <a:cs typeface="DejaVu Sans"/>
                        </a:rPr>
                        <a:t>Партия</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3 отдельных синтеза и отжига на условие</a:t>
                      </a:r>
                    </a:p>
                  </a:txBody>
                  <a:tcPr marL="142875" marR="114300" marT="95250" marB="95250" anchor="ctr">
                    <a:solidFill>
                      <a:srgbClr val="14212D"/>
                    </a:solidFill>
                  </a:tcPr>
                </a:tc>
              </a:tr>
              <a:tr h="571500">
                <a:tc>
                  <a:txBody>
                    <a:bodyPr anchor="ctr">
                      <a:noAutofit/>
                    </a:bodyPr>
                    <a:lstStyle/>
                    <a:p>
                      <a:r>
                        <a:rPr sz="1950" b="0">
                          <a:solidFill>
                            <a:srgbClr val="F2F1E9"/>
                          </a:solidFill>
                          <a:latin typeface="DejaVu Sans"/>
                          <a:ea typeface="DejaVu Sans"/>
                          <a:cs typeface="DejaVu Sans"/>
                        </a:rPr>
                        <a:t>Образец</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2 навески из каждой партии</a:t>
                      </a:r>
                    </a:p>
                  </a:txBody>
                  <a:tcPr marL="142875" marR="114300" marT="95250" marB="95250" anchor="ctr">
                    <a:solidFill>
                      <a:srgbClr val="101923"/>
                    </a:solidFill>
                  </a:tcPr>
                </a:tc>
              </a:tr>
              <a:tr h="571500">
                <a:tc>
                  <a:txBody>
                    <a:bodyPr anchor="ctr">
                      <a:noAutofit/>
                    </a:bodyPr>
                    <a:lstStyle/>
                    <a:p>
                      <a:r>
                        <a:rPr sz="1950" b="0">
                          <a:solidFill>
                            <a:srgbClr val="F2F1E9"/>
                          </a:solidFill>
                          <a:latin typeface="DejaVu Sans"/>
                          <a:ea typeface="DejaVu Sans"/>
                          <a:cs typeface="DejaVu Sans"/>
                        </a:rPr>
                        <a:t>Измерение</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3 повторных запуска для каждой навески</a:t>
                      </a:r>
                    </a:p>
                  </a:txBody>
                  <a:tcPr marL="142875" marR="114300" marT="95250" marB="95250" anchor="ctr">
                    <a:solidFill>
                      <a:srgbClr val="14212D"/>
                    </a:solidFill>
                  </a:tcPr>
                </a:tc>
              </a:tr>
              <a:tr h="571500">
                <a:tc>
                  <a:txBody>
                    <a:bodyPr anchor="ctr">
                      <a:noAutofit/>
                    </a:bodyPr>
                    <a:lstStyle/>
                    <a:p>
                      <a:r>
                        <a:rPr sz="1950" b="0">
                          <a:solidFill>
                            <a:srgbClr val="F2F1E9"/>
                          </a:solidFill>
                          <a:latin typeface="DejaVu Sans"/>
                          <a:ea typeface="DejaVu Sans"/>
                          <a:cs typeface="DejaVu Sans"/>
                        </a:rPr>
                        <a:t>Отклик</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Удельная намагниченность насыщения, А·м²/кг</a:t>
                      </a:r>
                    </a:p>
                  </a:txBody>
                  <a:tcPr marL="142875" marR="114300" marT="95250" marB="95250" anchor="ctr">
                    <a:solidFill>
                      <a:srgbClr val="101923"/>
                    </a:solidFill>
                  </a:tcPr>
                </a:tc>
              </a:tr>
            </a:tbl>
          </a:graphicData>
        </a:graphic>
      </p:graphicFrame>
      <p:sp>
        <p:nvSpPr>
          <p:cNvPr id="4" name="">
            <a:extLst xmlns:a="http://schemas.openxmlformats.org/drawingml/2006/main">
              <a:ext uri="{FF2B5EF4-FFF2-40B4-BE49-F238E27FC236}">
                <a16:creationId xmlns:a16="http://schemas.microsoft.com/office/drawing/2014/main" id="{E620B7AE-7C80-4F99-9AC1-03D2DA126370}"/>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F1B766"/>
                </a:solidFill>
                <a:latin typeface="DejaVu Sans"/>
                <a:ea typeface="DejaVu Sans"/>
                <a:cs typeface="DejaVu Sans"/>
              </a:defRPr>
            </a:pPr>
            <a:r>
              <a:rPr sz="1950" b="0">
                <a:solidFill>
                  <a:srgbClr val="F1B766"/>
                </a:solidFill>
                <a:latin typeface="DejaVu Sans"/>
                <a:ea typeface="DejaVu Sans"/>
                <a:cs typeface="DejaVu Sans"/>
              </a:rPr>
              <a:t>Все численные данные в примерах учебные.</a:t>
            </a:r>
          </a:p>
        </p:txBody>
      </p:sp>
    </p:spTree>
    <p:extLst>
      <p:ext uri="{BB962C8B-B14F-4D97-AF65-F5344CB8AC3E}">
        <p14:creationId xmlns:p14="http://schemas.microsoft.com/office/powerpoint/2010/main" val="883412134"/>
      </p:ext>
    </p:extLst>
  </p:cSld>
</p:sld>
</file>

<file path=ppt/slides/slide5.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20A645-9108-4876-9B3A-87B612A32770}"/>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Образец, партия и измерение</a:t>
            </a:r>
          </a:p>
        </p:txBody>
      </p:sp>
      <p:sp>
        <p:nvSpPr>
          <p:cNvPr id="2" name="">
            <a:extLst xmlns:a="http://schemas.openxmlformats.org/drawingml/2006/main">
              <a:ext uri="{FF2B5EF4-FFF2-40B4-BE49-F238E27FC236}">
                <a16:creationId xmlns:a16="http://schemas.microsoft.com/office/drawing/2014/main" id="{C8C62C31-9C54-4DBB-8204-20428855EB74}"/>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05 / 44</a:t>
            </a:r>
          </a:p>
        </p:txBody>
      </p:sp>
      <p:graphicFrame>
        <p:nvGraphicFramePr>
          <p:cNvPr id="7" name=""/>
          <p:cNvGraphicFramePr/>
          <p:nvPr/>
        </p:nvGraphicFramePr>
        <p:xfrm>
          <a:off xmlns:a="http://schemas.openxmlformats.org/drawingml/2006/main" x="609600" y="1619250"/>
          <a:ext xmlns:a="http://schemas.openxmlformats.org/drawingml/2006/main" cx="10972800" cy="3238500"/>
        </p:xfrm>
        <a:graphic xmlns:a="http://schemas.openxmlformats.org/drawingml/2006/main">
          <a:graphicData uri="http://schemas.openxmlformats.org/drawingml/2006/table">
            <a:tbl>
              <a:tblPr firstRow="0" bandRow="0"/>
              <a:tblGrid>
                <a:gridCol w="3135086"/>
                <a:gridCol w="5667270"/>
                <a:gridCol w="2170444"/>
              </a:tblGrid>
              <a:tr h="647700">
                <a:tc>
                  <a:txBody>
                    <a:bodyPr anchor="ctr">
                      <a:noAutofit/>
                    </a:bodyPr>
                    <a:lstStyle/>
                    <a:p>
                      <a:r>
                        <a:rPr sz="1875" b="1">
                          <a:solidFill>
                            <a:srgbClr val="81DFCE"/>
                          </a:solidFill>
                          <a:latin typeface="DejaVu Sans"/>
                          <a:ea typeface="DejaVu Sans"/>
                          <a:cs typeface="DejaVu Sans"/>
                        </a:rPr>
                        <a:t>Понятие</a:t>
                      </a:r>
                    </a:p>
                  </a:txBody>
                  <a:tcPr marL="142875" marR="114300" marT="95250" marB="95250" anchor="ctr">
                    <a:solidFill>
                      <a:srgbClr val="21343F"/>
                    </a:solidFill>
                  </a:tcPr>
                </a:tc>
                <a:tc>
                  <a:txBody>
                    <a:bodyPr anchor="ctr">
                      <a:noAutofit/>
                    </a:bodyPr>
                    <a:lstStyle/>
                    <a:p>
                      <a:r>
                        <a:rPr sz="1875" b="1">
                          <a:solidFill>
                            <a:srgbClr val="81DFCE"/>
                          </a:solidFill>
                          <a:latin typeface="DejaVu Sans"/>
                          <a:ea typeface="DejaVu Sans"/>
                          <a:cs typeface="DejaVu Sans"/>
                        </a:rPr>
                        <a:t>В сквозном примере</a:t>
                      </a:r>
                    </a:p>
                  </a:txBody>
                  <a:tcPr marL="142875" marR="114300" marT="95250" marB="95250" anchor="ctr">
                    <a:solidFill>
                      <a:srgbClr val="21343F"/>
                    </a:solidFill>
                  </a:tcPr>
                </a:tc>
                <a:tc>
                  <a:txBody>
                    <a:bodyPr anchor="ctr">
                      <a:noAutofit/>
                    </a:bodyPr>
                    <a:lstStyle/>
                    <a:p>
                      <a:r>
                        <a:rPr sz="1875" b="1">
                          <a:solidFill>
                            <a:srgbClr val="81DFCE"/>
                          </a:solidFill>
                          <a:latin typeface="DejaVu Sans"/>
                          <a:ea typeface="DejaVu Sans"/>
                          <a:cs typeface="DejaVu Sans"/>
                        </a:rPr>
                        <a:t>ID</a:t>
                      </a:r>
                    </a:p>
                  </a:txBody>
                  <a:tcPr marL="142875" marR="114300" marT="95250" marB="95250" anchor="ctr">
                    <a:solidFill>
                      <a:srgbClr val="21343F"/>
                    </a:solidFill>
                  </a:tcPr>
                </a:tc>
              </a:tr>
              <a:tr h="647700">
                <a:tc>
                  <a:txBody>
                    <a:bodyPr anchor="ctr">
                      <a:noAutofit/>
                    </a:bodyPr>
                    <a:lstStyle/>
                    <a:p>
                      <a:r>
                        <a:rPr sz="1875" b="0">
                          <a:solidFill>
                            <a:srgbClr val="F2F1E9"/>
                          </a:solidFill>
                          <a:latin typeface="DejaVu Sans"/>
                          <a:ea typeface="DejaVu Sans"/>
                          <a:cs typeface="DejaVu Sans"/>
                        </a:rPr>
                        <a:t>Партия синтеза</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Материал одного приготовления</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B001</a:t>
                      </a:r>
                    </a:p>
                  </a:txBody>
                  <a:tcPr marL="142875" marR="114300" marT="95250" marB="95250" anchor="ctr">
                    <a:solidFill>
                      <a:srgbClr val="101923"/>
                    </a:solidFill>
                  </a:tcPr>
                </a:tc>
              </a:tr>
              <a:tr h="647700">
                <a:tc>
                  <a:txBody>
                    <a:bodyPr anchor="ctr">
                      <a:noAutofit/>
                    </a:bodyPr>
                    <a:lstStyle/>
                    <a:p>
                      <a:r>
                        <a:rPr sz="1875" b="0">
                          <a:solidFill>
                            <a:srgbClr val="F2F1E9"/>
                          </a:solidFill>
                          <a:latin typeface="DejaVu Sans"/>
                          <a:ea typeface="DejaVu Sans"/>
                          <a:cs typeface="DejaVu Sans"/>
                        </a:rPr>
                        <a:t>Образец</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Навеска из партии B001</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S0001</a:t>
                      </a:r>
                    </a:p>
                  </a:txBody>
                  <a:tcPr marL="142875" marR="114300" marT="95250" marB="95250" anchor="ctr">
                    <a:solidFill>
                      <a:srgbClr val="14212D"/>
                    </a:solidFill>
                  </a:tcPr>
                </a:tc>
              </a:tr>
              <a:tr h="647700">
                <a:tc>
                  <a:txBody>
                    <a:bodyPr anchor="ctr">
                      <a:noAutofit/>
                    </a:bodyPr>
                    <a:lstStyle/>
                    <a:p>
                      <a:r>
                        <a:rPr sz="1875" b="0">
                          <a:solidFill>
                            <a:srgbClr val="F2F1E9"/>
                          </a:solidFill>
                          <a:latin typeface="DejaVu Sans"/>
                          <a:ea typeface="DejaVu Sans"/>
                          <a:cs typeface="DejaVu Sans"/>
                        </a:rPr>
                        <a:t>Измерение</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Один запуск прибора для S0001</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M0001</a:t>
                      </a:r>
                    </a:p>
                  </a:txBody>
                  <a:tcPr marL="142875" marR="114300" marT="95250" marB="95250" anchor="ctr">
                    <a:solidFill>
                      <a:srgbClr val="101923"/>
                    </a:solidFill>
                  </a:tcPr>
                </a:tc>
              </a:tr>
              <a:tr h="647700">
                <a:tc>
                  <a:txBody>
                    <a:bodyPr anchor="ctr">
                      <a:noAutofit/>
                    </a:bodyPr>
                    <a:lstStyle/>
                    <a:p>
                      <a:r>
                        <a:rPr sz="1875" b="0">
                          <a:solidFill>
                            <a:srgbClr val="F2F1E9"/>
                          </a:solidFill>
                          <a:latin typeface="DejaVu Sans"/>
                          <a:ea typeface="DejaVu Sans"/>
                          <a:cs typeface="DejaVu Sans"/>
                        </a:rPr>
                        <a:t>Независимая единица</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Партия с отдельно назначенным режимом</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B001</a:t>
                      </a:r>
                    </a:p>
                  </a:txBody>
                  <a:tcPr marL="142875" marR="114300" marT="95250" marB="95250" anchor="ctr">
                    <a:solidFill>
                      <a:srgbClr val="14212D"/>
                    </a:solidFill>
                  </a:tcPr>
                </a:tc>
              </a:tr>
            </a:tbl>
          </a:graphicData>
        </a:graphic>
      </p:graphicFrame>
      <p:sp>
        <p:nvSpPr>
          <p:cNvPr id="4" name="">
            <a:extLst xmlns:a="http://schemas.openxmlformats.org/drawingml/2006/main">
              <a:ext uri="{FF2B5EF4-FFF2-40B4-BE49-F238E27FC236}">
                <a16:creationId xmlns:a16="http://schemas.microsoft.com/office/drawing/2014/main" id="{A09949DB-8F37-441A-AD05-0EB87DF2BECF}"/>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Один объект может породить много строк данных.</a:t>
            </a:r>
          </a:p>
        </p:txBody>
      </p:sp>
    </p:spTree>
    <p:extLst>
      <p:ext uri="{BB962C8B-B14F-4D97-AF65-F5344CB8AC3E}">
        <p14:creationId xmlns:p14="http://schemas.microsoft.com/office/powerpoint/2010/main" val="414339744"/>
      </p:ext>
    </p:extLst>
  </p:cSld>
</p:sld>
</file>

<file path=ppt/slides/slide6.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EF4563-DED4-4930-A54C-B6FB96EB6832}"/>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Независимая единица наблюдения</a:t>
            </a:r>
          </a:p>
        </p:txBody>
      </p:sp>
      <p:sp>
        <p:nvSpPr>
          <p:cNvPr id="2" name="">
            <a:extLst xmlns:a="http://schemas.openxmlformats.org/drawingml/2006/main">
              <a:ext uri="{FF2B5EF4-FFF2-40B4-BE49-F238E27FC236}">
                <a16:creationId xmlns:a16="http://schemas.microsoft.com/office/drawing/2014/main" id="{C964720D-AA22-4A15-9CED-051EA859763D}"/>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06 / 44</a:t>
            </a:r>
          </a:p>
        </p:txBody>
      </p:sp>
      <p:sp>
        <p:nvSpPr>
          <p:cNvPr id="3" name="">
            <a:extLst xmlns:a="http://schemas.openxmlformats.org/drawingml/2006/main">
              <a:ext uri="{FF2B5EF4-FFF2-40B4-BE49-F238E27FC236}">
                <a16:creationId xmlns:a16="http://schemas.microsoft.com/office/drawing/2014/main" id="{7D8AD94F-8907-410A-959F-44564D73C7D4}"/>
              </a:ext>
            </a:extLst>
          </p:cNvPr>
          <p:cNvSpPr>
            <a:spLocks xmlns:a="http://schemas.openxmlformats.org/drawingml/2006/main" noGrp="1"/>
          </p:cNvSpPr>
          <p:nvPr/>
        </p:nvSpPr>
        <p:spPr>
          <a:xfrm xmlns:a="http://schemas.openxmlformats.org/drawingml/2006/main">
            <a:off x="609600" y="1743075"/>
            <a:ext cx="2457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1DFCE"/>
                </a:solidFill>
                <a:latin typeface="DejaVu Sans"/>
                <a:ea typeface="DejaVu Sans"/>
                <a:cs typeface="DejaVu Sans"/>
              </a:defRPr>
            </a:pPr>
            <a:r>
              <a:rPr sz="2100" b="1">
                <a:solidFill>
                  <a:srgbClr val="81DFCE"/>
                </a:solidFill>
                <a:latin typeface="DejaVu Sans"/>
                <a:ea typeface="DejaVu Sans"/>
                <a:cs typeface="DejaVu Sans"/>
              </a:rPr>
              <a:t>Воздействие</a:t>
            </a:r>
          </a:p>
        </p:txBody>
      </p:sp>
      <p:sp>
        <p:nvSpPr>
          <p:cNvPr id="4" name="">
            <a:extLst xmlns:a="http://schemas.openxmlformats.org/drawingml/2006/main">
              <a:ext uri="{FF2B5EF4-FFF2-40B4-BE49-F238E27FC236}">
                <a16:creationId xmlns:a16="http://schemas.microsoft.com/office/drawing/2014/main" id="{8443246F-3FD1-41BF-A137-21002AC44225}"/>
              </a:ext>
            </a:extLst>
          </p:cNvPr>
          <p:cNvSpPr>
            <a:spLocks xmlns:a="http://schemas.openxmlformats.org/drawingml/2006/main" noGrp="1"/>
          </p:cNvSpPr>
          <p:nvPr/>
        </p:nvSpPr>
        <p:spPr>
          <a:xfrm xmlns:a="http://schemas.openxmlformats.org/drawingml/2006/main">
            <a:off x="3295650" y="1743075"/>
            <a:ext cx="8077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F2F1E9"/>
                </a:solidFill>
                <a:latin typeface="DejaVu Sans"/>
                <a:ea typeface="DejaVu Sans"/>
                <a:cs typeface="DejaVu Sans"/>
              </a:defRPr>
            </a:pPr>
            <a:r>
              <a:rPr sz="2100" b="0">
                <a:solidFill>
                  <a:srgbClr val="F2F1E9"/>
                </a:solidFill>
                <a:latin typeface="DejaVu Sans"/>
                <a:ea typeface="DejaVu Sans"/>
                <a:cs typeface="DejaVu Sans"/>
              </a:rPr>
              <a:t>Какому объекту отдельно назначили условие?</a:t>
            </a:r>
          </a:p>
        </p:txBody>
      </p:sp>
      <p:sp>
        <p:nvSpPr>
          <p:cNvPr id="5" name="">
            <a:extLst xmlns:a="http://schemas.openxmlformats.org/drawingml/2006/main">
              <a:ext uri="{FF2B5EF4-FFF2-40B4-BE49-F238E27FC236}">
                <a16:creationId xmlns:a16="http://schemas.microsoft.com/office/drawing/2014/main" id="{8C40BCCF-6282-47AE-805B-148CE8D5375E}"/>
              </a:ext>
            </a:extLst>
          </p:cNvPr>
          <p:cNvSpPr>
            <a:spLocks xmlns:a="http://schemas.openxmlformats.org/drawingml/2006/main" noGrp="1"/>
          </p:cNvSpPr>
          <p:nvPr/>
        </p:nvSpPr>
        <p:spPr>
          <a:xfrm xmlns:a="http://schemas.openxmlformats.org/drawingml/2006/main">
            <a:off x="609600" y="2876550"/>
            <a:ext cx="2457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1DFCE"/>
                </a:solidFill>
                <a:latin typeface="DejaVu Sans"/>
                <a:ea typeface="DejaVu Sans"/>
                <a:cs typeface="DejaVu Sans"/>
              </a:defRPr>
            </a:pPr>
            <a:r>
              <a:rPr sz="2100" b="1">
                <a:solidFill>
                  <a:srgbClr val="81DFCE"/>
                </a:solidFill>
                <a:latin typeface="DejaVu Sans"/>
                <a:ea typeface="DejaVu Sans"/>
                <a:cs typeface="DejaVu Sans"/>
              </a:rPr>
              <a:t>Общая история</a:t>
            </a:r>
          </a:p>
        </p:txBody>
      </p:sp>
      <p:sp>
        <p:nvSpPr>
          <p:cNvPr id="6" name="">
            <a:extLst xmlns:a="http://schemas.openxmlformats.org/drawingml/2006/main">
              <a:ext uri="{FF2B5EF4-FFF2-40B4-BE49-F238E27FC236}">
                <a16:creationId xmlns:a16="http://schemas.microsoft.com/office/drawing/2014/main" id="{48C5BC62-AF95-4A2E-8945-2996F46B86C1}"/>
              </a:ext>
            </a:extLst>
          </p:cNvPr>
          <p:cNvSpPr>
            <a:spLocks xmlns:a="http://schemas.openxmlformats.org/drawingml/2006/main" noGrp="1"/>
          </p:cNvSpPr>
          <p:nvPr/>
        </p:nvSpPr>
        <p:spPr>
          <a:xfrm xmlns:a="http://schemas.openxmlformats.org/drawingml/2006/main">
            <a:off x="3295650" y="2876550"/>
            <a:ext cx="8077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F2F1E9"/>
                </a:solidFill>
                <a:latin typeface="DejaVu Sans"/>
                <a:ea typeface="DejaVu Sans"/>
                <a:cs typeface="DejaVu Sans"/>
              </a:defRPr>
            </a:pPr>
            <a:r>
              <a:rPr sz="2100" b="0">
                <a:solidFill>
                  <a:srgbClr val="F2F1E9"/>
                </a:solidFill>
                <a:latin typeface="DejaVu Sans"/>
                <a:ea typeface="DejaVu Sans"/>
                <a:cs typeface="DejaVu Sans"/>
              </a:rPr>
              <a:t>Какие объекты разделяют синтез, печь, донора или участок?</a:t>
            </a:r>
          </a:p>
        </p:txBody>
      </p:sp>
      <p:sp>
        <p:nvSpPr>
          <p:cNvPr id="7" name="">
            <a:extLst xmlns:a="http://schemas.openxmlformats.org/drawingml/2006/main">
              <a:ext uri="{FF2B5EF4-FFF2-40B4-BE49-F238E27FC236}">
                <a16:creationId xmlns:a16="http://schemas.microsoft.com/office/drawing/2014/main" id="{8536D78F-E54D-4FDA-83EF-52426C4439A4}"/>
              </a:ext>
            </a:extLst>
          </p:cNvPr>
          <p:cNvSpPr>
            <a:spLocks xmlns:a="http://schemas.openxmlformats.org/drawingml/2006/main" noGrp="1"/>
          </p:cNvSpPr>
          <p:nvPr/>
        </p:nvSpPr>
        <p:spPr>
          <a:xfrm xmlns:a="http://schemas.openxmlformats.org/drawingml/2006/main">
            <a:off x="609600" y="4010025"/>
            <a:ext cx="2457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1DFCE"/>
                </a:solidFill>
                <a:latin typeface="DejaVu Sans"/>
                <a:ea typeface="DejaVu Sans"/>
                <a:cs typeface="DejaVu Sans"/>
              </a:defRPr>
            </a:pPr>
            <a:r>
              <a:rPr sz="2100" b="1">
                <a:solidFill>
                  <a:srgbClr val="81DFCE"/>
                </a:solidFill>
                <a:latin typeface="DejaVu Sans"/>
                <a:ea typeface="DejaVu Sans"/>
                <a:cs typeface="DejaVu Sans"/>
              </a:rPr>
              <a:t>Обобщение</a:t>
            </a:r>
          </a:p>
        </p:txBody>
      </p:sp>
      <p:sp>
        <p:nvSpPr>
          <p:cNvPr id="8" name="">
            <a:extLst xmlns:a="http://schemas.openxmlformats.org/drawingml/2006/main">
              <a:ext uri="{FF2B5EF4-FFF2-40B4-BE49-F238E27FC236}">
                <a16:creationId xmlns:a16="http://schemas.microsoft.com/office/drawing/2014/main" id="{619FD694-B6AB-40CA-B179-2B49891AB432}"/>
              </a:ext>
            </a:extLst>
          </p:cNvPr>
          <p:cNvSpPr>
            <a:spLocks xmlns:a="http://schemas.openxmlformats.org/drawingml/2006/main" noGrp="1"/>
          </p:cNvSpPr>
          <p:nvPr/>
        </p:nvSpPr>
        <p:spPr>
          <a:xfrm xmlns:a="http://schemas.openxmlformats.org/drawingml/2006/main">
            <a:off x="3295650" y="4010025"/>
            <a:ext cx="8077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F2F1E9"/>
                </a:solidFill>
                <a:latin typeface="DejaVu Sans"/>
                <a:ea typeface="DejaVu Sans"/>
                <a:cs typeface="DejaVu Sans"/>
              </a:defRPr>
            </a:pPr>
            <a:r>
              <a:rPr sz="2100" b="0">
                <a:solidFill>
                  <a:srgbClr val="F2F1E9"/>
                </a:solidFill>
                <a:latin typeface="DejaVu Sans"/>
                <a:ea typeface="DejaVu Sans"/>
                <a:cs typeface="DejaVu Sans"/>
              </a:rPr>
              <a:t>О каких новых объектах мы хотим сделать вывод?</a:t>
            </a:r>
          </a:p>
        </p:txBody>
      </p:sp>
      <p:sp>
        <p:nvSpPr>
          <p:cNvPr id="9" name="">
            <a:extLst xmlns:a="http://schemas.openxmlformats.org/drawingml/2006/main">
              <a:ext uri="{FF2B5EF4-FFF2-40B4-BE49-F238E27FC236}">
                <a16:creationId xmlns:a16="http://schemas.microsoft.com/office/drawing/2014/main" id="{CC0DFA96-8227-41A7-8EA8-3FCCC81AEE85}"/>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F1B766"/>
                </a:solidFill>
                <a:latin typeface="DejaVu Sans"/>
                <a:ea typeface="DejaVu Sans"/>
                <a:cs typeface="DejaVu Sans"/>
              </a:defRPr>
            </a:pPr>
            <a:r>
              <a:rPr sz="1950" b="0">
                <a:solidFill>
                  <a:srgbClr val="F1B766"/>
                </a:solidFill>
                <a:latin typeface="DejaVu Sans"/>
                <a:ea typeface="DejaVu Sans"/>
                <a:cs typeface="DejaVu Sans"/>
              </a:rPr>
              <a:t>В нашем дизайне независимой единицей служит партия синтеза.</a:t>
            </a:r>
          </a:p>
        </p:txBody>
      </p:sp>
    </p:spTree>
    <p:extLst>
      <p:ext uri="{BB962C8B-B14F-4D97-AF65-F5344CB8AC3E}">
        <p14:creationId xmlns:p14="http://schemas.microsoft.com/office/powerpoint/2010/main" val="30681691"/>
      </p:ext>
    </p:extLst>
  </p:cSld>
</p:sld>
</file>

<file path=ppt/slides/slide7.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015272-D1F7-43B0-BC06-085AF6AB9AE9}"/>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Технические и независимые повторы</a:t>
            </a:r>
          </a:p>
        </p:txBody>
      </p:sp>
      <p:sp>
        <p:nvSpPr>
          <p:cNvPr id="2" name="">
            <a:extLst xmlns:a="http://schemas.openxmlformats.org/drawingml/2006/main">
              <a:ext uri="{FF2B5EF4-FFF2-40B4-BE49-F238E27FC236}">
                <a16:creationId xmlns:a16="http://schemas.microsoft.com/office/drawing/2014/main" id="{715EA2B4-1F2C-490C-8DA5-D1C661B282A4}"/>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07 / 44</a:t>
            </a:r>
          </a:p>
        </p:txBody>
      </p:sp>
      <p:graphicFrame>
        <p:nvGraphicFramePr>
          <p:cNvPr id="7" name=""/>
          <p:cNvGraphicFramePr/>
          <p:nvPr/>
        </p:nvGraphicFramePr>
        <p:xfrm>
          <a:off xmlns:a="http://schemas.openxmlformats.org/drawingml/2006/main" x="609600" y="1619250"/>
          <a:ext xmlns:a="http://schemas.openxmlformats.org/drawingml/2006/main" cx="10972800" cy="3143250"/>
        </p:xfrm>
        <a:graphic xmlns:a="http://schemas.openxmlformats.org/drawingml/2006/main">
          <a:graphicData uri="http://schemas.openxmlformats.org/drawingml/2006/table">
            <a:tbl>
              <a:tblPr firstRow="0" bandRow="0"/>
              <a:tblGrid>
                <a:gridCol w="2522483"/>
                <a:gridCol w="4540469"/>
                <a:gridCol w="3909848"/>
              </a:tblGrid>
              <a:tr h="785813">
                <a:tc>
                  <a:txBody>
                    <a:bodyPr anchor="ctr">
                      <a:noAutofit/>
                    </a:bodyPr>
                    <a:lstStyle/>
                    <a:p>
                      <a:r>
                        <a:rPr sz="1950" b="1">
                          <a:solidFill>
                            <a:srgbClr val="81DFCE"/>
                          </a:solidFill>
                          <a:latin typeface="DejaVu Sans"/>
                          <a:ea typeface="DejaVu Sans"/>
                          <a:cs typeface="DejaVu Sans"/>
                        </a:rPr>
                        <a:t>Повтор</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Что выполняем заново</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Что он характеризует</a:t>
                      </a:r>
                    </a:p>
                  </a:txBody>
                  <a:tcPr marL="142875" marR="114300" marT="95250" marB="95250" anchor="ctr">
                    <a:solidFill>
                      <a:srgbClr val="21343F"/>
                    </a:solidFill>
                  </a:tcPr>
                </a:tc>
              </a:tr>
              <a:tr h="785813">
                <a:tc>
                  <a:txBody>
                    <a:bodyPr anchor="ctr">
                      <a:noAutofit/>
                    </a:bodyPr>
                    <a:lstStyle/>
                    <a:p>
                      <a:r>
                        <a:rPr sz="1950" b="0">
                          <a:solidFill>
                            <a:srgbClr val="F2F1E9"/>
                          </a:solidFill>
                          <a:latin typeface="DejaVu Sans"/>
                          <a:ea typeface="DejaVu Sans"/>
                          <a:cs typeface="DejaVu Sans"/>
                        </a:rPr>
                        <a:t>Технический</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Запуск для той же навески</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Повторяемость</a:t>
                      </a:r>
                    </a:p>
                    <a:p>
                      <a:r>
                        <a:rPr sz="1950" b="0">
                          <a:solidFill>
                            <a:srgbClr val="F2F1E9"/>
                          </a:solidFill>
                          <a:latin typeface="DejaVu Sans"/>
                          <a:ea typeface="DejaVu Sans"/>
                          <a:cs typeface="DejaVu Sans"/>
                        </a:rPr>
                        <a:t>измерения</a:t>
                      </a:r>
                    </a:p>
                  </a:txBody>
                  <a:tcPr marL="142875" marR="114300" marT="95250" marB="95250" anchor="ctr">
                    <a:solidFill>
                      <a:srgbClr val="101923"/>
                    </a:solidFill>
                  </a:tcPr>
                </a:tc>
              </a:tr>
              <a:tr h="785813">
                <a:tc>
                  <a:txBody>
                    <a:bodyPr anchor="ctr">
                      <a:noAutofit/>
                    </a:bodyPr>
                    <a:lstStyle/>
                    <a:p>
                      <a:r>
                        <a:rPr sz="1950" b="0">
                          <a:solidFill>
                            <a:srgbClr val="F2F1E9"/>
                          </a:solidFill>
                          <a:latin typeface="DejaVu Sans"/>
                          <a:ea typeface="DejaVu Sans"/>
                          <a:cs typeface="DejaVu Sans"/>
                        </a:rPr>
                        <a:t>Вложенная проба</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Берём другую навеску</a:t>
                      </a:r>
                    </a:p>
                    <a:p>
                      <a:r>
                        <a:rPr sz="1950" b="0">
                          <a:solidFill>
                            <a:srgbClr val="F2F1E9"/>
                          </a:solidFill>
                          <a:latin typeface="DejaVu Sans"/>
                          <a:ea typeface="DejaVu Sans"/>
                          <a:cs typeface="DejaVu Sans"/>
                        </a:rPr>
                        <a:t>из той же партии</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Неоднородность</a:t>
                      </a:r>
                    </a:p>
                    <a:p>
                      <a:r>
                        <a:rPr sz="1950" b="0">
                          <a:solidFill>
                            <a:srgbClr val="F2F1E9"/>
                          </a:solidFill>
                          <a:latin typeface="DejaVu Sans"/>
                          <a:ea typeface="DejaVu Sans"/>
                          <a:cs typeface="DejaVu Sans"/>
                        </a:rPr>
                        <a:t>внутри партии</a:t>
                      </a:r>
                    </a:p>
                  </a:txBody>
                  <a:tcPr marL="142875" marR="114300" marT="95250" marB="95250" anchor="ctr">
                    <a:solidFill>
                      <a:srgbClr val="14212D"/>
                    </a:solidFill>
                  </a:tcPr>
                </a:tc>
              </a:tr>
              <a:tr h="785813">
                <a:tc>
                  <a:txBody>
                    <a:bodyPr anchor="ctr">
                      <a:noAutofit/>
                    </a:bodyPr>
                    <a:lstStyle/>
                    <a:p>
                      <a:r>
                        <a:rPr sz="1950" b="0">
                          <a:solidFill>
                            <a:srgbClr val="F2F1E9"/>
                          </a:solidFill>
                          <a:latin typeface="DejaVu Sans"/>
                          <a:ea typeface="DejaVu Sans"/>
                          <a:cs typeface="DejaVu Sans"/>
                        </a:rPr>
                        <a:t>Независимый</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Отдельный синтез</a:t>
                      </a:r>
                    </a:p>
                    <a:p>
                      <a:r>
                        <a:rPr sz="1950" b="0">
                          <a:solidFill>
                            <a:srgbClr val="F2F1E9"/>
                          </a:solidFill>
                          <a:latin typeface="DejaVu Sans"/>
                          <a:ea typeface="DejaVu Sans"/>
                          <a:cs typeface="DejaVu Sans"/>
                        </a:rPr>
                        <a:t>и отдельный отжиг</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Вариабельность</a:t>
                      </a:r>
                    </a:p>
                    <a:p>
                      <a:r>
                        <a:rPr sz="1950" b="0">
                          <a:solidFill>
                            <a:srgbClr val="F2F1E9"/>
                          </a:solidFill>
                          <a:latin typeface="DejaVu Sans"/>
                          <a:ea typeface="DejaVu Sans"/>
                          <a:cs typeface="DejaVu Sans"/>
                        </a:rPr>
                        <a:t>между партиями</a:t>
                      </a:r>
                    </a:p>
                  </a:txBody>
                  <a:tcPr marL="142875" marR="114300" marT="95250" marB="95250" anchor="ctr">
                    <a:solidFill>
                      <a:srgbClr val="101923"/>
                    </a:solidFill>
                  </a:tcPr>
                </a:tc>
              </a:tr>
            </a:tbl>
          </a:graphicData>
        </a:graphic>
      </p:graphicFrame>
      <p:sp>
        <p:nvSpPr>
          <p:cNvPr id="4" name="">
            <a:extLst xmlns:a="http://schemas.openxmlformats.org/drawingml/2006/main">
              <a:ext uri="{FF2B5EF4-FFF2-40B4-BE49-F238E27FC236}">
                <a16:creationId xmlns:a16="http://schemas.microsoft.com/office/drawing/2014/main" id="{93325566-BD0C-41E8-A3FA-E8ACC66F28F3}"/>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В отчёте полезнее описать процедуру повторения, чем просто написать n.</a:t>
            </a:r>
          </a:p>
        </p:txBody>
      </p:sp>
    </p:spTree>
    <p:extLst>
      <p:ext uri="{BB962C8B-B14F-4D97-AF65-F5344CB8AC3E}">
        <p14:creationId xmlns:p14="http://schemas.microsoft.com/office/powerpoint/2010/main" val="59047989"/>
      </p:ext>
    </p:extLst>
  </p:cSld>
</p:sld>
</file>

<file path=ppt/slides/slide8.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18CFBA1-C860-4770-8388-C0FE3B8E90B6}"/>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36 измерений и 6 независимых единиц</a:t>
            </a:r>
          </a:p>
        </p:txBody>
      </p:sp>
      <p:sp>
        <p:nvSpPr>
          <p:cNvPr id="2" name="">
            <a:extLst xmlns:a="http://schemas.openxmlformats.org/drawingml/2006/main">
              <a:ext uri="{FF2B5EF4-FFF2-40B4-BE49-F238E27FC236}">
                <a16:creationId xmlns:a16="http://schemas.microsoft.com/office/drawing/2014/main" id="{B46DA457-660A-4C29-863D-A5D591489DBB}"/>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08 / 44</a:t>
            </a:r>
          </a:p>
        </p:txBody>
      </p:sp>
      <p:sp>
        <p:nvSpPr>
          <p:cNvPr id="3" name="">
            <a:extLst xmlns:a="http://schemas.openxmlformats.org/drawingml/2006/main">
              <a:ext uri="{FF2B5EF4-FFF2-40B4-BE49-F238E27FC236}">
                <a16:creationId xmlns:a16="http://schemas.microsoft.com/office/drawing/2014/main" id="{15DC0A45-D07A-4A28-A179-01DBF844D0FC}"/>
              </a:ext>
            </a:extLst>
          </p:cNvPr>
          <p:cNvSpPr>
            <a:spLocks xmlns:a="http://schemas.openxmlformats.org/drawingml/2006/main" noGrp="1"/>
          </p:cNvSpPr>
          <p:nvPr/>
        </p:nvSpPr>
        <p:spPr>
          <a:xfrm xmlns:a="http://schemas.openxmlformats.org/drawingml/2006/main">
            <a:off x="619125" y="1590675"/>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7800" b="1">
                <a:solidFill>
                  <a:srgbClr val="81DFCE"/>
                </a:solidFill>
                <a:latin typeface="DejaVu Sans"/>
                <a:ea typeface="DejaVu Sans"/>
                <a:cs typeface="DejaVu Sans"/>
              </a:defRPr>
            </a:pPr>
            <a:r>
              <a:rPr sz="7800" b="1">
                <a:solidFill>
                  <a:srgbClr val="81DFCE"/>
                </a:solidFill>
                <a:latin typeface="DejaVu Sans"/>
                <a:ea typeface="DejaVu Sans"/>
                <a:cs typeface="DejaVu Sans"/>
              </a:rPr>
              <a:t>36</a:t>
            </a:r>
          </a:p>
        </p:txBody>
      </p:sp>
      <p:sp>
        <p:nvSpPr>
          <p:cNvPr id="4" name="">
            <a:extLst xmlns:a="http://schemas.openxmlformats.org/drawingml/2006/main">
              <a:ext uri="{FF2B5EF4-FFF2-40B4-BE49-F238E27FC236}">
                <a16:creationId xmlns:a16="http://schemas.microsoft.com/office/drawing/2014/main" id="{43DDE439-9482-49C2-9721-C86997F60AC5}"/>
              </a:ext>
            </a:extLst>
          </p:cNvPr>
          <p:cNvSpPr>
            <a:spLocks xmlns:a="http://schemas.openxmlformats.org/drawingml/2006/main" noGrp="1"/>
          </p:cNvSpPr>
          <p:nvPr/>
        </p:nvSpPr>
        <p:spPr>
          <a:xfrm xmlns:a="http://schemas.openxmlformats.org/drawingml/2006/main">
            <a:off x="4505325" y="1590675"/>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7800" b="1">
                <a:solidFill>
                  <a:srgbClr val="F2F1E9"/>
                </a:solidFill>
                <a:latin typeface="DejaVu Sans"/>
                <a:ea typeface="DejaVu Sans"/>
                <a:cs typeface="DejaVu Sans"/>
              </a:defRPr>
            </a:pPr>
            <a:r>
              <a:rPr sz="7800" b="1">
                <a:solidFill>
                  <a:srgbClr val="F2F1E9"/>
                </a:solidFill>
                <a:latin typeface="DejaVu Sans"/>
                <a:ea typeface="DejaVu Sans"/>
                <a:cs typeface="DejaVu Sans"/>
              </a:rPr>
              <a:t>12</a:t>
            </a:r>
          </a:p>
        </p:txBody>
      </p:sp>
      <p:sp>
        <p:nvSpPr>
          <p:cNvPr id="5" name="">
            <a:extLst xmlns:a="http://schemas.openxmlformats.org/drawingml/2006/main">
              <a:ext uri="{FF2B5EF4-FFF2-40B4-BE49-F238E27FC236}">
                <a16:creationId xmlns:a16="http://schemas.microsoft.com/office/drawing/2014/main" id="{52518CC0-1600-45F2-9C7E-9E7A83C98354}"/>
              </a:ext>
            </a:extLst>
          </p:cNvPr>
          <p:cNvSpPr>
            <a:spLocks xmlns:a="http://schemas.openxmlformats.org/drawingml/2006/main" noGrp="1"/>
          </p:cNvSpPr>
          <p:nvPr/>
        </p:nvSpPr>
        <p:spPr>
          <a:xfrm xmlns:a="http://schemas.openxmlformats.org/drawingml/2006/main">
            <a:off x="8477250" y="1590675"/>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7800" b="1">
                <a:solidFill>
                  <a:srgbClr val="F1B766"/>
                </a:solidFill>
                <a:latin typeface="DejaVu Sans"/>
                <a:ea typeface="DejaVu Sans"/>
                <a:cs typeface="DejaVu Sans"/>
              </a:defRPr>
            </a:pPr>
            <a:r>
              <a:rPr sz="7800" b="1">
                <a:solidFill>
                  <a:srgbClr val="F1B766"/>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BAE07C9A-1185-4455-862A-7B0477D2ADEA}"/>
              </a:ext>
            </a:extLst>
          </p:cNvPr>
          <p:cNvSpPr>
            <a:spLocks xmlns:a="http://schemas.openxmlformats.org/drawingml/2006/main" noGrp="1"/>
          </p:cNvSpPr>
          <p:nvPr/>
        </p:nvSpPr>
        <p:spPr>
          <a:xfrm xmlns:a="http://schemas.openxmlformats.org/drawingml/2006/main">
            <a:off x="666750" y="3048000"/>
            <a:ext cx="3095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250" b="0">
                <a:solidFill>
                  <a:srgbClr val="F2F1E9"/>
                </a:solidFill>
                <a:latin typeface="DejaVu Sans"/>
                <a:ea typeface="DejaVu Sans"/>
                <a:cs typeface="DejaVu Sans"/>
              </a:defRPr>
            </a:pPr>
            <a:r>
              <a:rPr sz="2250" b="0">
                <a:solidFill>
                  <a:srgbClr val="F2F1E9"/>
                </a:solidFill>
                <a:latin typeface="DejaVu Sans"/>
                <a:ea typeface="DejaVu Sans"/>
                <a:cs typeface="DejaVu Sans"/>
              </a:rPr>
              <a:t>запусков прибора</a:t>
            </a:r>
          </a:p>
        </p:txBody>
      </p:sp>
      <p:sp>
        <p:nvSpPr>
          <p:cNvPr id="7" name="">
            <a:extLst xmlns:a="http://schemas.openxmlformats.org/drawingml/2006/main">
              <a:ext uri="{FF2B5EF4-FFF2-40B4-BE49-F238E27FC236}">
                <a16:creationId xmlns:a16="http://schemas.microsoft.com/office/drawing/2014/main" id="{DA6A6F41-88C9-47BC-942F-A5369033C8C2}"/>
              </a:ext>
            </a:extLst>
          </p:cNvPr>
          <p:cNvSpPr>
            <a:spLocks xmlns:a="http://schemas.openxmlformats.org/drawingml/2006/main" noGrp="1"/>
          </p:cNvSpPr>
          <p:nvPr/>
        </p:nvSpPr>
        <p:spPr>
          <a:xfrm xmlns:a="http://schemas.openxmlformats.org/drawingml/2006/main">
            <a:off x="4562475" y="304800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250" b="0">
                <a:solidFill>
                  <a:srgbClr val="F2F1E9"/>
                </a:solidFill>
                <a:latin typeface="DejaVu Sans"/>
                <a:ea typeface="DejaVu Sans"/>
                <a:cs typeface="DejaVu Sans"/>
              </a:defRPr>
            </a:pPr>
            <a:r>
              <a:rPr sz="2250" b="0">
                <a:solidFill>
                  <a:srgbClr val="F2F1E9"/>
                </a:solidFill>
                <a:latin typeface="DejaVu Sans"/>
                <a:ea typeface="DejaVu Sans"/>
                <a:cs typeface="DejaVu Sans"/>
              </a:rPr>
              <a:t>навесок</a:t>
            </a:r>
          </a:p>
        </p:txBody>
      </p:sp>
      <p:sp>
        <p:nvSpPr>
          <p:cNvPr id="8" name="">
            <a:extLst xmlns:a="http://schemas.openxmlformats.org/drawingml/2006/main">
              <a:ext uri="{FF2B5EF4-FFF2-40B4-BE49-F238E27FC236}">
                <a16:creationId xmlns:a16="http://schemas.microsoft.com/office/drawing/2014/main" id="{01FDAA99-B90F-4248-8850-57DE53FEBBD6}"/>
              </a:ext>
            </a:extLst>
          </p:cNvPr>
          <p:cNvSpPr>
            <a:spLocks xmlns:a="http://schemas.openxmlformats.org/drawingml/2006/main" noGrp="1"/>
          </p:cNvSpPr>
          <p:nvPr/>
        </p:nvSpPr>
        <p:spPr>
          <a:xfrm xmlns:a="http://schemas.openxmlformats.org/drawingml/2006/main">
            <a:off x="8524875" y="30480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250" b="0">
                <a:solidFill>
                  <a:srgbClr val="F2F1E9"/>
                </a:solidFill>
                <a:latin typeface="DejaVu Sans"/>
                <a:ea typeface="DejaVu Sans"/>
                <a:cs typeface="DejaVu Sans"/>
              </a:defRPr>
            </a:pPr>
            <a:r>
              <a:rPr sz="2250" b="0">
                <a:solidFill>
                  <a:srgbClr val="F2F1E9"/>
                </a:solidFill>
                <a:latin typeface="DejaVu Sans"/>
                <a:ea typeface="DejaVu Sans"/>
                <a:cs typeface="DejaVu Sans"/>
              </a:rPr>
              <a:t>партий синтеза</a:t>
            </a:r>
          </a:p>
        </p:txBody>
      </p:sp>
      <p:sp>
        <p:nvSpPr>
          <p:cNvPr id="9" name="">
            <a:extLst xmlns:a="http://schemas.openxmlformats.org/drawingml/2006/main">
              <a:ext uri="{FF2B5EF4-FFF2-40B4-BE49-F238E27FC236}">
                <a16:creationId xmlns:a16="http://schemas.microsoft.com/office/drawing/2014/main" id="{A0047EB6-25DC-4127-B10B-95541E495FE0}"/>
              </a:ext>
            </a:extLst>
          </p:cNvPr>
          <p:cNvSpPr>
            <a:spLocks xmlns:a="http://schemas.openxmlformats.org/drawingml/2006/main" noGrp="1"/>
          </p:cNvSpPr>
          <p:nvPr/>
        </p:nvSpPr>
        <p:spPr>
          <a:xfrm xmlns:a="http://schemas.openxmlformats.org/drawingml/2006/main">
            <a:off x="638175" y="43719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400" b="0">
                <a:solidFill>
                  <a:srgbClr val="B6C3D0"/>
                </a:solidFill>
                <a:latin typeface="DejaVu Sans"/>
                <a:ea typeface="DejaVu Sans"/>
                <a:cs typeface="DejaVu Sans"/>
              </a:defRPr>
            </a:pPr>
            <a:r>
              <a:rPr sz="2400" b="0">
                <a:solidFill>
                  <a:srgbClr val="B6C3D0"/>
                </a:solidFill>
                <a:latin typeface="DejaVu Sans"/>
                <a:ea typeface="DejaVu Sans"/>
                <a:cs typeface="DejaVu Sans"/>
              </a:rPr>
              <a:t>2 режима × 3 партии × 2 навески × 3 запуска</a:t>
            </a:r>
          </a:p>
        </p:txBody>
      </p:sp>
      <p:sp>
        <p:nvSpPr>
          <p:cNvPr id="10" name="">
            <a:extLst xmlns:a="http://schemas.openxmlformats.org/drawingml/2006/main">
              <a:ext uri="{FF2B5EF4-FFF2-40B4-BE49-F238E27FC236}">
                <a16:creationId xmlns:a16="http://schemas.microsoft.com/office/drawing/2014/main" id="{86A2AC8F-994E-4077-B8E8-C170D181CA0A}"/>
              </a:ext>
            </a:extLst>
          </p:cNvPr>
          <p:cNvSpPr>
            <a:spLocks xmlns:a="http://schemas.openxmlformats.org/drawingml/2006/main" noGrp="1"/>
          </p:cNvSpPr>
          <p:nvPr/>
        </p:nvSpPr>
        <p:spPr>
          <a:xfrm xmlns:a="http://schemas.openxmlformats.org/drawingml/2006/main">
            <a:off x="638175" y="50292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75" b="0">
                <a:solidFill>
                  <a:srgbClr val="F2F1E9"/>
                </a:solidFill>
                <a:latin typeface="DejaVu Sans"/>
                <a:ea typeface="DejaVu Sans"/>
                <a:cs typeface="DejaVu Sans"/>
              </a:defRPr>
            </a:pPr>
            <a:r>
              <a:rPr sz="1875" b="0">
                <a:solidFill>
                  <a:srgbClr val="F2F1E9"/>
                </a:solidFill>
                <a:latin typeface="DejaVu Sans"/>
                <a:ea typeface="DejaVu Sans"/>
                <a:cs typeface="DejaVu Sans"/>
              </a:rPr>
              <a:t>Псевдорепликация: 36 запусков ошибочно принимают за n = 36.</a:t>
            </a:r>
          </a:p>
        </p:txBody>
      </p:sp>
      <p:sp>
        <p:nvSpPr>
          <p:cNvPr id="11" name="">
            <a:extLst xmlns:a="http://schemas.openxmlformats.org/drawingml/2006/main">
              <a:ext uri="{FF2B5EF4-FFF2-40B4-BE49-F238E27FC236}">
                <a16:creationId xmlns:a16="http://schemas.microsoft.com/office/drawing/2014/main" id="{31EEFAA1-370D-44C4-A4A2-854F1B1B398F}"/>
              </a:ext>
            </a:extLst>
          </p:cNvPr>
          <p:cNvSpPr>
            <a:spLocks xmlns:a="http://schemas.openxmlformats.org/drawingml/2006/main" noGrp="1"/>
          </p:cNvSpPr>
          <p:nvPr/>
        </p:nvSpPr>
        <p:spPr>
          <a:xfrm xmlns:a="http://schemas.openxmlformats.org/drawingml/2006/main">
            <a:off x="609600" y="57340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F1B766"/>
                </a:solidFill>
                <a:latin typeface="DejaVu Sans"/>
                <a:ea typeface="DejaVu Sans"/>
                <a:cs typeface="DejaVu Sans"/>
              </a:defRPr>
            </a:pPr>
            <a:r>
              <a:rPr sz="1950" b="0">
                <a:solidFill>
                  <a:srgbClr val="F1B766"/>
                </a:solidFill>
                <a:latin typeface="DejaVu Sans"/>
                <a:ea typeface="DejaVu Sans"/>
                <a:cs typeface="DejaVu Sans"/>
              </a:rPr>
              <a:t>Для сравнения режимов: n = 3 независимые партии на условие.</a:t>
            </a:r>
          </a:p>
        </p:txBody>
      </p:sp>
    </p:spTree>
    <p:extLst>
      <p:ext uri="{BB962C8B-B14F-4D97-AF65-F5344CB8AC3E}">
        <p14:creationId xmlns:p14="http://schemas.microsoft.com/office/powerpoint/2010/main" val="1921666272"/>
      </p:ext>
    </p:extLst>
  </p:cSld>
</p:sld>
</file>

<file path=ppt/slides/slide9.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BF312A-5651-4454-94FA-D9F1D9788933}"/>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Разброс внутри партии и между партиями</a:t>
            </a:r>
          </a:p>
        </p:txBody>
      </p:sp>
      <p:sp>
        <p:nvSpPr>
          <p:cNvPr id="2" name="">
            <a:extLst xmlns:a="http://schemas.openxmlformats.org/drawingml/2006/main">
              <a:ext uri="{FF2B5EF4-FFF2-40B4-BE49-F238E27FC236}">
                <a16:creationId xmlns:a16="http://schemas.microsoft.com/office/drawing/2014/main" id="{141AFDC3-9D71-4B7D-817A-465FA59681E0}"/>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09 / 44</a:t>
            </a:r>
          </a:p>
        </p:txBody>
      </p:sp>
      <p:graphicFrame>
        <p:nvGraphicFramePr>
          <p:cNvPr id="10" name="Chart"/>
          <p:cNvGraphicFramePr/>
          <p:nvPr/>
        </p:nvGraphicFramePr>
        <p:xfrm>
          <a:off xmlns:a="http://schemas.openxmlformats.org/drawingml/2006/main" x="619125" y="1495425"/>
          <a:ext xmlns:a="http://schemas.openxmlformats.org/drawingml/2006/main" cx="7591425" cy="4000500"/>
        </p:xfrm>
        <a:graphic xmlns:a="http://schemas.openxmlformats.org/drawingml/2006/main">
          <a:graphicData uri="http://schemas.openxmlformats.org/drawingml/2006/chart">
            <c:chart xmlns:r="http://schemas.openxmlformats.org/officeDocument/2006/relationships" xmlns:c="http://schemas.openxmlformats.org/drawingml/2006/chart" r:id="R8813e7942f4e439e"/>
          </a:graphicData>
        </a:graphic>
      </p:graphicFrame>
      <p:sp>
        <p:nvSpPr>
          <p:cNvPr id="4" name="">
            <a:extLst xmlns:a="http://schemas.openxmlformats.org/drawingml/2006/main">
              <a:ext uri="{FF2B5EF4-FFF2-40B4-BE49-F238E27FC236}">
                <a16:creationId xmlns:a16="http://schemas.microsoft.com/office/drawing/2014/main" id="{13CE891B-6870-4E70-9C64-EBB16A5490DC}"/>
              </a:ext>
            </a:extLst>
          </p:cNvPr>
          <p:cNvSpPr>
            <a:spLocks xmlns:a="http://schemas.openxmlformats.org/drawingml/2006/main" noGrp="1"/>
          </p:cNvSpPr>
          <p:nvPr/>
        </p:nvSpPr>
        <p:spPr>
          <a:xfrm xmlns:a="http://schemas.openxmlformats.org/drawingml/2006/main">
            <a:off x="8705850" y="1981200"/>
            <a:ext cx="2800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1DFCE"/>
                </a:solidFill>
                <a:latin typeface="DejaVu Sans"/>
                <a:ea typeface="DejaVu Sans"/>
                <a:cs typeface="DejaVu Sans"/>
              </a:defRPr>
            </a:pPr>
            <a:r>
              <a:rPr sz="2100" b="1">
                <a:solidFill>
                  <a:srgbClr val="81DFCE"/>
                </a:solidFill>
                <a:latin typeface="DejaVu Sans"/>
                <a:ea typeface="DejaVu Sans"/>
                <a:cs typeface="DejaVu Sans"/>
              </a:rPr>
              <a:t>Каждая точка</a:t>
            </a:r>
          </a:p>
        </p:txBody>
      </p:sp>
      <p:sp>
        <p:nvSpPr>
          <p:cNvPr id="5" name="">
            <a:extLst xmlns:a="http://schemas.openxmlformats.org/drawingml/2006/main">
              <a:ext uri="{FF2B5EF4-FFF2-40B4-BE49-F238E27FC236}">
                <a16:creationId xmlns:a16="http://schemas.microsoft.com/office/drawing/2014/main" id="{E662230B-CC6A-4D7E-A556-86EE9C656B36}"/>
              </a:ext>
            </a:extLst>
          </p:cNvPr>
          <p:cNvSpPr>
            <a:spLocks xmlns:a="http://schemas.openxmlformats.org/drawingml/2006/main" noGrp="1"/>
          </p:cNvSpPr>
          <p:nvPr/>
        </p:nvSpPr>
        <p:spPr>
          <a:xfrm xmlns:a="http://schemas.openxmlformats.org/drawingml/2006/main">
            <a:off x="8705850" y="2524125"/>
            <a:ext cx="27717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F2F1E9"/>
                </a:solidFill>
                <a:latin typeface="DejaVu Sans"/>
                <a:ea typeface="DejaVu Sans"/>
                <a:cs typeface="DejaVu Sans"/>
              </a:defRPr>
            </a:pPr>
            <a:r>
              <a:rPr sz="1950" b="0">
                <a:solidFill>
                  <a:srgbClr val="F2F1E9"/>
                </a:solidFill>
                <a:latin typeface="DejaVu Sans"/>
                <a:ea typeface="DejaVu Sans"/>
                <a:cs typeface="DejaVu Sans"/>
              </a:rPr>
              <a:t>Одно измерение.</a:t>
            </a:r>
          </a:p>
          <a:p xmlns:a="http://schemas.openxmlformats.org/drawingml/2006/main">
            <a:pPr>
              <a:lnSpc>
                <a:spcPct val="112000"/>
              </a:lnSpc>
              <a:buNone/>
              <a:defRPr sz="1950" b="0">
                <a:solidFill>
                  <a:srgbClr val="F2F1E9"/>
                </a:solidFill>
                <a:latin typeface="DejaVu Sans"/>
                <a:ea typeface="DejaVu Sans"/>
                <a:cs typeface="DejaVu Sans"/>
              </a:defRPr>
            </a:pPr>
            <a:r>
              <a:rPr sz="1950" b="0">
                <a:solidFill>
                  <a:srgbClr val="F2F1E9"/>
                </a:solidFill>
                <a:latin typeface="DejaVu Sans"/>
                <a:ea typeface="DejaVu Sans"/>
                <a:cs typeface="DejaVu Sans"/>
              </a:rPr>
              <a:t>6 точек на партию.</a:t>
            </a:r>
          </a:p>
        </p:txBody>
      </p:sp>
      <p:sp>
        <p:nvSpPr>
          <p:cNvPr id="6" name="">
            <a:extLst xmlns:a="http://schemas.openxmlformats.org/drawingml/2006/main">
              <a:ext uri="{FF2B5EF4-FFF2-40B4-BE49-F238E27FC236}">
                <a16:creationId xmlns:a16="http://schemas.microsoft.com/office/drawing/2014/main" id="{B7DDD32D-D531-4E8E-A3DE-6E900946CFFA}"/>
              </a:ext>
            </a:extLst>
          </p:cNvPr>
          <p:cNvSpPr>
            <a:spLocks xmlns:a="http://schemas.openxmlformats.org/drawingml/2006/main" noGrp="1"/>
          </p:cNvSpPr>
          <p:nvPr/>
        </p:nvSpPr>
        <p:spPr>
          <a:xfrm xmlns:a="http://schemas.openxmlformats.org/drawingml/2006/main">
            <a:off x="8705850" y="4152900"/>
            <a:ext cx="2838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F1B766"/>
                </a:solidFill>
                <a:latin typeface="DejaVu Sans"/>
                <a:ea typeface="DejaVu Sans"/>
                <a:cs typeface="DejaVu Sans"/>
              </a:defRPr>
            </a:pPr>
            <a:r>
              <a:rPr sz="2100" b="1">
                <a:solidFill>
                  <a:srgbClr val="F1B766"/>
                </a:solidFill>
                <a:latin typeface="DejaVu Sans"/>
                <a:ea typeface="DejaVu Sans"/>
                <a:cs typeface="DejaVu Sans"/>
              </a:rPr>
              <a:t>Для сравнения</a:t>
            </a:r>
          </a:p>
        </p:txBody>
      </p:sp>
      <p:sp>
        <p:nvSpPr>
          <p:cNvPr id="7" name="">
            <a:extLst xmlns:a="http://schemas.openxmlformats.org/drawingml/2006/main">
              <a:ext uri="{FF2B5EF4-FFF2-40B4-BE49-F238E27FC236}">
                <a16:creationId xmlns:a16="http://schemas.microsoft.com/office/drawing/2014/main" id="{512D5C1C-E1C5-4CE7-88DB-BEEA73A8DAA1}"/>
              </a:ext>
            </a:extLst>
          </p:cNvPr>
          <p:cNvSpPr>
            <a:spLocks xmlns:a="http://schemas.openxmlformats.org/drawingml/2006/main" noGrp="1"/>
          </p:cNvSpPr>
          <p:nvPr/>
        </p:nvSpPr>
        <p:spPr>
          <a:xfrm xmlns:a="http://schemas.openxmlformats.org/drawingml/2006/main">
            <a:off x="8705850" y="4676775"/>
            <a:ext cx="2762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75" b="0">
                <a:solidFill>
                  <a:srgbClr val="F2F1E9"/>
                </a:solidFill>
                <a:latin typeface="DejaVu Sans"/>
                <a:ea typeface="DejaVu Sans"/>
                <a:cs typeface="DejaVu Sans"/>
              </a:defRPr>
            </a:pPr>
            <a:r>
              <a:rPr sz="1875" b="0">
                <a:solidFill>
                  <a:srgbClr val="F2F1E9"/>
                </a:solidFill>
                <a:latin typeface="DejaVu Sans"/>
                <a:ea typeface="DejaVu Sans"/>
                <a:cs typeface="DejaVu Sans"/>
              </a:rPr>
              <a:t>По одной оценке</a:t>
            </a:r>
          </a:p>
          <a:p xmlns:a="http://schemas.openxmlformats.org/drawingml/2006/main">
            <a:pPr>
              <a:lnSpc>
                <a:spcPct val="112000"/>
              </a:lnSpc>
              <a:buNone/>
              <a:defRPr sz="1875" b="0">
                <a:solidFill>
                  <a:srgbClr val="F2F1E9"/>
                </a:solidFill>
                <a:latin typeface="DejaVu Sans"/>
                <a:ea typeface="DejaVu Sans"/>
                <a:cs typeface="DejaVu Sans"/>
              </a:defRPr>
            </a:pPr>
            <a:r>
              <a:rPr sz="1875" b="0">
                <a:solidFill>
                  <a:srgbClr val="F2F1E9"/>
                </a:solidFill>
                <a:latin typeface="DejaVu Sans"/>
                <a:ea typeface="DejaVu Sans"/>
                <a:cs typeface="DejaVu Sans"/>
              </a:rPr>
              <a:t>на партию</a:t>
            </a:r>
          </a:p>
          <a:p xmlns:a="http://schemas.openxmlformats.org/drawingml/2006/main">
            <a:pPr>
              <a:lnSpc>
                <a:spcPct val="112000"/>
              </a:lnSpc>
              <a:buNone/>
              <a:defRPr sz="1875" b="0">
                <a:solidFill>
                  <a:srgbClr val="F2F1E9"/>
                </a:solidFill>
                <a:latin typeface="DejaVu Sans"/>
                <a:ea typeface="DejaVu Sans"/>
                <a:cs typeface="DejaVu Sans"/>
              </a:defRPr>
            </a:pPr>
            <a:r>
              <a:rPr sz="1875" b="0">
                <a:solidFill>
                  <a:srgbClr val="F2F1E9"/>
                </a:solidFill>
                <a:latin typeface="DejaVu Sans"/>
                <a:ea typeface="DejaVu Sans"/>
                <a:cs typeface="DejaVu Sans"/>
              </a:rPr>
              <a:t>или вложенная модель.</a:t>
            </a:r>
          </a:p>
        </p:txBody>
      </p:sp>
    </p:spTree>
    <p:extLst>
      <p:ext uri="{BB962C8B-B14F-4D97-AF65-F5344CB8AC3E}">
        <p14:creationId xmlns:p14="http://schemas.microsoft.com/office/powerpoint/2010/main" val="416611795"/>
      </p:ext>
    </p:extLst>
  </p:cSld>
</p:sld>
</file>

<file path=ppt/slides/slide10.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69BCBC-4EDA-48D4-9054-FC4DC44CBA15}"/>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Учёт дня эксперимента</a:t>
            </a:r>
          </a:p>
        </p:txBody>
      </p:sp>
      <p:sp>
        <p:nvSpPr>
          <p:cNvPr id="2" name="">
            <a:extLst xmlns:a="http://schemas.openxmlformats.org/drawingml/2006/main">
              <a:ext uri="{FF2B5EF4-FFF2-40B4-BE49-F238E27FC236}">
                <a16:creationId xmlns:a16="http://schemas.microsoft.com/office/drawing/2014/main" id="{BC359F5B-F51A-4193-82CE-382B51DEA35D}"/>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10 / 44</a:t>
            </a:r>
          </a:p>
        </p:txBody>
      </p:sp>
      <p:graphicFrame>
        <p:nvGraphicFramePr>
          <p:cNvPr id="9" name=""/>
          <p:cNvGraphicFramePr/>
          <p:nvPr/>
        </p:nvGraphicFramePr>
        <p:xfrm>
          <a:off xmlns:a="http://schemas.openxmlformats.org/drawingml/2006/main" x="609600" y="1619250"/>
          <a:ext xmlns:a="http://schemas.openxmlformats.org/drawingml/2006/main" cx="5857875" cy="3143250"/>
        </p:xfrm>
        <a:graphic xmlns:a="http://schemas.openxmlformats.org/drawingml/2006/main">
          <a:graphicData uri="http://schemas.openxmlformats.org/drawingml/2006/table">
            <a:tbl>
              <a:tblPr firstRow="0" bandRow="0"/>
              <a:tblGrid>
                <a:gridCol w="1952625"/>
                <a:gridCol w="1952625"/>
                <a:gridCol w="1952625"/>
              </a:tblGrid>
              <a:tr h="785813">
                <a:tc>
                  <a:txBody>
                    <a:bodyPr anchor="ctr">
                      <a:noAutofit/>
                    </a:bodyPr>
                    <a:lstStyle/>
                    <a:p>
                      <a:r>
                        <a:rPr sz="2100" b="1">
                          <a:solidFill>
                            <a:srgbClr val="81DFCE"/>
                          </a:solidFill>
                          <a:latin typeface="DejaVu Sans"/>
                          <a:ea typeface="DejaVu Sans"/>
                          <a:cs typeface="DejaVu Sans"/>
                        </a:rPr>
                        <a:t>День</a:t>
                      </a:r>
                    </a:p>
                  </a:txBody>
                  <a:tcPr marL="142875" marR="114300" marT="95250" marB="95250" anchor="ctr">
                    <a:solidFill>
                      <a:srgbClr val="21343F"/>
                    </a:solidFill>
                  </a:tcPr>
                </a:tc>
                <a:tc>
                  <a:txBody>
                    <a:bodyPr anchor="ctr">
                      <a:noAutofit/>
                    </a:bodyPr>
                    <a:lstStyle/>
                    <a:p>
                      <a:r>
                        <a:rPr sz="2100" b="1">
                          <a:solidFill>
                            <a:srgbClr val="81DFCE"/>
                          </a:solidFill>
                          <a:latin typeface="DejaVu Sans"/>
                          <a:ea typeface="DejaVu Sans"/>
                          <a:cs typeface="DejaVu Sans"/>
                        </a:rPr>
                        <a:t>600 °C</a:t>
                      </a:r>
                    </a:p>
                  </a:txBody>
                  <a:tcPr marL="142875" marR="114300" marT="95250" marB="95250" anchor="ctr">
                    <a:solidFill>
                      <a:srgbClr val="21343F"/>
                    </a:solidFill>
                  </a:tcPr>
                </a:tc>
                <a:tc>
                  <a:txBody>
                    <a:bodyPr anchor="ctr">
                      <a:noAutofit/>
                    </a:bodyPr>
                    <a:lstStyle/>
                    <a:p>
                      <a:r>
                        <a:rPr sz="2100" b="1">
                          <a:solidFill>
                            <a:srgbClr val="81DFCE"/>
                          </a:solidFill>
                          <a:latin typeface="DejaVu Sans"/>
                          <a:ea typeface="DejaVu Sans"/>
                          <a:cs typeface="DejaVu Sans"/>
                        </a:rPr>
                        <a:t>700 °C</a:t>
                      </a:r>
                    </a:p>
                  </a:txBody>
                  <a:tcPr marL="142875" marR="114300" marT="95250" marB="95250" anchor="ctr">
                    <a:solidFill>
                      <a:srgbClr val="21343F"/>
                    </a:solidFill>
                  </a:tcPr>
                </a:tc>
              </a:tr>
              <a:tr h="785813">
                <a:tc>
                  <a:txBody>
                    <a:bodyPr anchor="ctr">
                      <a:noAutofit/>
                    </a:bodyPr>
                    <a:lstStyle/>
                    <a:p>
                      <a:r>
                        <a:rPr sz="2100" b="0">
                          <a:solidFill>
                            <a:srgbClr val="F2F1E9"/>
                          </a:solidFill>
                          <a:latin typeface="DejaVu Sans"/>
                          <a:ea typeface="DejaVu Sans"/>
                          <a:cs typeface="DejaVu Sans"/>
                        </a:rPr>
                        <a:t>1</a:t>
                      </a:r>
                    </a:p>
                  </a:txBody>
                  <a:tcPr marL="142875" marR="114300" marT="95250" marB="95250" anchor="ctr">
                    <a:solidFill>
                      <a:srgbClr val="101923"/>
                    </a:solidFill>
                  </a:tcPr>
                </a:tc>
                <a:tc>
                  <a:txBody>
                    <a:bodyPr anchor="ctr">
                      <a:noAutofit/>
                    </a:bodyPr>
                    <a:lstStyle/>
                    <a:p>
                      <a:r>
                        <a:rPr sz="2100" b="0">
                          <a:solidFill>
                            <a:srgbClr val="F2F1E9"/>
                          </a:solidFill>
                          <a:latin typeface="DejaVu Sans"/>
                          <a:ea typeface="DejaVu Sans"/>
                          <a:cs typeface="DejaVu Sans"/>
                        </a:rPr>
                        <a:t>B001</a:t>
                      </a:r>
                    </a:p>
                  </a:txBody>
                  <a:tcPr marL="142875" marR="114300" marT="95250" marB="95250" anchor="ctr">
                    <a:solidFill>
                      <a:srgbClr val="101923"/>
                    </a:solidFill>
                  </a:tcPr>
                </a:tc>
                <a:tc>
                  <a:txBody>
                    <a:bodyPr anchor="ctr">
                      <a:noAutofit/>
                    </a:bodyPr>
                    <a:lstStyle/>
                    <a:p>
                      <a:r>
                        <a:rPr sz="2100" b="0">
                          <a:solidFill>
                            <a:srgbClr val="F2F1E9"/>
                          </a:solidFill>
                          <a:latin typeface="DejaVu Sans"/>
                          <a:ea typeface="DejaVu Sans"/>
                          <a:cs typeface="DejaVu Sans"/>
                        </a:rPr>
                        <a:t>B004</a:t>
                      </a:r>
                    </a:p>
                  </a:txBody>
                  <a:tcPr marL="142875" marR="114300" marT="95250" marB="95250" anchor="ctr">
                    <a:solidFill>
                      <a:srgbClr val="101923"/>
                    </a:solidFill>
                  </a:tcPr>
                </a:tc>
              </a:tr>
              <a:tr h="785813">
                <a:tc>
                  <a:txBody>
                    <a:bodyPr anchor="ctr">
                      <a:noAutofit/>
                    </a:bodyPr>
                    <a:lstStyle/>
                    <a:p>
                      <a:r>
                        <a:rPr sz="2100" b="0">
                          <a:solidFill>
                            <a:srgbClr val="F2F1E9"/>
                          </a:solidFill>
                          <a:latin typeface="DejaVu Sans"/>
                          <a:ea typeface="DejaVu Sans"/>
                          <a:cs typeface="DejaVu Sans"/>
                        </a:rPr>
                        <a:t>2</a:t>
                      </a:r>
                    </a:p>
                  </a:txBody>
                  <a:tcPr marL="142875" marR="114300" marT="95250" marB="95250" anchor="ctr">
                    <a:solidFill>
                      <a:srgbClr val="14212D"/>
                    </a:solidFill>
                  </a:tcPr>
                </a:tc>
                <a:tc>
                  <a:txBody>
                    <a:bodyPr anchor="ctr">
                      <a:noAutofit/>
                    </a:bodyPr>
                    <a:lstStyle/>
                    <a:p>
                      <a:r>
                        <a:rPr sz="2100" b="0">
                          <a:solidFill>
                            <a:srgbClr val="F2F1E9"/>
                          </a:solidFill>
                          <a:latin typeface="DejaVu Sans"/>
                          <a:ea typeface="DejaVu Sans"/>
                          <a:cs typeface="DejaVu Sans"/>
                        </a:rPr>
                        <a:t>B002</a:t>
                      </a:r>
                    </a:p>
                  </a:txBody>
                  <a:tcPr marL="142875" marR="114300" marT="95250" marB="95250" anchor="ctr">
                    <a:solidFill>
                      <a:srgbClr val="14212D"/>
                    </a:solidFill>
                  </a:tcPr>
                </a:tc>
                <a:tc>
                  <a:txBody>
                    <a:bodyPr anchor="ctr">
                      <a:noAutofit/>
                    </a:bodyPr>
                    <a:lstStyle/>
                    <a:p>
                      <a:r>
                        <a:rPr sz="2100" b="0">
                          <a:solidFill>
                            <a:srgbClr val="F2F1E9"/>
                          </a:solidFill>
                          <a:latin typeface="DejaVu Sans"/>
                          <a:ea typeface="DejaVu Sans"/>
                          <a:cs typeface="DejaVu Sans"/>
                        </a:rPr>
                        <a:t>B005</a:t>
                      </a:r>
                    </a:p>
                  </a:txBody>
                  <a:tcPr marL="142875" marR="114300" marT="95250" marB="95250" anchor="ctr">
                    <a:solidFill>
                      <a:srgbClr val="14212D"/>
                    </a:solidFill>
                  </a:tcPr>
                </a:tc>
              </a:tr>
              <a:tr h="785813">
                <a:tc>
                  <a:txBody>
                    <a:bodyPr anchor="ctr">
                      <a:noAutofit/>
                    </a:bodyPr>
                    <a:lstStyle/>
                    <a:p>
                      <a:r>
                        <a:rPr sz="2100" b="0">
                          <a:solidFill>
                            <a:srgbClr val="F2F1E9"/>
                          </a:solidFill>
                          <a:latin typeface="DejaVu Sans"/>
                          <a:ea typeface="DejaVu Sans"/>
                          <a:cs typeface="DejaVu Sans"/>
                        </a:rPr>
                        <a:t>3</a:t>
                      </a:r>
                    </a:p>
                  </a:txBody>
                  <a:tcPr marL="142875" marR="114300" marT="95250" marB="95250" anchor="ctr">
                    <a:solidFill>
                      <a:srgbClr val="101923"/>
                    </a:solidFill>
                  </a:tcPr>
                </a:tc>
                <a:tc>
                  <a:txBody>
                    <a:bodyPr anchor="ctr">
                      <a:noAutofit/>
                    </a:bodyPr>
                    <a:lstStyle/>
                    <a:p>
                      <a:r>
                        <a:rPr sz="2100" b="0">
                          <a:solidFill>
                            <a:srgbClr val="F2F1E9"/>
                          </a:solidFill>
                          <a:latin typeface="DejaVu Sans"/>
                          <a:ea typeface="DejaVu Sans"/>
                          <a:cs typeface="DejaVu Sans"/>
                        </a:rPr>
                        <a:t>B003</a:t>
                      </a:r>
                    </a:p>
                  </a:txBody>
                  <a:tcPr marL="142875" marR="114300" marT="95250" marB="95250" anchor="ctr">
                    <a:solidFill>
                      <a:srgbClr val="101923"/>
                    </a:solidFill>
                  </a:tcPr>
                </a:tc>
                <a:tc>
                  <a:txBody>
                    <a:bodyPr anchor="ctr">
                      <a:noAutofit/>
                    </a:bodyPr>
                    <a:lstStyle/>
                    <a:p>
                      <a:r>
                        <a:rPr sz="2100" b="0">
                          <a:solidFill>
                            <a:srgbClr val="F2F1E9"/>
                          </a:solidFill>
                          <a:latin typeface="DejaVu Sans"/>
                          <a:ea typeface="DejaVu Sans"/>
                          <a:cs typeface="DejaVu Sans"/>
                        </a:rPr>
                        <a:t>B006</a:t>
                      </a:r>
                    </a:p>
                  </a:txBody>
                  <a:tcPr marL="142875" marR="114300" marT="95250" marB="95250" anchor="ctr">
                    <a:solidFill>
                      <a:srgbClr val="101923"/>
                    </a:solidFill>
                  </a:tcPr>
                </a:tc>
              </a:tr>
            </a:tbl>
          </a:graphicData>
        </a:graphic>
      </p:graphicFrame>
      <p:sp>
        <p:nvSpPr>
          <p:cNvPr id="4" name="">
            <a:extLst xmlns:a="http://schemas.openxmlformats.org/drawingml/2006/main">
              <a:ext uri="{FF2B5EF4-FFF2-40B4-BE49-F238E27FC236}">
                <a16:creationId xmlns:a16="http://schemas.microsoft.com/office/drawing/2014/main" id="{0B96A948-2109-44CF-868E-C630759E1483}"/>
              </a:ext>
            </a:extLst>
          </p:cNvPr>
          <p:cNvSpPr>
            <a:spLocks xmlns:a="http://schemas.openxmlformats.org/drawingml/2006/main" noGrp="1"/>
          </p:cNvSpPr>
          <p:nvPr/>
        </p:nvSpPr>
        <p:spPr>
          <a:xfrm xmlns:a="http://schemas.openxmlformats.org/drawingml/2006/main">
            <a:off x="7134225" y="1781175"/>
            <a:ext cx="42576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625" b="1">
                <a:solidFill>
                  <a:srgbClr val="81DFCE"/>
                </a:solidFill>
                <a:latin typeface="DejaVu Sans"/>
                <a:ea typeface="DejaVu Sans"/>
                <a:cs typeface="DejaVu Sans"/>
              </a:defRPr>
            </a:pPr>
            <a:r>
              <a:rPr sz="2625" b="1">
                <a:solidFill>
                  <a:srgbClr val="81DFCE"/>
                </a:solidFill>
                <a:latin typeface="DejaVu Sans"/>
                <a:ea typeface="DejaVu Sans"/>
                <a:cs typeface="DejaVu Sans"/>
              </a:rPr>
              <a:t>Оба режима</a:t>
            </a:r>
          </a:p>
          <a:p xmlns:a="http://schemas.openxmlformats.org/drawingml/2006/main">
            <a:pPr>
              <a:lnSpc>
                <a:spcPct val="112000"/>
              </a:lnSpc>
              <a:buNone/>
              <a:defRPr sz="2625" b="1">
                <a:solidFill>
                  <a:srgbClr val="81DFCE"/>
                </a:solidFill>
                <a:latin typeface="DejaVu Sans"/>
                <a:ea typeface="DejaVu Sans"/>
                <a:cs typeface="DejaVu Sans"/>
              </a:defRPr>
            </a:pPr>
            <a:r>
              <a:rPr sz="2625" b="1">
                <a:solidFill>
                  <a:srgbClr val="81DFCE"/>
                </a:solidFill>
                <a:latin typeface="DejaVu Sans"/>
                <a:ea typeface="DejaVu Sans"/>
                <a:cs typeface="DejaVu Sans"/>
              </a:rPr>
              <a:t>в каждом дне</a:t>
            </a:r>
          </a:p>
        </p:txBody>
      </p:sp>
      <p:sp>
        <p:nvSpPr>
          <p:cNvPr id="5" name="">
            <a:extLst xmlns:a="http://schemas.openxmlformats.org/drawingml/2006/main">
              <a:ext uri="{FF2B5EF4-FFF2-40B4-BE49-F238E27FC236}">
                <a16:creationId xmlns:a16="http://schemas.microsoft.com/office/drawing/2014/main" id="{BCAA2350-C332-4B31-9036-9B4EABFFCE24}"/>
              </a:ext>
            </a:extLst>
          </p:cNvPr>
          <p:cNvSpPr>
            <a:spLocks xmlns:a="http://schemas.openxmlformats.org/drawingml/2006/main" noGrp="1"/>
          </p:cNvSpPr>
          <p:nvPr/>
        </p:nvSpPr>
        <p:spPr>
          <a:xfrm xmlns:a="http://schemas.openxmlformats.org/drawingml/2006/main">
            <a:off x="7134225" y="2981325"/>
            <a:ext cx="4295775"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В данных нужны day_id,</a:t>
            </a:r>
          </a:p>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furnace_run_id и порядок</a:t>
            </a:r>
          </a:p>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измерения.</a:t>
            </a:r>
          </a:p>
          <a:p xmlns:a="http://schemas.openxmlformats.org/drawingml/2006/main">
            <a:r>
              <a:t/>
            </a:r>
          </a:p>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Рандомизация порядка</a:t>
            </a:r>
          </a:p>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помогает учитывать дрейф.</a:t>
            </a:r>
          </a:p>
        </p:txBody>
      </p:sp>
      <p:sp>
        <p:nvSpPr>
          <p:cNvPr id="6" name="">
            <a:extLst xmlns:a="http://schemas.openxmlformats.org/drawingml/2006/main">
              <a:ext uri="{FF2B5EF4-FFF2-40B4-BE49-F238E27FC236}">
                <a16:creationId xmlns:a16="http://schemas.microsoft.com/office/drawing/2014/main" id="{5558DB1D-E4D4-4E30-AEB6-1B50420C6F05}"/>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Идентификатор приборной серии отличается от идентификатора синтеза.</a:t>
            </a:r>
          </a:p>
        </p:txBody>
      </p:sp>
    </p:spTree>
    <p:extLst>
      <p:ext uri="{BB962C8B-B14F-4D97-AF65-F5344CB8AC3E}">
        <p14:creationId xmlns:p14="http://schemas.microsoft.com/office/powerpoint/2010/main" val="1236226887"/>
      </p:ext>
    </p:extLst>
  </p:cSld>
</p:sld>
</file>

<file path=ppt/slides/slide11.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2C61D0-BA8A-4858-B0CD-F7CE01E24D49}"/>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Задание: какое здесь n?</a:t>
            </a:r>
          </a:p>
        </p:txBody>
      </p:sp>
      <p:sp>
        <p:nvSpPr>
          <p:cNvPr id="2" name="">
            <a:extLst xmlns:a="http://schemas.openxmlformats.org/drawingml/2006/main">
              <a:ext uri="{FF2B5EF4-FFF2-40B4-BE49-F238E27FC236}">
                <a16:creationId xmlns:a16="http://schemas.microsoft.com/office/drawing/2014/main" id="{BCE6E7DE-879E-496B-AD8D-21A8F127B1E3}"/>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11 / 44</a:t>
            </a:r>
          </a:p>
        </p:txBody>
      </p:sp>
      <p:graphicFrame>
        <p:nvGraphicFramePr>
          <p:cNvPr id="7" name=""/>
          <p:cNvGraphicFramePr/>
          <p:nvPr/>
        </p:nvGraphicFramePr>
        <p:xfrm>
          <a:off xmlns:a="http://schemas.openxmlformats.org/drawingml/2006/main" x="609600" y="1619250"/>
          <a:ext xmlns:a="http://schemas.openxmlformats.org/drawingml/2006/main" cx="10972800" cy="3238500"/>
        </p:xfrm>
        <a:graphic xmlns:a="http://schemas.openxmlformats.org/drawingml/2006/main">
          <a:graphicData uri="http://schemas.openxmlformats.org/drawingml/2006/table">
            <a:tbl>
              <a:tblPr firstRow="0" bandRow="0"/>
              <a:tblGrid>
                <a:gridCol w="6816436"/>
                <a:gridCol w="4156364"/>
              </a:tblGrid>
              <a:tr h="809625">
                <a:tc>
                  <a:txBody>
                    <a:bodyPr anchor="ctr">
                      <a:noAutofit/>
                    </a:bodyPr>
                    <a:lstStyle/>
                    <a:p>
                      <a:r>
                        <a:rPr sz="2025" b="1">
                          <a:solidFill>
                            <a:srgbClr val="81DFCE"/>
                          </a:solidFill>
                          <a:latin typeface="DejaVu Sans"/>
                          <a:ea typeface="DejaVu Sans"/>
                          <a:cs typeface="DejaVu Sans"/>
                        </a:rPr>
                        <a:t>Ситуация</a:t>
                      </a:r>
                    </a:p>
                  </a:txBody>
                  <a:tcPr marL="142875" marR="114300" marT="95250" marB="95250" anchor="ctr">
                    <a:solidFill>
                      <a:srgbClr val="21343F"/>
                    </a:solidFill>
                  </a:tcPr>
                </a:tc>
                <a:tc>
                  <a:txBody>
                    <a:bodyPr anchor="ctr">
                      <a:noAutofit/>
                    </a:bodyPr>
                    <a:lstStyle/>
                    <a:p>
                      <a:r>
                        <a:rPr sz="2025" b="1">
                          <a:solidFill>
                            <a:srgbClr val="81DFCE"/>
                          </a:solidFill>
                          <a:latin typeface="DejaVu Sans"/>
                          <a:ea typeface="DejaVu Sans"/>
                          <a:cs typeface="DejaVu Sans"/>
                        </a:rPr>
                        <a:t>Вопрос</a:t>
                      </a:r>
                    </a:p>
                  </a:txBody>
                  <a:tcPr marL="142875" marR="114300" marT="95250" marB="95250" anchor="ctr">
                    <a:solidFill>
                      <a:srgbClr val="21343F"/>
                    </a:solidFill>
                  </a:tcPr>
                </a:tc>
              </a:tr>
              <a:tr h="809625">
                <a:tc>
                  <a:txBody>
                    <a:bodyPr anchor="ctr">
                      <a:noAutofit/>
                    </a:bodyPr>
                    <a:lstStyle/>
                    <a:p>
                      <a:r>
                        <a:rPr sz="2025" b="0">
                          <a:solidFill>
                            <a:srgbClr val="F2F1E9"/>
                          </a:solidFill>
                          <a:latin typeface="DejaVu Sans"/>
                          <a:ea typeface="DejaVu Sans"/>
                          <a:cs typeface="DejaVu Sans"/>
                        </a:rPr>
                        <a:t>4 отдельно полученные плёнки,</a:t>
                      </a:r>
                    </a:p>
                    <a:p>
                      <a:r>
                        <a:rPr sz="2025" b="0">
                          <a:solidFill>
                            <a:srgbClr val="F2F1E9"/>
                          </a:solidFill>
                          <a:latin typeface="DejaVu Sans"/>
                          <a:ea typeface="DejaVu Sans"/>
                          <a:cs typeface="DejaVu Sans"/>
                        </a:rPr>
                        <a:t>по 10 точек на каждой</a:t>
                      </a:r>
                    </a:p>
                  </a:txBody>
                  <a:tcPr marL="142875" marR="114300" marT="95250" marB="95250" anchor="ctr">
                    <a:solidFill>
                      <a:srgbClr val="101923"/>
                    </a:solidFill>
                  </a:tcPr>
                </a:tc>
                <a:tc>
                  <a:txBody>
                    <a:bodyPr anchor="ctr">
                      <a:noAutofit/>
                    </a:bodyPr>
                    <a:lstStyle/>
                    <a:p>
                      <a:r>
                        <a:rPr sz="2025" b="0">
                          <a:solidFill>
                            <a:srgbClr val="F2F1E9"/>
                          </a:solidFill>
                          <a:latin typeface="DejaVu Sans"/>
                          <a:ea typeface="DejaVu Sans"/>
                          <a:cs typeface="DejaVu Sans"/>
                        </a:rPr>
                        <a:t>Сколько реализаций</a:t>
                      </a:r>
                    </a:p>
                    <a:p>
                      <a:r>
                        <a:rPr sz="2025" b="0">
                          <a:solidFill>
                            <a:srgbClr val="F2F1E9"/>
                          </a:solidFill>
                          <a:latin typeface="DejaVu Sans"/>
                          <a:ea typeface="DejaVu Sans"/>
                          <a:cs typeface="DejaVu Sans"/>
                        </a:rPr>
                        <a:t>процесса нанесения?</a:t>
                      </a:r>
                    </a:p>
                  </a:txBody>
                  <a:tcPr marL="142875" marR="114300" marT="95250" marB="95250" anchor="ctr">
                    <a:solidFill>
                      <a:srgbClr val="101923"/>
                    </a:solidFill>
                  </a:tcPr>
                </a:tc>
              </a:tr>
              <a:tr h="809625">
                <a:tc>
                  <a:txBody>
                    <a:bodyPr anchor="ctr">
                      <a:noAutofit/>
                    </a:bodyPr>
                    <a:lstStyle/>
                    <a:p>
                      <a:r>
                        <a:rPr sz="2025" b="0">
                          <a:solidFill>
                            <a:srgbClr val="F2F1E9"/>
                          </a:solidFill>
                          <a:latin typeface="DejaVu Sans"/>
                          <a:ea typeface="DejaVu Sans"/>
                          <a:cs typeface="DejaVu Sans"/>
                        </a:rPr>
                        <a:t>1 партия порошка,</a:t>
                      </a:r>
                    </a:p>
                    <a:p>
                      <a:r>
                        <a:rPr sz="2025" b="0">
                          <a:solidFill>
                            <a:srgbClr val="F2F1E9"/>
                          </a:solidFill>
                          <a:latin typeface="DejaVu Sans"/>
                          <a:ea typeface="DejaVu Sans"/>
                          <a:cs typeface="DejaVu Sans"/>
                        </a:rPr>
                        <a:t>10 навесок</a:t>
                      </a:r>
                    </a:p>
                  </a:txBody>
                  <a:tcPr marL="142875" marR="114300" marT="95250" marB="95250" anchor="ctr">
                    <a:solidFill>
                      <a:srgbClr val="14212D"/>
                    </a:solidFill>
                  </a:tcPr>
                </a:tc>
                <a:tc>
                  <a:txBody>
                    <a:bodyPr anchor="ctr">
                      <a:noAutofit/>
                    </a:bodyPr>
                    <a:lstStyle/>
                    <a:p>
                      <a:r>
                        <a:rPr sz="2025" b="0">
                          <a:solidFill>
                            <a:srgbClr val="F2F1E9"/>
                          </a:solidFill>
                          <a:latin typeface="DejaVu Sans"/>
                          <a:ea typeface="DejaVu Sans"/>
                          <a:cs typeface="DejaVu Sans"/>
                        </a:rPr>
                        <a:t>Сколько независимых</a:t>
                      </a:r>
                    </a:p>
                    <a:p>
                      <a:r>
                        <a:rPr sz="2025" b="0">
                          <a:solidFill>
                            <a:srgbClr val="F2F1E9"/>
                          </a:solidFill>
                          <a:latin typeface="DejaVu Sans"/>
                          <a:ea typeface="DejaVu Sans"/>
                          <a:cs typeface="DejaVu Sans"/>
                        </a:rPr>
                        <a:t>реализаций синтеза?</a:t>
                      </a:r>
                    </a:p>
                  </a:txBody>
                  <a:tcPr marL="142875" marR="114300" marT="95250" marB="95250" anchor="ctr">
                    <a:solidFill>
                      <a:srgbClr val="14212D"/>
                    </a:solidFill>
                  </a:tcPr>
                </a:tc>
              </a:tr>
              <a:tr h="809625">
                <a:tc>
                  <a:txBody>
                    <a:bodyPr anchor="ctr">
                      <a:noAutofit/>
                    </a:bodyPr>
                    <a:lstStyle/>
                    <a:p>
                      <a:r>
                        <a:rPr sz="2025" b="0">
                          <a:solidFill>
                            <a:srgbClr val="F2F1E9"/>
                          </a:solidFill>
                          <a:latin typeface="DejaVu Sans"/>
                          <a:ea typeface="DejaVu Sans"/>
                          <a:cs typeface="DejaVu Sans"/>
                        </a:rPr>
                        <a:t>6 людей, у каждого измерение</a:t>
                      </a:r>
                    </a:p>
                    <a:p>
                      <a:r>
                        <a:rPr sz="2025" b="0">
                          <a:solidFill>
                            <a:srgbClr val="F2F1E9"/>
                          </a:solidFill>
                          <a:latin typeface="DejaVu Sans"/>
                          <a:ea typeface="DejaVu Sans"/>
                          <a:cs typeface="DejaVu Sans"/>
                        </a:rPr>
                        <a:t>до и после воздействия</a:t>
                      </a:r>
                    </a:p>
                  </a:txBody>
                  <a:tcPr marL="142875" marR="114300" marT="95250" marB="95250" anchor="ctr">
                    <a:solidFill>
                      <a:srgbClr val="101923"/>
                    </a:solidFill>
                  </a:tcPr>
                </a:tc>
                <a:tc>
                  <a:txBody>
                    <a:bodyPr anchor="ctr">
                      <a:noAutofit/>
                    </a:bodyPr>
                    <a:lstStyle/>
                    <a:p>
                      <a:r>
                        <a:rPr sz="2025" b="0">
                          <a:solidFill>
                            <a:srgbClr val="F2F1E9"/>
                          </a:solidFill>
                          <a:latin typeface="DejaVu Sans"/>
                          <a:ea typeface="DejaVu Sans"/>
                          <a:cs typeface="DejaVu Sans"/>
                        </a:rPr>
                        <a:t>Сколько независимых</a:t>
                      </a:r>
                    </a:p>
                    <a:p>
                      <a:r>
                        <a:rPr sz="2025" b="0">
                          <a:solidFill>
                            <a:srgbClr val="F2F1E9"/>
                          </a:solidFill>
                          <a:latin typeface="DejaVu Sans"/>
                          <a:ea typeface="DejaVu Sans"/>
                          <a:cs typeface="DejaVu Sans"/>
                        </a:rPr>
                        <a:t>участников?</a:t>
                      </a:r>
                    </a:p>
                  </a:txBody>
                  <a:tcPr marL="142875" marR="114300" marT="95250" marB="95250" anchor="ctr">
                    <a:solidFill>
                      <a:srgbClr val="101923"/>
                    </a:solidFill>
                  </a:tcPr>
                </a:tc>
              </a:tr>
            </a:tbl>
          </a:graphicData>
        </a:graphic>
      </p:graphicFrame>
      <p:sp>
        <p:nvSpPr>
          <p:cNvPr id="4" name="">
            <a:extLst xmlns:a="http://schemas.openxmlformats.org/drawingml/2006/main">
              <a:ext uri="{FF2B5EF4-FFF2-40B4-BE49-F238E27FC236}">
                <a16:creationId xmlns:a16="http://schemas.microsoft.com/office/drawing/2014/main" id="{28A22983-224E-40A1-B579-5F71A8575899}"/>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F1B766"/>
                </a:solidFill>
                <a:latin typeface="DejaVu Sans"/>
                <a:ea typeface="DejaVu Sans"/>
                <a:cs typeface="DejaVu Sans"/>
              </a:defRPr>
            </a:pPr>
            <a:r>
              <a:rPr sz="1950" b="0">
                <a:solidFill>
                  <a:srgbClr val="F1B766"/>
                </a:solidFill>
                <a:latin typeface="DejaVu Sans"/>
                <a:ea typeface="DejaVu Sans"/>
                <a:cs typeface="DejaVu Sans"/>
              </a:rPr>
              <a:t>Объясните, что общее у измерений внутри каждой группы.</a:t>
            </a:r>
          </a:p>
        </p:txBody>
      </p:sp>
    </p:spTree>
    <p:extLst>
      <p:ext uri="{BB962C8B-B14F-4D97-AF65-F5344CB8AC3E}">
        <p14:creationId xmlns:p14="http://schemas.microsoft.com/office/powerpoint/2010/main" val="1733327979"/>
      </p:ext>
    </p:extLst>
  </p:cSld>
</p:sld>
</file>

<file path=ppt/slides/slide12.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B3BE68-6995-4F41-B46F-075DB4BE2671}"/>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Идентификатор сохраняет связь с объектом</a:t>
            </a:r>
          </a:p>
        </p:txBody>
      </p:sp>
      <p:sp>
        <p:nvSpPr>
          <p:cNvPr id="2" name="">
            <a:extLst xmlns:a="http://schemas.openxmlformats.org/drawingml/2006/main">
              <a:ext uri="{FF2B5EF4-FFF2-40B4-BE49-F238E27FC236}">
                <a16:creationId xmlns:a16="http://schemas.microsoft.com/office/drawing/2014/main" id="{D52A69C7-E741-472C-9D82-6FE00634FCF9}"/>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12 / 44</a:t>
            </a:r>
          </a:p>
        </p:txBody>
      </p:sp>
      <p:sp>
        <p:nvSpPr>
          <p:cNvPr id="3" name="">
            <a:extLst xmlns:a="http://schemas.openxmlformats.org/drawingml/2006/main">
              <a:ext uri="{FF2B5EF4-FFF2-40B4-BE49-F238E27FC236}">
                <a16:creationId xmlns:a16="http://schemas.microsoft.com/office/drawing/2014/main" id="{7A0C854A-80F8-4B3D-A491-7B5B87F512C2}"/>
              </a:ext>
            </a:extLst>
          </p:cNvPr>
          <p:cNvSpPr>
            <a:spLocks xmlns:a="http://schemas.openxmlformats.org/drawingml/2006/main" noGrp="1"/>
          </p:cNvSpPr>
          <p:nvPr/>
        </p:nvSpPr>
        <p:spPr>
          <a:xfrm xmlns:a="http://schemas.openxmlformats.org/drawingml/2006/main">
            <a:off x="628650" y="1685925"/>
            <a:ext cx="10858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4350" b="1">
                <a:solidFill>
                  <a:srgbClr val="81DFCE"/>
                </a:solidFill>
                <a:latin typeface="DejaVu Sans Mono"/>
                <a:ea typeface="DejaVu Sans Mono"/>
                <a:cs typeface="DejaVu Sans Mono"/>
              </a:defRPr>
            </a:pPr>
            <a:r>
              <a:rPr sz="4350" b="1">
                <a:solidFill>
                  <a:srgbClr val="81DFCE"/>
                </a:solidFill>
                <a:latin typeface="DejaVu Sans Mono"/>
                <a:ea typeface="DejaVu Sans Mono"/>
                <a:cs typeface="DejaVu Sans Mono"/>
              </a:rPr>
              <a:t>MAT26-S0001</a:t>
            </a:r>
          </a:p>
        </p:txBody>
      </p:sp>
      <p:sp>
        <p:nvSpPr>
          <p:cNvPr id="4" name="">
            <a:extLst xmlns:a="http://schemas.openxmlformats.org/drawingml/2006/main">
              <a:ext uri="{FF2B5EF4-FFF2-40B4-BE49-F238E27FC236}">
                <a16:creationId xmlns:a16="http://schemas.microsoft.com/office/drawing/2014/main" id="{0E1120BE-9B6C-418C-8B80-4EE7A49B617A}"/>
              </a:ext>
            </a:extLst>
          </p:cNvPr>
          <p:cNvSpPr>
            <a:spLocks xmlns:a="http://schemas.openxmlformats.org/drawingml/2006/main" noGrp="1"/>
          </p:cNvSpPr>
          <p:nvPr/>
        </p:nvSpPr>
        <p:spPr>
          <a:xfrm xmlns:a="http://schemas.openxmlformats.org/drawingml/2006/main">
            <a:off x="609600" y="3067050"/>
            <a:ext cx="2495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Стабильность</a:t>
            </a:r>
          </a:p>
        </p:txBody>
      </p:sp>
      <p:sp>
        <p:nvSpPr>
          <p:cNvPr id="5" name="">
            <a:extLst xmlns:a="http://schemas.openxmlformats.org/drawingml/2006/main">
              <a:ext uri="{FF2B5EF4-FFF2-40B4-BE49-F238E27FC236}">
                <a16:creationId xmlns:a16="http://schemas.microsoft.com/office/drawing/2014/main" id="{E8CB748F-4780-4ABB-9666-EF76E771AB32}"/>
              </a:ext>
            </a:extLst>
          </p:cNvPr>
          <p:cNvSpPr>
            <a:spLocks xmlns:a="http://schemas.openxmlformats.org/drawingml/2006/main" noGrp="1"/>
          </p:cNvSpPr>
          <p:nvPr/>
        </p:nvSpPr>
        <p:spPr>
          <a:xfrm xmlns:a="http://schemas.openxmlformats.org/drawingml/2006/main">
            <a:off x="3333750" y="3067050"/>
            <a:ext cx="8039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Температура, оператор и статус живут в отдельных полях.</a:t>
            </a:r>
          </a:p>
        </p:txBody>
      </p:sp>
      <p:sp>
        <p:nvSpPr>
          <p:cNvPr id="6" name="">
            <a:extLst xmlns:a="http://schemas.openxmlformats.org/drawingml/2006/main">
              <a:ext uri="{FF2B5EF4-FFF2-40B4-BE49-F238E27FC236}">
                <a16:creationId xmlns:a16="http://schemas.microsoft.com/office/drawing/2014/main" id="{154D54EB-CDD6-4005-91E8-0D957E13979A}"/>
              </a:ext>
            </a:extLst>
          </p:cNvPr>
          <p:cNvSpPr>
            <a:spLocks xmlns:a="http://schemas.openxmlformats.org/drawingml/2006/main" noGrp="1"/>
          </p:cNvSpPr>
          <p:nvPr/>
        </p:nvSpPr>
        <p:spPr>
          <a:xfrm xmlns:a="http://schemas.openxmlformats.org/drawingml/2006/main">
            <a:off x="609600" y="4000500"/>
            <a:ext cx="2495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Однозначность</a:t>
            </a:r>
          </a:p>
        </p:txBody>
      </p:sp>
      <p:sp>
        <p:nvSpPr>
          <p:cNvPr id="7" name="">
            <a:extLst xmlns:a="http://schemas.openxmlformats.org/drawingml/2006/main">
              <a:ext uri="{FF2B5EF4-FFF2-40B4-BE49-F238E27FC236}">
                <a16:creationId xmlns:a16="http://schemas.microsoft.com/office/drawing/2014/main" id="{C1D75782-9DE0-495F-83D8-0767A923E0F9}"/>
              </a:ext>
            </a:extLst>
          </p:cNvPr>
          <p:cNvSpPr>
            <a:spLocks xmlns:a="http://schemas.openxmlformats.org/drawingml/2006/main" noGrp="1"/>
          </p:cNvSpPr>
          <p:nvPr/>
        </p:nvSpPr>
        <p:spPr>
          <a:xfrm xmlns:a="http://schemas.openxmlformats.org/drawingml/2006/main">
            <a:off x="3333750" y="4000500"/>
            <a:ext cx="8039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Новый объект получает новый ID. Старый ID не переиспользуем.</a:t>
            </a:r>
          </a:p>
        </p:txBody>
      </p:sp>
      <p:sp>
        <p:nvSpPr>
          <p:cNvPr id="8" name="">
            <a:extLst xmlns:a="http://schemas.openxmlformats.org/drawingml/2006/main">
              <a:ext uri="{FF2B5EF4-FFF2-40B4-BE49-F238E27FC236}">
                <a16:creationId xmlns:a16="http://schemas.microsoft.com/office/drawing/2014/main" id="{F8673B7D-35F0-409B-8794-51A05E92C7CF}"/>
              </a:ext>
            </a:extLst>
          </p:cNvPr>
          <p:cNvSpPr>
            <a:spLocks xmlns:a="http://schemas.openxmlformats.org/drawingml/2006/main" noGrp="1"/>
          </p:cNvSpPr>
          <p:nvPr/>
        </p:nvSpPr>
        <p:spPr>
          <a:xfrm xmlns:a="http://schemas.openxmlformats.org/drawingml/2006/main">
            <a:off x="609600" y="4933950"/>
            <a:ext cx="2495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Метка и реестр</a:t>
            </a:r>
          </a:p>
        </p:txBody>
      </p:sp>
      <p:sp>
        <p:nvSpPr>
          <p:cNvPr id="9" name="">
            <a:extLst xmlns:a="http://schemas.openxmlformats.org/drawingml/2006/main">
              <a:ext uri="{FF2B5EF4-FFF2-40B4-BE49-F238E27FC236}">
                <a16:creationId xmlns:a16="http://schemas.microsoft.com/office/drawing/2014/main" id="{7323ACA7-9E22-4350-BD78-521DD9BB7BAF}"/>
              </a:ext>
            </a:extLst>
          </p:cNvPr>
          <p:cNvSpPr>
            <a:spLocks xmlns:a="http://schemas.openxmlformats.org/drawingml/2006/main" noGrp="1"/>
          </p:cNvSpPr>
          <p:nvPr/>
        </p:nvSpPr>
        <p:spPr>
          <a:xfrm xmlns:a="http://schemas.openxmlformats.org/drawingml/2006/main">
            <a:off x="3333750" y="4933950"/>
            <a:ext cx="8039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Одинаковый ID на контейнере, в таблице и в журнале.</a:t>
            </a:r>
          </a:p>
        </p:txBody>
      </p:sp>
    </p:spTree>
    <p:extLst>
      <p:ext uri="{BB962C8B-B14F-4D97-AF65-F5344CB8AC3E}">
        <p14:creationId xmlns:p14="http://schemas.microsoft.com/office/powerpoint/2010/main" val="1960274355"/>
      </p:ext>
    </p:extLst>
  </p:cSld>
</p:sld>
</file>

<file path=ppt/slides/slide13.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5E6099-58D8-4EB8-8A58-045D264F3971}"/>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Реестр образцов и их происхождение</a:t>
            </a:r>
          </a:p>
        </p:txBody>
      </p:sp>
      <p:sp>
        <p:nvSpPr>
          <p:cNvPr id="2" name="">
            <a:extLst xmlns:a="http://schemas.openxmlformats.org/drawingml/2006/main">
              <a:ext uri="{FF2B5EF4-FFF2-40B4-BE49-F238E27FC236}">
                <a16:creationId xmlns:a16="http://schemas.microsoft.com/office/drawing/2014/main" id="{A994BB04-75A5-4A03-BD62-381E877A8FC6}"/>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13 / 44</a:t>
            </a:r>
          </a:p>
        </p:txBody>
      </p:sp>
      <p:graphicFrame>
        <p:nvGraphicFramePr>
          <p:cNvPr id="8" name=""/>
          <p:cNvGraphicFramePr/>
          <p:nvPr/>
        </p:nvGraphicFramePr>
        <p:xfrm>
          <a:off xmlns:a="http://schemas.openxmlformats.org/drawingml/2006/main" x="609600" y="1619250"/>
          <a:ext xmlns:a="http://schemas.openxmlformats.org/drawingml/2006/main" cx="10972800" cy="2971800"/>
        </p:xfrm>
        <a:graphic xmlns:a="http://schemas.openxmlformats.org/drawingml/2006/main">
          <a:graphicData uri="http://schemas.openxmlformats.org/drawingml/2006/table">
            <a:tbl>
              <a:tblPr firstRow="0" bandRow="0"/>
              <a:tblGrid>
                <a:gridCol w="2233402"/>
                <a:gridCol w="1942088"/>
                <a:gridCol w="3495759"/>
                <a:gridCol w="3301550"/>
              </a:tblGrid>
              <a:tr h="742950">
                <a:tc>
                  <a:txBody>
                    <a:bodyPr anchor="ctr">
                      <a:noAutofit/>
                    </a:bodyPr>
                    <a:lstStyle/>
                    <a:p>
                      <a:r>
                        <a:rPr sz="1875" b="1">
                          <a:solidFill>
                            <a:srgbClr val="81DFCE"/>
                          </a:solidFill>
                          <a:latin typeface="DejaVu Sans"/>
                          <a:ea typeface="DejaVu Sans"/>
                          <a:cs typeface="DejaVu Sans"/>
                        </a:rPr>
                        <a:t>sample_id</a:t>
                      </a:r>
                    </a:p>
                  </a:txBody>
                  <a:tcPr marL="142875" marR="114300" marT="95250" marB="95250" anchor="ctr">
                    <a:solidFill>
                      <a:srgbClr val="21343F"/>
                    </a:solidFill>
                  </a:tcPr>
                </a:tc>
                <a:tc>
                  <a:txBody>
                    <a:bodyPr anchor="ctr">
                      <a:noAutofit/>
                    </a:bodyPr>
                    <a:lstStyle/>
                    <a:p>
                      <a:r>
                        <a:rPr sz="1875" b="1">
                          <a:solidFill>
                            <a:srgbClr val="81DFCE"/>
                          </a:solidFill>
                          <a:latin typeface="DejaVu Sans"/>
                          <a:ea typeface="DejaVu Sans"/>
                          <a:cs typeface="DejaVu Sans"/>
                        </a:rPr>
                        <a:t>batch_id</a:t>
                      </a:r>
                    </a:p>
                  </a:txBody>
                  <a:tcPr marL="142875" marR="114300" marT="95250" marB="95250" anchor="ctr">
                    <a:solidFill>
                      <a:srgbClr val="21343F"/>
                    </a:solidFill>
                  </a:tcPr>
                </a:tc>
                <a:tc>
                  <a:txBody>
                    <a:bodyPr anchor="ctr">
                      <a:noAutofit/>
                    </a:bodyPr>
                    <a:lstStyle/>
                    <a:p>
                      <a:r>
                        <a:rPr sz="1875" b="1">
                          <a:solidFill>
                            <a:srgbClr val="81DFCE"/>
                          </a:solidFill>
                          <a:latin typeface="DejaVu Sans"/>
                          <a:ea typeface="DejaVu Sans"/>
                          <a:cs typeface="DejaVu Sans"/>
                        </a:rPr>
                        <a:t>parent_sample_id</a:t>
                      </a:r>
                    </a:p>
                  </a:txBody>
                  <a:tcPr marL="142875" marR="114300" marT="95250" marB="95250" anchor="ctr">
                    <a:solidFill>
                      <a:srgbClr val="21343F"/>
                    </a:solidFill>
                  </a:tcPr>
                </a:tc>
                <a:tc>
                  <a:txBody>
                    <a:bodyPr anchor="ctr">
                      <a:noAutofit/>
                    </a:bodyPr>
                    <a:lstStyle/>
                    <a:p>
                      <a:r>
                        <a:rPr sz="1875" b="1">
                          <a:solidFill>
                            <a:srgbClr val="81DFCE"/>
                          </a:solidFill>
                          <a:latin typeface="DejaVu Sans"/>
                          <a:ea typeface="DejaVu Sans"/>
                          <a:cs typeface="DejaVu Sans"/>
                        </a:rPr>
                        <a:t>Описание</a:t>
                      </a:r>
                    </a:p>
                  </a:txBody>
                  <a:tcPr marL="142875" marR="114300" marT="95250" marB="95250" anchor="ctr">
                    <a:solidFill>
                      <a:srgbClr val="21343F"/>
                    </a:solidFill>
                  </a:tcPr>
                </a:tc>
              </a:tr>
              <a:tr h="742950">
                <a:tc>
                  <a:txBody>
                    <a:bodyPr anchor="ctr">
                      <a:noAutofit/>
                    </a:bodyPr>
                    <a:lstStyle/>
                    <a:p>
                      <a:r>
                        <a:rPr sz="1875" b="0">
                          <a:solidFill>
                            <a:srgbClr val="F2F1E9"/>
                          </a:solidFill>
                          <a:latin typeface="DejaVu Sans"/>
                          <a:ea typeface="DejaVu Sans"/>
                          <a:cs typeface="DejaVu Sans"/>
                        </a:rPr>
                        <a:t>S0001</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B001</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NA</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Навеска 1</a:t>
                      </a:r>
                    </a:p>
                  </a:txBody>
                  <a:tcPr marL="142875" marR="114300" marT="95250" marB="95250" anchor="ctr">
                    <a:solidFill>
                      <a:srgbClr val="101923"/>
                    </a:solidFill>
                  </a:tcPr>
                </a:tc>
              </a:tr>
              <a:tr h="742950">
                <a:tc>
                  <a:txBody>
                    <a:bodyPr anchor="ctr">
                      <a:noAutofit/>
                    </a:bodyPr>
                    <a:lstStyle/>
                    <a:p>
                      <a:r>
                        <a:rPr sz="1875" b="0">
                          <a:solidFill>
                            <a:srgbClr val="F2F1E9"/>
                          </a:solidFill>
                          <a:latin typeface="DejaVu Sans"/>
                          <a:ea typeface="DejaVu Sans"/>
                          <a:cs typeface="DejaVu Sans"/>
                        </a:rPr>
                        <a:t>S0002</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B001</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NA</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Навеска 2</a:t>
                      </a:r>
                    </a:p>
                  </a:txBody>
                  <a:tcPr marL="142875" marR="114300" marT="95250" marB="95250" anchor="ctr">
                    <a:solidFill>
                      <a:srgbClr val="14212D"/>
                    </a:solidFill>
                  </a:tcPr>
                </a:tc>
              </a:tr>
              <a:tr h="742950">
                <a:tc>
                  <a:txBody>
                    <a:bodyPr anchor="ctr">
                      <a:noAutofit/>
                    </a:bodyPr>
                    <a:lstStyle/>
                    <a:p>
                      <a:r>
                        <a:rPr sz="1875" b="0">
                          <a:solidFill>
                            <a:srgbClr val="F2F1E9"/>
                          </a:solidFill>
                          <a:latin typeface="DejaVu Sans"/>
                          <a:ea typeface="DejaVu Sans"/>
                          <a:cs typeface="DejaVu Sans"/>
                        </a:rPr>
                        <a:t>S0013</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B001</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S0001</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Фракция после</a:t>
                      </a:r>
                    </a:p>
                    <a:p>
                      <a:r>
                        <a:rPr sz="1875" b="0">
                          <a:solidFill>
                            <a:srgbClr val="F2F1E9"/>
                          </a:solidFill>
                          <a:latin typeface="DejaVu Sans"/>
                          <a:ea typeface="DejaVu Sans"/>
                          <a:cs typeface="DejaVu Sans"/>
                        </a:rPr>
                        <a:t>обработки</a:t>
                      </a:r>
                    </a:p>
                  </a:txBody>
                  <a:tcPr marL="142875" marR="114300" marT="95250" marB="95250" anchor="ctr">
                    <a:solidFill>
                      <a:srgbClr val="101923"/>
                    </a:solidFill>
                  </a:tcPr>
                </a:tc>
              </a:tr>
            </a:tbl>
          </a:graphicData>
        </a:graphic>
      </p:graphicFrame>
      <p:sp>
        <p:nvSpPr>
          <p:cNvPr id="4" name="">
            <a:extLst xmlns:a="http://schemas.openxmlformats.org/drawingml/2006/main">
              <a:ext uri="{FF2B5EF4-FFF2-40B4-BE49-F238E27FC236}">
                <a16:creationId xmlns:a16="http://schemas.microsoft.com/office/drawing/2014/main" id="{96F36147-C6E1-474D-86D1-C64325209535}"/>
              </a:ext>
            </a:extLst>
          </p:cNvPr>
          <p:cNvSpPr>
            <a:spLocks xmlns:a="http://schemas.openxmlformats.org/drawingml/2006/main" noGrp="1"/>
          </p:cNvSpPr>
          <p:nvPr/>
        </p:nvSpPr>
        <p:spPr>
          <a:xfrm xmlns:a="http://schemas.openxmlformats.org/drawingml/2006/main">
            <a:off x="609600" y="50101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B6C3D0"/>
                </a:solidFill>
                <a:latin typeface="DejaVu Sans"/>
                <a:ea typeface="DejaVu Sans"/>
                <a:cs typeface="DejaVu Sans"/>
              </a:defRPr>
            </a:pPr>
            <a:r>
              <a:rPr sz="1950" b="0">
                <a:solidFill>
                  <a:srgbClr val="B6C3D0"/>
                </a:solidFill>
                <a:latin typeface="DejaVu Sans"/>
                <a:ea typeface="DejaVu Sans"/>
                <a:cs typeface="DejaVu Sans"/>
              </a:rPr>
              <a:t>NA здесь означает отсутствие родительского образца в этом реестре.</a:t>
            </a:r>
          </a:p>
        </p:txBody>
      </p:sp>
      <p:sp>
        <p:nvSpPr>
          <p:cNvPr id="5" name="">
            <a:extLst xmlns:a="http://schemas.openxmlformats.org/drawingml/2006/main">
              <a:ext uri="{FF2B5EF4-FFF2-40B4-BE49-F238E27FC236}">
                <a16:creationId xmlns:a16="http://schemas.microsoft.com/office/drawing/2014/main" id="{EDC8080A-C5C9-419F-BE29-E42307AE58AC}"/>
              </a:ext>
            </a:extLst>
          </p:cNvPr>
          <p:cNvSpPr>
            <a:spLocks xmlns:a="http://schemas.openxmlformats.org/drawingml/2006/main" noGrp="1"/>
          </p:cNvSpPr>
          <p:nvPr/>
        </p:nvSpPr>
        <p:spPr>
          <a:xfrm xmlns:a="http://schemas.openxmlformats.org/drawingml/2006/main">
            <a:off x="609600" y="56959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Новый запуск прибора получает measurement_id, сохраняя sample_id.</a:t>
            </a:r>
          </a:p>
        </p:txBody>
      </p:sp>
    </p:spTree>
    <p:extLst>
      <p:ext uri="{BB962C8B-B14F-4D97-AF65-F5344CB8AC3E}">
        <p14:creationId xmlns:p14="http://schemas.microsoft.com/office/powerpoint/2010/main" val="185482032"/>
      </p:ext>
    </p:extLst>
  </p:cSld>
</p:sld>
</file>

<file path=ppt/slides/slide14.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9736E1-46D8-45F0-95FB-A1ECBEBE77FB}"/>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Единицы измерения входят в схему данных</a:t>
            </a:r>
          </a:p>
        </p:txBody>
      </p:sp>
      <p:sp>
        <p:nvSpPr>
          <p:cNvPr id="2" name="">
            <a:extLst xmlns:a="http://schemas.openxmlformats.org/drawingml/2006/main">
              <a:ext uri="{FF2B5EF4-FFF2-40B4-BE49-F238E27FC236}">
                <a16:creationId xmlns:a16="http://schemas.microsoft.com/office/drawing/2014/main" id="{E13978C9-376A-45E5-B977-6A5E3A7D7F95}"/>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14 / 44</a:t>
            </a:r>
          </a:p>
        </p:txBody>
      </p:sp>
      <p:graphicFrame>
        <p:nvGraphicFramePr>
          <p:cNvPr id="7" name=""/>
          <p:cNvGraphicFramePr/>
          <p:nvPr/>
        </p:nvGraphicFramePr>
        <p:xfrm>
          <a:off xmlns:a="http://schemas.openxmlformats.org/drawingml/2006/main" x="609600" y="1619250"/>
          <a:ext xmlns:a="http://schemas.openxmlformats.org/drawingml/2006/main" cx="10972800" cy="3257550"/>
        </p:xfrm>
        <a:graphic xmlns:a="http://schemas.openxmlformats.org/drawingml/2006/main">
          <a:graphicData uri="http://schemas.openxmlformats.org/drawingml/2006/table">
            <a:tbl>
              <a:tblPr firstRow="0" bandRow="0"/>
              <a:tblGrid>
                <a:gridCol w="3470031"/>
                <a:gridCol w="3094892"/>
                <a:gridCol w="1875692"/>
                <a:gridCol w="2532185"/>
              </a:tblGrid>
              <a:tr h="651510">
                <a:tc>
                  <a:txBody>
                    <a:bodyPr anchor="ctr">
                      <a:noAutofit/>
                    </a:bodyPr>
                    <a:lstStyle/>
                    <a:p>
                      <a:r>
                        <a:rPr sz="1800" b="1">
                          <a:solidFill>
                            <a:srgbClr val="81DFCE"/>
                          </a:solidFill>
                          <a:latin typeface="DejaVu Sans"/>
                          <a:ea typeface="DejaVu Sans"/>
                          <a:cs typeface="DejaVu Sans"/>
                        </a:rPr>
                        <a:t>Величина</a:t>
                      </a:r>
                    </a:p>
                  </a:txBody>
                  <a:tcPr marL="142875" marR="114300" marT="95250" marB="95250" anchor="ctr">
                    <a:solidFill>
                      <a:srgbClr val="21343F"/>
                    </a:solidFill>
                  </a:tcPr>
                </a:tc>
                <a:tc>
                  <a:txBody>
                    <a:bodyPr anchor="ctr">
                      <a:noAutofit/>
                    </a:bodyPr>
                    <a:lstStyle/>
                    <a:p>
                      <a:r>
                        <a:rPr sz="1800" b="1">
                          <a:solidFill>
                            <a:srgbClr val="81DFCE"/>
                          </a:solidFill>
                          <a:latin typeface="DejaVu Sans"/>
                          <a:ea typeface="DejaVu Sans"/>
                          <a:cs typeface="DejaVu Sans"/>
                        </a:rPr>
                        <a:t>Столбец</a:t>
                      </a:r>
                    </a:p>
                  </a:txBody>
                  <a:tcPr marL="142875" marR="114300" marT="95250" marB="95250" anchor="ctr">
                    <a:solidFill>
                      <a:srgbClr val="21343F"/>
                    </a:solidFill>
                  </a:tcPr>
                </a:tc>
                <a:tc>
                  <a:txBody>
                    <a:bodyPr anchor="ctr">
                      <a:noAutofit/>
                    </a:bodyPr>
                    <a:lstStyle/>
                    <a:p>
                      <a:r>
                        <a:rPr sz="1800" b="1">
                          <a:solidFill>
                            <a:srgbClr val="81DFCE"/>
                          </a:solidFill>
                          <a:latin typeface="DejaVu Sans"/>
                          <a:ea typeface="DejaVu Sans"/>
                          <a:cs typeface="DejaVu Sans"/>
                        </a:rPr>
                        <a:t>Единица</a:t>
                      </a:r>
                    </a:p>
                  </a:txBody>
                  <a:tcPr marL="142875" marR="114300" marT="95250" marB="95250" anchor="ctr">
                    <a:solidFill>
                      <a:srgbClr val="21343F"/>
                    </a:solidFill>
                  </a:tcPr>
                </a:tc>
                <a:tc>
                  <a:txBody>
                    <a:bodyPr anchor="ctr">
                      <a:noAutofit/>
                    </a:bodyPr>
                    <a:lstStyle/>
                    <a:p>
                      <a:r>
                        <a:rPr sz="1800" b="1">
                          <a:solidFill>
                            <a:srgbClr val="81DFCE"/>
                          </a:solidFill>
                          <a:latin typeface="DejaVu Sans"/>
                          <a:ea typeface="DejaVu Sans"/>
                          <a:cs typeface="DejaVu Sans"/>
                        </a:rPr>
                        <a:t>Число в ячейке</a:t>
                      </a:r>
                    </a:p>
                  </a:txBody>
                  <a:tcPr marL="142875" marR="114300" marT="95250" marB="95250" anchor="ctr">
                    <a:solidFill>
                      <a:srgbClr val="21343F"/>
                    </a:solidFill>
                  </a:tcPr>
                </a:tc>
              </a:tr>
              <a:tr h="651510">
                <a:tc>
                  <a:txBody>
                    <a:bodyPr anchor="ctr">
                      <a:noAutofit/>
                    </a:bodyPr>
                    <a:lstStyle/>
                    <a:p>
                      <a:r>
                        <a:rPr sz="1800" b="0">
                          <a:solidFill>
                            <a:srgbClr val="F2F1E9"/>
                          </a:solidFill>
                          <a:latin typeface="DejaVu Sans"/>
                          <a:ea typeface="DejaVu Sans"/>
                          <a:cs typeface="DejaVu Sans"/>
                        </a:rPr>
                        <a:t>Масса навески</a:t>
                      </a:r>
                    </a:p>
                  </a:txBody>
                  <a:tcPr marL="142875" marR="114300" marT="95250" marB="95250" anchor="ctr">
                    <a:solidFill>
                      <a:srgbClr val="101923"/>
                    </a:solidFill>
                  </a:tcPr>
                </a:tc>
                <a:tc>
                  <a:txBody>
                    <a:bodyPr anchor="ctr">
                      <a:noAutofit/>
                    </a:bodyPr>
                    <a:lstStyle/>
                    <a:p>
                      <a:r>
                        <a:rPr sz="1800" b="0">
                          <a:solidFill>
                            <a:srgbClr val="F2F1E9"/>
                          </a:solidFill>
                          <a:latin typeface="DejaVu Sans"/>
                          <a:ea typeface="DejaVu Sans"/>
                          <a:cs typeface="DejaVu Sans"/>
                        </a:rPr>
                        <a:t>mass_mg</a:t>
                      </a:r>
                    </a:p>
                  </a:txBody>
                  <a:tcPr marL="142875" marR="114300" marT="95250" marB="95250" anchor="ctr">
                    <a:solidFill>
                      <a:srgbClr val="101923"/>
                    </a:solidFill>
                  </a:tcPr>
                </a:tc>
                <a:tc>
                  <a:txBody>
                    <a:bodyPr anchor="ctr">
                      <a:noAutofit/>
                    </a:bodyPr>
                    <a:lstStyle/>
                    <a:p>
                      <a:r>
                        <a:rPr sz="1800" b="0">
                          <a:solidFill>
                            <a:srgbClr val="F2F1E9"/>
                          </a:solidFill>
                          <a:latin typeface="DejaVu Sans"/>
                          <a:ea typeface="DejaVu Sans"/>
                          <a:cs typeface="DejaVu Sans"/>
                        </a:rPr>
                        <a:t>mg</a:t>
                      </a:r>
                    </a:p>
                  </a:txBody>
                  <a:tcPr marL="142875" marR="114300" marT="95250" marB="95250" anchor="ctr">
                    <a:solidFill>
                      <a:srgbClr val="101923"/>
                    </a:solidFill>
                  </a:tcPr>
                </a:tc>
                <a:tc>
                  <a:txBody>
                    <a:bodyPr anchor="ctr">
                      <a:noAutofit/>
                    </a:bodyPr>
                    <a:lstStyle/>
                    <a:p>
                      <a:r>
                        <a:rPr sz="1800" b="0">
                          <a:solidFill>
                            <a:srgbClr val="F2F1E9"/>
                          </a:solidFill>
                          <a:latin typeface="DejaVu Sans"/>
                          <a:ea typeface="DejaVu Sans"/>
                          <a:cs typeface="DejaVu Sans"/>
                        </a:rPr>
                        <a:t>12.5</a:t>
                      </a:r>
                    </a:p>
                  </a:txBody>
                  <a:tcPr marL="142875" marR="114300" marT="95250" marB="95250" anchor="ctr">
                    <a:solidFill>
                      <a:srgbClr val="101923"/>
                    </a:solidFill>
                  </a:tcPr>
                </a:tc>
              </a:tr>
              <a:tr h="651510">
                <a:tc>
                  <a:txBody>
                    <a:bodyPr anchor="ctr">
                      <a:noAutofit/>
                    </a:bodyPr>
                    <a:lstStyle/>
                    <a:p>
                      <a:r>
                        <a:rPr sz="1800" b="0">
                          <a:solidFill>
                            <a:srgbClr val="F2F1E9"/>
                          </a:solidFill>
                          <a:latin typeface="DejaVu Sans"/>
                          <a:ea typeface="DejaVu Sans"/>
                          <a:cs typeface="DejaVu Sans"/>
                        </a:rPr>
                        <a:t>Температура отжига</a:t>
                      </a:r>
                    </a:p>
                  </a:txBody>
                  <a:tcPr marL="142875" marR="114300" marT="95250" marB="95250" anchor="ctr">
                    <a:solidFill>
                      <a:srgbClr val="14212D"/>
                    </a:solidFill>
                  </a:tcPr>
                </a:tc>
                <a:tc>
                  <a:txBody>
                    <a:bodyPr anchor="ctr">
                      <a:noAutofit/>
                    </a:bodyPr>
                    <a:lstStyle/>
                    <a:p>
                      <a:r>
                        <a:rPr sz="1800" b="0">
                          <a:solidFill>
                            <a:srgbClr val="F2F1E9"/>
                          </a:solidFill>
                          <a:latin typeface="DejaVu Sans"/>
                          <a:ea typeface="DejaVu Sans"/>
                          <a:cs typeface="DejaVu Sans"/>
                        </a:rPr>
                        <a:t>temperature_C</a:t>
                      </a:r>
                    </a:p>
                  </a:txBody>
                  <a:tcPr marL="142875" marR="114300" marT="95250" marB="95250" anchor="ctr">
                    <a:solidFill>
                      <a:srgbClr val="14212D"/>
                    </a:solidFill>
                  </a:tcPr>
                </a:tc>
                <a:tc>
                  <a:txBody>
                    <a:bodyPr anchor="ctr">
                      <a:noAutofit/>
                    </a:bodyPr>
                    <a:lstStyle/>
                    <a:p>
                      <a:r>
                        <a:rPr sz="1800" b="0">
                          <a:solidFill>
                            <a:srgbClr val="F2F1E9"/>
                          </a:solidFill>
                          <a:latin typeface="DejaVu Sans"/>
                          <a:ea typeface="DejaVu Sans"/>
                          <a:cs typeface="DejaVu Sans"/>
                        </a:rPr>
                        <a:t>°C</a:t>
                      </a:r>
                    </a:p>
                  </a:txBody>
                  <a:tcPr marL="142875" marR="114300" marT="95250" marB="95250" anchor="ctr">
                    <a:solidFill>
                      <a:srgbClr val="14212D"/>
                    </a:solidFill>
                  </a:tcPr>
                </a:tc>
                <a:tc>
                  <a:txBody>
                    <a:bodyPr anchor="ctr">
                      <a:noAutofit/>
                    </a:bodyPr>
                    <a:lstStyle/>
                    <a:p>
                      <a:r>
                        <a:rPr sz="1800" b="0">
                          <a:solidFill>
                            <a:srgbClr val="F2F1E9"/>
                          </a:solidFill>
                          <a:latin typeface="DejaVu Sans"/>
                          <a:ea typeface="DejaVu Sans"/>
                          <a:cs typeface="DejaVu Sans"/>
                        </a:rPr>
                        <a:t>600</a:t>
                      </a:r>
                    </a:p>
                  </a:txBody>
                  <a:tcPr marL="142875" marR="114300" marT="95250" marB="95250" anchor="ctr">
                    <a:solidFill>
                      <a:srgbClr val="14212D"/>
                    </a:solidFill>
                  </a:tcPr>
                </a:tc>
              </a:tr>
              <a:tr h="651510">
                <a:tc>
                  <a:txBody>
                    <a:bodyPr anchor="ctr">
                      <a:noAutofit/>
                    </a:bodyPr>
                    <a:lstStyle/>
                    <a:p>
                      <a:r>
                        <a:rPr sz="1800" b="0">
                          <a:solidFill>
                            <a:srgbClr val="F2F1E9"/>
                          </a:solidFill>
                          <a:latin typeface="DejaVu Sans"/>
                          <a:ea typeface="DejaVu Sans"/>
                          <a:cs typeface="DejaVu Sans"/>
                        </a:rPr>
                        <a:t>Удельная намагниченность</a:t>
                      </a:r>
                    </a:p>
                  </a:txBody>
                  <a:tcPr marL="142875" marR="114300" marT="95250" marB="95250" anchor="ctr">
                    <a:solidFill>
                      <a:srgbClr val="101923"/>
                    </a:solidFill>
                  </a:tcPr>
                </a:tc>
                <a:tc>
                  <a:txBody>
                    <a:bodyPr anchor="ctr">
                      <a:noAutofit/>
                    </a:bodyPr>
                    <a:lstStyle/>
                    <a:p>
                      <a:r>
                        <a:rPr sz="1800" b="0">
                          <a:solidFill>
                            <a:srgbClr val="F2F1E9"/>
                          </a:solidFill>
                          <a:latin typeface="DejaVu Sans"/>
                          <a:ea typeface="DejaVu Sans"/>
                          <a:cs typeface="DejaVu Sans"/>
                        </a:rPr>
                        <a:t>sigma_Am2_kg</a:t>
                      </a:r>
                    </a:p>
                  </a:txBody>
                  <a:tcPr marL="142875" marR="114300" marT="95250" marB="95250" anchor="ctr">
                    <a:solidFill>
                      <a:srgbClr val="101923"/>
                    </a:solidFill>
                  </a:tcPr>
                </a:tc>
                <a:tc>
                  <a:txBody>
                    <a:bodyPr anchor="ctr">
                      <a:noAutofit/>
                    </a:bodyPr>
                    <a:lstStyle/>
                    <a:p>
                      <a:r>
                        <a:rPr sz="1800" b="0">
                          <a:solidFill>
                            <a:srgbClr val="F2F1E9"/>
                          </a:solidFill>
                          <a:latin typeface="DejaVu Sans"/>
                          <a:ea typeface="DejaVu Sans"/>
                          <a:cs typeface="DejaVu Sans"/>
                        </a:rPr>
                        <a:t>A·m²/kg</a:t>
                      </a:r>
                    </a:p>
                  </a:txBody>
                  <a:tcPr marL="142875" marR="114300" marT="95250" marB="95250" anchor="ctr">
                    <a:solidFill>
                      <a:srgbClr val="101923"/>
                    </a:solidFill>
                  </a:tcPr>
                </a:tc>
                <a:tc>
                  <a:txBody>
                    <a:bodyPr anchor="ctr">
                      <a:noAutofit/>
                    </a:bodyPr>
                    <a:lstStyle/>
                    <a:p>
                      <a:r>
                        <a:rPr sz="1800" b="0">
                          <a:solidFill>
                            <a:srgbClr val="F2F1E9"/>
                          </a:solidFill>
                          <a:latin typeface="DejaVu Sans"/>
                          <a:ea typeface="DejaVu Sans"/>
                          <a:cs typeface="DejaVu Sans"/>
                        </a:rPr>
                        <a:t>48.2</a:t>
                      </a:r>
                    </a:p>
                  </a:txBody>
                  <a:tcPr marL="142875" marR="114300" marT="95250" marB="95250" anchor="ctr">
                    <a:solidFill>
                      <a:srgbClr val="101923"/>
                    </a:solidFill>
                  </a:tcPr>
                </a:tc>
              </a:tr>
              <a:tr h="651510">
                <a:tc>
                  <a:txBody>
                    <a:bodyPr anchor="ctr">
                      <a:noAutofit/>
                    </a:bodyPr>
                    <a:lstStyle/>
                    <a:p>
                      <a:r>
                        <a:rPr sz="1800" b="0">
                          <a:solidFill>
                            <a:srgbClr val="F2F1E9"/>
                          </a:solidFill>
                          <a:latin typeface="DejaVu Sans"/>
                          <a:ea typeface="DejaVu Sans"/>
                          <a:cs typeface="DejaVu Sans"/>
                        </a:rPr>
                        <a:t>Концентрация</a:t>
                      </a:r>
                    </a:p>
                  </a:txBody>
                  <a:tcPr marL="142875" marR="114300" marT="95250" marB="95250" anchor="ctr">
                    <a:solidFill>
                      <a:srgbClr val="14212D"/>
                    </a:solidFill>
                  </a:tcPr>
                </a:tc>
                <a:tc>
                  <a:txBody>
                    <a:bodyPr anchor="ctr">
                      <a:noAutofit/>
                    </a:bodyPr>
                    <a:lstStyle/>
                    <a:p>
                      <a:r>
                        <a:rPr sz="1800" b="0">
                          <a:solidFill>
                            <a:srgbClr val="F2F1E9"/>
                          </a:solidFill>
                          <a:latin typeface="DejaVu Sans"/>
                          <a:ea typeface="DejaVu Sans"/>
                          <a:cs typeface="DejaVu Sans"/>
                        </a:rPr>
                        <a:t>c_mg_L</a:t>
                      </a:r>
                    </a:p>
                  </a:txBody>
                  <a:tcPr marL="142875" marR="114300" marT="95250" marB="95250" anchor="ctr">
                    <a:solidFill>
                      <a:srgbClr val="14212D"/>
                    </a:solidFill>
                  </a:tcPr>
                </a:tc>
                <a:tc>
                  <a:txBody>
                    <a:bodyPr anchor="ctr">
                      <a:noAutofit/>
                    </a:bodyPr>
                    <a:lstStyle/>
                    <a:p>
                      <a:r>
                        <a:rPr sz="1800" b="0">
                          <a:solidFill>
                            <a:srgbClr val="F2F1E9"/>
                          </a:solidFill>
                          <a:latin typeface="DejaVu Sans"/>
                          <a:ea typeface="DejaVu Sans"/>
                          <a:cs typeface="DejaVu Sans"/>
                        </a:rPr>
                        <a:t>mg/L</a:t>
                      </a:r>
                    </a:p>
                  </a:txBody>
                  <a:tcPr marL="142875" marR="114300" marT="95250" marB="95250" anchor="ctr">
                    <a:solidFill>
                      <a:srgbClr val="14212D"/>
                    </a:solidFill>
                  </a:tcPr>
                </a:tc>
                <a:tc>
                  <a:txBody>
                    <a:bodyPr anchor="ctr">
                      <a:noAutofit/>
                    </a:bodyPr>
                    <a:lstStyle/>
                    <a:p>
                      <a:r>
                        <a:rPr sz="1800" b="0">
                          <a:solidFill>
                            <a:srgbClr val="F2F1E9"/>
                          </a:solidFill>
                          <a:latin typeface="DejaVu Sans"/>
                          <a:ea typeface="DejaVu Sans"/>
                          <a:cs typeface="DejaVu Sans"/>
                        </a:rPr>
                        <a:t>0.30</a:t>
                      </a:r>
                    </a:p>
                  </a:txBody>
                  <a:tcPr marL="142875" marR="114300" marT="95250" marB="95250" anchor="ctr">
                    <a:solidFill>
                      <a:srgbClr val="14212D"/>
                    </a:solidFill>
                  </a:tcPr>
                </a:tc>
              </a:tr>
            </a:tbl>
          </a:graphicData>
        </a:graphic>
      </p:graphicFrame>
      <p:sp>
        <p:nvSpPr>
          <p:cNvPr id="4" name="">
            <a:extLst xmlns:a="http://schemas.openxmlformats.org/drawingml/2006/main">
              <a:ext uri="{FF2B5EF4-FFF2-40B4-BE49-F238E27FC236}">
                <a16:creationId xmlns:a16="http://schemas.microsoft.com/office/drawing/2014/main" id="{566353BB-BE53-482B-9F89-022282395703}"/>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В подписи: 600 °C. В числовой ячейке: 600. Значение и единицу не склеиваем.</a:t>
            </a:r>
          </a:p>
        </p:txBody>
      </p:sp>
    </p:spTree>
    <p:extLst>
      <p:ext uri="{BB962C8B-B14F-4D97-AF65-F5344CB8AC3E}">
        <p14:creationId xmlns:p14="http://schemas.microsoft.com/office/powerpoint/2010/main" val="2024302093"/>
      </p:ext>
    </p:extLst>
  </p:cSld>
</p:sld>
</file>

<file path=ppt/slides/slide15.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A7848C-23CB-4BE2-82CA-6EA72BD45E9B}"/>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Преобразование единиц в коде</a:t>
            </a:r>
          </a:p>
        </p:txBody>
      </p:sp>
      <p:sp>
        <p:nvSpPr>
          <p:cNvPr id="2" name="">
            <a:extLst xmlns:a="http://schemas.openxmlformats.org/drawingml/2006/main">
              <a:ext uri="{FF2B5EF4-FFF2-40B4-BE49-F238E27FC236}">
                <a16:creationId xmlns:a16="http://schemas.microsoft.com/office/drawing/2014/main" id="{B81235DC-3163-4D2D-BBBE-0392EC9A0F19}"/>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15 / 44</a:t>
            </a:r>
          </a:p>
        </p:txBody>
      </p:sp>
      <p:sp>
        <p:nvSpPr>
          <p:cNvPr id="3" name="">
            <a:extLst xmlns:a="http://schemas.openxmlformats.org/drawingml/2006/main">
              <a:ext uri="{FF2B5EF4-FFF2-40B4-BE49-F238E27FC236}">
                <a16:creationId xmlns:a16="http://schemas.microsoft.com/office/drawing/2014/main" id="{CC92822E-5F8E-46BD-BD4E-380F933323D6}"/>
              </a:ext>
            </a:extLst>
          </p:cNvPr>
          <p:cNvSpPr>
            <a:spLocks xmlns:a="http://schemas.openxmlformats.org/drawingml/2006/main" noGrp="1"/>
          </p:cNvSpPr>
          <p:nvPr/>
        </p:nvSpPr>
        <p:spPr>
          <a:xfrm xmlns:a="http://schemas.openxmlformats.org/drawingml/2006/main">
            <a:off x="609600" y="1714500"/>
            <a:ext cx="109728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0">
                <a:solidFill>
                  <a:srgbClr val="F2F1E9"/>
                </a:solidFill>
                <a:latin typeface="DejaVu Sans Mono"/>
                <a:ea typeface="DejaVu Sans Mono"/>
                <a:cs typeface="DejaVu Sans Mono"/>
              </a:defRPr>
            </a:pPr>
            <a:r>
              <a:rPr sz="2175" b="0">
                <a:solidFill>
                  <a:srgbClr val="F2F1E9"/>
                </a:solidFill>
                <a:latin typeface="DejaVu Sans Mono"/>
                <a:ea typeface="DejaVu Sans Mono"/>
                <a:cs typeface="DejaVu Sans Mono"/>
              </a:rPr>
              <a:t>df["mass_kg"] = df["mass_mg"] * 1e-6</a:t>
            </a:r>
          </a:p>
          <a:p xmlns:a="http://schemas.openxmlformats.org/drawingml/2006/main">
            <a:r>
              <a:t/>
            </a:r>
          </a:p>
          <a:p xmlns:a="http://schemas.openxmlformats.org/drawingml/2006/main">
            <a:pPr>
              <a:lnSpc>
                <a:spcPct val="112000"/>
              </a:lnSpc>
              <a:buNone/>
              <a:defRPr sz="2175" b="0">
                <a:solidFill>
                  <a:srgbClr val="F2F1E9"/>
                </a:solidFill>
                <a:latin typeface="DejaVu Sans Mono"/>
                <a:ea typeface="DejaVu Sans Mono"/>
                <a:cs typeface="DejaVu Sans Mono"/>
              </a:defRPr>
            </a:pPr>
            <a:r>
              <a:rPr sz="2175" b="0">
                <a:solidFill>
                  <a:srgbClr val="F2F1E9"/>
                </a:solidFill>
                <a:latin typeface="DejaVu Sans Mono"/>
                <a:ea typeface="DejaVu Sans Mono"/>
                <a:cs typeface="DejaVu Sans Mono"/>
              </a:rPr>
              <a:t>df["temperature_K"] = (</a:t>
            </a:r>
          </a:p>
          <a:p xmlns:a="http://schemas.openxmlformats.org/drawingml/2006/main">
            <a:pPr>
              <a:lnSpc>
                <a:spcPct val="112000"/>
              </a:lnSpc>
              <a:buNone/>
              <a:defRPr sz="2175" b="0">
                <a:solidFill>
                  <a:srgbClr val="F2F1E9"/>
                </a:solidFill>
                <a:latin typeface="DejaVu Sans Mono"/>
                <a:ea typeface="DejaVu Sans Mono"/>
                <a:cs typeface="DejaVu Sans Mono"/>
              </a:defRPr>
            </a:pPr>
            <a:r>
              <a:rPr sz="2175" b="0">
                <a:solidFill>
                  <a:srgbClr val="F2F1E9"/>
                </a:solidFill>
                <a:latin typeface="DejaVu Sans Mono"/>
                <a:ea typeface="DejaVu Sans Mono"/>
                <a:cs typeface="DejaVu Sans Mono"/>
              </a:rPr>
              <a:t>    df["temperature_C"] + 273.15</a:t>
            </a:r>
          </a:p>
          <a:p xmlns:a="http://schemas.openxmlformats.org/drawingml/2006/main">
            <a:pPr>
              <a:lnSpc>
                <a:spcPct val="112000"/>
              </a:lnSpc>
              <a:buNone/>
              <a:defRPr sz="2175" b="0">
                <a:solidFill>
                  <a:srgbClr val="F2F1E9"/>
                </a:solidFill>
                <a:latin typeface="DejaVu Sans Mono"/>
                <a:ea typeface="DejaVu Sans Mono"/>
                <a:cs typeface="DejaVu Sans Mono"/>
              </a:defRPr>
            </a:pPr>
            <a:r>
              <a:rPr sz="2175" b="0">
                <a:solidFill>
                  <a:srgbClr val="F2F1E9"/>
                </a:solidFill>
                <a:latin typeface="DejaVu Sans Mono"/>
                <a:ea typeface="DejaVu Sans Mono"/>
                <a:cs typeface="DejaVu Sans Mono"/>
              </a:rPr>
              <a:t>)</a:t>
            </a:r>
          </a:p>
          <a:p xmlns:a="http://schemas.openxmlformats.org/drawingml/2006/main">
            <a:r>
              <a:t/>
            </a:r>
          </a:p>
          <a:p xmlns:a="http://schemas.openxmlformats.org/drawingml/2006/main">
            <a:pPr>
              <a:lnSpc>
                <a:spcPct val="112000"/>
              </a:lnSpc>
              <a:buNone/>
              <a:defRPr sz="2175" b="0">
                <a:solidFill>
                  <a:srgbClr val="F2F1E9"/>
                </a:solidFill>
                <a:latin typeface="DejaVu Sans Mono"/>
                <a:ea typeface="DejaVu Sans Mono"/>
                <a:cs typeface="DejaVu Sans Mono"/>
              </a:defRPr>
            </a:pPr>
            <a:r>
              <a:rPr sz="2175" b="0">
                <a:solidFill>
                  <a:srgbClr val="F2F1E9"/>
                </a:solidFill>
                <a:latin typeface="DejaVu Sans Mono"/>
                <a:ea typeface="DejaVu Sans Mono"/>
                <a:cs typeface="DejaVu Sans Mono"/>
              </a:rPr>
              <a:t># Проверка известного значения</a:t>
            </a:r>
          </a:p>
          <a:p xmlns:a="http://schemas.openxmlformats.org/drawingml/2006/main">
            <a:pPr>
              <a:lnSpc>
                <a:spcPct val="112000"/>
              </a:lnSpc>
              <a:buNone/>
              <a:defRPr sz="2175" b="0">
                <a:solidFill>
                  <a:srgbClr val="F2F1E9"/>
                </a:solidFill>
                <a:latin typeface="DejaVu Sans Mono"/>
                <a:ea typeface="DejaVu Sans Mono"/>
                <a:cs typeface="DejaVu Sans Mono"/>
              </a:defRPr>
            </a:pPr>
            <a:r>
              <a:rPr sz="2175" b="0">
                <a:solidFill>
                  <a:srgbClr val="F2F1E9"/>
                </a:solidFill>
                <a:latin typeface="DejaVu Sans Mono"/>
                <a:ea typeface="DejaVu Sans Mono"/>
                <a:cs typeface="DejaVu Sans Mono"/>
              </a:rPr>
              <a:t>assert abs(600 + 273.15 - 873.15) &lt; 1e-9</a:t>
            </a:r>
          </a:p>
        </p:txBody>
      </p:sp>
      <p:sp>
        <p:nvSpPr>
          <p:cNvPr id="4" name="">
            <a:extLst xmlns:a="http://schemas.openxmlformats.org/drawingml/2006/main">
              <a:ext uri="{FF2B5EF4-FFF2-40B4-BE49-F238E27FC236}">
                <a16:creationId xmlns:a16="http://schemas.microsoft.com/office/drawing/2014/main" id="{A8423FD6-CE33-40B9-A7BB-33E23215596E}"/>
              </a:ext>
            </a:extLst>
          </p:cNvPr>
          <p:cNvSpPr>
            <a:spLocks xmlns:a="http://schemas.openxmlformats.org/drawingml/2006/main" noGrp="1"/>
          </p:cNvSpPr>
          <p:nvPr/>
        </p:nvSpPr>
        <p:spPr>
          <a:xfrm xmlns:a="http://schemas.openxmlformats.org/drawingml/2006/main">
            <a:off x="609600" y="54102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F1B766"/>
                </a:solidFill>
                <a:latin typeface="DejaVu Sans"/>
                <a:ea typeface="DejaVu Sans"/>
                <a:cs typeface="DejaVu Sans"/>
              </a:defRPr>
            </a:pPr>
            <a:r>
              <a:rPr sz="1950" b="0">
                <a:solidFill>
                  <a:srgbClr val="F1B766"/>
                </a:solidFill>
                <a:latin typeface="DejaVu Sans"/>
                <a:ea typeface="DejaVu Sans"/>
                <a:cs typeface="DejaVu Sans"/>
              </a:rPr>
              <a:t>12.5 mg = 0.0000125 kg     600 °C = 873.15 K</a:t>
            </a:r>
          </a:p>
        </p:txBody>
      </p:sp>
      <p:sp>
        <p:nvSpPr>
          <p:cNvPr id="5" name="">
            <a:extLst xmlns:a="http://schemas.openxmlformats.org/drawingml/2006/main">
              <a:ext uri="{FF2B5EF4-FFF2-40B4-BE49-F238E27FC236}">
                <a16:creationId xmlns:a16="http://schemas.microsoft.com/office/drawing/2014/main" id="{69FB750D-5134-43FB-B07E-CC31C8F873E5}"/>
              </a:ext>
            </a:extLst>
          </p:cNvPr>
          <p:cNvSpPr>
            <a:spLocks xmlns:a="http://schemas.openxmlformats.org/drawingml/2006/main" noGrp="1"/>
          </p:cNvSpPr>
          <p:nvPr/>
        </p:nvSpPr>
        <p:spPr>
          <a:xfrm xmlns:a="http://schemas.openxmlformats.org/drawingml/2006/main">
            <a:off x="609600" y="60007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B6C3D0"/>
                </a:solidFill>
                <a:latin typeface="DejaVu Sans"/>
                <a:ea typeface="DejaVu Sans"/>
                <a:cs typeface="DejaVu Sans"/>
              </a:defRPr>
            </a:pPr>
            <a:r>
              <a:rPr sz="1800" b="0">
                <a:solidFill>
                  <a:srgbClr val="B6C3D0"/>
                </a:solidFill>
                <a:latin typeface="DejaVu Sans"/>
                <a:ea typeface="DejaVu Sans"/>
                <a:cs typeface="DejaVu Sans"/>
              </a:rPr>
              <a:t>Исходный столбец сохраняем. Формулу преобразования записываем.</a:t>
            </a:r>
          </a:p>
        </p:txBody>
      </p:sp>
    </p:spTree>
    <p:extLst>
      <p:ext uri="{BB962C8B-B14F-4D97-AF65-F5344CB8AC3E}">
        <p14:creationId xmlns:p14="http://schemas.microsoft.com/office/powerpoint/2010/main" val="503765211"/>
      </p:ext>
    </p:extLst>
  </p:cSld>
</p:sld>
</file>

<file path=ppt/slides/slide16.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DC6B65-0854-42F2-BA66-04EE142DF9E4}"/>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Пустая ячейка может означать разное</a:t>
            </a:r>
          </a:p>
        </p:txBody>
      </p:sp>
      <p:sp>
        <p:nvSpPr>
          <p:cNvPr id="2" name="">
            <a:extLst xmlns:a="http://schemas.openxmlformats.org/drawingml/2006/main">
              <a:ext uri="{FF2B5EF4-FFF2-40B4-BE49-F238E27FC236}">
                <a16:creationId xmlns:a16="http://schemas.microsoft.com/office/drawing/2014/main" id="{A0C8A0CC-6D3A-4A6D-A015-00167E4AC9B3}"/>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16 / 44</a:t>
            </a:r>
          </a:p>
        </p:txBody>
      </p:sp>
      <p:graphicFrame>
        <p:nvGraphicFramePr>
          <p:cNvPr id="7" name=""/>
          <p:cNvGraphicFramePr/>
          <p:nvPr/>
        </p:nvGraphicFramePr>
        <p:xfrm>
          <a:off xmlns:a="http://schemas.openxmlformats.org/drawingml/2006/main" x="609600" y="1619250"/>
          <a:ext xmlns:a="http://schemas.openxmlformats.org/drawingml/2006/main" cx="10972800" cy="3295650"/>
        </p:xfrm>
        <a:graphic xmlns:a="http://schemas.openxmlformats.org/drawingml/2006/main">
          <a:graphicData uri="http://schemas.openxmlformats.org/drawingml/2006/table">
            <a:tbl>
              <a:tblPr firstRow="0" bandRow="0"/>
              <a:tblGrid>
                <a:gridCol w="5374433"/>
                <a:gridCol w="1679510"/>
                <a:gridCol w="3918857"/>
              </a:tblGrid>
              <a:tr h="659130">
                <a:tc>
                  <a:txBody>
                    <a:bodyPr anchor="ctr">
                      <a:noAutofit/>
                    </a:bodyPr>
                    <a:lstStyle/>
                    <a:p>
                      <a:r>
                        <a:rPr sz="1950" b="1">
                          <a:solidFill>
                            <a:srgbClr val="81DFCE"/>
                          </a:solidFill>
                          <a:latin typeface="DejaVu Sans"/>
                          <a:ea typeface="DejaVu Sans"/>
                          <a:cs typeface="DejaVu Sans"/>
                        </a:rPr>
                        <a:t>Ситуация</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value</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status</a:t>
                      </a:r>
                    </a:p>
                  </a:txBody>
                  <a:tcPr marL="142875" marR="114300" marT="95250" marB="95250" anchor="ctr">
                    <a:solidFill>
                      <a:srgbClr val="21343F"/>
                    </a:solidFill>
                  </a:tcPr>
                </a:tc>
              </a:tr>
              <a:tr h="659130">
                <a:tc>
                  <a:txBody>
                    <a:bodyPr anchor="ctr">
                      <a:noAutofit/>
                    </a:bodyPr>
                    <a:lstStyle/>
                    <a:p>
                      <a:r>
                        <a:rPr sz="1950" b="0">
                          <a:solidFill>
                            <a:srgbClr val="F2F1E9"/>
                          </a:solidFill>
                          <a:latin typeface="DejaVu Sans"/>
                          <a:ea typeface="DejaVu Sans"/>
                          <a:cs typeface="DejaVu Sans"/>
                        </a:rPr>
                        <a:t>Корректное измерение нуля</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0.0</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measured</a:t>
                      </a:r>
                    </a:p>
                  </a:txBody>
                  <a:tcPr marL="142875" marR="114300" marT="95250" marB="95250" anchor="ctr">
                    <a:solidFill>
                      <a:srgbClr val="101923"/>
                    </a:solidFill>
                  </a:tcPr>
                </a:tc>
              </a:tr>
              <a:tr h="659130">
                <a:tc>
                  <a:txBody>
                    <a:bodyPr anchor="ctr">
                      <a:noAutofit/>
                    </a:bodyPr>
                    <a:lstStyle/>
                    <a:p>
                      <a:r>
                        <a:rPr sz="1950" b="0">
                          <a:solidFill>
                            <a:srgbClr val="F2F1E9"/>
                          </a:solidFill>
                          <a:latin typeface="DejaVu Sans"/>
                          <a:ea typeface="DejaVu Sans"/>
                          <a:cs typeface="DejaVu Sans"/>
                        </a:rPr>
                        <a:t>Измерение не выполняли</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NA</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not_measured</a:t>
                      </a:r>
                    </a:p>
                  </a:txBody>
                  <a:tcPr marL="142875" marR="114300" marT="95250" marB="95250" anchor="ctr">
                    <a:solidFill>
                      <a:srgbClr val="14212D"/>
                    </a:solidFill>
                  </a:tcPr>
                </a:tc>
              </a:tr>
              <a:tr h="659130">
                <a:tc>
                  <a:txBody>
                    <a:bodyPr anchor="ctr">
                      <a:noAutofit/>
                    </a:bodyPr>
                    <a:lstStyle/>
                    <a:p>
                      <a:r>
                        <a:rPr sz="1950" b="0">
                          <a:solidFill>
                            <a:srgbClr val="F2F1E9"/>
                          </a:solidFill>
                          <a:latin typeface="DejaVu Sans"/>
                          <a:ea typeface="DejaVu Sans"/>
                          <a:cs typeface="DejaVu Sans"/>
                        </a:rPr>
                        <a:t>Прибор не выдал результат</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NA</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instrument_error</a:t>
                      </a:r>
                    </a:p>
                  </a:txBody>
                  <a:tcPr marL="142875" marR="114300" marT="95250" marB="95250" anchor="ctr">
                    <a:solidFill>
                      <a:srgbClr val="101923"/>
                    </a:solidFill>
                  </a:tcPr>
                </a:tc>
              </a:tr>
              <a:tr h="659130">
                <a:tc>
                  <a:txBody>
                    <a:bodyPr anchor="ctr">
                      <a:noAutofit/>
                    </a:bodyPr>
                    <a:lstStyle/>
                    <a:p>
                      <a:r>
                        <a:rPr sz="1950" b="0">
                          <a:solidFill>
                            <a:srgbClr val="F2F1E9"/>
                          </a:solidFill>
                          <a:latin typeface="DejaVu Sans"/>
                          <a:ea typeface="DejaVu Sans"/>
                          <a:cs typeface="DejaVu Sans"/>
                        </a:rPr>
                        <a:t>Известно только «ниже LOD»</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NA</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left_censored</a:t>
                      </a:r>
                    </a:p>
                  </a:txBody>
                  <a:tcPr marL="142875" marR="114300" marT="95250" marB="95250" anchor="ctr">
                    <a:solidFill>
                      <a:srgbClr val="14212D"/>
                    </a:solidFill>
                  </a:tcPr>
                </a:tc>
              </a:tr>
            </a:tbl>
          </a:graphicData>
        </a:graphic>
      </p:graphicFrame>
      <p:sp>
        <p:nvSpPr>
          <p:cNvPr id="4" name="">
            <a:extLst xmlns:a="http://schemas.openxmlformats.org/drawingml/2006/main">
              <a:ext uri="{FF2B5EF4-FFF2-40B4-BE49-F238E27FC236}">
                <a16:creationId xmlns:a16="http://schemas.microsoft.com/office/drawing/2014/main" id="{C4A46344-7759-447F-ACA6-C6A2659B8499}"/>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Число, статус и причина хранятся отдельно. Код −999 опасен в числовом поле.</a:t>
            </a:r>
          </a:p>
        </p:txBody>
      </p:sp>
    </p:spTree>
    <p:extLst>
      <p:ext uri="{BB962C8B-B14F-4D97-AF65-F5344CB8AC3E}">
        <p14:creationId xmlns:p14="http://schemas.microsoft.com/office/powerpoint/2010/main" val="1528278465"/>
      </p:ext>
    </p:extLst>
  </p:cSld>
</p:sld>
</file>

<file path=ppt/slides/slide17.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3D956F-FEDE-443F-B003-735C35EEF8D4}"/>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Пределы LOD и LOQ</a:t>
            </a:r>
          </a:p>
        </p:txBody>
      </p:sp>
      <p:sp>
        <p:nvSpPr>
          <p:cNvPr id="2" name="">
            <a:extLst xmlns:a="http://schemas.openxmlformats.org/drawingml/2006/main">
              <a:ext uri="{FF2B5EF4-FFF2-40B4-BE49-F238E27FC236}">
                <a16:creationId xmlns:a16="http://schemas.microsoft.com/office/drawing/2014/main" id="{DC7D965D-78B5-41CC-97CD-5A5FE095A7B4}"/>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17 / 44</a:t>
            </a:r>
          </a:p>
        </p:txBody>
      </p:sp>
      <p:sp>
        <p:nvSpPr>
          <p:cNvPr id="3" name="">
            <a:extLst xmlns:a="http://schemas.openxmlformats.org/drawingml/2006/main">
              <a:ext uri="{FF2B5EF4-FFF2-40B4-BE49-F238E27FC236}">
                <a16:creationId xmlns:a16="http://schemas.microsoft.com/office/drawing/2014/main" id="{BC441136-7D7F-4BF2-9E6E-78AC10DBBCD6}"/>
              </a:ext>
            </a:extLst>
          </p:cNvPr>
          <p:cNvSpPr>
            <a:spLocks xmlns:a="http://schemas.openxmlformats.org/drawingml/2006/main" noGrp="1"/>
          </p:cNvSpPr>
          <p:nvPr/>
        </p:nvSpPr>
        <p:spPr>
          <a:xfrm xmlns:a="http://schemas.openxmlformats.org/drawingml/2006/main">
            <a:off x="609600" y="13430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B6C3D0"/>
                </a:solidFill>
                <a:latin typeface="DejaVu Sans"/>
                <a:ea typeface="DejaVu Sans"/>
                <a:cs typeface="DejaVu Sans"/>
              </a:defRPr>
            </a:pPr>
            <a:r>
              <a:rPr sz="1950" b="0">
                <a:solidFill>
                  <a:srgbClr val="B6C3D0"/>
                </a:solidFill>
                <a:latin typeface="DejaVu Sans"/>
                <a:ea typeface="DejaVu Sans"/>
                <a:cs typeface="DejaVu Sans"/>
              </a:rPr>
              <a:t>LOD: обнаружение. LOQ: количественное определение.</a:t>
            </a:r>
          </a:p>
        </p:txBody>
      </p:sp>
      <p:sp>
        <p:nvSpPr>
          <p:cNvPr id="4" name="">
            <a:extLst xmlns:a="http://schemas.openxmlformats.org/drawingml/2006/main">
              <a:ext uri="{FF2B5EF4-FFF2-40B4-BE49-F238E27FC236}">
                <a16:creationId xmlns:a16="http://schemas.microsoft.com/office/drawing/2014/main" id="{2B1096A3-966F-446B-BFC9-13C74DDA88DA}"/>
              </a:ext>
            </a:extLst>
          </p:cNvPr>
          <p:cNvSpPr>
            <a:spLocks xmlns:a="http://schemas.openxmlformats.org/drawingml/2006/main" noGrp="1"/>
          </p:cNvSpPr>
          <p:nvPr/>
        </p:nvSpPr>
        <p:spPr>
          <a:xfrm xmlns:a="http://schemas.openxmlformats.org/drawingml/2006/main">
            <a:off x="609600" y="17907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F1B766"/>
                </a:solidFill>
                <a:latin typeface="DejaVu Sans"/>
                <a:ea typeface="DejaVu Sans"/>
                <a:cs typeface="DejaVu Sans"/>
              </a:defRPr>
            </a:pPr>
            <a:r>
              <a:rPr sz="2100" b="0">
                <a:solidFill>
                  <a:srgbClr val="F1B766"/>
                </a:solidFill>
                <a:latin typeface="DejaVu Sans"/>
                <a:ea typeface="DejaVu Sans"/>
                <a:cs typeface="DejaVu Sans"/>
              </a:rPr>
              <a:t>Пример: LOD = 0.05 mg/L,  LOQ = 0.15 mg/L</a:t>
            </a:r>
          </a:p>
        </p:txBody>
      </p:sp>
      <p:graphicFrame>
        <p:nvGraphicFramePr>
          <p:cNvPr id="12" name=""/>
          <p:cNvGraphicFramePr/>
          <p:nvPr/>
        </p:nvGraphicFramePr>
        <p:xfrm>
          <a:off xmlns:a="http://schemas.openxmlformats.org/drawingml/2006/main" x="609600" y="2352675"/>
          <a:ext xmlns:a="http://schemas.openxmlformats.org/drawingml/2006/main" cx="10972800" cy="2714625"/>
        </p:xfrm>
        <a:graphic xmlns:a="http://schemas.openxmlformats.org/drawingml/2006/main">
          <a:graphicData uri="http://schemas.openxmlformats.org/drawingml/2006/table">
            <a:tbl>
              <a:tblPr firstRow="0" bandRow="0"/>
              <a:tblGrid>
                <a:gridCol w="2465798"/>
                <a:gridCol w="3821987"/>
                <a:gridCol w="4685016"/>
              </a:tblGrid>
              <a:tr h="678656">
                <a:tc>
                  <a:txBody>
                    <a:bodyPr anchor="ctr">
                      <a:noAutofit/>
                    </a:bodyPr>
                    <a:lstStyle/>
                    <a:p>
                      <a:r>
                        <a:rPr sz="1875" b="1">
                          <a:solidFill>
                            <a:srgbClr val="81DFCE"/>
                          </a:solidFill>
                          <a:latin typeface="DejaVu Sans"/>
                          <a:ea typeface="DejaVu Sans"/>
                          <a:cs typeface="DejaVu Sans"/>
                        </a:rPr>
                        <a:t>Результат</a:t>
                      </a:r>
                    </a:p>
                  </a:txBody>
                  <a:tcPr marL="142875" marR="114300" marT="95250" marB="95250" anchor="ctr">
                    <a:solidFill>
                      <a:srgbClr val="21343F"/>
                    </a:solidFill>
                  </a:tcPr>
                </a:tc>
                <a:tc>
                  <a:txBody>
                    <a:bodyPr anchor="ctr">
                      <a:noAutofit/>
                    </a:bodyPr>
                    <a:lstStyle/>
                    <a:p>
                      <a:r>
                        <a:rPr sz="1875" b="1">
                          <a:solidFill>
                            <a:srgbClr val="81DFCE"/>
                          </a:solidFill>
                          <a:latin typeface="DejaVu Sans"/>
                          <a:ea typeface="DejaVu Sans"/>
                          <a:cs typeface="DejaVu Sans"/>
                        </a:rPr>
                        <a:t>Интерпретация</a:t>
                      </a:r>
                    </a:p>
                  </a:txBody>
                  <a:tcPr marL="142875" marR="114300" marT="95250" marB="95250" anchor="ctr">
                    <a:solidFill>
                      <a:srgbClr val="21343F"/>
                    </a:solidFill>
                  </a:tcPr>
                </a:tc>
                <a:tc>
                  <a:txBody>
                    <a:bodyPr anchor="ctr">
                      <a:noAutofit/>
                    </a:bodyPr>
                    <a:lstStyle/>
                    <a:p>
                      <a:r>
                        <a:rPr sz="1875" b="1">
                          <a:solidFill>
                            <a:srgbClr val="81DFCE"/>
                          </a:solidFill>
                          <a:latin typeface="DejaVu Sans"/>
                          <a:ea typeface="DejaVu Sans"/>
                          <a:cs typeface="DejaVu Sans"/>
                        </a:rPr>
                        <a:t>Что сохраняем</a:t>
                      </a:r>
                    </a:p>
                  </a:txBody>
                  <a:tcPr marL="142875" marR="114300" marT="95250" marB="95250" anchor="ctr">
                    <a:solidFill>
                      <a:srgbClr val="21343F"/>
                    </a:solidFill>
                  </a:tcPr>
                </a:tc>
              </a:tr>
              <a:tr h="678656">
                <a:tc>
                  <a:txBody>
                    <a:bodyPr anchor="ctr">
                      <a:noAutofit/>
                    </a:bodyPr>
                    <a:lstStyle/>
                    <a:p>
                      <a:r>
                        <a:rPr sz="1875" b="0">
                          <a:solidFill>
                            <a:srgbClr val="F2F1E9"/>
                          </a:solidFill>
                          <a:latin typeface="DejaVu Sans"/>
                          <a:ea typeface="DejaVu Sans"/>
                          <a:cs typeface="DejaVu Sans"/>
                        </a:rPr>
                        <a:t>&lt; 0.05</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Левое цензурирование</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value = NA, limit = 0.05</a:t>
                      </a:r>
                    </a:p>
                  </a:txBody>
                  <a:tcPr marL="142875" marR="114300" marT="95250" marB="95250" anchor="ctr">
                    <a:solidFill>
                      <a:srgbClr val="101923"/>
                    </a:solidFill>
                  </a:tcPr>
                </a:tc>
              </a:tr>
              <a:tr h="678656">
                <a:tc>
                  <a:txBody>
                    <a:bodyPr anchor="ctr">
                      <a:noAutofit/>
                    </a:bodyPr>
                    <a:lstStyle/>
                    <a:p>
                      <a:r>
                        <a:rPr sz="1875" b="0">
                          <a:solidFill>
                            <a:srgbClr val="F2F1E9"/>
                          </a:solidFill>
                          <a:latin typeface="DejaVu Sans"/>
                          <a:ea typeface="DejaVu Sans"/>
                          <a:cs typeface="DejaVu Sans"/>
                        </a:rPr>
                        <a:t>0.09</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Ниже LOQ,</a:t>
                      </a:r>
                    </a:p>
                    <a:p>
                      <a:r>
                        <a:rPr sz="1875" b="0">
                          <a:solidFill>
                            <a:srgbClr val="F2F1E9"/>
                          </a:solidFill>
                          <a:latin typeface="DejaVu Sans"/>
                          <a:ea typeface="DejaVu Sans"/>
                          <a:cs typeface="DejaVu Sans"/>
                        </a:rPr>
                        <a:t>оценка с оговоркой</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value = 0.09, below_loq</a:t>
                      </a:r>
                    </a:p>
                  </a:txBody>
                  <a:tcPr marL="142875" marR="114300" marT="95250" marB="95250" anchor="ctr">
                    <a:solidFill>
                      <a:srgbClr val="14212D"/>
                    </a:solidFill>
                  </a:tcPr>
                </a:tc>
              </a:tr>
              <a:tr h="678656">
                <a:tc>
                  <a:txBody>
                    <a:bodyPr anchor="ctr">
                      <a:noAutofit/>
                    </a:bodyPr>
                    <a:lstStyle/>
                    <a:p>
                      <a:r>
                        <a:rPr sz="1875" b="0">
                          <a:solidFill>
                            <a:srgbClr val="F2F1E9"/>
                          </a:solidFill>
                          <a:latin typeface="DejaVu Sans"/>
                          <a:ea typeface="DejaVu Sans"/>
                          <a:cs typeface="DejaVu Sans"/>
                        </a:rPr>
                        <a:t>0.30</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В рабочем диапазоне</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value = 0.30, measured</a:t>
                      </a:r>
                    </a:p>
                  </a:txBody>
                  <a:tcPr marL="142875" marR="114300" marT="95250" marB="95250" anchor="ctr">
                    <a:solidFill>
                      <a:srgbClr val="101923"/>
                    </a:solidFill>
                  </a:tcPr>
                </a:tc>
              </a:tr>
            </a:tbl>
          </a:graphicData>
        </a:graphic>
      </p:graphicFrame>
      <p:sp>
        <p:nvSpPr>
          <p:cNvPr id="6" name="">
            <a:extLst xmlns:a="http://schemas.openxmlformats.org/drawingml/2006/main">
              <a:ext uri="{FF2B5EF4-FFF2-40B4-BE49-F238E27FC236}">
                <a16:creationId xmlns:a16="http://schemas.microsoft.com/office/drawing/2014/main" id="{7EB52661-12E7-4B77-B027-DA1E9F94249D}"/>
              </a:ext>
            </a:extLst>
          </p:cNvPr>
          <p:cNvSpPr>
            <a:spLocks xmlns:a="http://schemas.openxmlformats.org/drawingml/2006/main" noGrp="1"/>
          </p:cNvSpPr>
          <p:nvPr/>
        </p:nvSpPr>
        <p:spPr>
          <a:xfrm xmlns:a="http://schemas.openxmlformats.org/drawingml/2006/main">
            <a:off x="609600" y="54102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Подстановка 0 или LOD/2 требует отдельного обоснования.</a:t>
            </a:r>
          </a:p>
        </p:txBody>
      </p:sp>
      <p:sp>
        <p:nvSpPr>
          <p:cNvPr id="7" name="">
            <a:extLst xmlns:a="http://schemas.openxmlformats.org/drawingml/2006/main">
              <a:ext uri="{FF2B5EF4-FFF2-40B4-BE49-F238E27FC236}">
                <a16:creationId xmlns:a16="http://schemas.microsoft.com/office/drawing/2014/main" id="{38DB62C6-7D69-479A-8092-BDF8599D476A}"/>
              </a:ext>
            </a:extLst>
          </p:cNvPr>
          <p:cNvSpPr>
            <a:spLocks xmlns:a="http://schemas.openxmlformats.org/drawingml/2006/main" noGrp="1"/>
          </p:cNvSpPr>
          <p:nvPr/>
        </p:nvSpPr>
        <p:spPr>
          <a:xfrm xmlns:a="http://schemas.openxmlformats.org/drawingml/2006/main">
            <a:off x="609600" y="5981700"/>
            <a:ext cx="10934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25" b="0">
                <a:solidFill>
                  <a:srgbClr val="B6C3D0"/>
                </a:solidFill>
                <a:latin typeface="DejaVu Sans"/>
                <a:ea typeface="DejaVu Sans"/>
                <a:cs typeface="DejaVu Sans"/>
              </a:defRPr>
            </a:pPr>
            <a:r>
              <a:rPr sz="1725" b="0">
                <a:solidFill>
                  <a:srgbClr val="B6C3D0"/>
                </a:solidFill>
                <a:latin typeface="DejaVu Sans"/>
                <a:ea typeface="DejaVu Sans"/>
                <a:cs typeface="DejaVu Sans"/>
              </a:rPr>
              <a:t>Порог зависит от метода и условий. Его значение и единицу сохраняем.</a:t>
            </a:r>
          </a:p>
        </p:txBody>
      </p:sp>
    </p:spTree>
    <p:extLst>
      <p:ext uri="{BB962C8B-B14F-4D97-AF65-F5344CB8AC3E}">
        <p14:creationId xmlns:p14="http://schemas.microsoft.com/office/powerpoint/2010/main" val="901452938"/>
      </p:ext>
    </p:extLst>
  </p:cSld>
</p:sld>
</file>

<file path=ppt/slides/slide18.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170EE51-C0A0-44CF-9ED6-1EEE68B2AA23}"/>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Проверка подозрительных значений</a:t>
            </a:r>
          </a:p>
        </p:txBody>
      </p:sp>
      <p:sp>
        <p:nvSpPr>
          <p:cNvPr id="2" name="">
            <a:extLst xmlns:a="http://schemas.openxmlformats.org/drawingml/2006/main">
              <a:ext uri="{FF2B5EF4-FFF2-40B4-BE49-F238E27FC236}">
                <a16:creationId xmlns:a16="http://schemas.microsoft.com/office/drawing/2014/main" id="{45F4D3E5-AF74-4735-85F9-EC9958040BF8}"/>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18 / 44</a:t>
            </a:r>
          </a:p>
        </p:txBody>
      </p:sp>
      <p:sp>
        <p:nvSpPr>
          <p:cNvPr id="3" name="">
            <a:extLst xmlns:a="http://schemas.openxmlformats.org/drawingml/2006/main">
              <a:ext uri="{FF2B5EF4-FFF2-40B4-BE49-F238E27FC236}">
                <a16:creationId xmlns:a16="http://schemas.microsoft.com/office/drawing/2014/main" id="{4DBB13C4-BFC6-4522-B78D-BD49EE98D8CC}"/>
              </a:ext>
            </a:extLst>
          </p:cNvPr>
          <p:cNvSpPr>
            <a:spLocks xmlns:a="http://schemas.openxmlformats.org/drawingml/2006/main" noGrp="1"/>
          </p:cNvSpPr>
          <p:nvPr/>
        </p:nvSpPr>
        <p:spPr>
          <a:xfrm xmlns:a="http://schemas.openxmlformats.org/drawingml/2006/main">
            <a:off x="609600" y="1676400"/>
            <a:ext cx="2419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1DFCE"/>
                </a:solidFill>
                <a:latin typeface="DejaVu Sans"/>
                <a:ea typeface="DejaVu Sans"/>
                <a:cs typeface="DejaVu Sans"/>
              </a:defRPr>
            </a:pPr>
            <a:r>
              <a:rPr sz="2100" b="1">
                <a:solidFill>
                  <a:srgbClr val="81DFCE"/>
                </a:solidFill>
                <a:latin typeface="DejaVu Sans"/>
                <a:ea typeface="DejaVu Sans"/>
                <a:cs typeface="DejaVu Sans"/>
              </a:rPr>
              <a:t>Сигнал проверки</a:t>
            </a:r>
          </a:p>
        </p:txBody>
      </p:sp>
      <p:sp>
        <p:nvSpPr>
          <p:cNvPr id="4" name="">
            <a:extLst xmlns:a="http://schemas.openxmlformats.org/drawingml/2006/main">
              <a:ext uri="{FF2B5EF4-FFF2-40B4-BE49-F238E27FC236}">
                <a16:creationId xmlns:a16="http://schemas.microsoft.com/office/drawing/2014/main" id="{A495B3CC-609F-4F83-9119-1CD51446DFC1}"/>
              </a:ext>
            </a:extLst>
          </p:cNvPr>
          <p:cNvSpPr>
            <a:spLocks xmlns:a="http://schemas.openxmlformats.org/drawingml/2006/main" noGrp="1"/>
          </p:cNvSpPr>
          <p:nvPr/>
        </p:nvSpPr>
        <p:spPr>
          <a:xfrm xmlns:a="http://schemas.openxmlformats.org/drawingml/2006/main">
            <a:off x="3257550" y="167640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F2F1E9"/>
                </a:solidFill>
                <a:latin typeface="DejaVu Sans"/>
                <a:ea typeface="DejaVu Sans"/>
                <a:cs typeface="DejaVu Sans"/>
              </a:defRPr>
            </a:pPr>
            <a:r>
              <a:rPr sz="2100" b="0">
                <a:solidFill>
                  <a:srgbClr val="F2F1E9"/>
                </a:solidFill>
                <a:latin typeface="DejaVu Sans"/>
                <a:ea typeface="DejaVu Sans"/>
                <a:cs typeface="DejaVu Sans"/>
              </a:rPr>
              <a:t>Необычный диапазон, разрыв ряда, расхождение повторов.</a:t>
            </a:r>
          </a:p>
        </p:txBody>
      </p:sp>
      <p:sp>
        <p:nvSpPr>
          <p:cNvPr id="5" name="">
            <a:extLst xmlns:a="http://schemas.openxmlformats.org/drawingml/2006/main">
              <a:ext uri="{FF2B5EF4-FFF2-40B4-BE49-F238E27FC236}">
                <a16:creationId xmlns:a16="http://schemas.microsoft.com/office/drawing/2014/main" id="{E7D58EF0-E0D9-427F-8333-9C3D574BBFD3}"/>
              </a:ext>
            </a:extLst>
          </p:cNvPr>
          <p:cNvSpPr>
            <a:spLocks xmlns:a="http://schemas.openxmlformats.org/drawingml/2006/main" noGrp="1"/>
          </p:cNvSpPr>
          <p:nvPr/>
        </p:nvSpPr>
        <p:spPr>
          <a:xfrm xmlns:a="http://schemas.openxmlformats.org/drawingml/2006/main">
            <a:off x="609600" y="2733675"/>
            <a:ext cx="2419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1DFCE"/>
                </a:solidFill>
                <a:latin typeface="DejaVu Sans"/>
                <a:ea typeface="DejaVu Sans"/>
                <a:cs typeface="DejaVu Sans"/>
              </a:defRPr>
            </a:pPr>
            <a:r>
              <a:rPr sz="2100" b="1">
                <a:solidFill>
                  <a:srgbClr val="81DFCE"/>
                </a:solidFill>
                <a:latin typeface="DejaVu Sans"/>
                <a:ea typeface="DejaVu Sans"/>
                <a:cs typeface="DejaVu Sans"/>
              </a:rPr>
              <a:t>Сверка</a:t>
            </a:r>
          </a:p>
        </p:txBody>
      </p:sp>
      <p:sp>
        <p:nvSpPr>
          <p:cNvPr id="6" name="">
            <a:extLst xmlns:a="http://schemas.openxmlformats.org/drawingml/2006/main">
              <a:ext uri="{FF2B5EF4-FFF2-40B4-BE49-F238E27FC236}">
                <a16:creationId xmlns:a16="http://schemas.microsoft.com/office/drawing/2014/main" id="{518BA78C-1D79-4FF9-909B-BE3AD5BB40F5}"/>
              </a:ext>
            </a:extLst>
          </p:cNvPr>
          <p:cNvSpPr>
            <a:spLocks xmlns:a="http://schemas.openxmlformats.org/drawingml/2006/main" noGrp="1"/>
          </p:cNvSpPr>
          <p:nvPr/>
        </p:nvSpPr>
        <p:spPr>
          <a:xfrm xmlns:a="http://schemas.openxmlformats.org/drawingml/2006/main">
            <a:off x="3257550" y="2733675"/>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F2F1E9"/>
                </a:solidFill>
                <a:latin typeface="DejaVu Sans"/>
                <a:ea typeface="DejaVu Sans"/>
                <a:cs typeface="DejaVu Sans"/>
              </a:defRPr>
            </a:pPr>
            <a:r>
              <a:rPr sz="2100" b="0">
                <a:solidFill>
                  <a:srgbClr val="F2F1E9"/>
                </a:solidFill>
                <a:latin typeface="DejaVu Sans"/>
                <a:ea typeface="DejaVu Sans"/>
                <a:cs typeface="DejaVu Sans"/>
              </a:rPr>
              <a:t>Приборный файл, масса навески, единицы, журнал, калибровка.</a:t>
            </a:r>
          </a:p>
        </p:txBody>
      </p:sp>
      <p:sp>
        <p:nvSpPr>
          <p:cNvPr id="7" name="">
            <a:extLst xmlns:a="http://schemas.openxmlformats.org/drawingml/2006/main">
              <a:ext uri="{FF2B5EF4-FFF2-40B4-BE49-F238E27FC236}">
                <a16:creationId xmlns:a16="http://schemas.microsoft.com/office/drawing/2014/main" id="{4A783B27-76BB-47B7-9118-9E7C62BB4DDB}"/>
              </a:ext>
            </a:extLst>
          </p:cNvPr>
          <p:cNvSpPr>
            <a:spLocks xmlns:a="http://schemas.openxmlformats.org/drawingml/2006/main" noGrp="1"/>
          </p:cNvSpPr>
          <p:nvPr/>
        </p:nvSpPr>
        <p:spPr>
          <a:xfrm xmlns:a="http://schemas.openxmlformats.org/drawingml/2006/main">
            <a:off x="609600" y="3790950"/>
            <a:ext cx="2419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1DFCE"/>
                </a:solidFill>
                <a:latin typeface="DejaVu Sans"/>
                <a:ea typeface="DejaVu Sans"/>
                <a:cs typeface="DejaVu Sans"/>
              </a:defRPr>
            </a:pPr>
            <a:r>
              <a:rPr sz="2100" b="1">
                <a:solidFill>
                  <a:srgbClr val="81DFCE"/>
                </a:solidFill>
                <a:latin typeface="DejaVu Sans"/>
                <a:ea typeface="DejaVu Sans"/>
                <a:cs typeface="DejaVu Sans"/>
              </a:rPr>
              <a:t>Решение</a:t>
            </a:r>
          </a:p>
        </p:txBody>
      </p:sp>
      <p:sp>
        <p:nvSpPr>
          <p:cNvPr id="8" name="">
            <a:extLst xmlns:a="http://schemas.openxmlformats.org/drawingml/2006/main">
              <a:ext uri="{FF2B5EF4-FFF2-40B4-BE49-F238E27FC236}">
                <a16:creationId xmlns:a16="http://schemas.microsoft.com/office/drawing/2014/main" id="{818D2EA1-4712-4B9B-B0B0-2D55893D0F50}"/>
              </a:ext>
            </a:extLst>
          </p:cNvPr>
          <p:cNvSpPr>
            <a:spLocks xmlns:a="http://schemas.openxmlformats.org/drawingml/2006/main" noGrp="1"/>
          </p:cNvSpPr>
          <p:nvPr/>
        </p:nvSpPr>
        <p:spPr>
          <a:xfrm xmlns:a="http://schemas.openxmlformats.org/drawingml/2006/main">
            <a:off x="3257550" y="3790950"/>
            <a:ext cx="8115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F2F1E9"/>
                </a:solidFill>
                <a:latin typeface="DejaVu Sans"/>
                <a:ea typeface="DejaVu Sans"/>
                <a:cs typeface="DejaVu Sans"/>
              </a:defRPr>
            </a:pPr>
            <a:r>
              <a:rPr sz="2100" b="0">
                <a:solidFill>
                  <a:srgbClr val="F2F1E9"/>
                </a:solidFill>
                <a:latin typeface="DejaVu Sans"/>
                <a:ea typeface="DejaVu Sans"/>
                <a:cs typeface="DejaVu Sans"/>
              </a:rPr>
              <a:t>Сохраняем значение и добавляем qc_flag, причину и автора.</a:t>
            </a:r>
          </a:p>
        </p:txBody>
      </p:sp>
      <p:sp>
        <p:nvSpPr>
          <p:cNvPr id="9" name="">
            <a:extLst xmlns:a="http://schemas.openxmlformats.org/drawingml/2006/main">
              <a:ext uri="{FF2B5EF4-FFF2-40B4-BE49-F238E27FC236}">
                <a16:creationId xmlns:a16="http://schemas.microsoft.com/office/drawing/2014/main" id="{BBF128E7-C33F-4B76-8356-20AE201C576B}"/>
              </a:ext>
            </a:extLst>
          </p:cNvPr>
          <p:cNvSpPr>
            <a:spLocks xmlns:a="http://schemas.openxmlformats.org/drawingml/2006/main" noGrp="1"/>
          </p:cNvSpPr>
          <p:nvPr/>
        </p:nvSpPr>
        <p:spPr>
          <a:xfrm xmlns:a="http://schemas.openxmlformats.org/drawingml/2006/main">
            <a:off x="609600" y="53435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F1B766"/>
                </a:solidFill>
                <a:latin typeface="DejaVu Sans"/>
                <a:ea typeface="DejaVu Sans"/>
                <a:cs typeface="DejaVu Sans"/>
              </a:defRPr>
            </a:pPr>
            <a:r>
              <a:rPr sz="1950" b="0">
                <a:solidFill>
                  <a:srgbClr val="F1B766"/>
                </a:solidFill>
                <a:latin typeface="DejaVu Sans"/>
                <a:ea typeface="DejaVu Sans"/>
                <a:cs typeface="DejaVu Sans"/>
              </a:rPr>
              <a:t>Флаг «проверить» ещё не означает «исключить».</a:t>
            </a:r>
          </a:p>
        </p:txBody>
      </p:sp>
      <p:sp>
        <p:nvSpPr>
          <p:cNvPr id="10" name="">
            <a:extLst xmlns:a="http://schemas.openxmlformats.org/drawingml/2006/main">
              <a:ext uri="{FF2B5EF4-FFF2-40B4-BE49-F238E27FC236}">
                <a16:creationId xmlns:a16="http://schemas.microsoft.com/office/drawing/2014/main" id="{BEA42D48-0B88-437D-A3B4-F4B1D396B987}"/>
              </a:ext>
            </a:extLst>
          </p:cNvPr>
          <p:cNvSpPr>
            <a:spLocks xmlns:a="http://schemas.openxmlformats.org/drawingml/2006/main" noGrp="1"/>
          </p:cNvSpPr>
          <p:nvPr/>
        </p:nvSpPr>
        <p:spPr>
          <a:xfrm xmlns:a="http://schemas.openxmlformats.org/drawingml/2006/main">
            <a:off x="609600" y="595312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B6C3D0"/>
                </a:solidFill>
                <a:latin typeface="DejaVu Sans"/>
                <a:ea typeface="DejaVu Sans"/>
                <a:cs typeface="DejaVu Sans"/>
              </a:defRPr>
            </a:pPr>
            <a:r>
              <a:rPr sz="1800" b="0">
                <a:solidFill>
                  <a:srgbClr val="B6C3D0"/>
                </a:solidFill>
                <a:latin typeface="DejaVu Sans"/>
                <a:ea typeface="DejaVu Sans"/>
                <a:cs typeface="DejaVu Sans"/>
              </a:rPr>
              <a:t>Журнал решения: measurement_id, действие, причина, дата, автор.</a:t>
            </a:r>
          </a:p>
        </p:txBody>
      </p:sp>
    </p:spTree>
    <p:extLst>
      <p:ext uri="{BB962C8B-B14F-4D97-AF65-F5344CB8AC3E}">
        <p14:creationId xmlns:p14="http://schemas.microsoft.com/office/powerpoint/2010/main" val="1494642798"/>
      </p:ext>
    </p:extLst>
  </p:cSld>
</p:sld>
</file>

<file path=ppt/slides/slide19.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ED9C0E-58EF-4B09-A7FE-B1EC3E6BC067}"/>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Приборный экспорт: пример с ошибкой</a:t>
            </a:r>
          </a:p>
        </p:txBody>
      </p:sp>
      <p:sp>
        <p:nvSpPr>
          <p:cNvPr id="2" name="">
            <a:extLst xmlns:a="http://schemas.openxmlformats.org/drawingml/2006/main">
              <a:ext uri="{FF2B5EF4-FFF2-40B4-BE49-F238E27FC236}">
                <a16:creationId xmlns:a16="http://schemas.microsoft.com/office/drawing/2014/main" id="{3747984C-FBA9-4146-AE8A-F15BB9DE5774}"/>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19 / 44</a:t>
            </a:r>
          </a:p>
        </p:txBody>
      </p:sp>
      <p:sp>
        <p:nvSpPr>
          <p:cNvPr id="3" name="">
            <a:extLst xmlns:a="http://schemas.openxmlformats.org/drawingml/2006/main">
              <a:ext uri="{FF2B5EF4-FFF2-40B4-BE49-F238E27FC236}">
                <a16:creationId xmlns:a16="http://schemas.microsoft.com/office/drawing/2014/main" id="{265EA51F-7AE7-4AA7-84C4-9745FDB38B8F}"/>
              </a:ext>
            </a:extLst>
          </p:cNvPr>
          <p:cNvSpPr>
            <a:spLocks xmlns:a="http://schemas.openxmlformats.org/drawingml/2006/main" noGrp="1"/>
          </p:cNvSpPr>
          <p:nvPr/>
        </p:nvSpPr>
        <p:spPr>
          <a:xfrm xmlns:a="http://schemas.openxmlformats.org/drawingml/2006/main">
            <a:off x="609600" y="1809750"/>
            <a:ext cx="1097280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325" b="0">
                <a:solidFill>
                  <a:srgbClr val="F2F1E9"/>
                </a:solidFill>
                <a:latin typeface="DejaVu Sans Mono"/>
                <a:ea typeface="DejaVu Sans Mono"/>
                <a:cs typeface="DejaVu Sans Mono"/>
              </a:defRPr>
            </a:pPr>
            <a:r>
              <a:rPr sz="2325" b="0">
                <a:solidFill>
                  <a:srgbClr val="F2F1E9"/>
                </a:solidFill>
                <a:latin typeface="DejaVu Sans Mono"/>
                <a:ea typeface="DejaVu Sans Mono"/>
                <a:cs typeface="DejaVu Sans Mono"/>
              </a:rPr>
              <a:t>Instrument: MAG-01</a:t>
            </a:r>
          </a:p>
          <a:p xmlns:a="http://schemas.openxmlformats.org/drawingml/2006/main">
            <a:pPr>
              <a:lnSpc>
                <a:spcPct val="112000"/>
              </a:lnSpc>
              <a:buNone/>
              <a:defRPr sz="2325" b="0">
                <a:solidFill>
                  <a:srgbClr val="F2F1E9"/>
                </a:solidFill>
                <a:latin typeface="DejaVu Sans Mono"/>
                <a:ea typeface="DejaVu Sans Mono"/>
                <a:cs typeface="DejaVu Sans Mono"/>
              </a:defRPr>
            </a:pPr>
            <a:r>
              <a:rPr sz="2325" b="0">
                <a:solidFill>
                  <a:srgbClr val="F2F1E9"/>
                </a:solidFill>
                <a:latin typeface="DejaVu Sans Mono"/>
                <a:ea typeface="DejaVu Sans Mono"/>
                <a:cs typeface="DejaVu Sans Mono"/>
              </a:rPr>
              <a:t>Quantity: sigma_s [A m2/kg]</a:t>
            </a:r>
          </a:p>
          <a:p xmlns:a="http://schemas.openxmlformats.org/drawingml/2006/main">
            <a:pPr>
              <a:lnSpc>
                <a:spcPct val="112000"/>
              </a:lnSpc>
              <a:buNone/>
              <a:defRPr sz="2325" b="0">
                <a:solidFill>
                  <a:srgbClr val="F2F1E9"/>
                </a:solidFill>
                <a:latin typeface="DejaVu Sans Mono"/>
                <a:ea typeface="DejaVu Sans Mono"/>
                <a:cs typeface="DejaVu Sans Mono"/>
              </a:defRPr>
            </a:pPr>
            <a:r>
              <a:rPr sz="2325" b="0">
                <a:solidFill>
                  <a:srgbClr val="F2F1E9"/>
                </a:solidFill>
                <a:latin typeface="DejaVu Sans Mono"/>
                <a:ea typeface="DejaVu Sans Mono"/>
                <a:cs typeface="DejaVu Sans Mono"/>
              </a:rPr>
              <a:t>Sample;Temp_C;R1;R2;R3</a:t>
            </a:r>
          </a:p>
          <a:p xmlns:a="http://schemas.openxmlformats.org/drawingml/2006/main">
            <a:pPr>
              <a:lnSpc>
                <a:spcPct val="112000"/>
              </a:lnSpc>
              <a:buNone/>
              <a:defRPr sz="2325" b="0">
                <a:solidFill>
                  <a:srgbClr val="F2F1E9"/>
                </a:solidFill>
                <a:latin typeface="DejaVu Sans Mono"/>
                <a:ea typeface="DejaVu Sans Mono"/>
                <a:cs typeface="DejaVu Sans Mono"/>
              </a:defRPr>
            </a:pPr>
            <a:r>
              <a:rPr sz="2325" b="0">
                <a:solidFill>
                  <a:srgbClr val="F2F1E9"/>
                </a:solidFill>
                <a:latin typeface="DejaVu Sans Mono"/>
                <a:ea typeface="DejaVu Sans Mono"/>
                <a:cs typeface="DejaVu Sans Mono"/>
              </a:rPr>
              <a:t>S0001;600;48,0;48,2;47,8</a:t>
            </a:r>
          </a:p>
          <a:p xmlns:a="http://schemas.openxmlformats.org/drawingml/2006/main">
            <a:pPr>
              <a:lnSpc>
                <a:spcPct val="112000"/>
              </a:lnSpc>
              <a:buNone/>
              <a:defRPr sz="2325" b="0">
                <a:solidFill>
                  <a:srgbClr val="F2F1E9"/>
                </a:solidFill>
                <a:latin typeface="DejaVu Sans Mono"/>
                <a:ea typeface="DejaVu Sans Mono"/>
                <a:cs typeface="DejaVu Sans Mono"/>
              </a:defRPr>
            </a:pPr>
            <a:r>
              <a:rPr sz="2325" b="0">
                <a:solidFill>
                  <a:srgbClr val="F2F1E9"/>
                </a:solidFill>
                <a:latin typeface="DejaVu Sans Mono"/>
                <a:ea typeface="DejaVu Sans Mono"/>
                <a:cs typeface="DejaVu Sans Mono"/>
              </a:rPr>
              <a:t>S0002;600;48,1;ERROR;47,9</a:t>
            </a:r>
          </a:p>
        </p:txBody>
      </p:sp>
      <p:sp>
        <p:nvSpPr>
          <p:cNvPr id="4" name="">
            <a:extLst xmlns:a="http://schemas.openxmlformats.org/drawingml/2006/main">
              <a:ext uri="{FF2B5EF4-FFF2-40B4-BE49-F238E27FC236}">
                <a16:creationId xmlns:a16="http://schemas.microsoft.com/office/drawing/2014/main" id="{6FC1E91E-D758-489A-AFB7-F90456AFBA48}"/>
              </a:ext>
            </a:extLst>
          </p:cNvPr>
          <p:cNvSpPr>
            <a:spLocks xmlns:a="http://schemas.openxmlformats.org/drawingml/2006/main" noGrp="1"/>
          </p:cNvSpPr>
          <p:nvPr/>
        </p:nvSpPr>
        <p:spPr>
          <a:xfrm xmlns:a="http://schemas.openxmlformats.org/drawingml/2006/main">
            <a:off x="609600" y="4848225"/>
            <a:ext cx="109347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0">
                <a:solidFill>
                  <a:srgbClr val="81DFCE"/>
                </a:solidFill>
                <a:latin typeface="DejaVu Sans"/>
                <a:ea typeface="DejaVu Sans"/>
                <a:cs typeface="DejaVu Sans"/>
              </a:defRPr>
            </a:pPr>
            <a:r>
              <a:rPr sz="2175" b="0">
                <a:solidFill>
                  <a:srgbClr val="81DFCE"/>
                </a:solidFill>
                <a:latin typeface="DejaVu Sans"/>
                <a:ea typeface="DejaVu Sans"/>
                <a:cs typeface="DejaVu Sans"/>
              </a:rPr>
              <a:t>Служебные строки и единица становятся метаданными.</a:t>
            </a:r>
          </a:p>
        </p:txBody>
      </p:sp>
      <p:sp>
        <p:nvSpPr>
          <p:cNvPr id="5" name="">
            <a:extLst xmlns:a="http://schemas.openxmlformats.org/drawingml/2006/main">
              <a:ext uri="{FF2B5EF4-FFF2-40B4-BE49-F238E27FC236}">
                <a16:creationId xmlns:a16="http://schemas.microsoft.com/office/drawing/2014/main" id="{0C65D45B-26E6-4D06-B707-1BF6D386213A}"/>
              </a:ext>
            </a:extLst>
          </p:cNvPr>
          <p:cNvSpPr>
            <a:spLocks xmlns:a="http://schemas.openxmlformats.org/drawingml/2006/main" noGrp="1"/>
          </p:cNvSpPr>
          <p:nvPr/>
        </p:nvSpPr>
        <p:spPr>
          <a:xfrm xmlns:a="http://schemas.openxmlformats.org/drawingml/2006/main">
            <a:off x="609600" y="5610225"/>
            <a:ext cx="10934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0">
                <a:solidFill>
                  <a:srgbClr val="F2F1E9"/>
                </a:solidFill>
                <a:latin typeface="DejaVu Sans"/>
                <a:ea typeface="DejaVu Sans"/>
                <a:cs typeface="DejaVu Sans"/>
              </a:defRPr>
            </a:pPr>
            <a:r>
              <a:rPr sz="2175" b="0">
                <a:solidFill>
                  <a:srgbClr val="F2F1E9"/>
                </a:solidFill>
                <a:latin typeface="DejaVu Sans"/>
                <a:ea typeface="DejaVu Sans"/>
                <a:cs typeface="DejaVu Sans"/>
              </a:rPr>
              <a:t>Исходный файл сохраняем целиком, включая сообщения прибора.</a:t>
            </a:r>
          </a:p>
        </p:txBody>
      </p:sp>
    </p:spTree>
    <p:extLst>
      <p:ext uri="{BB962C8B-B14F-4D97-AF65-F5344CB8AC3E}">
        <p14:creationId xmlns:p14="http://schemas.microsoft.com/office/powerpoint/2010/main" val="1492083303"/>
      </p:ext>
    </p:extLst>
  </p:cSld>
</p:sld>
</file>

<file path=ppt/slides/slide20.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4409E9-35E7-4718-8CA3-2D9C2B9AE93E}"/>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Tidy-таблица измерений</a:t>
            </a:r>
          </a:p>
        </p:txBody>
      </p:sp>
      <p:sp>
        <p:nvSpPr>
          <p:cNvPr id="2" name="">
            <a:extLst xmlns:a="http://schemas.openxmlformats.org/drawingml/2006/main">
              <a:ext uri="{FF2B5EF4-FFF2-40B4-BE49-F238E27FC236}">
                <a16:creationId xmlns:a16="http://schemas.microsoft.com/office/drawing/2014/main" id="{5A11801D-25A1-4F6B-A969-82F827D19535}"/>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20 / 44</a:t>
            </a:r>
          </a:p>
        </p:txBody>
      </p:sp>
      <p:sp>
        <p:nvSpPr>
          <p:cNvPr id="3" name="">
            <a:extLst xmlns:a="http://schemas.openxmlformats.org/drawingml/2006/main">
              <a:ext uri="{FF2B5EF4-FFF2-40B4-BE49-F238E27FC236}">
                <a16:creationId xmlns:a16="http://schemas.microsoft.com/office/drawing/2014/main" id="{AA6B9C36-42DB-4022-90C8-97CFCDE6529D}"/>
              </a:ext>
            </a:extLst>
          </p:cNvPr>
          <p:cNvSpPr>
            <a:spLocks xmlns:a="http://schemas.openxmlformats.org/drawingml/2006/main" noGrp="1"/>
          </p:cNvSpPr>
          <p:nvPr/>
        </p:nvSpPr>
        <p:spPr>
          <a:xfrm xmlns:a="http://schemas.openxmlformats.org/drawingml/2006/main">
            <a:off x="609600" y="1228725"/>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B6C3D0"/>
                </a:solidFill>
                <a:latin typeface="DejaVu Sans"/>
                <a:ea typeface="DejaVu Sans"/>
                <a:cs typeface="DejaVu Sans"/>
              </a:defRPr>
            </a:pPr>
            <a:r>
              <a:rPr sz="1950" b="0">
                <a:solidFill>
                  <a:srgbClr val="B6C3D0"/>
                </a:solidFill>
                <a:latin typeface="DejaVu Sans"/>
                <a:ea typeface="DejaVu Sans"/>
                <a:cs typeface="DejaVu Sans"/>
              </a:rPr>
              <a:t>Столбец = переменная. Строка = один запуск прибора.</a:t>
            </a:r>
          </a:p>
        </p:txBody>
      </p:sp>
      <p:graphicFrame>
        <p:nvGraphicFramePr>
          <p:cNvPr id="10" name=""/>
          <p:cNvGraphicFramePr/>
          <p:nvPr/>
        </p:nvGraphicFramePr>
        <p:xfrm>
          <a:off xmlns:a="http://schemas.openxmlformats.org/drawingml/2006/main" x="609600" y="1876425"/>
          <a:ext xmlns:a="http://schemas.openxmlformats.org/drawingml/2006/main" cx="10972800" cy="2667000"/>
        </p:xfrm>
        <a:graphic xmlns:a="http://schemas.openxmlformats.org/drawingml/2006/main">
          <a:graphicData uri="http://schemas.openxmlformats.org/drawingml/2006/table">
            <a:tbl>
              <a:tblPr firstRow="0" bandRow="0"/>
              <a:tblGrid>
                <a:gridCol w="2394065"/>
                <a:gridCol w="1995055"/>
                <a:gridCol w="3192087"/>
                <a:gridCol w="3391593"/>
              </a:tblGrid>
              <a:tr h="666750">
                <a:tc>
                  <a:txBody>
                    <a:bodyPr anchor="ctr">
                      <a:noAutofit/>
                    </a:bodyPr>
                    <a:lstStyle/>
                    <a:p>
                      <a:r>
                        <a:rPr sz="1950" b="1">
                          <a:solidFill>
                            <a:srgbClr val="81DFCE"/>
                          </a:solidFill>
                          <a:latin typeface="DejaVu Sans"/>
                          <a:ea typeface="DejaVu Sans"/>
                          <a:cs typeface="DejaVu Sans"/>
                        </a:rPr>
                        <a:t>sample_id</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replicate</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temperature_C</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sigma_Am2_kg</a:t>
                      </a:r>
                    </a:p>
                  </a:txBody>
                  <a:tcPr marL="142875" marR="114300" marT="95250" marB="95250" anchor="ctr">
                    <a:solidFill>
                      <a:srgbClr val="21343F"/>
                    </a:solidFill>
                  </a:tcPr>
                </a:tc>
              </a:tr>
              <a:tr h="666750">
                <a:tc>
                  <a:txBody>
                    <a:bodyPr anchor="ctr">
                      <a:noAutofit/>
                    </a:bodyPr>
                    <a:lstStyle/>
                    <a:p>
                      <a:r>
                        <a:rPr sz="1950" b="0">
                          <a:solidFill>
                            <a:srgbClr val="F2F1E9"/>
                          </a:solidFill>
                          <a:latin typeface="DejaVu Sans"/>
                          <a:ea typeface="DejaVu Sans"/>
                          <a:cs typeface="DejaVu Sans"/>
                        </a:rPr>
                        <a:t>S0001</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1</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600</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48.0</a:t>
                      </a:r>
                    </a:p>
                  </a:txBody>
                  <a:tcPr marL="142875" marR="114300" marT="95250" marB="95250" anchor="ctr">
                    <a:solidFill>
                      <a:srgbClr val="101923"/>
                    </a:solidFill>
                  </a:tcPr>
                </a:tc>
              </a:tr>
              <a:tr h="666750">
                <a:tc>
                  <a:txBody>
                    <a:bodyPr anchor="ctr">
                      <a:noAutofit/>
                    </a:bodyPr>
                    <a:lstStyle/>
                    <a:p>
                      <a:r>
                        <a:rPr sz="1950" b="0">
                          <a:solidFill>
                            <a:srgbClr val="F2F1E9"/>
                          </a:solidFill>
                          <a:latin typeface="DejaVu Sans"/>
                          <a:ea typeface="DejaVu Sans"/>
                          <a:cs typeface="DejaVu Sans"/>
                        </a:rPr>
                        <a:t>S0001</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2</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600</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48.2</a:t>
                      </a:r>
                    </a:p>
                  </a:txBody>
                  <a:tcPr marL="142875" marR="114300" marT="95250" marB="95250" anchor="ctr">
                    <a:solidFill>
                      <a:srgbClr val="14212D"/>
                    </a:solidFill>
                  </a:tcPr>
                </a:tc>
              </a:tr>
              <a:tr h="666750">
                <a:tc>
                  <a:txBody>
                    <a:bodyPr anchor="ctr">
                      <a:noAutofit/>
                    </a:bodyPr>
                    <a:lstStyle/>
                    <a:p>
                      <a:r>
                        <a:rPr sz="1950" b="0">
                          <a:solidFill>
                            <a:srgbClr val="F2F1E9"/>
                          </a:solidFill>
                          <a:latin typeface="DejaVu Sans"/>
                          <a:ea typeface="DejaVu Sans"/>
                          <a:cs typeface="DejaVu Sans"/>
                        </a:rPr>
                        <a:t>S0001</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3</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600</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47.8</a:t>
                      </a:r>
                    </a:p>
                  </a:txBody>
                  <a:tcPr marL="142875" marR="114300" marT="95250" marB="95250" anchor="ctr">
                    <a:solidFill>
                      <a:srgbClr val="101923"/>
                    </a:solidFill>
                  </a:tcPr>
                </a:tc>
              </a:tr>
            </a:tbl>
          </a:graphicData>
        </a:graphic>
      </p:graphicFrame>
      <p:sp>
        <p:nvSpPr>
          <p:cNvPr id="5" name="">
            <a:extLst xmlns:a="http://schemas.openxmlformats.org/drawingml/2006/main">
              <a:ext uri="{FF2B5EF4-FFF2-40B4-BE49-F238E27FC236}">
                <a16:creationId xmlns:a16="http://schemas.microsoft.com/office/drawing/2014/main" id="{99ED5B3A-F072-4E75-A667-22C98C8695A6}"/>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Название R2 превращается в значение replicate = 2.</a:t>
            </a:r>
          </a:p>
        </p:txBody>
      </p:sp>
      <p:sp>
        <p:nvSpPr>
          <p:cNvPr id="6" name="">
            <a:extLst xmlns:a="http://schemas.openxmlformats.org/drawingml/2006/main">
              <a:ext uri="{FF2B5EF4-FFF2-40B4-BE49-F238E27FC236}">
                <a16:creationId xmlns:a16="http://schemas.microsoft.com/office/drawing/2014/main" id="{06438F83-3968-44A9-AF87-B7477C79CB7A}"/>
              </a:ext>
            </a:extLst>
          </p:cNvPr>
          <p:cNvSpPr>
            <a:spLocks xmlns:a="http://schemas.openxmlformats.org/drawingml/2006/main" noGrp="1"/>
          </p:cNvSpPr>
          <p:nvPr/>
        </p:nvSpPr>
        <p:spPr>
          <a:xfrm xmlns:a="http://schemas.openxmlformats.org/drawingml/2006/main">
            <a:off x="609600" y="506730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1B766"/>
                </a:solidFill>
                <a:latin typeface="DejaVu Sans"/>
                <a:ea typeface="DejaVu Sans"/>
                <a:cs typeface="DejaVu Sans"/>
              </a:defRPr>
            </a:pPr>
            <a:r>
              <a:rPr sz="2025" b="0">
                <a:solidFill>
                  <a:srgbClr val="F1B766"/>
                </a:solidFill>
                <a:latin typeface="DejaVu Sans"/>
                <a:ea typeface="DejaVu Sans"/>
                <a:cs typeface="DejaVu Sans"/>
              </a:rPr>
              <a:t>Строка tidy-таблицы может быть зависима от других строк.</a:t>
            </a:r>
          </a:p>
        </p:txBody>
      </p:sp>
    </p:spTree>
    <p:extLst>
      <p:ext uri="{BB962C8B-B14F-4D97-AF65-F5344CB8AC3E}">
        <p14:creationId xmlns:p14="http://schemas.microsoft.com/office/powerpoint/2010/main" val="551643969"/>
      </p:ext>
    </p:extLst>
  </p:cSld>
</p:sld>
</file>

<file path=ppt/slides/slide21.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31D671-E77D-49D3-AA70-CA98BA4A7402}"/>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Разные уровни данных в разных таблицах</a:t>
            </a:r>
          </a:p>
        </p:txBody>
      </p:sp>
      <p:sp>
        <p:nvSpPr>
          <p:cNvPr id="2" name="">
            <a:extLst xmlns:a="http://schemas.openxmlformats.org/drawingml/2006/main">
              <a:ext uri="{FF2B5EF4-FFF2-40B4-BE49-F238E27FC236}">
                <a16:creationId xmlns:a16="http://schemas.microsoft.com/office/drawing/2014/main" id="{ADE1EF2F-D705-4827-8412-712EDD451038}"/>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21 / 44</a:t>
            </a:r>
          </a:p>
        </p:txBody>
      </p:sp>
      <p:graphicFrame>
        <p:nvGraphicFramePr>
          <p:cNvPr id="7" name=""/>
          <p:cNvGraphicFramePr/>
          <p:nvPr/>
        </p:nvGraphicFramePr>
        <p:xfrm>
          <a:off xmlns:a="http://schemas.openxmlformats.org/drawingml/2006/main" x="609600" y="1619250"/>
          <a:ext xmlns:a="http://schemas.openxmlformats.org/drawingml/2006/main" cx="10972800" cy="3333750"/>
        </p:xfrm>
        <a:graphic xmlns:a="http://schemas.openxmlformats.org/drawingml/2006/main">
          <a:graphicData uri="http://schemas.openxmlformats.org/drawingml/2006/table">
            <a:tbl>
              <a:tblPr firstRow="0" bandRow="0"/>
              <a:tblGrid>
                <a:gridCol w="3119718"/>
                <a:gridCol w="2904565"/>
                <a:gridCol w="4948518"/>
              </a:tblGrid>
              <a:tr h="666750">
                <a:tc>
                  <a:txBody>
                    <a:bodyPr anchor="ctr">
                      <a:noAutofit/>
                    </a:bodyPr>
                    <a:lstStyle/>
                    <a:p>
                      <a:r>
                        <a:rPr sz="1875" b="1">
                          <a:solidFill>
                            <a:srgbClr val="81DFCE"/>
                          </a:solidFill>
                          <a:latin typeface="DejaVu Sans"/>
                          <a:ea typeface="DejaVu Sans"/>
                          <a:cs typeface="DejaVu Sans"/>
                        </a:rPr>
                        <a:t>Таблица</a:t>
                      </a:r>
                    </a:p>
                  </a:txBody>
                  <a:tcPr marL="142875" marR="114300" marT="95250" marB="95250" anchor="ctr">
                    <a:solidFill>
                      <a:srgbClr val="21343F"/>
                    </a:solidFill>
                  </a:tcPr>
                </a:tc>
                <a:tc>
                  <a:txBody>
                    <a:bodyPr anchor="ctr">
                      <a:noAutofit/>
                    </a:bodyPr>
                    <a:lstStyle/>
                    <a:p>
                      <a:r>
                        <a:rPr sz="1875" b="1">
                          <a:solidFill>
                            <a:srgbClr val="81DFCE"/>
                          </a:solidFill>
                          <a:latin typeface="DejaVu Sans"/>
                          <a:ea typeface="DejaVu Sans"/>
                          <a:cs typeface="DejaVu Sans"/>
                        </a:rPr>
                        <a:t>Одна строка</a:t>
                      </a:r>
                    </a:p>
                  </a:txBody>
                  <a:tcPr marL="142875" marR="114300" marT="95250" marB="95250" anchor="ctr">
                    <a:solidFill>
                      <a:srgbClr val="21343F"/>
                    </a:solidFill>
                  </a:tcPr>
                </a:tc>
                <a:tc>
                  <a:txBody>
                    <a:bodyPr anchor="ctr">
                      <a:noAutofit/>
                    </a:bodyPr>
                    <a:lstStyle/>
                    <a:p>
                      <a:r>
                        <a:rPr sz="1875" b="1">
                          <a:solidFill>
                            <a:srgbClr val="81DFCE"/>
                          </a:solidFill>
                          <a:latin typeface="DejaVu Sans"/>
                          <a:ea typeface="DejaVu Sans"/>
                          <a:cs typeface="DejaVu Sans"/>
                        </a:rPr>
                        <a:t>Ключ и связь</a:t>
                      </a:r>
                    </a:p>
                  </a:txBody>
                  <a:tcPr marL="142875" marR="114300" marT="95250" marB="95250" anchor="ctr">
                    <a:solidFill>
                      <a:srgbClr val="21343F"/>
                    </a:solidFill>
                  </a:tcPr>
                </a:tc>
              </a:tr>
              <a:tr h="666750">
                <a:tc>
                  <a:txBody>
                    <a:bodyPr anchor="ctr">
                      <a:noAutofit/>
                    </a:bodyPr>
                    <a:lstStyle/>
                    <a:p>
                      <a:r>
                        <a:rPr sz="1875" b="0">
                          <a:solidFill>
                            <a:srgbClr val="F2F1E9"/>
                          </a:solidFill>
                          <a:latin typeface="DejaVu Sans"/>
                          <a:ea typeface="DejaVu Sans"/>
                          <a:cs typeface="DejaVu Sans"/>
                        </a:rPr>
                        <a:t>batches.csv</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Партия синтеза</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batch_id</a:t>
                      </a:r>
                    </a:p>
                  </a:txBody>
                  <a:tcPr marL="142875" marR="114300" marT="95250" marB="95250" anchor="ctr">
                    <a:solidFill>
                      <a:srgbClr val="101923"/>
                    </a:solidFill>
                  </a:tcPr>
                </a:tc>
              </a:tr>
              <a:tr h="666750">
                <a:tc>
                  <a:txBody>
                    <a:bodyPr anchor="ctr">
                      <a:noAutofit/>
                    </a:bodyPr>
                    <a:lstStyle/>
                    <a:p>
                      <a:r>
                        <a:rPr sz="1875" b="0">
                          <a:solidFill>
                            <a:srgbClr val="F2F1E9"/>
                          </a:solidFill>
                          <a:latin typeface="DejaVu Sans"/>
                          <a:ea typeface="DejaVu Sans"/>
                          <a:cs typeface="DejaVu Sans"/>
                        </a:rPr>
                        <a:t>samples.csv</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Физический образец</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sample_id, batch_id</a:t>
                      </a:r>
                    </a:p>
                  </a:txBody>
                  <a:tcPr marL="142875" marR="114300" marT="95250" marB="95250" anchor="ctr">
                    <a:solidFill>
                      <a:srgbClr val="14212D"/>
                    </a:solidFill>
                  </a:tcPr>
                </a:tc>
              </a:tr>
              <a:tr h="666750">
                <a:tc>
                  <a:txBody>
                    <a:bodyPr anchor="ctr">
                      <a:noAutofit/>
                    </a:bodyPr>
                    <a:lstStyle/>
                    <a:p>
                      <a:r>
                        <a:rPr sz="1875" b="0">
                          <a:solidFill>
                            <a:srgbClr val="F2F1E9"/>
                          </a:solidFill>
                          <a:latin typeface="DejaVu Sans"/>
                          <a:ea typeface="DejaVu Sans"/>
                          <a:cs typeface="DejaVu Sans"/>
                        </a:rPr>
                        <a:t>measurements.csv</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Запуск прибора</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measurement_id, sample_id</a:t>
                      </a:r>
                    </a:p>
                  </a:txBody>
                  <a:tcPr marL="142875" marR="114300" marT="95250" marB="95250" anchor="ctr">
                    <a:solidFill>
                      <a:srgbClr val="101923"/>
                    </a:solidFill>
                  </a:tcPr>
                </a:tc>
              </a:tr>
              <a:tr h="666750">
                <a:tc>
                  <a:txBody>
                    <a:bodyPr anchor="ctr">
                      <a:noAutofit/>
                    </a:bodyPr>
                    <a:lstStyle/>
                    <a:p>
                      <a:r>
                        <a:rPr sz="1875" b="0">
                          <a:solidFill>
                            <a:srgbClr val="F2F1E9"/>
                          </a:solidFill>
                          <a:latin typeface="DejaVu Sans"/>
                          <a:ea typeface="DejaVu Sans"/>
                          <a:cs typeface="DejaVu Sans"/>
                        </a:rPr>
                        <a:t>qc_log.csv</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Решение о качестве</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decision_id, measurement_id</a:t>
                      </a:r>
                    </a:p>
                  </a:txBody>
                  <a:tcPr marL="142875" marR="114300" marT="95250" marB="95250" anchor="ctr">
                    <a:solidFill>
                      <a:srgbClr val="14212D"/>
                    </a:solidFill>
                  </a:tcPr>
                </a:tc>
              </a:tr>
            </a:tbl>
          </a:graphicData>
        </a:graphic>
      </p:graphicFrame>
      <p:sp>
        <p:nvSpPr>
          <p:cNvPr id="4" name="">
            <a:extLst xmlns:a="http://schemas.openxmlformats.org/drawingml/2006/main">
              <a:ext uri="{FF2B5EF4-FFF2-40B4-BE49-F238E27FC236}">
                <a16:creationId xmlns:a16="http://schemas.microsoft.com/office/drawing/2014/main" id="{3FC3C946-B4EC-4C01-ACB2-EEAD85547A5A}"/>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Связь many-to-one: много измерений относятся к одному образцу.</a:t>
            </a:r>
          </a:p>
        </p:txBody>
      </p:sp>
    </p:spTree>
    <p:extLst>
      <p:ext uri="{BB962C8B-B14F-4D97-AF65-F5344CB8AC3E}">
        <p14:creationId xmlns:p14="http://schemas.microsoft.com/office/powerpoint/2010/main" val="1569863754"/>
      </p:ext>
    </p:extLst>
  </p:cSld>
</p:sld>
</file>

<file path=ppt/slides/slide22.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94AA7A5-069F-4ECB-90B2-3FEB6F71040D}"/>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Python: контролируемый импорт</a:t>
            </a:r>
          </a:p>
        </p:txBody>
      </p:sp>
      <p:sp>
        <p:nvSpPr>
          <p:cNvPr id="2" name="">
            <a:extLst xmlns:a="http://schemas.openxmlformats.org/drawingml/2006/main">
              <a:ext uri="{FF2B5EF4-FFF2-40B4-BE49-F238E27FC236}">
                <a16:creationId xmlns:a16="http://schemas.microsoft.com/office/drawing/2014/main" id="{C3E64354-2FE8-4B43-8F22-D85F8C2DE043}"/>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22 / 44</a:t>
            </a:r>
          </a:p>
        </p:txBody>
      </p:sp>
      <p:sp>
        <p:nvSpPr>
          <p:cNvPr id="3" name="">
            <a:extLst xmlns:a="http://schemas.openxmlformats.org/drawingml/2006/main">
              <a:ext uri="{FF2B5EF4-FFF2-40B4-BE49-F238E27FC236}">
                <a16:creationId xmlns:a16="http://schemas.microsoft.com/office/drawing/2014/main" id="{903B4330-3586-46A5-90AC-1BD5BF84B31B}"/>
              </a:ext>
            </a:extLst>
          </p:cNvPr>
          <p:cNvSpPr>
            <a:spLocks xmlns:a="http://schemas.openxmlformats.org/drawingml/2006/main" noGrp="1"/>
          </p:cNvSpPr>
          <p:nvPr/>
        </p:nvSpPr>
        <p:spPr>
          <a:xfrm xmlns:a="http://schemas.openxmlformats.org/drawingml/2006/main">
            <a:off x="609600" y="1619250"/>
            <a:ext cx="10972800" cy="3629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75" b="0">
                <a:solidFill>
                  <a:srgbClr val="F2F1E9"/>
                </a:solidFill>
                <a:latin typeface="DejaVu Sans Mono"/>
                <a:ea typeface="DejaVu Sans Mono"/>
                <a:cs typeface="DejaVu Sans Mono"/>
              </a:defRPr>
            </a:pPr>
            <a:r>
              <a:rPr sz="1875" b="0">
                <a:solidFill>
                  <a:srgbClr val="F2F1E9"/>
                </a:solidFill>
                <a:latin typeface="DejaVu Sans Mono"/>
                <a:ea typeface="DejaVu Sans Mono"/>
                <a:cs typeface="DejaVu Sans Mono"/>
              </a:rPr>
              <a:t>from pathlib import Path</a:t>
            </a:r>
          </a:p>
          <a:p xmlns:a="http://schemas.openxmlformats.org/drawingml/2006/main">
            <a:pPr>
              <a:lnSpc>
                <a:spcPct val="112000"/>
              </a:lnSpc>
              <a:buNone/>
              <a:defRPr sz="1875" b="0">
                <a:solidFill>
                  <a:srgbClr val="F2F1E9"/>
                </a:solidFill>
                <a:latin typeface="DejaVu Sans Mono"/>
                <a:ea typeface="DejaVu Sans Mono"/>
                <a:cs typeface="DejaVu Sans Mono"/>
              </a:defRPr>
            </a:pPr>
            <a:r>
              <a:rPr sz="1875" b="0">
                <a:solidFill>
                  <a:srgbClr val="F2F1E9"/>
                </a:solidFill>
                <a:latin typeface="DejaVu Sans Mono"/>
                <a:ea typeface="DejaVu Sans Mono"/>
                <a:cs typeface="DejaVu Sans Mono"/>
              </a:rPr>
              <a:t>import pandas as pd</a:t>
            </a:r>
          </a:p>
          <a:p xmlns:a="http://schemas.openxmlformats.org/drawingml/2006/main">
            <a:r>
              <a:t/>
            </a:r>
          </a:p>
          <a:p xmlns:a="http://schemas.openxmlformats.org/drawingml/2006/main">
            <a:pPr>
              <a:lnSpc>
                <a:spcPct val="112000"/>
              </a:lnSpc>
              <a:buNone/>
              <a:defRPr sz="1875" b="0">
                <a:solidFill>
                  <a:srgbClr val="F2F1E9"/>
                </a:solidFill>
                <a:latin typeface="DejaVu Sans Mono"/>
                <a:ea typeface="DejaVu Sans Mono"/>
                <a:cs typeface="DejaVu Sans Mono"/>
              </a:defRPr>
            </a:pPr>
            <a:r>
              <a:rPr sz="1875" b="0">
                <a:solidFill>
                  <a:srgbClr val="F2F1E9"/>
                </a:solidFill>
                <a:latin typeface="DejaVu Sans Mono"/>
                <a:ea typeface="DejaVu Sans Mono"/>
                <a:cs typeface="DejaVu Sans Mono"/>
              </a:rPr>
              <a:t>path = Path("data/raw/run_01.csv")</a:t>
            </a:r>
          </a:p>
          <a:p xmlns:a="http://schemas.openxmlformats.org/drawingml/2006/main">
            <a:pPr>
              <a:lnSpc>
                <a:spcPct val="112000"/>
              </a:lnSpc>
              <a:buNone/>
              <a:defRPr sz="1875" b="0">
                <a:solidFill>
                  <a:srgbClr val="F2F1E9"/>
                </a:solidFill>
                <a:latin typeface="DejaVu Sans Mono"/>
                <a:ea typeface="DejaVu Sans Mono"/>
                <a:cs typeface="DejaVu Sans Mono"/>
              </a:defRPr>
            </a:pPr>
            <a:r>
              <a:rPr sz="1875" b="0">
                <a:solidFill>
                  <a:srgbClr val="F2F1E9"/>
                </a:solidFill>
                <a:latin typeface="DejaVu Sans Mono"/>
                <a:ea typeface="DejaVu Sans Mono"/>
                <a:cs typeface="DejaVu Sans Mono"/>
              </a:rPr>
              <a:t>raw = pd.read_csv(</a:t>
            </a:r>
          </a:p>
          <a:p xmlns:a="http://schemas.openxmlformats.org/drawingml/2006/main">
            <a:pPr>
              <a:lnSpc>
                <a:spcPct val="112000"/>
              </a:lnSpc>
              <a:buNone/>
              <a:defRPr sz="1875" b="0">
                <a:solidFill>
                  <a:srgbClr val="F2F1E9"/>
                </a:solidFill>
                <a:latin typeface="DejaVu Sans Mono"/>
                <a:ea typeface="DejaVu Sans Mono"/>
                <a:cs typeface="DejaVu Sans Mono"/>
              </a:defRPr>
            </a:pPr>
            <a:r>
              <a:rPr sz="1875" b="0">
                <a:solidFill>
                  <a:srgbClr val="F2F1E9"/>
                </a:solidFill>
                <a:latin typeface="DejaVu Sans Mono"/>
                <a:ea typeface="DejaVu Sans Mono"/>
                <a:cs typeface="DejaVu Sans Mono"/>
              </a:rPr>
              <a:t>    path, sep=";", skiprows=2,</a:t>
            </a:r>
          </a:p>
          <a:p xmlns:a="http://schemas.openxmlformats.org/drawingml/2006/main">
            <a:pPr>
              <a:lnSpc>
                <a:spcPct val="112000"/>
              </a:lnSpc>
              <a:buNone/>
              <a:defRPr sz="1875" b="0">
                <a:solidFill>
                  <a:srgbClr val="F2F1E9"/>
                </a:solidFill>
                <a:latin typeface="DejaVu Sans Mono"/>
                <a:ea typeface="DejaVu Sans Mono"/>
                <a:cs typeface="DejaVu Sans Mono"/>
              </a:defRPr>
            </a:pPr>
            <a:r>
              <a:rPr sz="1875" b="0">
                <a:solidFill>
                  <a:srgbClr val="F2F1E9"/>
                </a:solidFill>
                <a:latin typeface="DejaVu Sans Mono"/>
                <a:ea typeface="DejaVu Sans Mono"/>
                <a:cs typeface="DejaVu Sans Mono"/>
              </a:rPr>
              <a:t>    dtype="string", keep_default_na=False</a:t>
            </a:r>
          </a:p>
          <a:p xmlns:a="http://schemas.openxmlformats.org/drawingml/2006/main">
            <a:pPr>
              <a:lnSpc>
                <a:spcPct val="112000"/>
              </a:lnSpc>
              <a:buNone/>
              <a:defRPr sz="1875" b="0">
                <a:solidFill>
                  <a:srgbClr val="F2F1E9"/>
                </a:solidFill>
                <a:latin typeface="DejaVu Sans Mono"/>
                <a:ea typeface="DejaVu Sans Mono"/>
                <a:cs typeface="DejaVu Sans Mono"/>
              </a:defRPr>
            </a:pPr>
            <a:r>
              <a:rPr sz="1875" b="0">
                <a:solidFill>
                  <a:srgbClr val="F2F1E9"/>
                </a:solidFill>
                <a:latin typeface="DejaVu Sans Mono"/>
                <a:ea typeface="DejaVu Sans Mono"/>
                <a:cs typeface="DejaVu Sans Mono"/>
              </a:rPr>
              <a:t>)</a:t>
            </a:r>
          </a:p>
          <a:p xmlns:a="http://schemas.openxmlformats.org/drawingml/2006/main">
            <a:pPr>
              <a:lnSpc>
                <a:spcPct val="112000"/>
              </a:lnSpc>
              <a:buNone/>
              <a:defRPr sz="1875" b="0">
                <a:solidFill>
                  <a:srgbClr val="F2F1E9"/>
                </a:solidFill>
                <a:latin typeface="DejaVu Sans Mono"/>
                <a:ea typeface="DejaVu Sans Mono"/>
                <a:cs typeface="DejaVu Sans Mono"/>
              </a:defRPr>
            </a:pPr>
            <a:r>
              <a:rPr sz="1875" b="0">
                <a:solidFill>
                  <a:srgbClr val="F2F1E9"/>
                </a:solidFill>
                <a:latin typeface="DejaVu Sans Mono"/>
                <a:ea typeface="DejaVu Sans Mono"/>
                <a:cs typeface="DejaVu Sans Mono"/>
              </a:rPr>
              <a:t>raw["source_row"] = range(4, 4 + len(raw))</a:t>
            </a:r>
          </a:p>
          <a:p xmlns:a="http://schemas.openxmlformats.org/drawingml/2006/main">
            <a:pPr>
              <a:lnSpc>
                <a:spcPct val="112000"/>
              </a:lnSpc>
              <a:buNone/>
              <a:defRPr sz="1875" b="0">
                <a:solidFill>
                  <a:srgbClr val="F2F1E9"/>
                </a:solidFill>
                <a:latin typeface="DejaVu Sans Mono"/>
                <a:ea typeface="DejaVu Sans Mono"/>
                <a:cs typeface="DejaVu Sans Mono"/>
              </a:defRPr>
            </a:pPr>
            <a:r>
              <a:rPr sz="1875" b="0">
                <a:solidFill>
                  <a:srgbClr val="F2F1E9"/>
                </a:solidFill>
                <a:latin typeface="DejaVu Sans Mono"/>
                <a:ea typeface="DejaVu Sans Mono"/>
                <a:cs typeface="DejaVu Sans Mono"/>
              </a:rPr>
              <a:t>assert list(raw.columns[:2]) == ["Sample", "Temp_C"]</a:t>
            </a:r>
          </a:p>
        </p:txBody>
      </p:sp>
      <p:sp>
        <p:nvSpPr>
          <p:cNvPr id="4" name="">
            <a:extLst xmlns:a="http://schemas.openxmlformats.org/drawingml/2006/main">
              <a:ext uri="{FF2B5EF4-FFF2-40B4-BE49-F238E27FC236}">
                <a16:creationId xmlns:a16="http://schemas.microsoft.com/office/drawing/2014/main" id="{8A50F4DA-6697-428E-A21E-216D86828FF4}"/>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Разделитель, заголовок и маркеры пропусков задаём явно.</a:t>
            </a:r>
          </a:p>
        </p:txBody>
      </p:sp>
    </p:spTree>
    <p:extLst>
      <p:ext uri="{BB962C8B-B14F-4D97-AF65-F5344CB8AC3E}">
        <p14:creationId xmlns:p14="http://schemas.microsoft.com/office/powerpoint/2010/main" val="831911833"/>
      </p:ext>
    </p:extLst>
  </p:cSld>
</p:sld>
</file>

<file path=ppt/slides/slide23.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BCE4BE-83C9-4B33-89FE-9E1734D2CCE0}"/>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Python: разворот повторов в строки</a:t>
            </a:r>
          </a:p>
        </p:txBody>
      </p:sp>
      <p:sp>
        <p:nvSpPr>
          <p:cNvPr id="2" name="">
            <a:extLst xmlns:a="http://schemas.openxmlformats.org/drawingml/2006/main">
              <a:ext uri="{FF2B5EF4-FFF2-40B4-BE49-F238E27FC236}">
                <a16:creationId xmlns:a16="http://schemas.microsoft.com/office/drawing/2014/main" id="{8458F840-7F0E-4745-8FD7-273E14DCD44E}"/>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23 / 44</a:t>
            </a:r>
          </a:p>
        </p:txBody>
      </p:sp>
      <p:sp>
        <p:nvSpPr>
          <p:cNvPr id="3" name="">
            <a:extLst xmlns:a="http://schemas.openxmlformats.org/drawingml/2006/main">
              <a:ext uri="{FF2B5EF4-FFF2-40B4-BE49-F238E27FC236}">
                <a16:creationId xmlns:a16="http://schemas.microsoft.com/office/drawing/2014/main" id="{7B0DFE3C-FE93-4FBF-B856-F662C52D1BFA}"/>
              </a:ext>
            </a:extLst>
          </p:cNvPr>
          <p:cNvSpPr>
            <a:spLocks xmlns:a="http://schemas.openxmlformats.org/drawingml/2006/main" noGrp="1"/>
          </p:cNvSpPr>
          <p:nvPr/>
        </p:nvSpPr>
        <p:spPr>
          <a:xfrm xmlns:a="http://schemas.openxmlformats.org/drawingml/2006/main">
            <a:off x="609600" y="1562100"/>
            <a:ext cx="10972800" cy="405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763" b="0">
                <a:solidFill>
                  <a:srgbClr val="F2F1E9"/>
                </a:solidFill>
                <a:latin typeface="DejaVu Sans Mono"/>
                <a:ea typeface="DejaVu Sans Mono"/>
                <a:cs typeface="DejaVu Sans Mono"/>
              </a:defRPr>
            </a:pPr>
            <a:r>
              <a:rPr sz="1763" b="0">
                <a:solidFill>
                  <a:srgbClr val="F2F1E9"/>
                </a:solidFill>
                <a:latin typeface="DejaVu Sans Mono"/>
                <a:ea typeface="DejaVu Sans Mono"/>
                <a:cs typeface="DejaVu Sans Mono"/>
              </a:rPr>
              <a:t>tidy = raw.melt(</a:t>
            </a:r>
          </a:p>
          <a:p xmlns:a="http://schemas.openxmlformats.org/drawingml/2006/main">
            <a:pPr>
              <a:lnSpc>
                <a:spcPct val="112000"/>
              </a:lnSpc>
              <a:buNone/>
              <a:defRPr sz="1763" b="0">
                <a:solidFill>
                  <a:srgbClr val="F2F1E9"/>
                </a:solidFill>
                <a:latin typeface="DejaVu Sans Mono"/>
                <a:ea typeface="DejaVu Sans Mono"/>
                <a:cs typeface="DejaVu Sans Mono"/>
              </a:defRPr>
            </a:pPr>
            <a:r>
              <a:rPr sz="1763" b="0">
                <a:solidFill>
                  <a:srgbClr val="F2F1E9"/>
                </a:solidFill>
                <a:latin typeface="DejaVu Sans Mono"/>
                <a:ea typeface="DejaVu Sans Mono"/>
                <a:cs typeface="DejaVu Sans Mono"/>
              </a:rPr>
              <a:t>    id_vars=["Sample", "Temp_C", "source_row"],</a:t>
            </a:r>
          </a:p>
          <a:p xmlns:a="http://schemas.openxmlformats.org/drawingml/2006/main">
            <a:pPr>
              <a:lnSpc>
                <a:spcPct val="112000"/>
              </a:lnSpc>
              <a:buNone/>
              <a:defRPr sz="1763" b="0">
                <a:solidFill>
                  <a:srgbClr val="F2F1E9"/>
                </a:solidFill>
                <a:latin typeface="DejaVu Sans Mono"/>
                <a:ea typeface="DejaVu Sans Mono"/>
                <a:cs typeface="DejaVu Sans Mono"/>
              </a:defRPr>
            </a:pPr>
            <a:r>
              <a:rPr sz="1763" b="0">
                <a:solidFill>
                  <a:srgbClr val="F2F1E9"/>
                </a:solidFill>
                <a:latin typeface="DejaVu Sans Mono"/>
                <a:ea typeface="DejaVu Sans Mono"/>
                <a:cs typeface="DejaVu Sans Mono"/>
              </a:rPr>
              <a:t>    value_vars=["R1", "R2", "R3"],</a:t>
            </a:r>
          </a:p>
          <a:p xmlns:a="http://schemas.openxmlformats.org/drawingml/2006/main">
            <a:pPr>
              <a:lnSpc>
                <a:spcPct val="112000"/>
              </a:lnSpc>
              <a:buNone/>
              <a:defRPr sz="1763" b="0">
                <a:solidFill>
                  <a:srgbClr val="F2F1E9"/>
                </a:solidFill>
                <a:latin typeface="DejaVu Sans Mono"/>
                <a:ea typeface="DejaVu Sans Mono"/>
                <a:cs typeface="DejaVu Sans Mono"/>
              </a:defRPr>
            </a:pPr>
            <a:r>
              <a:rPr sz="1763" b="0">
                <a:solidFill>
                  <a:srgbClr val="F2F1E9"/>
                </a:solidFill>
                <a:latin typeface="DejaVu Sans Mono"/>
                <a:ea typeface="DejaVu Sans Mono"/>
                <a:cs typeface="DejaVu Sans Mono"/>
              </a:rPr>
              <a:t>    var_name="replicate", value_name="raw_token"</a:t>
            </a:r>
          </a:p>
          <a:p xmlns:a="http://schemas.openxmlformats.org/drawingml/2006/main">
            <a:pPr>
              <a:lnSpc>
                <a:spcPct val="112000"/>
              </a:lnSpc>
              <a:buNone/>
              <a:defRPr sz="1763" b="0">
                <a:solidFill>
                  <a:srgbClr val="F2F1E9"/>
                </a:solidFill>
                <a:latin typeface="DejaVu Sans Mono"/>
                <a:ea typeface="DejaVu Sans Mono"/>
                <a:cs typeface="DejaVu Sans Mono"/>
              </a:defRPr>
            </a:pPr>
            <a:r>
              <a:rPr sz="1763" b="0">
                <a:solidFill>
                  <a:srgbClr val="F2F1E9"/>
                </a:solidFill>
                <a:latin typeface="DejaVu Sans Mono"/>
                <a:ea typeface="DejaVu Sans Mono"/>
                <a:cs typeface="DejaVu Sans Mono"/>
              </a:rPr>
              <a:t>)</a:t>
            </a:r>
          </a:p>
          <a:p xmlns:a="http://schemas.openxmlformats.org/drawingml/2006/main">
            <a:pPr>
              <a:lnSpc>
                <a:spcPct val="112000"/>
              </a:lnSpc>
              <a:buNone/>
              <a:defRPr sz="1763" b="0">
                <a:solidFill>
                  <a:srgbClr val="F2F1E9"/>
                </a:solidFill>
                <a:latin typeface="DejaVu Sans Mono"/>
                <a:ea typeface="DejaVu Sans Mono"/>
                <a:cs typeface="DejaVu Sans Mono"/>
              </a:defRPr>
            </a:pPr>
            <a:r>
              <a:rPr sz="1763" b="0">
                <a:solidFill>
                  <a:srgbClr val="F2F1E9"/>
                </a:solidFill>
                <a:latin typeface="DejaVu Sans Mono"/>
                <a:ea typeface="DejaVu Sans Mono"/>
                <a:cs typeface="DejaVu Sans Mono"/>
              </a:rPr>
              <a:t>bad = tidy["raw_token"].eq("ERROR")</a:t>
            </a:r>
          </a:p>
          <a:p xmlns:a="http://schemas.openxmlformats.org/drawingml/2006/main">
            <a:pPr>
              <a:lnSpc>
                <a:spcPct val="112000"/>
              </a:lnSpc>
              <a:buNone/>
              <a:defRPr sz="1763" b="0">
                <a:solidFill>
                  <a:srgbClr val="F2F1E9"/>
                </a:solidFill>
                <a:latin typeface="DejaVu Sans Mono"/>
                <a:ea typeface="DejaVu Sans Mono"/>
                <a:cs typeface="DejaVu Sans Mono"/>
              </a:defRPr>
            </a:pPr>
            <a:r>
              <a:rPr sz="1763" b="0">
                <a:solidFill>
                  <a:srgbClr val="F2F1E9"/>
                </a:solidFill>
                <a:latin typeface="DejaVu Sans Mono"/>
                <a:ea typeface="DejaVu Sans Mono"/>
                <a:cs typeface="DejaVu Sans Mono"/>
              </a:rPr>
              <a:t>tidy["sigma_Am2_kg"] = pd.to_numeric(</a:t>
            </a:r>
          </a:p>
          <a:p xmlns:a="http://schemas.openxmlformats.org/drawingml/2006/main">
            <a:pPr>
              <a:lnSpc>
                <a:spcPct val="112000"/>
              </a:lnSpc>
              <a:buNone/>
              <a:defRPr sz="1763" b="0">
                <a:solidFill>
                  <a:srgbClr val="F2F1E9"/>
                </a:solidFill>
                <a:latin typeface="DejaVu Sans Mono"/>
                <a:ea typeface="DejaVu Sans Mono"/>
                <a:cs typeface="DejaVu Sans Mono"/>
              </a:defRPr>
            </a:pPr>
            <a:r>
              <a:rPr sz="1763" b="0">
                <a:solidFill>
                  <a:srgbClr val="F2F1E9"/>
                </a:solidFill>
                <a:latin typeface="DejaVu Sans Mono"/>
                <a:ea typeface="DejaVu Sans Mono"/>
                <a:cs typeface="DejaVu Sans Mono"/>
              </a:rPr>
              <a:t>    tidy["raw_token"].mask(bad).str.replace(",", "."),</a:t>
            </a:r>
          </a:p>
          <a:p xmlns:a="http://schemas.openxmlformats.org/drawingml/2006/main">
            <a:pPr>
              <a:lnSpc>
                <a:spcPct val="112000"/>
              </a:lnSpc>
              <a:buNone/>
              <a:defRPr sz="1763" b="0">
                <a:solidFill>
                  <a:srgbClr val="F2F1E9"/>
                </a:solidFill>
                <a:latin typeface="DejaVu Sans Mono"/>
                <a:ea typeface="DejaVu Sans Mono"/>
                <a:cs typeface="DejaVu Sans Mono"/>
              </a:defRPr>
            </a:pPr>
            <a:r>
              <a:rPr sz="1763" b="0">
                <a:solidFill>
                  <a:srgbClr val="F2F1E9"/>
                </a:solidFill>
                <a:latin typeface="DejaVu Sans Mono"/>
                <a:ea typeface="DejaVu Sans Mono"/>
                <a:cs typeface="DejaVu Sans Mono"/>
              </a:rPr>
              <a:t>    errors="raise"</a:t>
            </a:r>
          </a:p>
          <a:p xmlns:a="http://schemas.openxmlformats.org/drawingml/2006/main">
            <a:pPr>
              <a:lnSpc>
                <a:spcPct val="112000"/>
              </a:lnSpc>
              <a:buNone/>
              <a:defRPr sz="1763" b="0">
                <a:solidFill>
                  <a:srgbClr val="F2F1E9"/>
                </a:solidFill>
                <a:latin typeface="DejaVu Sans Mono"/>
                <a:ea typeface="DejaVu Sans Mono"/>
                <a:cs typeface="DejaVu Sans Mono"/>
              </a:defRPr>
            </a:pPr>
            <a:r>
              <a:rPr sz="1763" b="0">
                <a:solidFill>
                  <a:srgbClr val="F2F1E9"/>
                </a:solidFill>
                <a:latin typeface="DejaVu Sans Mono"/>
                <a:ea typeface="DejaVu Sans Mono"/>
                <a:cs typeface="DejaVu Sans Mono"/>
              </a:rPr>
              <a:t>)</a:t>
            </a:r>
          </a:p>
          <a:p xmlns:a="http://schemas.openxmlformats.org/drawingml/2006/main">
            <a:pPr>
              <a:lnSpc>
                <a:spcPct val="112000"/>
              </a:lnSpc>
              <a:buNone/>
              <a:defRPr sz="1763" b="0">
                <a:solidFill>
                  <a:srgbClr val="F2F1E9"/>
                </a:solidFill>
                <a:latin typeface="DejaVu Sans Mono"/>
                <a:ea typeface="DejaVu Sans Mono"/>
                <a:cs typeface="DejaVu Sans Mono"/>
              </a:defRPr>
            </a:pPr>
            <a:r>
              <a:rPr sz="1763" b="0">
                <a:solidFill>
                  <a:srgbClr val="F2F1E9"/>
                </a:solidFill>
                <a:latin typeface="DejaVu Sans Mono"/>
                <a:ea typeface="DejaVu Sans Mono"/>
                <a:cs typeface="DejaVu Sans Mono"/>
              </a:rPr>
              <a:t>tidy["status"] = bad.map({True: "instrument_error",</a:t>
            </a:r>
          </a:p>
          <a:p xmlns:a="http://schemas.openxmlformats.org/drawingml/2006/main">
            <a:pPr>
              <a:lnSpc>
                <a:spcPct val="112000"/>
              </a:lnSpc>
              <a:buNone/>
              <a:defRPr sz="1763" b="0">
                <a:solidFill>
                  <a:srgbClr val="F2F1E9"/>
                </a:solidFill>
                <a:latin typeface="DejaVu Sans Mono"/>
                <a:ea typeface="DejaVu Sans Mono"/>
                <a:cs typeface="DejaVu Sans Mono"/>
              </a:defRPr>
            </a:pPr>
            <a:r>
              <a:rPr sz="1763" b="0">
                <a:solidFill>
                  <a:srgbClr val="F2F1E9"/>
                </a:solidFill>
                <a:latin typeface="DejaVu Sans Mono"/>
                <a:ea typeface="DejaVu Sans Mono"/>
                <a:cs typeface="DejaVu Sans Mono"/>
              </a:rPr>
              <a:t>                          False: "measured"})</a:t>
            </a:r>
          </a:p>
        </p:txBody>
      </p:sp>
      <p:sp>
        <p:nvSpPr>
          <p:cNvPr id="4" name="">
            <a:extLst xmlns:a="http://schemas.openxmlformats.org/drawingml/2006/main">
              <a:ext uri="{FF2B5EF4-FFF2-40B4-BE49-F238E27FC236}">
                <a16:creationId xmlns:a16="http://schemas.microsoft.com/office/drawing/2014/main" id="{A38946DF-519D-4282-94EA-60521329BF75}"/>
              </a:ext>
            </a:extLst>
          </p:cNvPr>
          <p:cNvSpPr>
            <a:spLocks xmlns:a="http://schemas.openxmlformats.org/drawingml/2006/main" noGrp="1"/>
          </p:cNvSpPr>
          <p:nvPr/>
        </p:nvSpPr>
        <p:spPr>
          <a:xfrm xmlns:a="http://schemas.openxmlformats.org/drawingml/2006/main">
            <a:off x="609600" y="59055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Строка с ERROR сохраняется со статусом и отсутствующим числом.</a:t>
            </a:r>
          </a:p>
        </p:txBody>
      </p:sp>
    </p:spTree>
    <p:extLst>
      <p:ext uri="{BB962C8B-B14F-4D97-AF65-F5344CB8AC3E}">
        <p14:creationId xmlns:p14="http://schemas.microsoft.com/office/powerpoint/2010/main" val="2129012516"/>
      </p:ext>
    </p:extLst>
  </p:cSld>
</p:sld>
</file>

<file path=ppt/slides/slide24.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CA6BAC-A669-4A0F-9A37-613238CA3240}"/>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Проверки до анализа</a:t>
            </a:r>
          </a:p>
        </p:txBody>
      </p:sp>
      <p:sp>
        <p:nvSpPr>
          <p:cNvPr id="2" name="">
            <a:extLst xmlns:a="http://schemas.openxmlformats.org/drawingml/2006/main">
              <a:ext uri="{FF2B5EF4-FFF2-40B4-BE49-F238E27FC236}">
                <a16:creationId xmlns:a16="http://schemas.microsoft.com/office/drawing/2014/main" id="{E62A278B-99D2-4C07-BC27-D370F799016D}"/>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24 / 44</a:t>
            </a:r>
          </a:p>
        </p:txBody>
      </p:sp>
      <p:sp>
        <p:nvSpPr>
          <p:cNvPr id="3" name="">
            <a:extLst xmlns:a="http://schemas.openxmlformats.org/drawingml/2006/main">
              <a:ext uri="{FF2B5EF4-FFF2-40B4-BE49-F238E27FC236}">
                <a16:creationId xmlns:a16="http://schemas.microsoft.com/office/drawing/2014/main" id="{4DCA4AA9-2377-44E9-957F-E3793DBA481F}"/>
              </a:ext>
            </a:extLst>
          </p:cNvPr>
          <p:cNvSpPr>
            <a:spLocks xmlns:a="http://schemas.openxmlformats.org/drawingml/2006/main" noGrp="1"/>
          </p:cNvSpPr>
          <p:nvPr/>
        </p:nvSpPr>
        <p:spPr>
          <a:xfrm xmlns:a="http://schemas.openxmlformats.org/drawingml/2006/main">
            <a:off x="609600" y="1704975"/>
            <a:ext cx="109728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13" b="0">
                <a:solidFill>
                  <a:srgbClr val="F2F1E9"/>
                </a:solidFill>
                <a:latin typeface="DejaVu Sans Mono"/>
                <a:ea typeface="DejaVu Sans Mono"/>
                <a:cs typeface="DejaVu Sans Mono"/>
              </a:defRPr>
            </a:pPr>
            <a:r>
              <a:rPr sz="1913" b="0">
                <a:solidFill>
                  <a:srgbClr val="F2F1E9"/>
                </a:solidFill>
                <a:latin typeface="DejaVu Sans Mono"/>
                <a:ea typeface="DejaVu Sans Mono"/>
                <a:cs typeface="DejaVu Sans Mono"/>
              </a:rPr>
              <a:t>assert samples["sample_id"].is_unique</a:t>
            </a:r>
          </a:p>
          <a:p xmlns:a="http://schemas.openxmlformats.org/drawingml/2006/main">
            <a:pPr>
              <a:lnSpc>
                <a:spcPct val="112000"/>
              </a:lnSpc>
              <a:buNone/>
              <a:defRPr sz="1913" b="0">
                <a:solidFill>
                  <a:srgbClr val="F2F1E9"/>
                </a:solidFill>
                <a:latin typeface="DejaVu Sans Mono"/>
                <a:ea typeface="DejaVu Sans Mono"/>
                <a:cs typeface="DejaVu Sans Mono"/>
              </a:defRPr>
            </a:pPr>
            <a:r>
              <a:rPr sz="1913" b="0">
                <a:solidFill>
                  <a:srgbClr val="F2F1E9"/>
                </a:solidFill>
                <a:latin typeface="DejaVu Sans Mono"/>
                <a:ea typeface="DejaVu Sans Mono"/>
                <a:cs typeface="DejaVu Sans Mono"/>
              </a:rPr>
              <a:t>assert measurements["measurement_id"].is_unique</a:t>
            </a:r>
          </a:p>
          <a:p xmlns:a="http://schemas.openxmlformats.org/drawingml/2006/main">
            <a:pPr>
              <a:lnSpc>
                <a:spcPct val="112000"/>
              </a:lnSpc>
              <a:buNone/>
              <a:defRPr sz="1913" b="0">
                <a:solidFill>
                  <a:srgbClr val="F2F1E9"/>
                </a:solidFill>
                <a:latin typeface="DejaVu Sans Mono"/>
                <a:ea typeface="DejaVu Sans Mono"/>
                <a:cs typeface="DejaVu Sans Mono"/>
              </a:defRPr>
            </a:pPr>
            <a:r>
              <a:rPr sz="1913" b="0">
                <a:solidFill>
                  <a:srgbClr val="F2F1E9"/>
                </a:solidFill>
                <a:latin typeface="DejaVu Sans Mono"/>
                <a:ea typeface="DejaVu Sans Mono"/>
                <a:cs typeface="DejaVu Sans Mono"/>
              </a:rPr>
              <a:t>assert measurements["sample_id"].notna().all()</a:t>
            </a:r>
          </a:p>
          <a:p xmlns:a="http://schemas.openxmlformats.org/drawingml/2006/main">
            <a:pPr>
              <a:lnSpc>
                <a:spcPct val="112000"/>
              </a:lnSpc>
              <a:buNone/>
              <a:defRPr sz="1913" b="0">
                <a:solidFill>
                  <a:srgbClr val="F2F1E9"/>
                </a:solidFill>
                <a:latin typeface="DejaVu Sans Mono"/>
                <a:ea typeface="DejaVu Sans Mono"/>
                <a:cs typeface="DejaVu Sans Mono"/>
              </a:defRPr>
            </a:pPr>
            <a:r>
              <a:rPr sz="1913" b="0">
                <a:solidFill>
                  <a:srgbClr val="F2F1E9"/>
                </a:solidFill>
                <a:latin typeface="DejaVu Sans Mono"/>
                <a:ea typeface="DejaVu Sans Mono"/>
                <a:cs typeface="DejaVu Sans Mono"/>
              </a:rPr>
              <a:t>assert measurements["sample_id"].isin(</a:t>
            </a:r>
          </a:p>
          <a:p xmlns:a="http://schemas.openxmlformats.org/drawingml/2006/main">
            <a:pPr>
              <a:lnSpc>
                <a:spcPct val="112000"/>
              </a:lnSpc>
              <a:buNone/>
              <a:defRPr sz="1913" b="0">
                <a:solidFill>
                  <a:srgbClr val="F2F1E9"/>
                </a:solidFill>
                <a:latin typeface="DejaVu Sans Mono"/>
                <a:ea typeface="DejaVu Sans Mono"/>
                <a:cs typeface="DejaVu Sans Mono"/>
              </a:defRPr>
            </a:pPr>
            <a:r>
              <a:rPr sz="1913" b="0">
                <a:solidFill>
                  <a:srgbClr val="F2F1E9"/>
                </a:solidFill>
                <a:latin typeface="DejaVu Sans Mono"/>
                <a:ea typeface="DejaVu Sans Mono"/>
                <a:cs typeface="DejaVu Sans Mono"/>
              </a:rPr>
              <a:t>    samples["sample_id"]</a:t>
            </a:r>
          </a:p>
          <a:p xmlns:a="http://schemas.openxmlformats.org/drawingml/2006/main">
            <a:pPr>
              <a:lnSpc>
                <a:spcPct val="112000"/>
              </a:lnSpc>
              <a:buNone/>
              <a:defRPr sz="1913" b="0">
                <a:solidFill>
                  <a:srgbClr val="F2F1E9"/>
                </a:solidFill>
                <a:latin typeface="DejaVu Sans Mono"/>
                <a:ea typeface="DejaVu Sans Mono"/>
                <a:cs typeface="DejaVu Sans Mono"/>
              </a:defRPr>
            </a:pPr>
            <a:r>
              <a:rPr sz="1913" b="0">
                <a:solidFill>
                  <a:srgbClr val="F2F1E9"/>
                </a:solidFill>
                <a:latin typeface="DejaVu Sans Mono"/>
                <a:ea typeface="DejaVu Sans Mono"/>
                <a:cs typeface="DejaVu Sans Mono"/>
              </a:rPr>
              <a:t>).all()</a:t>
            </a:r>
          </a:p>
          <a:p xmlns:a="http://schemas.openxmlformats.org/drawingml/2006/main">
            <a:r>
              <a:t/>
            </a:r>
          </a:p>
          <a:p xmlns:a="http://schemas.openxmlformats.org/drawingml/2006/main">
            <a:pPr>
              <a:lnSpc>
                <a:spcPct val="112000"/>
              </a:lnSpc>
              <a:buNone/>
              <a:defRPr sz="1913" b="0">
                <a:solidFill>
                  <a:srgbClr val="F2F1E9"/>
                </a:solidFill>
                <a:latin typeface="DejaVu Sans Mono"/>
                <a:ea typeface="DejaVu Sans Mono"/>
                <a:cs typeface="DejaVu Sans Mono"/>
              </a:defRPr>
            </a:pPr>
            <a:r>
              <a:rPr sz="1913" b="0">
                <a:solidFill>
                  <a:srgbClr val="F2F1E9"/>
                </a:solidFill>
                <a:latin typeface="DejaVu Sans Mono"/>
                <a:ea typeface="DejaVu Sans Mono"/>
                <a:cs typeface="DejaVu Sans Mono"/>
              </a:rPr>
              <a:t>data = measurements.merge(</a:t>
            </a:r>
          </a:p>
          <a:p xmlns:a="http://schemas.openxmlformats.org/drawingml/2006/main">
            <a:pPr>
              <a:lnSpc>
                <a:spcPct val="112000"/>
              </a:lnSpc>
              <a:buNone/>
              <a:defRPr sz="1913" b="0">
                <a:solidFill>
                  <a:srgbClr val="F2F1E9"/>
                </a:solidFill>
                <a:latin typeface="DejaVu Sans Mono"/>
                <a:ea typeface="DejaVu Sans Mono"/>
                <a:cs typeface="DejaVu Sans Mono"/>
              </a:defRPr>
            </a:pPr>
            <a:r>
              <a:rPr sz="1913" b="0">
                <a:solidFill>
                  <a:srgbClr val="F2F1E9"/>
                </a:solidFill>
                <a:latin typeface="DejaVu Sans Mono"/>
                <a:ea typeface="DejaVu Sans Mono"/>
                <a:cs typeface="DejaVu Sans Mono"/>
              </a:rPr>
              <a:t>    samples, on="sample_id", validate="many_to_one"</a:t>
            </a:r>
          </a:p>
          <a:p xmlns:a="http://schemas.openxmlformats.org/drawingml/2006/main">
            <a:pPr>
              <a:lnSpc>
                <a:spcPct val="112000"/>
              </a:lnSpc>
              <a:buNone/>
              <a:defRPr sz="1913" b="0">
                <a:solidFill>
                  <a:srgbClr val="F2F1E9"/>
                </a:solidFill>
                <a:latin typeface="DejaVu Sans Mono"/>
                <a:ea typeface="DejaVu Sans Mono"/>
                <a:cs typeface="DejaVu Sans Mono"/>
              </a:defRPr>
            </a:pPr>
            <a:r>
              <a:rPr sz="1913" b="0">
                <a:solidFill>
                  <a:srgbClr val="F2F1E9"/>
                </a:solidFill>
                <a:latin typeface="DejaVu Sans Mono"/>
                <a:ea typeface="DejaVu Sans Mono"/>
                <a:cs typeface="DejaVu Sans Mono"/>
              </a:rPr>
              <a:t>)</a:t>
            </a:r>
          </a:p>
        </p:txBody>
      </p:sp>
      <p:sp>
        <p:nvSpPr>
          <p:cNvPr id="4" name="">
            <a:extLst xmlns:a="http://schemas.openxmlformats.org/drawingml/2006/main">
              <a:ext uri="{FF2B5EF4-FFF2-40B4-BE49-F238E27FC236}">
                <a16:creationId xmlns:a16="http://schemas.microsoft.com/office/drawing/2014/main" id="{456570D0-69BA-4D51-AC72-023EFE088D4D}"/>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Дополнительно: число строк, диапазоны, статусы и согласованность единиц.</a:t>
            </a:r>
          </a:p>
        </p:txBody>
      </p:sp>
    </p:spTree>
    <p:extLst>
      <p:ext uri="{BB962C8B-B14F-4D97-AF65-F5344CB8AC3E}">
        <p14:creationId xmlns:p14="http://schemas.microsoft.com/office/powerpoint/2010/main" val="449081771"/>
      </p:ext>
    </p:extLst>
  </p:cSld>
</p:sld>
</file>

<file path=ppt/slides/slide25.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E2A56F-3830-4D7C-874E-52FA9601F3BC}"/>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Контроль преобразования данных</a:t>
            </a:r>
          </a:p>
        </p:txBody>
      </p:sp>
      <p:sp>
        <p:nvSpPr>
          <p:cNvPr id="2" name="">
            <a:extLst xmlns:a="http://schemas.openxmlformats.org/drawingml/2006/main">
              <a:ext uri="{FF2B5EF4-FFF2-40B4-BE49-F238E27FC236}">
                <a16:creationId xmlns:a16="http://schemas.microsoft.com/office/drawing/2014/main" id="{4EB77EAB-C67F-434C-BAA7-2BC63C62C328}"/>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25 / 44</a:t>
            </a:r>
          </a:p>
        </p:txBody>
      </p:sp>
      <p:graphicFrame>
        <p:nvGraphicFramePr>
          <p:cNvPr id="7" name=""/>
          <p:cNvGraphicFramePr/>
          <p:nvPr/>
        </p:nvGraphicFramePr>
        <p:xfrm>
          <a:off xmlns:a="http://schemas.openxmlformats.org/drawingml/2006/main" x="609600" y="1619250"/>
          <a:ext xmlns:a="http://schemas.openxmlformats.org/drawingml/2006/main" cx="10972800" cy="3333750"/>
        </p:xfrm>
        <a:graphic xmlns:a="http://schemas.openxmlformats.org/drawingml/2006/main">
          <a:graphicData uri="http://schemas.openxmlformats.org/drawingml/2006/table">
            <a:tbl>
              <a:tblPr firstRow="0" bandRow="0"/>
              <a:tblGrid>
                <a:gridCol w="3516923"/>
                <a:gridCol w="7455877"/>
              </a:tblGrid>
              <a:tr h="666750">
                <a:tc>
                  <a:txBody>
                    <a:bodyPr anchor="ctr">
                      <a:noAutofit/>
                    </a:bodyPr>
                    <a:lstStyle/>
                    <a:p>
                      <a:r>
                        <a:rPr sz="2025" b="1">
                          <a:solidFill>
                            <a:srgbClr val="81DFCE"/>
                          </a:solidFill>
                          <a:latin typeface="DejaVu Sans"/>
                          <a:ea typeface="DejaVu Sans"/>
                          <a:cs typeface="DejaVu Sans"/>
                        </a:rPr>
                        <a:t>Контроль</a:t>
                      </a:r>
                    </a:p>
                  </a:txBody>
                  <a:tcPr marL="142875" marR="114300" marT="95250" marB="95250" anchor="ctr">
                    <a:solidFill>
                      <a:srgbClr val="21343F"/>
                    </a:solidFill>
                  </a:tcPr>
                </a:tc>
                <a:tc>
                  <a:txBody>
                    <a:bodyPr anchor="ctr">
                      <a:noAutofit/>
                    </a:bodyPr>
                    <a:lstStyle/>
                    <a:p>
                      <a:r>
                        <a:rPr sz="2025" b="1">
                          <a:solidFill>
                            <a:srgbClr val="81DFCE"/>
                          </a:solidFill>
                          <a:latin typeface="DejaVu Sans"/>
                          <a:ea typeface="DejaVu Sans"/>
                          <a:cs typeface="DejaVu Sans"/>
                        </a:rPr>
                        <a:t>Для экспорта на слайде 19</a:t>
                      </a:r>
                    </a:p>
                  </a:txBody>
                  <a:tcPr marL="142875" marR="114300" marT="95250" marB="95250" anchor="ctr">
                    <a:solidFill>
                      <a:srgbClr val="21343F"/>
                    </a:solidFill>
                  </a:tcPr>
                </a:tc>
              </a:tr>
              <a:tr h="666750">
                <a:tc>
                  <a:txBody>
                    <a:bodyPr anchor="ctr">
                      <a:noAutofit/>
                    </a:bodyPr>
                    <a:lstStyle/>
                    <a:p>
                      <a:r>
                        <a:rPr sz="2025" b="0">
                          <a:solidFill>
                            <a:srgbClr val="F2F1E9"/>
                          </a:solidFill>
                          <a:latin typeface="DejaVu Sans"/>
                          <a:ea typeface="DejaVu Sans"/>
                          <a:cs typeface="DejaVu Sans"/>
                        </a:rPr>
                        <a:t>Число наблюдений</a:t>
                      </a:r>
                    </a:p>
                  </a:txBody>
                  <a:tcPr marL="142875" marR="114300" marT="95250" marB="95250" anchor="ctr">
                    <a:solidFill>
                      <a:srgbClr val="101923"/>
                    </a:solidFill>
                  </a:tcPr>
                </a:tc>
                <a:tc>
                  <a:txBody>
                    <a:bodyPr anchor="ctr">
                      <a:noAutofit/>
                    </a:bodyPr>
                    <a:lstStyle/>
                    <a:p>
                      <a:r>
                        <a:rPr sz="2025" b="0">
                          <a:solidFill>
                            <a:srgbClr val="F2F1E9"/>
                          </a:solidFill>
                          <a:latin typeface="DejaVu Sans"/>
                          <a:ea typeface="DejaVu Sans"/>
                          <a:cs typeface="DejaVu Sans"/>
                        </a:rPr>
                        <a:t>2 строки × 3 повтора = 6 строк</a:t>
                      </a:r>
                    </a:p>
                  </a:txBody>
                  <a:tcPr marL="142875" marR="114300" marT="95250" marB="95250" anchor="ctr">
                    <a:solidFill>
                      <a:srgbClr val="101923"/>
                    </a:solidFill>
                  </a:tcPr>
                </a:tc>
              </a:tr>
              <a:tr h="666750">
                <a:tc>
                  <a:txBody>
                    <a:bodyPr anchor="ctr">
                      <a:noAutofit/>
                    </a:bodyPr>
                    <a:lstStyle/>
                    <a:p>
                      <a:r>
                        <a:rPr sz="2025" b="0">
                          <a:solidFill>
                            <a:srgbClr val="F2F1E9"/>
                          </a:solidFill>
                          <a:latin typeface="DejaVu Sans"/>
                          <a:ea typeface="DejaVu Sans"/>
                          <a:cs typeface="DejaVu Sans"/>
                        </a:rPr>
                        <a:t>Статусы</a:t>
                      </a:r>
                    </a:p>
                  </a:txBody>
                  <a:tcPr marL="142875" marR="114300" marT="95250" marB="95250" anchor="ctr">
                    <a:solidFill>
                      <a:srgbClr val="14212D"/>
                    </a:solidFill>
                  </a:tcPr>
                </a:tc>
                <a:tc>
                  <a:txBody>
                    <a:bodyPr anchor="ctr">
                      <a:noAutofit/>
                    </a:bodyPr>
                    <a:lstStyle/>
                    <a:p>
                      <a:r>
                        <a:rPr sz="2025" b="0">
                          <a:solidFill>
                            <a:srgbClr val="F2F1E9"/>
                          </a:solidFill>
                          <a:latin typeface="DejaVu Sans"/>
                          <a:ea typeface="DejaVu Sans"/>
                          <a:cs typeface="DejaVu Sans"/>
                        </a:rPr>
                        <a:t>5 measured, 1 instrument_error</a:t>
                      </a:r>
                    </a:p>
                  </a:txBody>
                  <a:tcPr marL="142875" marR="114300" marT="95250" marB="95250" anchor="ctr">
                    <a:solidFill>
                      <a:srgbClr val="14212D"/>
                    </a:solidFill>
                  </a:tcPr>
                </a:tc>
              </a:tr>
              <a:tr h="666750">
                <a:tc>
                  <a:txBody>
                    <a:bodyPr anchor="ctr">
                      <a:noAutofit/>
                    </a:bodyPr>
                    <a:lstStyle/>
                    <a:p>
                      <a:r>
                        <a:rPr sz="2025" b="0">
                          <a:solidFill>
                            <a:srgbClr val="F2F1E9"/>
                          </a:solidFill>
                          <a:latin typeface="DejaVu Sans"/>
                          <a:ea typeface="DejaVu Sans"/>
                          <a:cs typeface="DejaVu Sans"/>
                        </a:rPr>
                        <a:t>След до источника</a:t>
                      </a:r>
                    </a:p>
                  </a:txBody>
                  <a:tcPr marL="142875" marR="114300" marT="95250" marB="95250" anchor="ctr">
                    <a:solidFill>
                      <a:srgbClr val="101923"/>
                    </a:solidFill>
                  </a:tcPr>
                </a:tc>
                <a:tc>
                  <a:txBody>
                    <a:bodyPr anchor="ctr">
                      <a:noAutofit/>
                    </a:bodyPr>
                    <a:lstStyle/>
                    <a:p>
                      <a:r>
                        <a:rPr sz="2025" b="0">
                          <a:solidFill>
                            <a:srgbClr val="F2F1E9"/>
                          </a:solidFill>
                          <a:latin typeface="DejaVu Sans"/>
                          <a:ea typeface="DejaVu Sans"/>
                          <a:cs typeface="DejaVu Sans"/>
                        </a:rPr>
                        <a:t>source_file, source_row, replicate, raw_token</a:t>
                      </a:r>
                    </a:p>
                  </a:txBody>
                  <a:tcPr marL="142875" marR="114300" marT="95250" marB="95250" anchor="ctr">
                    <a:solidFill>
                      <a:srgbClr val="101923"/>
                    </a:solidFill>
                  </a:tcPr>
                </a:tc>
              </a:tr>
              <a:tr h="666750">
                <a:tc>
                  <a:txBody>
                    <a:bodyPr anchor="ctr">
                      <a:noAutofit/>
                    </a:bodyPr>
                    <a:lstStyle/>
                    <a:p>
                      <a:r>
                        <a:rPr sz="2025" b="0">
                          <a:solidFill>
                            <a:srgbClr val="F2F1E9"/>
                          </a:solidFill>
                          <a:latin typeface="DejaVu Sans"/>
                          <a:ea typeface="DejaVu Sans"/>
                          <a:cs typeface="DejaVu Sans"/>
                        </a:rPr>
                        <a:t>Преобразования</a:t>
                      </a:r>
                    </a:p>
                  </a:txBody>
                  <a:tcPr marL="142875" marR="114300" marT="95250" marB="95250" anchor="ctr">
                    <a:solidFill>
                      <a:srgbClr val="14212D"/>
                    </a:solidFill>
                  </a:tcPr>
                </a:tc>
                <a:tc>
                  <a:txBody>
                    <a:bodyPr anchor="ctr">
                      <a:noAutofit/>
                    </a:bodyPr>
                    <a:lstStyle/>
                    <a:p>
                      <a:r>
                        <a:rPr sz="2025" b="0">
                          <a:solidFill>
                            <a:srgbClr val="F2F1E9"/>
                          </a:solidFill>
                          <a:latin typeface="DejaVu Sans"/>
                          <a:ea typeface="DejaVu Sans"/>
                          <a:cs typeface="DejaVu Sans"/>
                        </a:rPr>
                        <a:t>Версия скрипта и параметры чтения</a:t>
                      </a:r>
                    </a:p>
                  </a:txBody>
                  <a:tcPr marL="142875" marR="114300" marT="95250" marB="95250" anchor="ctr">
                    <a:solidFill>
                      <a:srgbClr val="14212D"/>
                    </a:solidFill>
                  </a:tcPr>
                </a:tc>
              </a:tr>
            </a:tbl>
          </a:graphicData>
        </a:graphic>
      </p:graphicFrame>
      <p:sp>
        <p:nvSpPr>
          <p:cNvPr id="4" name="">
            <a:extLst xmlns:a="http://schemas.openxmlformats.org/drawingml/2006/main">
              <a:ext uri="{FF2B5EF4-FFF2-40B4-BE49-F238E27FC236}">
                <a16:creationId xmlns:a16="http://schemas.microsoft.com/office/drawing/2014/main" id="{CBAF38AB-1012-4BF5-ADB3-F2AFF7D07F79}"/>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F1B766"/>
                </a:solidFill>
                <a:latin typeface="DejaVu Sans"/>
                <a:ea typeface="DejaVu Sans"/>
                <a:cs typeface="DejaVu Sans"/>
              </a:defRPr>
            </a:pPr>
            <a:r>
              <a:rPr sz="1950" b="0">
                <a:solidFill>
                  <a:srgbClr val="F1B766"/>
                </a:solidFill>
                <a:latin typeface="DejaVu Sans"/>
                <a:ea typeface="DejaVu Sans"/>
                <a:cs typeface="DejaVu Sans"/>
              </a:rPr>
              <a:t>Вопрос: какая информация потеряется, если сразу удалить ERROR?</a:t>
            </a:r>
          </a:p>
        </p:txBody>
      </p:sp>
    </p:spTree>
    <p:extLst>
      <p:ext uri="{BB962C8B-B14F-4D97-AF65-F5344CB8AC3E}">
        <p14:creationId xmlns:p14="http://schemas.microsoft.com/office/powerpoint/2010/main" val="859387053"/>
      </p:ext>
    </p:extLst>
  </p:cSld>
</p:sld>
</file>

<file path=ppt/slides/slide26.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EA8A1E-E8A5-409A-9D1C-F32457EC40ED}"/>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Метаданные эксперимента</a:t>
            </a:r>
          </a:p>
        </p:txBody>
      </p:sp>
      <p:sp>
        <p:nvSpPr>
          <p:cNvPr id="2" name="">
            <a:extLst xmlns:a="http://schemas.openxmlformats.org/drawingml/2006/main">
              <a:ext uri="{FF2B5EF4-FFF2-40B4-BE49-F238E27FC236}">
                <a16:creationId xmlns:a16="http://schemas.microsoft.com/office/drawing/2014/main" id="{0C379575-A2A6-4EA4-BD3A-089D32E4A5EE}"/>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26 / 44</a:t>
            </a:r>
          </a:p>
        </p:txBody>
      </p:sp>
      <p:graphicFrame>
        <p:nvGraphicFramePr>
          <p:cNvPr id="7" name=""/>
          <p:cNvGraphicFramePr/>
          <p:nvPr/>
        </p:nvGraphicFramePr>
        <p:xfrm>
          <a:off xmlns:a="http://schemas.openxmlformats.org/drawingml/2006/main" x="609600" y="1619250"/>
          <a:ext xmlns:a="http://schemas.openxmlformats.org/drawingml/2006/main" cx="10972800" cy="3619500"/>
        </p:xfrm>
        <a:graphic xmlns:a="http://schemas.openxmlformats.org/drawingml/2006/main">
          <a:graphicData uri="http://schemas.openxmlformats.org/drawingml/2006/table">
            <a:tbl>
              <a:tblPr firstRow="0" bandRow="0"/>
              <a:tblGrid>
                <a:gridCol w="2743200"/>
                <a:gridCol w="8229600"/>
              </a:tblGrid>
              <a:tr h="603250">
                <a:tc>
                  <a:txBody>
                    <a:bodyPr anchor="ctr">
                      <a:noAutofit/>
                    </a:bodyPr>
                    <a:lstStyle/>
                    <a:p>
                      <a:r>
                        <a:rPr sz="1950" b="1">
                          <a:solidFill>
                            <a:srgbClr val="81DFCE"/>
                          </a:solidFill>
                          <a:latin typeface="DejaVu Sans"/>
                          <a:ea typeface="DejaVu Sans"/>
                          <a:cs typeface="DejaVu Sans"/>
                        </a:rPr>
                        <a:t>Уровень</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Примеры метаданных</a:t>
                      </a:r>
                    </a:p>
                  </a:txBody>
                  <a:tcPr marL="142875" marR="114300" marT="95250" marB="95250" anchor="ctr">
                    <a:solidFill>
                      <a:srgbClr val="21343F"/>
                    </a:solidFill>
                  </a:tcPr>
                </a:tc>
              </a:tr>
              <a:tr h="603250">
                <a:tc>
                  <a:txBody>
                    <a:bodyPr anchor="ctr">
                      <a:noAutofit/>
                    </a:bodyPr>
                    <a:lstStyle/>
                    <a:p>
                      <a:r>
                        <a:rPr sz="1950" b="0">
                          <a:solidFill>
                            <a:srgbClr val="F2F1E9"/>
                          </a:solidFill>
                          <a:latin typeface="DejaVu Sans"/>
                          <a:ea typeface="DejaVu Sans"/>
                          <a:cs typeface="DejaVu Sans"/>
                        </a:rPr>
                        <a:t>Проект</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Вопрос, авторы, протокол и его версия</a:t>
                      </a:r>
                    </a:p>
                  </a:txBody>
                  <a:tcPr marL="142875" marR="114300" marT="95250" marB="95250" anchor="ctr">
                    <a:solidFill>
                      <a:srgbClr val="101923"/>
                    </a:solidFill>
                  </a:tcPr>
                </a:tc>
              </a:tr>
              <a:tr h="603250">
                <a:tc>
                  <a:txBody>
                    <a:bodyPr anchor="ctr">
                      <a:noAutofit/>
                    </a:bodyPr>
                    <a:lstStyle/>
                    <a:p>
                      <a:r>
                        <a:rPr sz="1950" b="0">
                          <a:solidFill>
                            <a:srgbClr val="F2F1E9"/>
                          </a:solidFill>
                          <a:latin typeface="DejaVu Sans"/>
                          <a:ea typeface="DejaVu Sans"/>
                          <a:cs typeface="DejaVu Sans"/>
                        </a:rPr>
                        <a:t>Партия</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Состав, дата синтеза, режим, цикл печи</a:t>
                      </a:r>
                    </a:p>
                  </a:txBody>
                  <a:tcPr marL="142875" marR="114300" marT="95250" marB="95250" anchor="ctr">
                    <a:solidFill>
                      <a:srgbClr val="14212D"/>
                    </a:solidFill>
                  </a:tcPr>
                </a:tc>
              </a:tr>
              <a:tr h="603250">
                <a:tc>
                  <a:txBody>
                    <a:bodyPr anchor="ctr">
                      <a:noAutofit/>
                    </a:bodyPr>
                    <a:lstStyle/>
                    <a:p>
                      <a:r>
                        <a:rPr sz="1950" b="0">
                          <a:solidFill>
                            <a:srgbClr val="F2F1E9"/>
                          </a:solidFill>
                          <a:latin typeface="DejaVu Sans"/>
                          <a:ea typeface="DejaVu Sans"/>
                          <a:cs typeface="DejaVu Sans"/>
                        </a:rPr>
                        <a:t>Образец</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Масса, геометрия, отбор, хранение</a:t>
                      </a:r>
                    </a:p>
                  </a:txBody>
                  <a:tcPr marL="142875" marR="114300" marT="95250" marB="95250" anchor="ctr">
                    <a:solidFill>
                      <a:srgbClr val="101923"/>
                    </a:solidFill>
                  </a:tcPr>
                </a:tc>
              </a:tr>
              <a:tr h="603250">
                <a:tc>
                  <a:txBody>
                    <a:bodyPr anchor="ctr">
                      <a:noAutofit/>
                    </a:bodyPr>
                    <a:lstStyle/>
                    <a:p>
                      <a:r>
                        <a:rPr sz="1950" b="0">
                          <a:solidFill>
                            <a:srgbClr val="F2F1E9"/>
                          </a:solidFill>
                          <a:latin typeface="DejaVu Sans"/>
                          <a:ea typeface="DejaVu Sans"/>
                          <a:cs typeface="DejaVu Sans"/>
                        </a:rPr>
                        <a:t>Измерение</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Прибор, оператор, время, калибровка, настройки</a:t>
                      </a:r>
                    </a:p>
                  </a:txBody>
                  <a:tcPr marL="142875" marR="114300" marT="95250" marB="95250" anchor="ctr">
                    <a:solidFill>
                      <a:srgbClr val="14212D"/>
                    </a:solidFill>
                  </a:tcPr>
                </a:tc>
              </a:tr>
              <a:tr h="603250">
                <a:tc>
                  <a:txBody>
                    <a:bodyPr anchor="ctr">
                      <a:noAutofit/>
                    </a:bodyPr>
                    <a:lstStyle/>
                    <a:p>
                      <a:r>
                        <a:rPr sz="1950" b="0">
                          <a:solidFill>
                            <a:srgbClr val="F2F1E9"/>
                          </a:solidFill>
                          <a:latin typeface="DejaVu Sans"/>
                          <a:ea typeface="DejaVu Sans"/>
                          <a:cs typeface="DejaVu Sans"/>
                        </a:rPr>
                        <a:t>Обработка</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Скрипт, параметры, правило исключения</a:t>
                      </a:r>
                    </a:p>
                  </a:txBody>
                  <a:tcPr marL="142875" marR="114300" marT="95250" marB="95250" anchor="ctr">
                    <a:solidFill>
                      <a:srgbClr val="101923"/>
                    </a:solidFill>
                  </a:tcPr>
                </a:tc>
              </a:tr>
            </a:tbl>
          </a:graphicData>
        </a:graphic>
      </p:graphicFrame>
      <p:sp>
        <p:nvSpPr>
          <p:cNvPr id="4" name="">
            <a:extLst xmlns:a="http://schemas.openxmlformats.org/drawingml/2006/main">
              <a:ext uri="{FF2B5EF4-FFF2-40B4-BE49-F238E27FC236}">
                <a16:creationId xmlns:a16="http://schemas.microsoft.com/office/drawing/2014/main" id="{E96C3533-E145-4B0B-9A76-3CC05AE77F85}"/>
              </a:ext>
            </a:extLst>
          </p:cNvPr>
          <p:cNvSpPr>
            <a:spLocks xmlns:a="http://schemas.openxmlformats.org/drawingml/2006/main" noGrp="1"/>
          </p:cNvSpPr>
          <p:nvPr/>
        </p:nvSpPr>
        <p:spPr>
          <a:xfrm xmlns:a="http://schemas.openxmlformats.org/drawingml/2006/main">
            <a:off x="609600" y="58007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Метаданные записывают во время работы, пока контекст ещё известен.</a:t>
            </a:r>
          </a:p>
        </p:txBody>
      </p:sp>
    </p:spTree>
    <p:extLst>
      <p:ext uri="{BB962C8B-B14F-4D97-AF65-F5344CB8AC3E}">
        <p14:creationId xmlns:p14="http://schemas.microsoft.com/office/powerpoint/2010/main" val="1015004202"/>
      </p:ext>
    </p:extLst>
  </p:cSld>
</p:sld>
</file>

<file path=ppt/slides/slide27.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875B84-4A48-46CE-B39D-34A5E81E6CCB}"/>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Словарь данных: значения каждого поля</a:t>
            </a:r>
          </a:p>
        </p:txBody>
      </p:sp>
      <p:sp>
        <p:nvSpPr>
          <p:cNvPr id="2" name="">
            <a:extLst xmlns:a="http://schemas.openxmlformats.org/drawingml/2006/main">
              <a:ext uri="{FF2B5EF4-FFF2-40B4-BE49-F238E27FC236}">
                <a16:creationId xmlns:a16="http://schemas.microsoft.com/office/drawing/2014/main" id="{11BB9FD1-D966-4910-A6CD-67375BE4F584}"/>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27 / 44</a:t>
            </a:r>
          </a:p>
        </p:txBody>
      </p:sp>
      <p:graphicFrame>
        <p:nvGraphicFramePr>
          <p:cNvPr id="7" name=""/>
          <p:cNvGraphicFramePr/>
          <p:nvPr/>
        </p:nvGraphicFramePr>
        <p:xfrm>
          <a:off xmlns:a="http://schemas.openxmlformats.org/drawingml/2006/main" x="609600" y="1619250"/>
          <a:ext xmlns:a="http://schemas.openxmlformats.org/drawingml/2006/main" cx="10972800" cy="3705225"/>
        </p:xfrm>
        <a:graphic xmlns:a="http://schemas.openxmlformats.org/drawingml/2006/main">
          <a:graphicData uri="http://schemas.openxmlformats.org/drawingml/2006/table">
            <a:tbl>
              <a:tblPr firstRow="0" bandRow="0"/>
              <a:tblGrid>
                <a:gridCol w="2767054"/>
                <a:gridCol w="2289976"/>
                <a:gridCol w="5915770"/>
              </a:tblGrid>
              <a:tr h="617538">
                <a:tc>
                  <a:txBody>
                    <a:bodyPr anchor="ctr">
                      <a:noAutofit/>
                    </a:bodyPr>
                    <a:lstStyle/>
                    <a:p>
                      <a:r>
                        <a:rPr sz="1838" b="1">
                          <a:solidFill>
                            <a:srgbClr val="81DFCE"/>
                          </a:solidFill>
                          <a:latin typeface="DejaVu Sans"/>
                          <a:ea typeface="DejaVu Sans"/>
                          <a:cs typeface="DejaVu Sans"/>
                        </a:rPr>
                        <a:t>Поле</a:t>
                      </a:r>
                    </a:p>
                  </a:txBody>
                  <a:tcPr marL="142875" marR="114300" marT="95250" marB="95250" anchor="ctr">
                    <a:solidFill>
                      <a:srgbClr val="21343F"/>
                    </a:solidFill>
                  </a:tcPr>
                </a:tc>
                <a:tc>
                  <a:txBody>
                    <a:bodyPr anchor="ctr">
                      <a:noAutofit/>
                    </a:bodyPr>
                    <a:lstStyle/>
                    <a:p>
                      <a:r>
                        <a:rPr sz="1838" b="1">
                          <a:solidFill>
                            <a:srgbClr val="81DFCE"/>
                          </a:solidFill>
                          <a:latin typeface="DejaVu Sans"/>
                          <a:ea typeface="DejaVu Sans"/>
                          <a:cs typeface="DejaVu Sans"/>
                        </a:rPr>
                        <a:t>Тип</a:t>
                      </a:r>
                    </a:p>
                  </a:txBody>
                  <a:tcPr marL="142875" marR="114300" marT="95250" marB="95250" anchor="ctr">
                    <a:solidFill>
                      <a:srgbClr val="21343F"/>
                    </a:solidFill>
                  </a:tcPr>
                </a:tc>
                <a:tc>
                  <a:txBody>
                    <a:bodyPr anchor="ctr">
                      <a:noAutofit/>
                    </a:bodyPr>
                    <a:lstStyle/>
                    <a:p>
                      <a:r>
                        <a:rPr sz="1838" b="1">
                          <a:solidFill>
                            <a:srgbClr val="81DFCE"/>
                          </a:solidFill>
                          <a:latin typeface="DejaVu Sans"/>
                          <a:ea typeface="DejaVu Sans"/>
                          <a:cs typeface="DejaVu Sans"/>
                        </a:rPr>
                        <a:t>Смысл и правило</a:t>
                      </a:r>
                    </a:p>
                  </a:txBody>
                  <a:tcPr marL="142875" marR="114300" marT="95250" marB="95250" anchor="ctr">
                    <a:solidFill>
                      <a:srgbClr val="21343F"/>
                    </a:solidFill>
                  </a:tcPr>
                </a:tc>
              </a:tr>
              <a:tr h="617538">
                <a:tc>
                  <a:txBody>
                    <a:bodyPr anchor="ctr">
                      <a:noAutofit/>
                    </a:bodyPr>
                    <a:lstStyle/>
                    <a:p>
                      <a:r>
                        <a:rPr sz="1838" b="0">
                          <a:solidFill>
                            <a:srgbClr val="F2F1E9"/>
                          </a:solidFill>
                          <a:latin typeface="DejaVu Sans"/>
                          <a:ea typeface="DejaVu Sans"/>
                          <a:cs typeface="DejaVu Sans"/>
                        </a:rPr>
                        <a:t>sample_id</a:t>
                      </a:r>
                    </a:p>
                  </a:txBody>
                  <a:tcPr marL="142875" marR="114300" marT="95250" marB="95250" anchor="ctr">
                    <a:solidFill>
                      <a:srgbClr val="101923"/>
                    </a:solidFill>
                  </a:tcPr>
                </a:tc>
                <a:tc>
                  <a:txBody>
                    <a:bodyPr anchor="ctr">
                      <a:noAutofit/>
                    </a:bodyPr>
                    <a:lstStyle/>
                    <a:p>
                      <a:r>
                        <a:rPr sz="1838" b="0">
                          <a:solidFill>
                            <a:srgbClr val="F2F1E9"/>
                          </a:solidFill>
                          <a:latin typeface="DejaVu Sans"/>
                          <a:ea typeface="DejaVu Sans"/>
                          <a:cs typeface="DejaVu Sans"/>
                        </a:rPr>
                        <a:t>string</a:t>
                      </a:r>
                    </a:p>
                  </a:txBody>
                  <a:tcPr marL="142875" marR="114300" marT="95250" marB="95250" anchor="ctr">
                    <a:solidFill>
                      <a:srgbClr val="101923"/>
                    </a:solidFill>
                  </a:tcPr>
                </a:tc>
                <a:tc>
                  <a:txBody>
                    <a:bodyPr anchor="ctr">
                      <a:noAutofit/>
                    </a:bodyPr>
                    <a:lstStyle/>
                    <a:p>
                      <a:r>
                        <a:rPr sz="1838" b="0">
                          <a:solidFill>
                            <a:srgbClr val="F2F1E9"/>
                          </a:solidFill>
                          <a:latin typeface="DejaVu Sans"/>
                          <a:ea typeface="DejaVu Sans"/>
                          <a:cs typeface="DejaVu Sans"/>
                        </a:rPr>
                        <a:t>Непустой ID из реестра samples</a:t>
                      </a:r>
                    </a:p>
                  </a:txBody>
                  <a:tcPr marL="142875" marR="114300" marT="95250" marB="95250" anchor="ctr">
                    <a:solidFill>
                      <a:srgbClr val="101923"/>
                    </a:solidFill>
                  </a:tcPr>
                </a:tc>
              </a:tr>
              <a:tr h="617538">
                <a:tc>
                  <a:txBody>
                    <a:bodyPr anchor="ctr">
                      <a:noAutofit/>
                    </a:bodyPr>
                    <a:lstStyle/>
                    <a:p>
                      <a:r>
                        <a:rPr sz="1838" b="0">
                          <a:solidFill>
                            <a:srgbClr val="F2F1E9"/>
                          </a:solidFill>
                          <a:latin typeface="DejaVu Sans"/>
                          <a:ea typeface="DejaVu Sans"/>
                          <a:cs typeface="DejaVu Sans"/>
                        </a:rPr>
                        <a:t>temperature_C</a:t>
                      </a:r>
                    </a:p>
                  </a:txBody>
                  <a:tcPr marL="142875" marR="114300" marT="95250" marB="95250" anchor="ctr">
                    <a:solidFill>
                      <a:srgbClr val="14212D"/>
                    </a:solidFill>
                  </a:tcPr>
                </a:tc>
                <a:tc>
                  <a:txBody>
                    <a:bodyPr anchor="ctr">
                      <a:noAutofit/>
                    </a:bodyPr>
                    <a:lstStyle/>
                    <a:p>
                      <a:r>
                        <a:rPr sz="1838" b="0">
                          <a:solidFill>
                            <a:srgbClr val="F2F1E9"/>
                          </a:solidFill>
                          <a:latin typeface="DejaVu Sans"/>
                          <a:ea typeface="DejaVu Sans"/>
                          <a:cs typeface="DejaVu Sans"/>
                        </a:rPr>
                        <a:t>number</a:t>
                      </a:r>
                    </a:p>
                  </a:txBody>
                  <a:tcPr marL="142875" marR="114300" marT="95250" marB="95250" anchor="ctr">
                    <a:solidFill>
                      <a:srgbClr val="14212D"/>
                    </a:solidFill>
                  </a:tcPr>
                </a:tc>
                <a:tc>
                  <a:txBody>
                    <a:bodyPr anchor="ctr">
                      <a:noAutofit/>
                    </a:bodyPr>
                    <a:lstStyle/>
                    <a:p>
                      <a:r>
                        <a:rPr sz="1838" b="0">
                          <a:solidFill>
                            <a:srgbClr val="F2F1E9"/>
                          </a:solidFill>
                          <a:latin typeface="DejaVu Sans"/>
                          <a:ea typeface="DejaVu Sans"/>
                          <a:cs typeface="DejaVu Sans"/>
                        </a:rPr>
                        <a:t>Заданная температура отжига, °C</a:t>
                      </a:r>
                    </a:p>
                  </a:txBody>
                  <a:tcPr marL="142875" marR="114300" marT="95250" marB="95250" anchor="ctr">
                    <a:solidFill>
                      <a:srgbClr val="14212D"/>
                    </a:solidFill>
                  </a:tcPr>
                </a:tc>
              </a:tr>
              <a:tr h="617538">
                <a:tc>
                  <a:txBody>
                    <a:bodyPr anchor="ctr">
                      <a:noAutofit/>
                    </a:bodyPr>
                    <a:lstStyle/>
                    <a:p>
                      <a:r>
                        <a:rPr sz="1838" b="0">
                          <a:solidFill>
                            <a:srgbClr val="F2F1E9"/>
                          </a:solidFill>
                          <a:latin typeface="DejaVu Sans"/>
                          <a:ea typeface="DejaVu Sans"/>
                          <a:cs typeface="DejaVu Sans"/>
                        </a:rPr>
                        <a:t>sigma_Am2_kg</a:t>
                      </a:r>
                    </a:p>
                  </a:txBody>
                  <a:tcPr marL="142875" marR="114300" marT="95250" marB="95250" anchor="ctr">
                    <a:solidFill>
                      <a:srgbClr val="101923"/>
                    </a:solidFill>
                  </a:tcPr>
                </a:tc>
                <a:tc>
                  <a:txBody>
                    <a:bodyPr anchor="ctr">
                      <a:noAutofit/>
                    </a:bodyPr>
                    <a:lstStyle/>
                    <a:p>
                      <a:r>
                        <a:rPr sz="1838" b="0">
                          <a:solidFill>
                            <a:srgbClr val="F2F1E9"/>
                          </a:solidFill>
                          <a:latin typeface="DejaVu Sans"/>
                          <a:ea typeface="DejaVu Sans"/>
                          <a:cs typeface="DejaVu Sans"/>
                        </a:rPr>
                        <a:t>number / NA</a:t>
                      </a:r>
                    </a:p>
                  </a:txBody>
                  <a:tcPr marL="142875" marR="114300" marT="95250" marB="95250" anchor="ctr">
                    <a:solidFill>
                      <a:srgbClr val="101923"/>
                    </a:solidFill>
                  </a:tcPr>
                </a:tc>
                <a:tc>
                  <a:txBody>
                    <a:bodyPr anchor="ctr">
                      <a:noAutofit/>
                    </a:bodyPr>
                    <a:lstStyle/>
                    <a:p>
                      <a:r>
                        <a:rPr sz="1838" b="0">
                          <a:solidFill>
                            <a:srgbClr val="F2F1E9"/>
                          </a:solidFill>
                          <a:latin typeface="DejaVu Sans"/>
                          <a:ea typeface="DejaVu Sans"/>
                          <a:cs typeface="DejaVu Sans"/>
                        </a:rPr>
                        <a:t>Удельная намагниченность, A·m²/kg</a:t>
                      </a:r>
                    </a:p>
                  </a:txBody>
                  <a:tcPr marL="142875" marR="114300" marT="95250" marB="95250" anchor="ctr">
                    <a:solidFill>
                      <a:srgbClr val="101923"/>
                    </a:solidFill>
                  </a:tcPr>
                </a:tc>
              </a:tr>
              <a:tr h="617538">
                <a:tc>
                  <a:txBody>
                    <a:bodyPr anchor="ctr">
                      <a:noAutofit/>
                    </a:bodyPr>
                    <a:lstStyle/>
                    <a:p>
                      <a:r>
                        <a:rPr sz="1838" b="0">
                          <a:solidFill>
                            <a:srgbClr val="F2F1E9"/>
                          </a:solidFill>
                          <a:latin typeface="DejaVu Sans"/>
                          <a:ea typeface="DejaVu Sans"/>
                          <a:cs typeface="DejaVu Sans"/>
                        </a:rPr>
                        <a:t>status</a:t>
                      </a:r>
                    </a:p>
                  </a:txBody>
                  <a:tcPr marL="142875" marR="114300" marT="95250" marB="95250" anchor="ctr">
                    <a:solidFill>
                      <a:srgbClr val="14212D"/>
                    </a:solidFill>
                  </a:tcPr>
                </a:tc>
                <a:tc>
                  <a:txBody>
                    <a:bodyPr anchor="ctr">
                      <a:noAutofit/>
                    </a:bodyPr>
                    <a:lstStyle/>
                    <a:p>
                      <a:r>
                        <a:rPr sz="1838" b="0">
                          <a:solidFill>
                            <a:srgbClr val="F2F1E9"/>
                          </a:solidFill>
                          <a:latin typeface="DejaVu Sans"/>
                          <a:ea typeface="DejaVu Sans"/>
                          <a:cs typeface="DejaVu Sans"/>
                        </a:rPr>
                        <a:t>category</a:t>
                      </a:r>
                    </a:p>
                  </a:txBody>
                  <a:tcPr marL="142875" marR="114300" marT="95250" marB="95250" anchor="ctr">
                    <a:solidFill>
                      <a:srgbClr val="14212D"/>
                    </a:solidFill>
                  </a:tcPr>
                </a:tc>
                <a:tc>
                  <a:txBody>
                    <a:bodyPr anchor="ctr">
                      <a:noAutofit/>
                    </a:bodyPr>
                    <a:lstStyle/>
                    <a:p>
                      <a:r>
                        <a:rPr sz="1838" b="0">
                          <a:solidFill>
                            <a:srgbClr val="F2F1E9"/>
                          </a:solidFill>
                          <a:latin typeface="DejaVu Sans"/>
                          <a:ea typeface="DejaVu Sans"/>
                          <a:cs typeface="DejaVu Sans"/>
                        </a:rPr>
                        <a:t>measured, instrument_error, …</a:t>
                      </a:r>
                    </a:p>
                  </a:txBody>
                  <a:tcPr marL="142875" marR="114300" marT="95250" marB="95250" anchor="ctr">
                    <a:solidFill>
                      <a:srgbClr val="14212D"/>
                    </a:solidFill>
                  </a:tcPr>
                </a:tc>
              </a:tr>
              <a:tr h="617538">
                <a:tc>
                  <a:txBody>
                    <a:bodyPr anchor="ctr">
                      <a:noAutofit/>
                    </a:bodyPr>
                    <a:lstStyle/>
                    <a:p>
                      <a:r>
                        <a:rPr sz="1838" b="0">
                          <a:solidFill>
                            <a:srgbClr val="F2F1E9"/>
                          </a:solidFill>
                          <a:latin typeface="DejaVu Sans"/>
                          <a:ea typeface="DejaVu Sans"/>
                          <a:cs typeface="DejaVu Sans"/>
                        </a:rPr>
                        <a:t>measured_at</a:t>
                      </a:r>
                    </a:p>
                  </a:txBody>
                  <a:tcPr marL="142875" marR="114300" marT="95250" marB="95250" anchor="ctr">
                    <a:solidFill>
                      <a:srgbClr val="101923"/>
                    </a:solidFill>
                  </a:tcPr>
                </a:tc>
                <a:tc>
                  <a:txBody>
                    <a:bodyPr anchor="ctr">
                      <a:noAutofit/>
                    </a:bodyPr>
                    <a:lstStyle/>
                    <a:p>
                      <a:r>
                        <a:rPr sz="1838" b="0">
                          <a:solidFill>
                            <a:srgbClr val="F2F1E9"/>
                          </a:solidFill>
                          <a:latin typeface="DejaVu Sans"/>
                          <a:ea typeface="DejaVu Sans"/>
                          <a:cs typeface="DejaVu Sans"/>
                        </a:rPr>
                        <a:t>datetime</a:t>
                      </a:r>
                    </a:p>
                  </a:txBody>
                  <a:tcPr marL="142875" marR="114300" marT="95250" marB="95250" anchor="ctr">
                    <a:solidFill>
                      <a:srgbClr val="101923"/>
                    </a:solidFill>
                  </a:tcPr>
                </a:tc>
                <a:tc>
                  <a:txBody>
                    <a:bodyPr anchor="ctr">
                      <a:noAutofit/>
                    </a:bodyPr>
                    <a:lstStyle/>
                    <a:p>
                      <a:r>
                        <a:rPr sz="1838" b="0">
                          <a:solidFill>
                            <a:srgbClr val="F2F1E9"/>
                          </a:solidFill>
                          <a:latin typeface="DejaVu Sans"/>
                          <a:ea typeface="DejaVu Sans"/>
                          <a:cs typeface="DejaVu Sans"/>
                        </a:rPr>
                        <a:t>ISO 8601 с часовым поясом</a:t>
                      </a:r>
                    </a:p>
                  </a:txBody>
                  <a:tcPr marL="142875" marR="114300" marT="95250" marB="95250" anchor="ctr">
                    <a:solidFill>
                      <a:srgbClr val="101923"/>
                    </a:solidFill>
                  </a:tcPr>
                </a:tc>
              </a:tr>
            </a:tbl>
          </a:graphicData>
        </a:graphic>
      </p:graphicFrame>
      <p:sp>
        <p:nvSpPr>
          <p:cNvPr id="4" name="">
            <a:extLst xmlns:a="http://schemas.openxmlformats.org/drawingml/2006/main">
              <a:ext uri="{FF2B5EF4-FFF2-40B4-BE49-F238E27FC236}">
                <a16:creationId xmlns:a16="http://schemas.microsoft.com/office/drawing/2014/main" id="{89AEA224-0DA5-4AC7-9BEB-A0178E626A42}"/>
              </a:ext>
            </a:extLst>
          </p:cNvPr>
          <p:cNvSpPr>
            <a:spLocks xmlns:a="http://schemas.openxmlformats.org/drawingml/2006/main" noGrp="1"/>
          </p:cNvSpPr>
          <p:nvPr/>
        </p:nvSpPr>
        <p:spPr>
          <a:xfrm xmlns:a="http://schemas.openxmlformats.org/drawingml/2006/main">
            <a:off x="609600" y="58674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Словарь также задаёт пропуски, допустимые диапазоны и ключи таблиц.</a:t>
            </a:r>
          </a:p>
        </p:txBody>
      </p:sp>
    </p:spTree>
    <p:extLst>
      <p:ext uri="{BB962C8B-B14F-4D97-AF65-F5344CB8AC3E}">
        <p14:creationId xmlns:p14="http://schemas.microsoft.com/office/powerpoint/2010/main" val="28479261"/>
      </p:ext>
    </p:extLst>
  </p:cSld>
</p:sld>
</file>

<file path=ppt/slides/slide28.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CED5A00-E9E0-43AA-9FC3-183BA50088C1}"/>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Паспорт набора данных</a:t>
            </a:r>
          </a:p>
        </p:txBody>
      </p:sp>
      <p:sp>
        <p:nvSpPr>
          <p:cNvPr id="2" name="">
            <a:extLst xmlns:a="http://schemas.openxmlformats.org/drawingml/2006/main">
              <a:ext uri="{FF2B5EF4-FFF2-40B4-BE49-F238E27FC236}">
                <a16:creationId xmlns:a16="http://schemas.microsoft.com/office/drawing/2014/main" id="{3156FD4D-5FFE-469C-8E56-CF0255E3E398}"/>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28 / 44</a:t>
            </a:r>
          </a:p>
        </p:txBody>
      </p:sp>
      <p:sp>
        <p:nvSpPr>
          <p:cNvPr id="3" name="">
            <a:extLst xmlns:a="http://schemas.openxmlformats.org/drawingml/2006/main">
              <a:ext uri="{FF2B5EF4-FFF2-40B4-BE49-F238E27FC236}">
                <a16:creationId xmlns:a16="http://schemas.microsoft.com/office/drawing/2014/main" id="{45A00F37-97BF-47FB-AE84-2553BF793E2A}"/>
              </a:ext>
            </a:extLst>
          </p:cNvPr>
          <p:cNvSpPr>
            <a:spLocks xmlns:a="http://schemas.openxmlformats.org/drawingml/2006/main" noGrp="1"/>
          </p:cNvSpPr>
          <p:nvPr/>
        </p:nvSpPr>
        <p:spPr>
          <a:xfrm xmlns:a="http://schemas.openxmlformats.org/drawingml/2006/main">
            <a:off x="609600" y="1647825"/>
            <a:ext cx="2647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Описание</a:t>
            </a:r>
          </a:p>
        </p:txBody>
      </p:sp>
      <p:sp>
        <p:nvSpPr>
          <p:cNvPr id="4" name="">
            <a:extLst xmlns:a="http://schemas.openxmlformats.org/drawingml/2006/main">
              <a:ext uri="{FF2B5EF4-FFF2-40B4-BE49-F238E27FC236}">
                <a16:creationId xmlns:a16="http://schemas.microsoft.com/office/drawing/2014/main" id="{74D6FB08-ED7C-414F-B1A0-3FF475691272}"/>
              </a:ext>
            </a:extLst>
          </p:cNvPr>
          <p:cNvSpPr>
            <a:spLocks xmlns:a="http://schemas.openxmlformats.org/drawingml/2006/main" noGrp="1"/>
          </p:cNvSpPr>
          <p:nvPr/>
        </p:nvSpPr>
        <p:spPr>
          <a:xfrm xmlns:a="http://schemas.openxmlformats.org/drawingml/2006/main">
            <a:off x="3486150" y="1647825"/>
            <a:ext cx="7886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Вопрос исследования, материал, схема повторов и ограничения.</a:t>
            </a:r>
          </a:p>
        </p:txBody>
      </p:sp>
      <p:sp>
        <p:nvSpPr>
          <p:cNvPr id="5" name="">
            <a:extLst xmlns:a="http://schemas.openxmlformats.org/drawingml/2006/main">
              <a:ext uri="{FF2B5EF4-FFF2-40B4-BE49-F238E27FC236}">
                <a16:creationId xmlns:a16="http://schemas.microsoft.com/office/drawing/2014/main" id="{D9B7BEB6-C0EF-40F3-A69B-7F717347A3C6}"/>
              </a:ext>
            </a:extLst>
          </p:cNvPr>
          <p:cNvSpPr>
            <a:spLocks xmlns:a="http://schemas.openxmlformats.org/drawingml/2006/main" noGrp="1"/>
          </p:cNvSpPr>
          <p:nvPr/>
        </p:nvSpPr>
        <p:spPr>
          <a:xfrm xmlns:a="http://schemas.openxmlformats.org/drawingml/2006/main">
            <a:off x="609600" y="2638425"/>
            <a:ext cx="2647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Состав</a:t>
            </a:r>
          </a:p>
        </p:txBody>
      </p:sp>
      <p:sp>
        <p:nvSpPr>
          <p:cNvPr id="6" name="">
            <a:extLst xmlns:a="http://schemas.openxmlformats.org/drawingml/2006/main">
              <a:ext uri="{FF2B5EF4-FFF2-40B4-BE49-F238E27FC236}">
                <a16:creationId xmlns:a16="http://schemas.microsoft.com/office/drawing/2014/main" id="{9B8016EA-7A8C-4DE0-8B7F-844D9CF1379B}"/>
              </a:ext>
            </a:extLst>
          </p:cNvPr>
          <p:cNvSpPr>
            <a:spLocks xmlns:a="http://schemas.openxmlformats.org/drawingml/2006/main" noGrp="1"/>
          </p:cNvSpPr>
          <p:nvPr/>
        </p:nvSpPr>
        <p:spPr>
          <a:xfrm xmlns:a="http://schemas.openxmlformats.org/drawingml/2006/main">
            <a:off x="3486150" y="2638425"/>
            <a:ext cx="7886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Файлы, таблицы, единицы, словарь и число независимых единиц.</a:t>
            </a:r>
          </a:p>
        </p:txBody>
      </p:sp>
      <p:sp>
        <p:nvSpPr>
          <p:cNvPr id="7" name="">
            <a:extLst xmlns:a="http://schemas.openxmlformats.org/drawingml/2006/main">
              <a:ext uri="{FF2B5EF4-FFF2-40B4-BE49-F238E27FC236}">
                <a16:creationId xmlns:a16="http://schemas.microsoft.com/office/drawing/2014/main" id="{622ED1D5-4D85-448F-95B9-337B3FEAE3A0}"/>
              </a:ext>
            </a:extLst>
          </p:cNvPr>
          <p:cNvSpPr>
            <a:spLocks xmlns:a="http://schemas.openxmlformats.org/drawingml/2006/main" noGrp="1"/>
          </p:cNvSpPr>
          <p:nvPr/>
        </p:nvSpPr>
        <p:spPr>
          <a:xfrm xmlns:a="http://schemas.openxmlformats.org/drawingml/2006/main">
            <a:off x="609600" y="3629025"/>
            <a:ext cx="2647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Происхождение</a:t>
            </a:r>
          </a:p>
        </p:txBody>
      </p:sp>
      <p:sp>
        <p:nvSpPr>
          <p:cNvPr id="8" name="">
            <a:extLst xmlns:a="http://schemas.openxmlformats.org/drawingml/2006/main">
              <a:ext uri="{FF2B5EF4-FFF2-40B4-BE49-F238E27FC236}">
                <a16:creationId xmlns:a16="http://schemas.microsoft.com/office/drawing/2014/main" id="{7B3C6BA0-B880-4029-A3D9-FB18F1D64B0C}"/>
              </a:ext>
            </a:extLst>
          </p:cNvPr>
          <p:cNvSpPr>
            <a:spLocks xmlns:a="http://schemas.openxmlformats.org/drawingml/2006/main" noGrp="1"/>
          </p:cNvSpPr>
          <p:nvPr/>
        </p:nvSpPr>
        <p:spPr>
          <a:xfrm xmlns:a="http://schemas.openxmlformats.org/drawingml/2006/main">
            <a:off x="3486150" y="3629025"/>
            <a:ext cx="7886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Авторы, даты, протокол, журнал, приборные исходники.</a:t>
            </a:r>
          </a:p>
        </p:txBody>
      </p:sp>
      <p:sp>
        <p:nvSpPr>
          <p:cNvPr id="9" name="">
            <a:extLst xmlns:a="http://schemas.openxmlformats.org/drawingml/2006/main">
              <a:ext uri="{FF2B5EF4-FFF2-40B4-BE49-F238E27FC236}">
                <a16:creationId xmlns:a16="http://schemas.microsoft.com/office/drawing/2014/main" id="{2BF453B6-2571-482C-8F85-49725B201255}"/>
              </a:ext>
            </a:extLst>
          </p:cNvPr>
          <p:cNvSpPr>
            <a:spLocks xmlns:a="http://schemas.openxmlformats.org/drawingml/2006/main" noGrp="1"/>
          </p:cNvSpPr>
          <p:nvPr/>
        </p:nvSpPr>
        <p:spPr>
          <a:xfrm xmlns:a="http://schemas.openxmlformats.org/drawingml/2006/main">
            <a:off x="609600" y="4619625"/>
            <a:ext cx="2647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Воспроизведение</a:t>
            </a:r>
          </a:p>
        </p:txBody>
      </p:sp>
      <p:sp>
        <p:nvSpPr>
          <p:cNvPr id="10" name="">
            <a:extLst xmlns:a="http://schemas.openxmlformats.org/drawingml/2006/main">
              <a:ext uri="{FF2B5EF4-FFF2-40B4-BE49-F238E27FC236}">
                <a16:creationId xmlns:a16="http://schemas.microsoft.com/office/drawing/2014/main" id="{05BB4E3F-489A-47AD-9C8A-D223CB7411BB}"/>
              </a:ext>
            </a:extLst>
          </p:cNvPr>
          <p:cNvSpPr>
            <a:spLocks xmlns:a="http://schemas.openxmlformats.org/drawingml/2006/main" noGrp="1"/>
          </p:cNvSpPr>
          <p:nvPr/>
        </p:nvSpPr>
        <p:spPr>
          <a:xfrm xmlns:a="http://schemas.openxmlformats.org/drawingml/2006/main">
            <a:off x="3486150" y="4619625"/>
            <a:ext cx="7886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Версия данных и кода, среда, порядок запуска, ожидаемые файлы.</a:t>
            </a:r>
          </a:p>
        </p:txBody>
      </p:sp>
      <p:sp>
        <p:nvSpPr>
          <p:cNvPr id="11" name="">
            <a:extLst xmlns:a="http://schemas.openxmlformats.org/drawingml/2006/main">
              <a:ext uri="{FF2B5EF4-FFF2-40B4-BE49-F238E27FC236}">
                <a16:creationId xmlns:a16="http://schemas.microsoft.com/office/drawing/2014/main" id="{B6F779B1-CA32-4D2A-BDAD-44640494A369}"/>
              </a:ext>
            </a:extLst>
          </p:cNvPr>
          <p:cNvSpPr>
            <a:spLocks xmlns:a="http://schemas.openxmlformats.org/drawingml/2006/main" noGrp="1"/>
          </p:cNvSpPr>
          <p:nvPr/>
        </p:nvSpPr>
        <p:spPr>
          <a:xfrm xmlns:a="http://schemas.openxmlformats.org/drawingml/2006/main">
            <a:off x="609600" y="59436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Контакт ответственного, условия доступа и использования завершают паспорт.</a:t>
            </a:r>
          </a:p>
        </p:txBody>
      </p:sp>
    </p:spTree>
    <p:extLst>
      <p:ext uri="{BB962C8B-B14F-4D97-AF65-F5344CB8AC3E}">
        <p14:creationId xmlns:p14="http://schemas.microsoft.com/office/powerpoint/2010/main" val="1387693534"/>
      </p:ext>
    </p:extLst>
  </p:cSld>
</p:sld>
</file>

<file path=ppt/slides/slide29.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49EA846-AEE9-443F-BBE5-7A18301AFBD8}"/>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Структура папок научного проекта</a:t>
            </a:r>
          </a:p>
        </p:txBody>
      </p:sp>
      <p:sp>
        <p:nvSpPr>
          <p:cNvPr id="2" name="">
            <a:extLst xmlns:a="http://schemas.openxmlformats.org/drawingml/2006/main">
              <a:ext uri="{FF2B5EF4-FFF2-40B4-BE49-F238E27FC236}">
                <a16:creationId xmlns:a16="http://schemas.microsoft.com/office/drawing/2014/main" id="{ED5ED375-9380-4A92-AAC7-904471A4C642}"/>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29 / 44</a:t>
            </a:r>
          </a:p>
        </p:txBody>
      </p:sp>
      <p:graphicFrame>
        <p:nvGraphicFramePr>
          <p:cNvPr id="6" name=""/>
          <p:cNvGraphicFramePr/>
          <p:nvPr/>
        </p:nvGraphicFramePr>
        <p:xfrm>
          <a:off xmlns:a="http://schemas.openxmlformats.org/drawingml/2006/main" x="609600" y="1476375"/>
          <a:ext xmlns:a="http://schemas.openxmlformats.org/drawingml/2006/main" cx="10972800" cy="4267200"/>
        </p:xfrm>
        <a:graphic xmlns:a="http://schemas.openxmlformats.org/drawingml/2006/main">
          <a:graphicData uri="http://schemas.openxmlformats.org/drawingml/2006/table">
            <a:tbl>
              <a:tblPr firstRow="0" bandRow="0"/>
              <a:tblGrid>
                <a:gridCol w="3827721"/>
                <a:gridCol w="7145079"/>
              </a:tblGrid>
              <a:tr h="609600">
                <a:tc>
                  <a:txBody>
                    <a:bodyPr anchor="ctr">
                      <a:noAutofit/>
                    </a:bodyPr>
                    <a:lstStyle/>
                    <a:p>
                      <a:r>
                        <a:rPr sz="1875" b="1">
                          <a:solidFill>
                            <a:srgbClr val="81DFCE"/>
                          </a:solidFill>
                          <a:latin typeface="DejaVu Sans"/>
                          <a:ea typeface="DejaVu Sans"/>
                          <a:cs typeface="DejaVu Sans"/>
                        </a:rPr>
                        <a:t>Путь</a:t>
                      </a:r>
                    </a:p>
                  </a:txBody>
                  <a:tcPr marL="142875" marR="114300" marT="95250" marB="95250" anchor="ctr">
                    <a:solidFill>
                      <a:srgbClr val="21343F"/>
                    </a:solidFill>
                  </a:tcPr>
                </a:tc>
                <a:tc>
                  <a:txBody>
                    <a:bodyPr anchor="ctr">
                      <a:noAutofit/>
                    </a:bodyPr>
                    <a:lstStyle/>
                    <a:p>
                      <a:r>
                        <a:rPr sz="1875" b="1">
                          <a:solidFill>
                            <a:srgbClr val="81DFCE"/>
                          </a:solidFill>
                          <a:latin typeface="DejaVu Sans"/>
                          <a:ea typeface="DejaVu Sans"/>
                          <a:cs typeface="DejaVu Sans"/>
                        </a:rPr>
                        <a:t>Содержание</a:t>
                      </a:r>
                    </a:p>
                  </a:txBody>
                  <a:tcPr marL="142875" marR="114300" marT="95250" marB="95250" anchor="ctr">
                    <a:solidFill>
                      <a:srgbClr val="21343F"/>
                    </a:solidFill>
                  </a:tcPr>
                </a:tc>
              </a:tr>
              <a:tr h="609600">
                <a:tc>
                  <a:txBody>
                    <a:bodyPr anchor="ctr">
                      <a:noAutofit/>
                    </a:bodyPr>
                    <a:lstStyle/>
                    <a:p>
                      <a:r>
                        <a:rPr sz="1875" b="0">
                          <a:solidFill>
                            <a:srgbClr val="F2F1E9"/>
                          </a:solidFill>
                          <a:latin typeface="DejaVu Sans"/>
                          <a:ea typeface="DejaVu Sans"/>
                          <a:cs typeface="DejaVu Sans"/>
                        </a:rPr>
                        <a:t>data/raw/</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Неизменённые приборные файлы</a:t>
                      </a:r>
                    </a:p>
                  </a:txBody>
                  <a:tcPr marL="142875" marR="114300" marT="95250" marB="95250" anchor="ctr">
                    <a:solidFill>
                      <a:srgbClr val="101923"/>
                    </a:solidFill>
                  </a:tcPr>
                </a:tc>
              </a:tr>
              <a:tr h="609600">
                <a:tc>
                  <a:txBody>
                    <a:bodyPr anchor="ctr">
                      <a:noAutofit/>
                    </a:bodyPr>
                    <a:lstStyle/>
                    <a:p>
                      <a:r>
                        <a:rPr sz="1875" b="0">
                          <a:solidFill>
                            <a:srgbClr val="F2F1E9"/>
                          </a:solidFill>
                          <a:latin typeface="DejaVu Sans"/>
                          <a:ea typeface="DejaVu Sans"/>
                          <a:cs typeface="DejaVu Sans"/>
                        </a:rPr>
                        <a:t>data/processed/</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Таблицы, которые создаёт код</a:t>
                      </a:r>
                    </a:p>
                  </a:txBody>
                  <a:tcPr marL="142875" marR="114300" marT="95250" marB="95250" anchor="ctr">
                    <a:solidFill>
                      <a:srgbClr val="14212D"/>
                    </a:solidFill>
                  </a:tcPr>
                </a:tc>
              </a:tr>
              <a:tr h="609600">
                <a:tc>
                  <a:txBody>
                    <a:bodyPr anchor="ctr">
                      <a:noAutofit/>
                    </a:bodyPr>
                    <a:lstStyle/>
                    <a:p>
                      <a:r>
                        <a:rPr sz="1875" b="0">
                          <a:solidFill>
                            <a:srgbClr val="F2F1E9"/>
                          </a:solidFill>
                          <a:latin typeface="DejaVu Sans"/>
                          <a:ea typeface="DejaVu Sans"/>
                          <a:cs typeface="DejaVu Sans"/>
                        </a:rPr>
                        <a:t>metadata/</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Реестры, словарь, журнал качества, паспорт</a:t>
                      </a:r>
                    </a:p>
                  </a:txBody>
                  <a:tcPr marL="142875" marR="114300" marT="95250" marB="95250" anchor="ctr">
                    <a:solidFill>
                      <a:srgbClr val="101923"/>
                    </a:solidFill>
                  </a:tcPr>
                </a:tc>
              </a:tr>
              <a:tr h="609600">
                <a:tc>
                  <a:txBody>
                    <a:bodyPr anchor="ctr">
                      <a:noAutofit/>
                    </a:bodyPr>
                    <a:lstStyle/>
                    <a:p>
                      <a:r>
                        <a:rPr sz="1875" b="0">
                          <a:solidFill>
                            <a:srgbClr val="F2F1E9"/>
                          </a:solidFill>
                          <a:latin typeface="DejaVu Sans"/>
                          <a:ea typeface="DejaVu Sans"/>
                          <a:cs typeface="DejaVu Sans"/>
                        </a:rPr>
                        <a:t>notebooks/ и src/</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Исследование и повторно используемый код</a:t>
                      </a:r>
                    </a:p>
                  </a:txBody>
                  <a:tcPr marL="142875" marR="114300" marT="95250" marB="95250" anchor="ctr">
                    <a:solidFill>
                      <a:srgbClr val="14212D"/>
                    </a:solidFill>
                  </a:tcPr>
                </a:tc>
              </a:tr>
              <a:tr h="609600">
                <a:tc>
                  <a:txBody>
                    <a:bodyPr anchor="ctr">
                      <a:noAutofit/>
                    </a:bodyPr>
                    <a:lstStyle/>
                    <a:p>
                      <a:r>
                        <a:rPr sz="1875" b="0">
                          <a:solidFill>
                            <a:srgbClr val="F2F1E9"/>
                          </a:solidFill>
                          <a:latin typeface="DejaVu Sans"/>
                          <a:ea typeface="DejaVu Sans"/>
                          <a:cs typeface="DejaVu Sans"/>
                        </a:rPr>
                        <a:t>results/</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Рисунки, таблицы и итоговые отчёты</a:t>
                      </a:r>
                    </a:p>
                  </a:txBody>
                  <a:tcPr marL="142875" marR="114300" marT="95250" marB="95250" anchor="ctr">
                    <a:solidFill>
                      <a:srgbClr val="101923"/>
                    </a:solidFill>
                  </a:tcPr>
                </a:tc>
              </a:tr>
              <a:tr h="609600">
                <a:tc>
                  <a:txBody>
                    <a:bodyPr anchor="ctr">
                      <a:noAutofit/>
                    </a:bodyPr>
                    <a:lstStyle/>
                    <a:p>
                      <a:r>
                        <a:rPr sz="1875" b="0">
                          <a:solidFill>
                            <a:srgbClr val="F2F1E9"/>
                          </a:solidFill>
                          <a:latin typeface="DejaVu Sans"/>
                          <a:ea typeface="DejaVu Sans"/>
                          <a:cs typeface="DejaVu Sans"/>
                        </a:rPr>
                        <a:t>README.md, requirements.txt</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Инструкция запуска и версии зависимостей</a:t>
                      </a:r>
                    </a:p>
                  </a:txBody>
                  <a:tcPr marL="142875" marR="114300" marT="95250" marB="95250" anchor="ctr">
                    <a:solidFill>
                      <a:srgbClr val="14212D"/>
                    </a:solidFill>
                  </a:tcPr>
                </a:tc>
              </a:tr>
            </a:tbl>
          </a:graphicData>
        </a:graphic>
      </p:graphicFrame>
    </p:spTree>
    <p:extLst>
      <p:ext uri="{BB962C8B-B14F-4D97-AF65-F5344CB8AC3E}">
        <p14:creationId xmlns:p14="http://schemas.microsoft.com/office/powerpoint/2010/main" val="224423612"/>
      </p:ext>
    </p:extLst>
  </p:cSld>
</p:sld>
</file>

<file path=ppt/slides/slide30.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601C99-B126-43C6-A5E8-5AC569900AB0}"/>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Исходные файлы, версии и резервные копии</a:t>
            </a:r>
          </a:p>
        </p:txBody>
      </p:sp>
      <p:sp>
        <p:nvSpPr>
          <p:cNvPr id="2" name="">
            <a:extLst xmlns:a="http://schemas.openxmlformats.org/drawingml/2006/main">
              <a:ext uri="{FF2B5EF4-FFF2-40B4-BE49-F238E27FC236}">
                <a16:creationId xmlns:a16="http://schemas.microsoft.com/office/drawing/2014/main" id="{865AF585-E8BF-4EC7-86EA-A580833D7390}"/>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30 / 44</a:t>
            </a:r>
          </a:p>
        </p:txBody>
      </p:sp>
      <p:sp>
        <p:nvSpPr>
          <p:cNvPr id="3" name="">
            <a:extLst xmlns:a="http://schemas.openxmlformats.org/drawingml/2006/main">
              <a:ext uri="{FF2B5EF4-FFF2-40B4-BE49-F238E27FC236}">
                <a16:creationId xmlns:a16="http://schemas.microsoft.com/office/drawing/2014/main" id="{704C85D5-6AAF-46A1-8748-8097673E728A}"/>
              </a:ext>
            </a:extLst>
          </p:cNvPr>
          <p:cNvSpPr>
            <a:spLocks xmlns:a="http://schemas.openxmlformats.org/drawingml/2006/main" noGrp="1"/>
          </p:cNvSpPr>
          <p:nvPr/>
        </p:nvSpPr>
        <p:spPr>
          <a:xfrm xmlns:a="http://schemas.openxmlformats.org/drawingml/2006/main">
            <a:off x="609600" y="1714500"/>
            <a:ext cx="252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Оригинал</a:t>
            </a:r>
          </a:p>
        </p:txBody>
      </p:sp>
      <p:sp>
        <p:nvSpPr>
          <p:cNvPr id="4" name="">
            <a:extLst xmlns:a="http://schemas.openxmlformats.org/drawingml/2006/main">
              <a:ext uri="{FF2B5EF4-FFF2-40B4-BE49-F238E27FC236}">
                <a16:creationId xmlns:a16="http://schemas.microsoft.com/office/drawing/2014/main" id="{EC12CB8D-B5BD-432D-ABCE-F45F7EF04CB0}"/>
              </a:ext>
            </a:extLst>
          </p:cNvPr>
          <p:cNvSpPr>
            <a:spLocks xmlns:a="http://schemas.openxmlformats.org/drawingml/2006/main" noGrp="1"/>
          </p:cNvSpPr>
          <p:nvPr/>
        </p:nvSpPr>
        <p:spPr>
          <a:xfrm xmlns:a="http://schemas.openxmlformats.org/drawingml/2006/main">
            <a:off x="3362325" y="1714500"/>
            <a:ext cx="80105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Копируем экспорт без ручных исправлений в data/raw/.</a:t>
            </a:r>
          </a:p>
        </p:txBody>
      </p:sp>
      <p:sp>
        <p:nvSpPr>
          <p:cNvPr id="5" name="">
            <a:extLst xmlns:a="http://schemas.openxmlformats.org/drawingml/2006/main">
              <a:ext uri="{FF2B5EF4-FFF2-40B4-BE49-F238E27FC236}">
                <a16:creationId xmlns:a16="http://schemas.microsoft.com/office/drawing/2014/main" id="{018342AA-CA53-4DFE-A04F-F3B79BA89B0B}"/>
              </a:ext>
            </a:extLst>
          </p:cNvPr>
          <p:cNvSpPr>
            <a:spLocks xmlns:a="http://schemas.openxmlformats.org/drawingml/2006/main" noGrp="1"/>
          </p:cNvSpPr>
          <p:nvPr/>
        </p:nvSpPr>
        <p:spPr>
          <a:xfrm xmlns:a="http://schemas.openxmlformats.org/drawingml/2006/main">
            <a:off x="609600" y="2714625"/>
            <a:ext cx="252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Производные</a:t>
            </a:r>
          </a:p>
        </p:txBody>
      </p:sp>
      <p:sp>
        <p:nvSpPr>
          <p:cNvPr id="6" name="">
            <a:extLst xmlns:a="http://schemas.openxmlformats.org/drawingml/2006/main">
              <a:ext uri="{FF2B5EF4-FFF2-40B4-BE49-F238E27FC236}">
                <a16:creationId xmlns:a16="http://schemas.microsoft.com/office/drawing/2014/main" id="{6938959A-34CA-4DB9-93BC-637774F7D308}"/>
              </a:ext>
            </a:extLst>
          </p:cNvPr>
          <p:cNvSpPr>
            <a:spLocks xmlns:a="http://schemas.openxmlformats.org/drawingml/2006/main" noGrp="1"/>
          </p:cNvSpPr>
          <p:nvPr/>
        </p:nvSpPr>
        <p:spPr>
          <a:xfrm xmlns:a="http://schemas.openxmlformats.org/drawingml/2006/main">
            <a:off x="3362325" y="2714625"/>
            <a:ext cx="80105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Создаём кодом. Ошибки исправляем через правила и журнал решений.</a:t>
            </a:r>
          </a:p>
        </p:txBody>
      </p:sp>
      <p:sp>
        <p:nvSpPr>
          <p:cNvPr id="7" name="">
            <a:extLst xmlns:a="http://schemas.openxmlformats.org/drawingml/2006/main">
              <a:ext uri="{FF2B5EF4-FFF2-40B4-BE49-F238E27FC236}">
                <a16:creationId xmlns:a16="http://schemas.microsoft.com/office/drawing/2014/main" id="{0B2C5ACA-DFF6-4CE2-A391-F5EFE59DAC2E}"/>
              </a:ext>
            </a:extLst>
          </p:cNvPr>
          <p:cNvSpPr>
            <a:spLocks xmlns:a="http://schemas.openxmlformats.org/drawingml/2006/main" noGrp="1"/>
          </p:cNvSpPr>
          <p:nvPr/>
        </p:nvSpPr>
        <p:spPr>
          <a:xfrm xmlns:a="http://schemas.openxmlformats.org/drawingml/2006/main">
            <a:off x="609600" y="3714750"/>
            <a:ext cx="252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Целостность</a:t>
            </a:r>
          </a:p>
        </p:txBody>
      </p:sp>
      <p:sp>
        <p:nvSpPr>
          <p:cNvPr id="8" name="">
            <a:extLst xmlns:a="http://schemas.openxmlformats.org/drawingml/2006/main">
              <a:ext uri="{FF2B5EF4-FFF2-40B4-BE49-F238E27FC236}">
                <a16:creationId xmlns:a16="http://schemas.microsoft.com/office/drawing/2014/main" id="{23235037-5EDB-4D6E-BD25-D5AF5739D130}"/>
              </a:ext>
            </a:extLst>
          </p:cNvPr>
          <p:cNvSpPr>
            <a:spLocks xmlns:a="http://schemas.openxmlformats.org/drawingml/2006/main" noGrp="1"/>
          </p:cNvSpPr>
          <p:nvPr/>
        </p:nvSpPr>
        <p:spPr>
          <a:xfrm xmlns:a="http://schemas.openxmlformats.org/drawingml/2006/main">
            <a:off x="3362325" y="3714750"/>
            <a:ext cx="80105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Храним имя, размер, SHA-256 и версию набора в манифесте.</a:t>
            </a:r>
          </a:p>
        </p:txBody>
      </p:sp>
      <p:sp>
        <p:nvSpPr>
          <p:cNvPr id="9" name="">
            <a:extLst xmlns:a="http://schemas.openxmlformats.org/drawingml/2006/main">
              <a:ext uri="{FF2B5EF4-FFF2-40B4-BE49-F238E27FC236}">
                <a16:creationId xmlns:a16="http://schemas.microsoft.com/office/drawing/2014/main" id="{D56C2749-45D9-4D5C-8303-B49672EEBC37}"/>
              </a:ext>
            </a:extLst>
          </p:cNvPr>
          <p:cNvSpPr>
            <a:spLocks xmlns:a="http://schemas.openxmlformats.org/drawingml/2006/main" noGrp="1"/>
          </p:cNvSpPr>
          <p:nvPr/>
        </p:nvSpPr>
        <p:spPr>
          <a:xfrm xmlns:a="http://schemas.openxmlformats.org/drawingml/2006/main">
            <a:off x="609600" y="4714875"/>
            <a:ext cx="252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Резервирование</a:t>
            </a:r>
          </a:p>
        </p:txBody>
      </p:sp>
      <p:sp>
        <p:nvSpPr>
          <p:cNvPr id="10" name="">
            <a:extLst xmlns:a="http://schemas.openxmlformats.org/drawingml/2006/main">
              <a:ext uri="{FF2B5EF4-FFF2-40B4-BE49-F238E27FC236}">
                <a16:creationId xmlns:a16="http://schemas.microsoft.com/office/drawing/2014/main" id="{0662B6D5-3477-4C40-8E2D-7A6BB5051E28}"/>
              </a:ext>
            </a:extLst>
          </p:cNvPr>
          <p:cNvSpPr>
            <a:spLocks xmlns:a="http://schemas.openxmlformats.org/drawingml/2006/main" noGrp="1"/>
          </p:cNvSpPr>
          <p:nvPr/>
        </p:nvSpPr>
        <p:spPr>
          <a:xfrm xmlns:a="http://schemas.openxmlformats.org/drawingml/2006/main">
            <a:off x="3362325" y="4714875"/>
            <a:ext cx="80105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Держим отдельную копию и иногда проверяем восстановление.</a:t>
            </a:r>
          </a:p>
        </p:txBody>
      </p:sp>
    </p:spTree>
    <p:extLst>
      <p:ext uri="{BB962C8B-B14F-4D97-AF65-F5344CB8AC3E}">
        <p14:creationId xmlns:p14="http://schemas.microsoft.com/office/powerpoint/2010/main" val="1114615354"/>
      </p:ext>
    </p:extLst>
  </p:cSld>
</p:sld>
</file>

<file path=ppt/slides/slide31.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68024B-B830-4CB9-97CE-84EA0C576105}"/>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Воспроизводимый notebook</a:t>
            </a:r>
          </a:p>
        </p:txBody>
      </p:sp>
      <p:sp>
        <p:nvSpPr>
          <p:cNvPr id="2" name="">
            <a:extLst xmlns:a="http://schemas.openxmlformats.org/drawingml/2006/main">
              <a:ext uri="{FF2B5EF4-FFF2-40B4-BE49-F238E27FC236}">
                <a16:creationId xmlns:a16="http://schemas.microsoft.com/office/drawing/2014/main" id="{23383C0D-D4F8-4E0E-A727-5EA20880A7AB}"/>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31 / 44</a:t>
            </a:r>
          </a:p>
        </p:txBody>
      </p:sp>
      <p:graphicFrame>
        <p:nvGraphicFramePr>
          <p:cNvPr id="7" name=""/>
          <p:cNvGraphicFramePr/>
          <p:nvPr/>
        </p:nvGraphicFramePr>
        <p:xfrm>
          <a:off xmlns:a="http://schemas.openxmlformats.org/drawingml/2006/main" x="609600" y="1619250"/>
          <a:ext xmlns:a="http://schemas.openxmlformats.org/drawingml/2006/main" cx="10972800" cy="3609975"/>
        </p:xfrm>
        <a:graphic xmlns:a="http://schemas.openxmlformats.org/drawingml/2006/main">
          <a:graphicData uri="http://schemas.openxmlformats.org/drawingml/2006/table">
            <a:tbl>
              <a:tblPr firstRow="0" bandRow="0"/>
              <a:tblGrid>
                <a:gridCol w="1761067"/>
                <a:gridCol w="9211733"/>
              </a:tblGrid>
              <a:tr h="601663">
                <a:tc>
                  <a:txBody>
                    <a:bodyPr anchor="ctr">
                      <a:noAutofit/>
                    </a:bodyPr>
                    <a:lstStyle/>
                    <a:p>
                      <a:r>
                        <a:rPr sz="2025" b="1">
                          <a:solidFill>
                            <a:srgbClr val="81DFCE"/>
                          </a:solidFill>
                          <a:latin typeface="DejaVu Sans"/>
                          <a:ea typeface="DejaVu Sans"/>
                          <a:cs typeface="DejaVu Sans"/>
                        </a:rPr>
                        <a:t>Порядок</a:t>
                      </a:r>
                    </a:p>
                  </a:txBody>
                  <a:tcPr marL="142875" marR="114300" marT="95250" marB="95250" anchor="ctr">
                    <a:solidFill>
                      <a:srgbClr val="21343F"/>
                    </a:solidFill>
                  </a:tcPr>
                </a:tc>
                <a:tc>
                  <a:txBody>
                    <a:bodyPr anchor="ctr">
                      <a:noAutofit/>
                    </a:bodyPr>
                    <a:lstStyle/>
                    <a:p>
                      <a:r>
                        <a:rPr sz="2025" b="1">
                          <a:solidFill>
                            <a:srgbClr val="81DFCE"/>
                          </a:solidFill>
                          <a:latin typeface="DejaVu Sans"/>
                          <a:ea typeface="DejaVu Sans"/>
                          <a:cs typeface="DejaVu Sans"/>
                        </a:rPr>
                        <a:t>Содержание notebook</a:t>
                      </a:r>
                    </a:p>
                  </a:txBody>
                  <a:tcPr marL="142875" marR="114300" marT="95250" marB="95250" anchor="ctr">
                    <a:solidFill>
                      <a:srgbClr val="21343F"/>
                    </a:solidFill>
                  </a:tcPr>
                </a:tc>
              </a:tr>
              <a:tr h="601663">
                <a:tc>
                  <a:txBody>
                    <a:bodyPr anchor="ctr">
                      <a:noAutofit/>
                    </a:bodyPr>
                    <a:lstStyle/>
                    <a:p>
                      <a:r>
                        <a:rPr sz="2025" b="0">
                          <a:solidFill>
                            <a:srgbClr val="F2F1E9"/>
                          </a:solidFill>
                          <a:latin typeface="DejaVu Sans"/>
                          <a:ea typeface="DejaVu Sans"/>
                          <a:cs typeface="DejaVu Sans"/>
                        </a:rPr>
                        <a:t>1</a:t>
                      </a:r>
                    </a:p>
                  </a:txBody>
                  <a:tcPr marL="142875" marR="114300" marT="95250" marB="95250" anchor="ctr">
                    <a:solidFill>
                      <a:srgbClr val="101923"/>
                    </a:solidFill>
                  </a:tcPr>
                </a:tc>
                <a:tc>
                  <a:txBody>
                    <a:bodyPr anchor="ctr">
                      <a:noAutofit/>
                    </a:bodyPr>
                    <a:lstStyle/>
                    <a:p>
                      <a:r>
                        <a:rPr sz="2025" b="0">
                          <a:solidFill>
                            <a:srgbClr val="F2F1E9"/>
                          </a:solidFill>
                          <a:latin typeface="DejaVu Sans"/>
                          <a:ea typeface="DejaVu Sans"/>
                          <a:cs typeface="DejaVu Sans"/>
                        </a:rPr>
                        <a:t>Вопрос, дизайн и единица анализа</a:t>
                      </a:r>
                    </a:p>
                  </a:txBody>
                  <a:tcPr marL="142875" marR="114300" marT="95250" marB="95250" anchor="ctr">
                    <a:solidFill>
                      <a:srgbClr val="101923"/>
                    </a:solidFill>
                  </a:tcPr>
                </a:tc>
              </a:tr>
              <a:tr h="601663">
                <a:tc>
                  <a:txBody>
                    <a:bodyPr anchor="ctr">
                      <a:noAutofit/>
                    </a:bodyPr>
                    <a:lstStyle/>
                    <a:p>
                      <a:r>
                        <a:rPr sz="2025" b="0">
                          <a:solidFill>
                            <a:srgbClr val="F2F1E9"/>
                          </a:solidFill>
                          <a:latin typeface="DejaVu Sans"/>
                          <a:ea typeface="DejaVu Sans"/>
                          <a:cs typeface="DejaVu Sans"/>
                        </a:rPr>
                        <a:t>2</a:t>
                      </a:r>
                    </a:p>
                  </a:txBody>
                  <a:tcPr marL="142875" marR="114300" marT="95250" marB="95250" anchor="ctr">
                    <a:solidFill>
                      <a:srgbClr val="14212D"/>
                    </a:solidFill>
                  </a:tcPr>
                </a:tc>
                <a:tc>
                  <a:txBody>
                    <a:bodyPr anchor="ctr">
                      <a:noAutofit/>
                    </a:bodyPr>
                    <a:lstStyle/>
                    <a:p>
                      <a:r>
                        <a:rPr sz="2025" b="0">
                          <a:solidFill>
                            <a:srgbClr val="F2F1E9"/>
                          </a:solidFill>
                          <a:latin typeface="DejaVu Sans"/>
                          <a:ea typeface="DejaVu Sans"/>
                          <a:cs typeface="DejaVu Sans"/>
                        </a:rPr>
                        <a:t>Импорты, пути, параметры и версии</a:t>
                      </a:r>
                    </a:p>
                  </a:txBody>
                  <a:tcPr marL="142875" marR="114300" marT="95250" marB="95250" anchor="ctr">
                    <a:solidFill>
                      <a:srgbClr val="14212D"/>
                    </a:solidFill>
                  </a:tcPr>
                </a:tc>
              </a:tr>
              <a:tr h="601663">
                <a:tc>
                  <a:txBody>
                    <a:bodyPr anchor="ctr">
                      <a:noAutofit/>
                    </a:bodyPr>
                    <a:lstStyle/>
                    <a:p>
                      <a:r>
                        <a:rPr sz="2025" b="0">
                          <a:solidFill>
                            <a:srgbClr val="F2F1E9"/>
                          </a:solidFill>
                          <a:latin typeface="DejaVu Sans"/>
                          <a:ea typeface="DejaVu Sans"/>
                          <a:cs typeface="DejaVu Sans"/>
                        </a:rPr>
                        <a:t>3</a:t>
                      </a:r>
                    </a:p>
                  </a:txBody>
                  <a:tcPr marL="142875" marR="114300" marT="95250" marB="95250" anchor="ctr">
                    <a:solidFill>
                      <a:srgbClr val="101923"/>
                    </a:solidFill>
                  </a:tcPr>
                </a:tc>
                <a:tc>
                  <a:txBody>
                    <a:bodyPr anchor="ctr">
                      <a:noAutofit/>
                    </a:bodyPr>
                    <a:lstStyle/>
                    <a:p>
                      <a:r>
                        <a:rPr sz="2025" b="0">
                          <a:solidFill>
                            <a:srgbClr val="F2F1E9"/>
                          </a:solidFill>
                          <a:latin typeface="DejaVu Sans"/>
                          <a:ea typeface="DejaVu Sans"/>
                          <a:cs typeface="DejaVu Sans"/>
                        </a:rPr>
                        <a:t>Загрузка, проверка схемы и преобразования</a:t>
                      </a:r>
                    </a:p>
                  </a:txBody>
                  <a:tcPr marL="142875" marR="114300" marT="95250" marB="95250" anchor="ctr">
                    <a:solidFill>
                      <a:srgbClr val="101923"/>
                    </a:solidFill>
                  </a:tcPr>
                </a:tc>
              </a:tr>
              <a:tr h="601663">
                <a:tc>
                  <a:txBody>
                    <a:bodyPr anchor="ctr">
                      <a:noAutofit/>
                    </a:bodyPr>
                    <a:lstStyle/>
                    <a:p>
                      <a:r>
                        <a:rPr sz="2025" b="0">
                          <a:solidFill>
                            <a:srgbClr val="F2F1E9"/>
                          </a:solidFill>
                          <a:latin typeface="DejaVu Sans"/>
                          <a:ea typeface="DejaVu Sans"/>
                          <a:cs typeface="DejaVu Sans"/>
                        </a:rPr>
                        <a:t>4</a:t>
                      </a:r>
                    </a:p>
                  </a:txBody>
                  <a:tcPr marL="142875" marR="114300" marT="95250" marB="95250" anchor="ctr">
                    <a:solidFill>
                      <a:srgbClr val="14212D"/>
                    </a:solidFill>
                  </a:tcPr>
                </a:tc>
                <a:tc>
                  <a:txBody>
                    <a:bodyPr anchor="ctr">
                      <a:noAutofit/>
                    </a:bodyPr>
                    <a:lstStyle/>
                    <a:p>
                      <a:r>
                        <a:rPr sz="2025" b="0">
                          <a:solidFill>
                            <a:srgbClr val="F2F1E9"/>
                          </a:solidFill>
                          <a:latin typeface="DejaVu Sans"/>
                          <a:ea typeface="DejaVu Sans"/>
                          <a:cs typeface="DejaVu Sans"/>
                        </a:rPr>
                        <a:t>Анализ, графики и пояснение решений</a:t>
                      </a:r>
                    </a:p>
                  </a:txBody>
                  <a:tcPr marL="142875" marR="114300" marT="95250" marB="95250" anchor="ctr">
                    <a:solidFill>
                      <a:srgbClr val="14212D"/>
                    </a:solidFill>
                  </a:tcPr>
                </a:tc>
              </a:tr>
              <a:tr h="601663">
                <a:tc>
                  <a:txBody>
                    <a:bodyPr anchor="ctr">
                      <a:noAutofit/>
                    </a:bodyPr>
                    <a:lstStyle/>
                    <a:p>
                      <a:r>
                        <a:rPr sz="2025" b="0">
                          <a:solidFill>
                            <a:srgbClr val="F2F1E9"/>
                          </a:solidFill>
                          <a:latin typeface="DejaVu Sans"/>
                          <a:ea typeface="DejaVu Sans"/>
                          <a:cs typeface="DejaVu Sans"/>
                        </a:rPr>
                        <a:t>5</a:t>
                      </a:r>
                    </a:p>
                  </a:txBody>
                  <a:tcPr marL="142875" marR="114300" marT="95250" marB="95250" anchor="ctr">
                    <a:solidFill>
                      <a:srgbClr val="101923"/>
                    </a:solidFill>
                  </a:tcPr>
                </a:tc>
                <a:tc>
                  <a:txBody>
                    <a:bodyPr anchor="ctr">
                      <a:noAutofit/>
                    </a:bodyPr>
                    <a:lstStyle/>
                    <a:p>
                      <a:r>
                        <a:rPr sz="2025" b="0">
                          <a:solidFill>
                            <a:srgbClr val="F2F1E9"/>
                          </a:solidFill>
                          <a:latin typeface="DejaVu Sans"/>
                          <a:ea typeface="DejaVu Sans"/>
                          <a:cs typeface="DejaVu Sans"/>
                        </a:rPr>
                        <a:t>Вывод, ограничения и экспорт результатов</a:t>
                      </a:r>
                    </a:p>
                  </a:txBody>
                  <a:tcPr marL="142875" marR="114300" marT="95250" marB="95250" anchor="ctr">
                    <a:solidFill>
                      <a:srgbClr val="101923"/>
                    </a:solidFill>
                  </a:tcPr>
                </a:tc>
              </a:tr>
            </a:tbl>
          </a:graphicData>
        </a:graphic>
      </p:graphicFrame>
      <p:sp>
        <p:nvSpPr>
          <p:cNvPr id="4" name="">
            <a:extLst xmlns:a="http://schemas.openxmlformats.org/drawingml/2006/main">
              <a:ext uri="{FF2B5EF4-FFF2-40B4-BE49-F238E27FC236}">
                <a16:creationId xmlns:a16="http://schemas.microsoft.com/office/drawing/2014/main" id="{0C1FA513-1469-47FF-BD09-D6331B872B0A}"/>
              </a:ext>
            </a:extLst>
          </p:cNvPr>
          <p:cNvSpPr>
            <a:spLocks xmlns:a="http://schemas.openxmlformats.org/drawingml/2006/main" noGrp="1"/>
          </p:cNvSpPr>
          <p:nvPr/>
        </p:nvSpPr>
        <p:spPr>
          <a:xfrm xmlns:a="http://schemas.openxmlformats.org/drawingml/2006/main">
            <a:off x="609600" y="581025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Человек должен понять, почему код делает именно это.</a:t>
            </a:r>
          </a:p>
        </p:txBody>
      </p:sp>
    </p:spTree>
    <p:extLst>
      <p:ext uri="{BB962C8B-B14F-4D97-AF65-F5344CB8AC3E}">
        <p14:creationId xmlns:p14="http://schemas.microsoft.com/office/powerpoint/2010/main" val="312095163"/>
      </p:ext>
    </p:extLst>
  </p:cSld>
</p:sld>
</file>

<file path=ppt/slides/slide32.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C0FE61-20F3-48EC-94A1-8B7E15D12731}"/>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Проверка notebook с чистого запуска</a:t>
            </a:r>
          </a:p>
        </p:txBody>
      </p:sp>
      <p:sp>
        <p:nvSpPr>
          <p:cNvPr id="2" name="">
            <a:extLst xmlns:a="http://schemas.openxmlformats.org/drawingml/2006/main">
              <a:ext uri="{FF2B5EF4-FFF2-40B4-BE49-F238E27FC236}">
                <a16:creationId xmlns:a16="http://schemas.microsoft.com/office/drawing/2014/main" id="{59220B4B-E6A9-4AC7-8633-C7ABA4D71DAA}"/>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32 / 44</a:t>
            </a:r>
          </a:p>
        </p:txBody>
      </p:sp>
      <p:sp>
        <p:nvSpPr>
          <p:cNvPr id="3" name="">
            <a:extLst xmlns:a="http://schemas.openxmlformats.org/drawingml/2006/main">
              <a:ext uri="{FF2B5EF4-FFF2-40B4-BE49-F238E27FC236}">
                <a16:creationId xmlns:a16="http://schemas.microsoft.com/office/drawing/2014/main" id="{433210AD-FDC2-4DF4-87B5-2D40B368A60B}"/>
              </a:ext>
            </a:extLst>
          </p:cNvPr>
          <p:cNvSpPr>
            <a:spLocks xmlns:a="http://schemas.openxmlformats.org/drawingml/2006/main" noGrp="1"/>
          </p:cNvSpPr>
          <p:nvPr/>
        </p:nvSpPr>
        <p:spPr>
          <a:xfrm xmlns:a="http://schemas.openxmlformats.org/drawingml/2006/main">
            <a:off x="609600" y="1676400"/>
            <a:ext cx="1093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000" b="1">
                <a:solidFill>
                  <a:srgbClr val="81DFCE"/>
                </a:solidFill>
                <a:latin typeface="DejaVu Sans"/>
                <a:ea typeface="DejaVu Sans"/>
                <a:cs typeface="DejaVu Sans"/>
              </a:defRPr>
            </a:pPr>
            <a:r>
              <a:rPr sz="3000" b="1">
                <a:solidFill>
                  <a:srgbClr val="81DFCE"/>
                </a:solidFill>
                <a:latin typeface="DejaVu Sans"/>
                <a:ea typeface="DejaVu Sans"/>
                <a:cs typeface="DejaVu Sans"/>
              </a:rPr>
              <a:t>Restart Kernel and Run All Cells</a:t>
            </a:r>
          </a:p>
        </p:txBody>
      </p:sp>
      <p:sp>
        <p:nvSpPr>
          <p:cNvPr id="4" name="">
            <a:extLst xmlns:a="http://schemas.openxmlformats.org/drawingml/2006/main">
              <a:ext uri="{FF2B5EF4-FFF2-40B4-BE49-F238E27FC236}">
                <a16:creationId xmlns:a16="http://schemas.microsoft.com/office/drawing/2014/main" id="{F71366CB-6F76-4B05-924F-C2F428BCC895}"/>
              </a:ext>
            </a:extLst>
          </p:cNvPr>
          <p:cNvSpPr>
            <a:spLocks xmlns:a="http://schemas.openxmlformats.org/drawingml/2006/main" noGrp="1"/>
          </p:cNvSpPr>
          <p:nvPr/>
        </p:nvSpPr>
        <p:spPr>
          <a:xfrm xmlns:a="http://schemas.openxmlformats.org/drawingml/2006/main">
            <a:off x="609600" y="2867025"/>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1DFCE"/>
                </a:solidFill>
                <a:latin typeface="DejaVu Sans"/>
                <a:ea typeface="DejaVu Sans"/>
                <a:cs typeface="DejaVu Sans"/>
              </a:defRPr>
            </a:pPr>
            <a:r>
              <a:rPr sz="2100" b="1">
                <a:solidFill>
                  <a:srgbClr val="81DFCE"/>
                </a:solidFill>
                <a:latin typeface="DejaVu Sans"/>
                <a:ea typeface="DejaVu Sans"/>
                <a:cs typeface="DejaVu Sans"/>
              </a:rPr>
              <a:t>В памяти</a:t>
            </a:r>
          </a:p>
        </p:txBody>
      </p:sp>
      <p:sp>
        <p:nvSpPr>
          <p:cNvPr id="5" name="">
            <a:extLst xmlns:a="http://schemas.openxmlformats.org/drawingml/2006/main">
              <a:ext uri="{FF2B5EF4-FFF2-40B4-BE49-F238E27FC236}">
                <a16:creationId xmlns:a16="http://schemas.microsoft.com/office/drawing/2014/main" id="{97AD61A0-033A-475D-B954-95273BA4148D}"/>
              </a:ext>
            </a:extLst>
          </p:cNvPr>
          <p:cNvSpPr>
            <a:spLocks xmlns:a="http://schemas.openxmlformats.org/drawingml/2006/main" noGrp="1"/>
          </p:cNvSpPr>
          <p:nvPr/>
        </p:nvSpPr>
        <p:spPr>
          <a:xfrm xmlns:a="http://schemas.openxmlformats.org/drawingml/2006/main">
            <a:off x="2971800" y="2867025"/>
            <a:ext cx="8401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F2F1E9"/>
                </a:solidFill>
                <a:latin typeface="DejaVu Sans"/>
                <a:ea typeface="DejaVu Sans"/>
                <a:cs typeface="DejaVu Sans"/>
              </a:defRPr>
            </a:pPr>
            <a:r>
              <a:rPr sz="2100" b="0">
                <a:solidFill>
                  <a:srgbClr val="F2F1E9"/>
                </a:solidFill>
                <a:latin typeface="DejaVu Sans"/>
                <a:ea typeface="DejaVu Sans"/>
                <a:cs typeface="DejaVu Sans"/>
              </a:rPr>
              <a:t>Переменная могла остаться от удалённой ячейки.</a:t>
            </a:r>
          </a:p>
        </p:txBody>
      </p:sp>
      <p:sp>
        <p:nvSpPr>
          <p:cNvPr id="6" name="">
            <a:extLst xmlns:a="http://schemas.openxmlformats.org/drawingml/2006/main">
              <a:ext uri="{FF2B5EF4-FFF2-40B4-BE49-F238E27FC236}">
                <a16:creationId xmlns:a16="http://schemas.microsoft.com/office/drawing/2014/main" id="{CA752031-7985-4ABE-89D6-9E9926290846}"/>
              </a:ext>
            </a:extLst>
          </p:cNvPr>
          <p:cNvSpPr>
            <a:spLocks xmlns:a="http://schemas.openxmlformats.org/drawingml/2006/main" noGrp="1"/>
          </p:cNvSpPr>
          <p:nvPr/>
        </p:nvSpPr>
        <p:spPr>
          <a:xfrm xmlns:a="http://schemas.openxmlformats.org/drawingml/2006/main">
            <a:off x="609600" y="3838575"/>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1DFCE"/>
                </a:solidFill>
                <a:latin typeface="DejaVu Sans"/>
                <a:ea typeface="DejaVu Sans"/>
                <a:cs typeface="DejaVu Sans"/>
              </a:defRPr>
            </a:pPr>
            <a:r>
              <a:rPr sz="2100" b="1">
                <a:solidFill>
                  <a:srgbClr val="81DFCE"/>
                </a:solidFill>
                <a:latin typeface="DejaVu Sans"/>
                <a:ea typeface="DejaVu Sans"/>
                <a:cs typeface="DejaVu Sans"/>
              </a:rPr>
              <a:t>На диске</a:t>
            </a:r>
          </a:p>
        </p:txBody>
      </p:sp>
      <p:sp>
        <p:nvSpPr>
          <p:cNvPr id="7" name="">
            <a:extLst xmlns:a="http://schemas.openxmlformats.org/drawingml/2006/main">
              <a:ext uri="{FF2B5EF4-FFF2-40B4-BE49-F238E27FC236}">
                <a16:creationId xmlns:a16="http://schemas.microsoft.com/office/drawing/2014/main" id="{19A076F3-4E57-46A7-B2B8-ED3762268EDD}"/>
              </a:ext>
            </a:extLst>
          </p:cNvPr>
          <p:cNvSpPr>
            <a:spLocks xmlns:a="http://schemas.openxmlformats.org/drawingml/2006/main" noGrp="1"/>
          </p:cNvSpPr>
          <p:nvPr/>
        </p:nvSpPr>
        <p:spPr>
          <a:xfrm xmlns:a="http://schemas.openxmlformats.org/drawingml/2006/main">
            <a:off x="2971800" y="3838575"/>
            <a:ext cx="8401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F2F1E9"/>
                </a:solidFill>
                <a:latin typeface="DejaVu Sans"/>
                <a:ea typeface="DejaVu Sans"/>
                <a:cs typeface="DejaVu Sans"/>
              </a:defRPr>
            </a:pPr>
            <a:r>
              <a:rPr sz="2100" b="0">
                <a:solidFill>
                  <a:srgbClr val="F2F1E9"/>
                </a:solidFill>
                <a:latin typeface="DejaVu Sans"/>
                <a:ea typeface="DejaVu Sans"/>
                <a:cs typeface="DejaVu Sans"/>
              </a:rPr>
              <a:t>Готовый processed.csv мог скрывать пропущенный этап.</a:t>
            </a:r>
          </a:p>
        </p:txBody>
      </p:sp>
      <p:sp>
        <p:nvSpPr>
          <p:cNvPr id="8" name="">
            <a:extLst xmlns:a="http://schemas.openxmlformats.org/drawingml/2006/main">
              <a:ext uri="{FF2B5EF4-FFF2-40B4-BE49-F238E27FC236}">
                <a16:creationId xmlns:a16="http://schemas.microsoft.com/office/drawing/2014/main" id="{E81EA24A-E72B-4B65-80BC-D44EC543B004}"/>
              </a:ext>
            </a:extLst>
          </p:cNvPr>
          <p:cNvSpPr>
            <a:spLocks xmlns:a="http://schemas.openxmlformats.org/drawingml/2006/main" noGrp="1"/>
          </p:cNvSpPr>
          <p:nvPr/>
        </p:nvSpPr>
        <p:spPr>
          <a:xfrm xmlns:a="http://schemas.openxmlformats.org/drawingml/2006/main">
            <a:off x="609600" y="4810125"/>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1">
                <a:solidFill>
                  <a:srgbClr val="81DFCE"/>
                </a:solidFill>
                <a:latin typeface="DejaVu Sans"/>
                <a:ea typeface="DejaVu Sans"/>
                <a:cs typeface="DejaVu Sans"/>
              </a:defRPr>
            </a:pPr>
            <a:r>
              <a:rPr sz="2100" b="1">
                <a:solidFill>
                  <a:srgbClr val="81DFCE"/>
                </a:solidFill>
                <a:latin typeface="DejaVu Sans"/>
                <a:ea typeface="DejaVu Sans"/>
                <a:cs typeface="DejaVu Sans"/>
              </a:rPr>
              <a:t>Проверка</a:t>
            </a:r>
          </a:p>
        </p:txBody>
      </p:sp>
      <p:sp>
        <p:nvSpPr>
          <p:cNvPr id="9" name="">
            <a:extLst xmlns:a="http://schemas.openxmlformats.org/drawingml/2006/main">
              <a:ext uri="{FF2B5EF4-FFF2-40B4-BE49-F238E27FC236}">
                <a16:creationId xmlns:a16="http://schemas.microsoft.com/office/drawing/2014/main" id="{992C4EFA-9A30-4CC0-86F2-7BBAB1049373}"/>
              </a:ext>
            </a:extLst>
          </p:cNvPr>
          <p:cNvSpPr>
            <a:spLocks xmlns:a="http://schemas.openxmlformats.org/drawingml/2006/main" noGrp="1"/>
          </p:cNvSpPr>
          <p:nvPr/>
        </p:nvSpPr>
        <p:spPr>
          <a:xfrm xmlns:a="http://schemas.openxmlformats.org/drawingml/2006/main">
            <a:off x="2971800" y="4810125"/>
            <a:ext cx="8401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00" b="0">
                <a:solidFill>
                  <a:srgbClr val="F2F1E9"/>
                </a:solidFill>
                <a:latin typeface="DejaVu Sans"/>
                <a:ea typeface="DejaVu Sans"/>
                <a:cs typeface="DejaVu Sans"/>
              </a:defRPr>
            </a:pPr>
            <a:r>
              <a:rPr sz="2100" b="0">
                <a:solidFill>
                  <a:srgbClr val="F2F1E9"/>
                </a:solidFill>
                <a:latin typeface="DejaVu Sans"/>
                <a:ea typeface="DejaVu Sans"/>
                <a:cs typeface="DejaVu Sans"/>
              </a:rPr>
              <a:t>Новая сессия и чистая копия проекта с исходными данными.</a:t>
            </a:r>
          </a:p>
        </p:txBody>
      </p:sp>
      <p:sp>
        <p:nvSpPr>
          <p:cNvPr id="10" name="">
            <a:extLst xmlns:a="http://schemas.openxmlformats.org/drawingml/2006/main">
              <a:ext uri="{FF2B5EF4-FFF2-40B4-BE49-F238E27FC236}">
                <a16:creationId xmlns:a16="http://schemas.microsoft.com/office/drawing/2014/main" id="{96DED248-539C-45EE-862F-FC8546CEF89A}"/>
              </a:ext>
            </a:extLst>
          </p:cNvPr>
          <p:cNvSpPr>
            <a:spLocks xmlns:a="http://schemas.openxmlformats.org/drawingml/2006/main" noGrp="1"/>
          </p:cNvSpPr>
          <p:nvPr/>
        </p:nvSpPr>
        <p:spPr>
          <a:xfrm xmlns:a="http://schemas.openxmlformats.org/drawingml/2006/main">
            <a:off x="609600" y="59436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F1B766"/>
                </a:solidFill>
                <a:latin typeface="DejaVu Sans"/>
                <a:ea typeface="DejaVu Sans"/>
                <a:cs typeface="DejaVu Sans"/>
              </a:defRPr>
            </a:pPr>
            <a:r>
              <a:rPr sz="1950" b="0">
                <a:solidFill>
                  <a:srgbClr val="F1B766"/>
                </a:solidFill>
                <a:latin typeface="DejaVu Sans"/>
                <a:ea typeface="DejaVu Sans"/>
                <a:cs typeface="DejaVu Sans"/>
              </a:rPr>
              <a:t>Ожидаемый результат: весь расчёт проходит в заданном порядке.</a:t>
            </a:r>
          </a:p>
        </p:txBody>
      </p:sp>
    </p:spTree>
    <p:extLst>
      <p:ext uri="{BB962C8B-B14F-4D97-AF65-F5344CB8AC3E}">
        <p14:creationId xmlns:p14="http://schemas.microsoft.com/office/powerpoint/2010/main" val="2106790489"/>
      </p:ext>
    </p:extLst>
  </p:cSld>
</p:sld>
</file>

<file path=ppt/slides/slide33.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9DFA5C-F1D3-46F1-8B58-D30935CF4137}"/>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Среда, пути и случайность</a:t>
            </a:r>
          </a:p>
        </p:txBody>
      </p:sp>
      <p:sp>
        <p:nvSpPr>
          <p:cNvPr id="2" name="">
            <a:extLst xmlns:a="http://schemas.openxmlformats.org/drawingml/2006/main">
              <a:ext uri="{FF2B5EF4-FFF2-40B4-BE49-F238E27FC236}">
                <a16:creationId xmlns:a16="http://schemas.microsoft.com/office/drawing/2014/main" id="{ED9FD856-5808-48C9-8D8D-8A6AE62B6931}"/>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33 / 44</a:t>
            </a:r>
          </a:p>
        </p:txBody>
      </p:sp>
      <p:sp>
        <p:nvSpPr>
          <p:cNvPr id="3" name="">
            <a:extLst xmlns:a="http://schemas.openxmlformats.org/drawingml/2006/main">
              <a:ext uri="{FF2B5EF4-FFF2-40B4-BE49-F238E27FC236}">
                <a16:creationId xmlns:a16="http://schemas.microsoft.com/office/drawing/2014/main" id="{B1FEABAE-255A-45BA-9126-8094C529D1A2}"/>
              </a:ext>
            </a:extLst>
          </p:cNvPr>
          <p:cNvSpPr>
            <a:spLocks xmlns:a="http://schemas.openxmlformats.org/drawingml/2006/main" noGrp="1"/>
          </p:cNvSpPr>
          <p:nvPr/>
        </p:nvSpPr>
        <p:spPr>
          <a:xfrm xmlns:a="http://schemas.openxmlformats.org/drawingml/2006/main">
            <a:off x="609600" y="165735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Mono"/>
                <a:ea typeface="DejaVu Sans Mono"/>
                <a:cs typeface="DejaVu Sans Mono"/>
              </a:defRPr>
            </a:pPr>
            <a:r>
              <a:rPr sz="2025" b="0">
                <a:solidFill>
                  <a:srgbClr val="F2F1E9"/>
                </a:solidFill>
                <a:latin typeface="DejaVu Sans Mono"/>
                <a:ea typeface="DejaVu Sans Mono"/>
                <a:cs typeface="DejaVu Sans Mono"/>
              </a:rPr>
              <a:t>python --version</a:t>
            </a:r>
          </a:p>
          <a:p xmlns:a="http://schemas.openxmlformats.org/drawingml/2006/main">
            <a:pPr>
              <a:lnSpc>
                <a:spcPct val="112000"/>
              </a:lnSpc>
              <a:buNone/>
              <a:defRPr sz="2025" b="0">
                <a:solidFill>
                  <a:srgbClr val="F2F1E9"/>
                </a:solidFill>
                <a:latin typeface="DejaVu Sans Mono"/>
                <a:ea typeface="DejaVu Sans Mono"/>
                <a:cs typeface="DejaVu Sans Mono"/>
              </a:defRPr>
            </a:pPr>
            <a:r>
              <a:rPr sz="2025" b="0">
                <a:solidFill>
                  <a:srgbClr val="F2F1E9"/>
                </a:solidFill>
                <a:latin typeface="DejaVu Sans Mono"/>
                <a:ea typeface="DejaVu Sans Mono"/>
                <a:cs typeface="DejaVu Sans Mono"/>
              </a:rPr>
              <a:t>python -m pip freeze &gt; requirements.txt</a:t>
            </a:r>
          </a:p>
          <a:p xmlns:a="http://schemas.openxmlformats.org/drawingml/2006/main">
            <a:pPr>
              <a:lnSpc>
                <a:spcPct val="112000"/>
              </a:lnSpc>
              <a:buNone/>
              <a:defRPr sz="2025" b="0">
                <a:solidFill>
                  <a:srgbClr val="F2F1E9"/>
                </a:solidFill>
                <a:latin typeface="DejaVu Sans Mono"/>
                <a:ea typeface="DejaVu Sans Mono"/>
                <a:cs typeface="DejaVu Sans Mono"/>
              </a:defRPr>
            </a:pPr>
            <a:r>
              <a:rPr sz="2025" b="0">
                <a:solidFill>
                  <a:srgbClr val="F2F1E9"/>
                </a:solidFill>
                <a:latin typeface="DejaVu Sans Mono"/>
                <a:ea typeface="DejaVu Sans Mono"/>
                <a:cs typeface="DejaVu Sans Mono"/>
              </a:rPr>
              <a:t>python -m pip install -r requirements.txt</a:t>
            </a:r>
          </a:p>
        </p:txBody>
      </p:sp>
      <p:sp>
        <p:nvSpPr>
          <p:cNvPr id="4" name="">
            <a:extLst xmlns:a="http://schemas.openxmlformats.org/drawingml/2006/main">
              <a:ext uri="{FF2B5EF4-FFF2-40B4-BE49-F238E27FC236}">
                <a16:creationId xmlns:a16="http://schemas.microsoft.com/office/drawing/2014/main" id="{0C637AB8-E183-4CFB-9865-C5B5F40718A5}"/>
              </a:ext>
            </a:extLst>
          </p:cNvPr>
          <p:cNvSpPr>
            <a:spLocks xmlns:a="http://schemas.openxmlformats.org/drawingml/2006/main" noGrp="1"/>
          </p:cNvSpPr>
          <p:nvPr/>
        </p:nvSpPr>
        <p:spPr>
          <a:xfrm xmlns:a="http://schemas.openxmlformats.org/drawingml/2006/main">
            <a:off x="609600" y="3600450"/>
            <a:ext cx="109728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from pathlib import Path</a:t>
            </a:r>
          </a:p>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import numpy as np</a:t>
            </a:r>
          </a:p>
          <a:p xmlns:a="http://schemas.openxmlformats.org/drawingml/2006/main">
            <a:r>
              <a:t/>
            </a:r>
          </a:p>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ROOT = Path.cwd()  # запуск из корня проекта</a:t>
            </a:r>
          </a:p>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rng = np.random.default_rng(2026)</a:t>
            </a:r>
          </a:p>
        </p:txBody>
      </p:sp>
      <p:sp>
        <p:nvSpPr>
          <p:cNvPr id="5" name="">
            <a:extLst xmlns:a="http://schemas.openxmlformats.org/drawingml/2006/main">
              <a:ext uri="{FF2B5EF4-FFF2-40B4-BE49-F238E27FC236}">
                <a16:creationId xmlns:a16="http://schemas.microsoft.com/office/drawing/2014/main" id="{A98D78E6-B974-4B32-8A58-BFDDF1FAECF0}"/>
              </a:ext>
            </a:extLst>
          </p:cNvPr>
          <p:cNvSpPr>
            <a:spLocks xmlns:a="http://schemas.openxmlformats.org/drawingml/2006/main" noGrp="1"/>
          </p:cNvSpPr>
          <p:nvPr/>
        </p:nvSpPr>
        <p:spPr>
          <a:xfrm xmlns:a="http://schemas.openxmlformats.org/drawingml/2006/main">
            <a:off x="609600" y="59055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В README указываем рабочую папку. Для чисел задаём разумный допуск.</a:t>
            </a:r>
          </a:p>
        </p:txBody>
      </p:sp>
    </p:spTree>
    <p:extLst>
      <p:ext uri="{BB962C8B-B14F-4D97-AF65-F5344CB8AC3E}">
        <p14:creationId xmlns:p14="http://schemas.microsoft.com/office/powerpoint/2010/main" val="824859579"/>
      </p:ext>
    </p:extLst>
  </p:cSld>
</p:sld>
</file>

<file path=ppt/slides/slide34.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E4D9CF-3972-49D1-82A8-05EDF49C2D96}"/>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Git: первый снимок проекта</a:t>
            </a:r>
          </a:p>
        </p:txBody>
      </p:sp>
      <p:sp>
        <p:nvSpPr>
          <p:cNvPr id="2" name="">
            <a:extLst xmlns:a="http://schemas.openxmlformats.org/drawingml/2006/main">
              <a:ext uri="{FF2B5EF4-FFF2-40B4-BE49-F238E27FC236}">
                <a16:creationId xmlns:a16="http://schemas.microsoft.com/office/drawing/2014/main" id="{148D4F62-DCCE-40FC-A6E1-3562D8BEDE7F}"/>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34 / 44</a:t>
            </a:r>
          </a:p>
        </p:txBody>
      </p:sp>
      <p:sp>
        <p:nvSpPr>
          <p:cNvPr id="3" name="">
            <a:extLst xmlns:a="http://schemas.openxmlformats.org/drawingml/2006/main">
              <a:ext uri="{FF2B5EF4-FFF2-40B4-BE49-F238E27FC236}">
                <a16:creationId xmlns:a16="http://schemas.microsoft.com/office/drawing/2014/main" id="{0D34E93C-05C7-4C63-AB98-C74DD3D86EB5}"/>
              </a:ext>
            </a:extLst>
          </p:cNvPr>
          <p:cNvSpPr>
            <a:spLocks xmlns:a="http://schemas.openxmlformats.org/drawingml/2006/main" noGrp="1"/>
          </p:cNvSpPr>
          <p:nvPr/>
        </p:nvSpPr>
        <p:spPr>
          <a:xfrm xmlns:a="http://schemas.openxmlformats.org/drawingml/2006/main">
            <a:off x="609600" y="1666875"/>
            <a:ext cx="1097280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git init</a:t>
            </a:r>
          </a:p>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git config user.name "Имя Фамилия"</a:t>
            </a:r>
          </a:p>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git config user.email "your.name@example.org"</a:t>
            </a:r>
          </a:p>
          <a:p xmlns:a="http://schemas.openxmlformats.org/drawingml/2006/main">
            <a:r>
              <a:t/>
            </a:r>
          </a:p>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git status</a:t>
            </a:r>
          </a:p>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git add README.md requirements.txt .gitignore</a:t>
            </a:r>
          </a:p>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git add src/ notebooks/ metadata/</a:t>
            </a:r>
          </a:p>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git commit -m "Describe experiment and import data"</a:t>
            </a:r>
          </a:p>
        </p:txBody>
      </p:sp>
      <p:sp>
        <p:nvSpPr>
          <p:cNvPr id="4" name="">
            <a:extLst xmlns:a="http://schemas.openxmlformats.org/drawingml/2006/main">
              <a:ext uri="{FF2B5EF4-FFF2-40B4-BE49-F238E27FC236}">
                <a16:creationId xmlns:a16="http://schemas.microsoft.com/office/drawing/2014/main" id="{393D2B65-17BE-45F2-B753-9978245DB4A4}"/>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Commit сохраняет выбранное состояние файлов и сообщение о его смысле.</a:t>
            </a:r>
          </a:p>
        </p:txBody>
      </p:sp>
    </p:spTree>
    <p:extLst>
      <p:ext uri="{BB962C8B-B14F-4D97-AF65-F5344CB8AC3E}">
        <p14:creationId xmlns:p14="http://schemas.microsoft.com/office/powerpoint/2010/main" val="1405518654"/>
      </p:ext>
    </p:extLst>
  </p:cSld>
</p:sld>
</file>

<file path=ppt/slides/slide35.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678353-4C62-44AC-989C-FBA5EBD3DF72}"/>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Git: просмотр изменений и истории</a:t>
            </a:r>
          </a:p>
        </p:txBody>
      </p:sp>
      <p:sp>
        <p:nvSpPr>
          <p:cNvPr id="2" name="">
            <a:extLst xmlns:a="http://schemas.openxmlformats.org/drawingml/2006/main">
              <a:ext uri="{FF2B5EF4-FFF2-40B4-BE49-F238E27FC236}">
                <a16:creationId xmlns:a16="http://schemas.microsoft.com/office/drawing/2014/main" id="{44FFF64C-7B39-462C-85CC-6176C606689C}"/>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35 / 44</a:t>
            </a:r>
          </a:p>
        </p:txBody>
      </p:sp>
      <p:sp>
        <p:nvSpPr>
          <p:cNvPr id="3" name="">
            <a:extLst xmlns:a="http://schemas.openxmlformats.org/drawingml/2006/main">
              <a:ext uri="{FF2B5EF4-FFF2-40B4-BE49-F238E27FC236}">
                <a16:creationId xmlns:a16="http://schemas.microsoft.com/office/drawing/2014/main" id="{CCD9354A-2399-4223-B956-B0A4C53E384B}"/>
              </a:ext>
            </a:extLst>
          </p:cNvPr>
          <p:cNvSpPr>
            <a:spLocks xmlns:a="http://schemas.openxmlformats.org/drawingml/2006/main" noGrp="1"/>
          </p:cNvSpPr>
          <p:nvPr/>
        </p:nvSpPr>
        <p:spPr>
          <a:xfrm xmlns:a="http://schemas.openxmlformats.org/drawingml/2006/main">
            <a:off x="609600" y="1724025"/>
            <a:ext cx="109728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0">
                <a:solidFill>
                  <a:srgbClr val="F2F1E9"/>
                </a:solidFill>
                <a:latin typeface="DejaVu Sans Mono"/>
                <a:ea typeface="DejaVu Sans Mono"/>
                <a:cs typeface="DejaVu Sans Mono"/>
              </a:defRPr>
            </a:pPr>
            <a:r>
              <a:rPr sz="2175" b="0">
                <a:solidFill>
                  <a:srgbClr val="F2F1E9"/>
                </a:solidFill>
                <a:latin typeface="DejaVu Sans Mono"/>
                <a:ea typeface="DejaVu Sans Mono"/>
                <a:cs typeface="DejaVu Sans Mono"/>
              </a:rPr>
              <a:t>git status</a:t>
            </a:r>
          </a:p>
          <a:p xmlns:a="http://schemas.openxmlformats.org/drawingml/2006/main">
            <a:pPr>
              <a:lnSpc>
                <a:spcPct val="112000"/>
              </a:lnSpc>
              <a:buNone/>
              <a:defRPr sz="2175" b="0">
                <a:solidFill>
                  <a:srgbClr val="F2F1E9"/>
                </a:solidFill>
                <a:latin typeface="DejaVu Sans Mono"/>
                <a:ea typeface="DejaVu Sans Mono"/>
                <a:cs typeface="DejaVu Sans Mono"/>
              </a:defRPr>
            </a:pPr>
            <a:r>
              <a:rPr sz="2175" b="0">
                <a:solidFill>
                  <a:srgbClr val="F2F1E9"/>
                </a:solidFill>
                <a:latin typeface="DejaVu Sans Mono"/>
                <a:ea typeface="DejaVu Sans Mono"/>
                <a:cs typeface="DejaVu Sans Mono"/>
              </a:rPr>
              <a:t>git diff</a:t>
            </a:r>
          </a:p>
          <a:p xmlns:a="http://schemas.openxmlformats.org/drawingml/2006/main">
            <a:pPr>
              <a:lnSpc>
                <a:spcPct val="112000"/>
              </a:lnSpc>
              <a:buNone/>
              <a:defRPr sz="2175" b="0">
                <a:solidFill>
                  <a:srgbClr val="F2F1E9"/>
                </a:solidFill>
                <a:latin typeface="DejaVu Sans Mono"/>
                <a:ea typeface="DejaVu Sans Mono"/>
                <a:cs typeface="DejaVu Sans Mono"/>
              </a:defRPr>
            </a:pPr>
            <a:r>
              <a:rPr sz="2175" b="0">
                <a:solidFill>
                  <a:srgbClr val="F2F1E9"/>
                </a:solidFill>
                <a:latin typeface="DejaVu Sans Mono"/>
                <a:ea typeface="DejaVu Sans Mono"/>
                <a:cs typeface="DejaVu Sans Mono"/>
              </a:rPr>
              <a:t>git add src/prepare.py</a:t>
            </a:r>
          </a:p>
          <a:p xmlns:a="http://schemas.openxmlformats.org/drawingml/2006/main">
            <a:pPr>
              <a:lnSpc>
                <a:spcPct val="112000"/>
              </a:lnSpc>
              <a:buNone/>
              <a:defRPr sz="2175" b="0">
                <a:solidFill>
                  <a:srgbClr val="F2F1E9"/>
                </a:solidFill>
                <a:latin typeface="DejaVu Sans Mono"/>
                <a:ea typeface="DejaVu Sans Mono"/>
                <a:cs typeface="DejaVu Sans Mono"/>
              </a:defRPr>
            </a:pPr>
            <a:r>
              <a:rPr sz="2175" b="0">
                <a:solidFill>
                  <a:srgbClr val="F2F1E9"/>
                </a:solidFill>
                <a:latin typeface="DejaVu Sans Mono"/>
                <a:ea typeface="DejaVu Sans Mono"/>
                <a:cs typeface="DejaVu Sans Mono"/>
              </a:rPr>
              <a:t>git diff --staged</a:t>
            </a:r>
          </a:p>
          <a:p xmlns:a="http://schemas.openxmlformats.org/drawingml/2006/main">
            <a:pPr>
              <a:lnSpc>
                <a:spcPct val="112000"/>
              </a:lnSpc>
              <a:buNone/>
              <a:defRPr sz="2175" b="0">
                <a:solidFill>
                  <a:srgbClr val="F2F1E9"/>
                </a:solidFill>
                <a:latin typeface="DejaVu Sans Mono"/>
                <a:ea typeface="DejaVu Sans Mono"/>
                <a:cs typeface="DejaVu Sans Mono"/>
              </a:defRPr>
            </a:pPr>
            <a:r>
              <a:rPr sz="2175" b="0">
                <a:solidFill>
                  <a:srgbClr val="F2F1E9"/>
                </a:solidFill>
                <a:latin typeface="DejaVu Sans Mono"/>
                <a:ea typeface="DejaVu Sans Mono"/>
                <a:cs typeface="DejaVu Sans Mono"/>
              </a:rPr>
              <a:t>git commit -m "Convert sample mass from mg to kg"</a:t>
            </a:r>
          </a:p>
          <a:p xmlns:a="http://schemas.openxmlformats.org/drawingml/2006/main">
            <a:pPr>
              <a:lnSpc>
                <a:spcPct val="112000"/>
              </a:lnSpc>
              <a:buNone/>
              <a:defRPr sz="2175" b="0">
                <a:solidFill>
                  <a:srgbClr val="F2F1E9"/>
                </a:solidFill>
                <a:latin typeface="DejaVu Sans Mono"/>
                <a:ea typeface="DejaVu Sans Mono"/>
                <a:cs typeface="DejaVu Sans Mono"/>
              </a:defRPr>
            </a:pPr>
            <a:r>
              <a:rPr sz="2175" b="0">
                <a:solidFill>
                  <a:srgbClr val="F2F1E9"/>
                </a:solidFill>
                <a:latin typeface="DejaVu Sans Mono"/>
                <a:ea typeface="DejaVu Sans Mono"/>
                <a:cs typeface="DejaVu Sans Mono"/>
              </a:rPr>
              <a:t>git log --oneline</a:t>
            </a:r>
          </a:p>
        </p:txBody>
      </p:sp>
      <p:sp>
        <p:nvSpPr>
          <p:cNvPr id="4" name="">
            <a:extLst xmlns:a="http://schemas.openxmlformats.org/drawingml/2006/main">
              <a:ext uri="{FF2B5EF4-FFF2-40B4-BE49-F238E27FC236}">
                <a16:creationId xmlns:a16="http://schemas.microsoft.com/office/drawing/2014/main" id="{E341461E-061E-4AB3-819C-0794BC4A27CB}"/>
              </a:ext>
            </a:extLst>
          </p:cNvPr>
          <p:cNvSpPr>
            <a:spLocks xmlns:a="http://schemas.openxmlformats.org/drawingml/2006/main" noGrp="1"/>
          </p:cNvSpPr>
          <p:nvPr/>
        </p:nvSpPr>
        <p:spPr>
          <a:xfrm xmlns:a="http://schemas.openxmlformats.org/drawingml/2006/main">
            <a:off x="609600" y="4943475"/>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400" b="0">
                <a:solidFill>
                  <a:srgbClr val="81DFCE"/>
                </a:solidFill>
                <a:latin typeface="DejaVu Sans"/>
                <a:ea typeface="DejaVu Sans"/>
                <a:cs typeface="DejaVu Sans"/>
              </a:defRPr>
            </a:pPr>
            <a:r>
              <a:rPr sz="2400" b="0">
                <a:solidFill>
                  <a:srgbClr val="81DFCE"/>
                </a:solidFill>
                <a:latin typeface="DejaVu Sans"/>
                <a:ea typeface="DejaVu Sans"/>
                <a:cs typeface="DejaVu Sans"/>
              </a:rPr>
              <a:t>Один commit описывает одну законченную правку.</a:t>
            </a:r>
          </a:p>
        </p:txBody>
      </p:sp>
      <p:sp>
        <p:nvSpPr>
          <p:cNvPr id="5" name="">
            <a:extLst xmlns:a="http://schemas.openxmlformats.org/drawingml/2006/main">
              <a:ext uri="{FF2B5EF4-FFF2-40B4-BE49-F238E27FC236}">
                <a16:creationId xmlns:a16="http://schemas.microsoft.com/office/drawing/2014/main" id="{87F1727F-BE65-43EE-B70F-37A4ADAEBAB3}"/>
              </a:ext>
            </a:extLst>
          </p:cNvPr>
          <p:cNvSpPr>
            <a:spLocks xmlns:a="http://schemas.openxmlformats.org/drawingml/2006/main" noGrp="1"/>
          </p:cNvSpPr>
          <p:nvPr/>
        </p:nvSpPr>
        <p:spPr>
          <a:xfrm xmlns:a="http://schemas.openxmlformats.org/drawingml/2006/main">
            <a:off x="609600" y="5648325"/>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B6C3D0"/>
                </a:solidFill>
                <a:latin typeface="DejaVu Sans"/>
                <a:ea typeface="DejaVu Sans"/>
                <a:cs typeface="DejaVu Sans"/>
              </a:defRPr>
            </a:pPr>
            <a:r>
              <a:rPr sz="1950" b="0">
                <a:solidFill>
                  <a:srgbClr val="B6C3D0"/>
                </a:solidFill>
                <a:latin typeface="DejaVu Sans"/>
                <a:ea typeface="DejaVu Sans"/>
                <a:cs typeface="DejaVu Sans"/>
              </a:rPr>
              <a:t>Сообщение помогает понять причину изменения через несколько месяцев.</a:t>
            </a:r>
          </a:p>
        </p:txBody>
      </p:sp>
    </p:spTree>
    <p:extLst>
      <p:ext uri="{BB962C8B-B14F-4D97-AF65-F5344CB8AC3E}">
        <p14:creationId xmlns:p14="http://schemas.microsoft.com/office/powerpoint/2010/main" val="33301190"/>
      </p:ext>
    </p:extLst>
  </p:cSld>
</p:sld>
</file>

<file path=ppt/slides/slide36.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C6C80A-F91F-4C1C-A815-EC5E7AFBFBD6}"/>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Фиксация версии для отчёта или статьи</a:t>
            </a:r>
          </a:p>
        </p:txBody>
      </p:sp>
      <p:sp>
        <p:nvSpPr>
          <p:cNvPr id="2" name="">
            <a:extLst xmlns:a="http://schemas.openxmlformats.org/drawingml/2006/main">
              <a:ext uri="{FF2B5EF4-FFF2-40B4-BE49-F238E27FC236}">
                <a16:creationId xmlns:a16="http://schemas.microsoft.com/office/drawing/2014/main" id="{040AC07B-0C5A-4ACD-BF2B-799465090D07}"/>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36 / 44</a:t>
            </a:r>
          </a:p>
        </p:txBody>
      </p:sp>
      <p:sp>
        <p:nvSpPr>
          <p:cNvPr id="3" name="">
            <a:extLst xmlns:a="http://schemas.openxmlformats.org/drawingml/2006/main">
              <a:ext uri="{FF2B5EF4-FFF2-40B4-BE49-F238E27FC236}">
                <a16:creationId xmlns:a16="http://schemas.microsoft.com/office/drawing/2014/main" id="{CCCD6C00-4658-467E-9E40-825644914971}"/>
              </a:ext>
            </a:extLst>
          </p:cNvPr>
          <p:cNvSpPr>
            <a:spLocks xmlns:a="http://schemas.openxmlformats.org/drawingml/2006/main" noGrp="1"/>
          </p:cNvSpPr>
          <p:nvPr/>
        </p:nvSpPr>
        <p:spPr>
          <a:xfrm xmlns:a="http://schemas.openxmlformats.org/drawingml/2006/main">
            <a:off x="609600" y="161925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75" b="0">
                <a:solidFill>
                  <a:srgbClr val="F2F1E9"/>
                </a:solidFill>
                <a:latin typeface="DejaVu Sans Mono"/>
                <a:ea typeface="DejaVu Sans Mono"/>
                <a:cs typeface="DejaVu Sans Mono"/>
              </a:defRPr>
            </a:pPr>
            <a:r>
              <a:rPr sz="1875" b="0">
                <a:solidFill>
                  <a:srgbClr val="F2F1E9"/>
                </a:solidFill>
                <a:latin typeface="DejaVu Sans Mono"/>
                <a:ea typeface="DejaVu Sans Mono"/>
                <a:cs typeface="DejaVu Sans Mono"/>
              </a:rPr>
              <a:t>git status</a:t>
            </a:r>
          </a:p>
          <a:p xmlns:a="http://schemas.openxmlformats.org/drawingml/2006/main">
            <a:pPr>
              <a:lnSpc>
                <a:spcPct val="112000"/>
              </a:lnSpc>
              <a:buNone/>
              <a:defRPr sz="1875" b="0">
                <a:solidFill>
                  <a:srgbClr val="F2F1E9"/>
                </a:solidFill>
                <a:latin typeface="DejaVu Sans Mono"/>
                <a:ea typeface="DejaVu Sans Mono"/>
                <a:cs typeface="DejaVu Sans Mono"/>
              </a:defRPr>
            </a:pPr>
            <a:r>
              <a:rPr sz="1875" b="0">
                <a:solidFill>
                  <a:srgbClr val="F2F1E9"/>
                </a:solidFill>
                <a:latin typeface="DejaVu Sans Mono"/>
                <a:ea typeface="DejaVu Sans Mono"/>
                <a:cs typeface="DejaVu Sans Mono"/>
              </a:rPr>
              <a:t>git tag -a paper-v1 -m "Data and analysis for report"</a:t>
            </a:r>
          </a:p>
          <a:p xmlns:a="http://schemas.openxmlformats.org/drawingml/2006/main">
            <a:pPr>
              <a:lnSpc>
                <a:spcPct val="112000"/>
              </a:lnSpc>
              <a:buNone/>
              <a:defRPr sz="1875" b="0">
                <a:solidFill>
                  <a:srgbClr val="F2F1E9"/>
                </a:solidFill>
                <a:latin typeface="DejaVu Sans Mono"/>
                <a:ea typeface="DejaVu Sans Mono"/>
                <a:cs typeface="DejaVu Sans Mono"/>
              </a:defRPr>
            </a:pPr>
            <a:r>
              <a:rPr sz="1875" b="0">
                <a:solidFill>
                  <a:srgbClr val="F2F1E9"/>
                </a:solidFill>
                <a:latin typeface="DejaVu Sans Mono"/>
                <a:ea typeface="DejaVu Sans Mono"/>
                <a:cs typeface="DejaVu Sans Mono"/>
              </a:rPr>
              <a:t>git rev-parse HEAD</a:t>
            </a:r>
          </a:p>
        </p:txBody>
      </p:sp>
      <p:sp>
        <p:nvSpPr>
          <p:cNvPr id="4" name="">
            <a:extLst xmlns:a="http://schemas.openxmlformats.org/drawingml/2006/main">
              <a:ext uri="{FF2B5EF4-FFF2-40B4-BE49-F238E27FC236}">
                <a16:creationId xmlns:a16="http://schemas.microsoft.com/office/drawing/2014/main" id="{C549B3F2-DDE5-4A7B-89A2-9AB10A01061B}"/>
              </a:ext>
            </a:extLst>
          </p:cNvPr>
          <p:cNvSpPr>
            <a:spLocks xmlns:a="http://schemas.openxmlformats.org/drawingml/2006/main" noGrp="1"/>
          </p:cNvSpPr>
          <p:nvPr/>
        </p:nvSpPr>
        <p:spPr>
          <a:xfrm xmlns:a="http://schemas.openxmlformats.org/drawingml/2006/main">
            <a:off x="609600" y="294322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75" b="0">
                <a:solidFill>
                  <a:srgbClr val="81DFCE"/>
                </a:solidFill>
                <a:latin typeface="DejaVu Sans"/>
                <a:ea typeface="DejaVu Sans"/>
                <a:cs typeface="DejaVu Sans"/>
              </a:defRPr>
            </a:pPr>
            <a:r>
              <a:rPr sz="1875" b="0">
                <a:solidFill>
                  <a:srgbClr val="81DFCE"/>
                </a:solidFill>
                <a:latin typeface="DejaVu Sans"/>
                <a:ea typeface="DejaVu Sans"/>
                <a:cs typeface="DejaVu Sans"/>
              </a:rPr>
              <a:t>Перед тегом все изменения должны быть зафиксированы в commit.</a:t>
            </a:r>
          </a:p>
        </p:txBody>
      </p:sp>
      <p:sp>
        <p:nvSpPr>
          <p:cNvPr id="5" name="">
            <a:extLst xmlns:a="http://schemas.openxmlformats.org/drawingml/2006/main">
              <a:ext uri="{FF2B5EF4-FFF2-40B4-BE49-F238E27FC236}">
                <a16:creationId xmlns:a16="http://schemas.microsoft.com/office/drawing/2014/main" id="{96B144BB-345E-4685-B28E-B779EABBD9C6}"/>
              </a:ext>
            </a:extLst>
          </p:cNvPr>
          <p:cNvSpPr>
            <a:spLocks xmlns:a="http://schemas.openxmlformats.org/drawingml/2006/main" noGrp="1"/>
          </p:cNvSpPr>
          <p:nvPr/>
        </p:nvSpPr>
        <p:spPr>
          <a:xfrm xmlns:a="http://schemas.openxmlformats.org/drawingml/2006/main">
            <a:off x="609600" y="3676650"/>
            <a:ext cx="4533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175" b="1">
                <a:solidFill>
                  <a:srgbClr val="81DFCE"/>
                </a:solidFill>
                <a:latin typeface="DejaVu Sans"/>
                <a:ea typeface="DejaVu Sans"/>
                <a:cs typeface="DejaVu Sans"/>
              </a:defRPr>
            </a:pPr>
            <a:r>
              <a:rPr sz="2175" b="1">
                <a:solidFill>
                  <a:srgbClr val="81DFCE"/>
                </a:solidFill>
                <a:latin typeface="DejaVu Sans"/>
                <a:ea typeface="DejaVu Sans"/>
                <a:cs typeface="DejaVu Sans"/>
              </a:rPr>
              <a:t>Пример .gitignore</a:t>
            </a:r>
          </a:p>
        </p:txBody>
      </p:sp>
      <p:sp>
        <p:nvSpPr>
          <p:cNvPr id="6" name="">
            <a:extLst xmlns:a="http://schemas.openxmlformats.org/drawingml/2006/main">
              <a:ext uri="{FF2B5EF4-FFF2-40B4-BE49-F238E27FC236}">
                <a16:creationId xmlns:a16="http://schemas.microsoft.com/office/drawing/2014/main" id="{4173F2D0-0172-4426-966F-9C1EFDD70A77}"/>
              </a:ext>
            </a:extLst>
          </p:cNvPr>
          <p:cNvSpPr>
            <a:spLocks xmlns:a="http://schemas.openxmlformats.org/drawingml/2006/main" noGrp="1"/>
          </p:cNvSpPr>
          <p:nvPr/>
        </p:nvSpPr>
        <p:spPr>
          <a:xfrm xmlns:a="http://schemas.openxmlformats.org/drawingml/2006/main">
            <a:off x="609600" y="4305300"/>
            <a:ext cx="42291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.venv/</a:t>
            </a:r>
          </a:p>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.ipynb_checkpoints/</a:t>
            </a:r>
          </a:p>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__pycache__/</a:t>
            </a:r>
          </a:p>
          <a:p xmlns:a="http://schemas.openxmlformats.org/drawingml/2006/main">
            <a:pPr>
              <a:lnSpc>
                <a:spcPct val="112000"/>
              </a:lnSpc>
              <a:buNone/>
              <a:defRPr sz="1950" b="0">
                <a:solidFill>
                  <a:srgbClr val="F2F1E9"/>
                </a:solidFill>
                <a:latin typeface="DejaVu Sans Mono"/>
                <a:ea typeface="DejaVu Sans Mono"/>
                <a:cs typeface="DejaVu Sans Mono"/>
              </a:defRPr>
            </a:pPr>
            <a:r>
              <a:rPr sz="1950" b="0">
                <a:solidFill>
                  <a:srgbClr val="F2F1E9"/>
                </a:solidFill>
                <a:latin typeface="DejaVu Sans Mono"/>
                <a:ea typeface="DejaVu Sans Mono"/>
                <a:cs typeface="DejaVu Sans Mono"/>
              </a:rPr>
              <a:t>data/raw/</a:t>
            </a:r>
          </a:p>
        </p:txBody>
      </p:sp>
      <p:sp>
        <p:nvSpPr>
          <p:cNvPr id="7" name="">
            <a:extLst xmlns:a="http://schemas.openxmlformats.org/drawingml/2006/main">
              <a:ext uri="{FF2B5EF4-FFF2-40B4-BE49-F238E27FC236}">
                <a16:creationId xmlns:a16="http://schemas.microsoft.com/office/drawing/2014/main" id="{AC2B17E7-3ECA-45DA-8A1E-0871E1E5D3B2}"/>
              </a:ext>
            </a:extLst>
          </p:cNvPr>
          <p:cNvSpPr>
            <a:spLocks xmlns:a="http://schemas.openxmlformats.org/drawingml/2006/main" noGrp="1"/>
          </p:cNvSpPr>
          <p:nvPr/>
        </p:nvSpPr>
        <p:spPr>
          <a:xfrm xmlns:a="http://schemas.openxmlformats.org/drawingml/2006/main">
            <a:off x="6172200" y="3762375"/>
            <a:ext cx="5334000"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Крупные исходники храним</a:t>
            </a:r>
          </a:p>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отдельно с версией и хешами.</a:t>
            </a:r>
          </a:p>
          <a:p xmlns:a="http://schemas.openxmlformats.org/drawingml/2006/main">
            <a:r>
              <a:t/>
            </a:r>
          </a:p>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Git хранит историю.</a:t>
            </a:r>
          </a:p>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Резервные копии нужны отдельно.</a:t>
            </a:r>
          </a:p>
        </p:txBody>
      </p:sp>
    </p:spTree>
    <p:extLst>
      <p:ext uri="{BB962C8B-B14F-4D97-AF65-F5344CB8AC3E}">
        <p14:creationId xmlns:p14="http://schemas.microsoft.com/office/powerpoint/2010/main" val="1732694634"/>
      </p:ext>
    </p:extLst>
  </p:cSld>
</p:sld>
</file>

<file path=ppt/slides/slide37.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363E7B-1DB2-4E0C-A008-10B48403E163}"/>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Происхождение данных</a:t>
            </a:r>
          </a:p>
        </p:txBody>
      </p:sp>
      <p:sp>
        <p:nvSpPr>
          <p:cNvPr id="2" name="">
            <a:extLst xmlns:a="http://schemas.openxmlformats.org/drawingml/2006/main">
              <a:ext uri="{FF2B5EF4-FFF2-40B4-BE49-F238E27FC236}">
                <a16:creationId xmlns:a16="http://schemas.microsoft.com/office/drawing/2014/main" id="{7A6BBEBD-54AF-4CB6-9F4F-9945BF507559}"/>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37 / 44</a:t>
            </a:r>
          </a:p>
        </p:txBody>
      </p:sp>
      <p:graphicFrame>
        <p:nvGraphicFramePr>
          <p:cNvPr id="7" name=""/>
          <p:cNvGraphicFramePr/>
          <p:nvPr/>
        </p:nvGraphicFramePr>
        <p:xfrm>
          <a:off xmlns:a="http://schemas.openxmlformats.org/drawingml/2006/main" x="609600" y="1619250"/>
          <a:ext xmlns:a="http://schemas.openxmlformats.org/drawingml/2006/main" cx="10972800" cy="3105150"/>
        </p:xfrm>
        <a:graphic xmlns:a="http://schemas.openxmlformats.org/drawingml/2006/main">
          <a:graphicData uri="http://schemas.openxmlformats.org/drawingml/2006/table">
            <a:tbl>
              <a:tblPr firstRow="0" bandRow="0"/>
              <a:tblGrid>
                <a:gridCol w="3700130"/>
                <a:gridCol w="3700130"/>
                <a:gridCol w="3572540"/>
              </a:tblGrid>
              <a:tr h="776288">
                <a:tc>
                  <a:txBody>
                    <a:bodyPr anchor="ctr">
                      <a:noAutofit/>
                    </a:bodyPr>
                    <a:lstStyle/>
                    <a:p>
                      <a:r>
                        <a:rPr sz="1950" b="1">
                          <a:solidFill>
                            <a:srgbClr val="81DFCE"/>
                          </a:solidFill>
                          <a:latin typeface="DejaVu Sans"/>
                          <a:ea typeface="DejaVu Sans"/>
                          <a:cs typeface="DejaVu Sans"/>
                        </a:rPr>
                        <a:t>Вход</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Действие</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Выход</a:t>
                      </a:r>
                    </a:p>
                  </a:txBody>
                  <a:tcPr marL="142875" marR="114300" marT="95250" marB="95250" anchor="ctr">
                    <a:solidFill>
                      <a:srgbClr val="21343F"/>
                    </a:solidFill>
                  </a:tcPr>
                </a:tc>
              </a:tr>
              <a:tr h="776288">
                <a:tc>
                  <a:txBody>
                    <a:bodyPr anchor="ctr">
                      <a:noAutofit/>
                    </a:bodyPr>
                    <a:lstStyle/>
                    <a:p>
                      <a:r>
                        <a:rPr sz="1950" b="0">
                          <a:solidFill>
                            <a:srgbClr val="F2F1E9"/>
                          </a:solidFill>
                          <a:latin typeface="DejaVu Sans"/>
                          <a:ea typeface="DejaVu Sans"/>
                          <a:cs typeface="DejaVu Sans"/>
                        </a:rPr>
                        <a:t>run_01.csv</a:t>
                      </a:r>
                    </a:p>
                    <a:p>
                      <a:r>
                        <a:rPr sz="1950" b="0">
                          <a:solidFill>
                            <a:srgbClr val="F2F1E9"/>
                          </a:solidFill>
                          <a:latin typeface="DejaVu Sans"/>
                          <a:ea typeface="DejaVu Sans"/>
                          <a:cs typeface="DejaVu Sans"/>
                        </a:rPr>
                        <a:t>и реестр образцов</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prepare.py</a:t>
                      </a:r>
                    </a:p>
                    <a:p>
                      <a:r>
                        <a:rPr sz="1950" b="0">
                          <a:solidFill>
                            <a:srgbClr val="F2F1E9"/>
                          </a:solidFill>
                          <a:latin typeface="DejaVu Sans"/>
                          <a:ea typeface="DejaVu Sans"/>
                          <a:cs typeface="DejaVu Sans"/>
                        </a:rPr>
                        <a:t>версия commit</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measurements.csv</a:t>
                      </a:r>
                    </a:p>
                  </a:txBody>
                  <a:tcPr marL="142875" marR="114300" marT="95250" marB="95250" anchor="ctr">
                    <a:solidFill>
                      <a:srgbClr val="101923"/>
                    </a:solidFill>
                  </a:tcPr>
                </a:tc>
              </a:tr>
              <a:tr h="776288">
                <a:tc>
                  <a:txBody>
                    <a:bodyPr anchor="ctr">
                      <a:noAutofit/>
                    </a:bodyPr>
                    <a:lstStyle/>
                    <a:p>
                      <a:r>
                        <a:rPr sz="1950" b="0">
                          <a:solidFill>
                            <a:srgbClr val="F2F1E9"/>
                          </a:solidFill>
                          <a:latin typeface="DejaVu Sans"/>
                          <a:ea typeface="DejaVu Sans"/>
                          <a:cs typeface="DejaVu Sans"/>
                        </a:rPr>
                        <a:t>measurements.csv</a:t>
                      </a:r>
                    </a:p>
                    <a:p>
                      <a:r>
                        <a:rPr sz="1950" b="0">
                          <a:solidFill>
                            <a:srgbClr val="F2F1E9"/>
                          </a:solidFill>
                          <a:latin typeface="DejaVu Sans"/>
                          <a:ea typeface="DejaVu Sans"/>
                          <a:cs typeface="DejaVu Sans"/>
                        </a:rPr>
                        <a:t>и qc_log.csv</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analysis.ipynb</a:t>
                      </a:r>
                    </a:p>
                    <a:p>
                      <a:r>
                        <a:rPr sz="1950" b="0">
                          <a:solidFill>
                            <a:srgbClr val="F2F1E9"/>
                          </a:solidFill>
                          <a:latin typeface="DejaVu Sans"/>
                          <a:ea typeface="DejaVu Sans"/>
                          <a:cs typeface="DejaVu Sans"/>
                        </a:rPr>
                        <a:t>параметры анализа</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batch_summary.csv</a:t>
                      </a:r>
                    </a:p>
                  </a:txBody>
                  <a:tcPr marL="142875" marR="114300" marT="95250" marB="95250" anchor="ctr">
                    <a:solidFill>
                      <a:srgbClr val="14212D"/>
                    </a:solidFill>
                  </a:tcPr>
                </a:tc>
              </a:tr>
              <a:tr h="776288">
                <a:tc>
                  <a:txBody>
                    <a:bodyPr anchor="ctr">
                      <a:noAutofit/>
                    </a:bodyPr>
                    <a:lstStyle/>
                    <a:p>
                      <a:r>
                        <a:rPr sz="1950" b="0">
                          <a:solidFill>
                            <a:srgbClr val="F2F1E9"/>
                          </a:solidFill>
                          <a:latin typeface="DejaVu Sans"/>
                          <a:ea typeface="DejaVu Sans"/>
                          <a:cs typeface="DejaVu Sans"/>
                        </a:rPr>
                        <a:t>batch_summary.csv</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Построение рисунка</a:t>
                      </a:r>
                    </a:p>
                    <a:p>
                      <a:r>
                        <a:rPr sz="1950" b="0">
                          <a:solidFill>
                            <a:srgbClr val="F2F1E9"/>
                          </a:solidFill>
                          <a:latin typeface="DejaVu Sans"/>
                          <a:ea typeface="DejaVu Sans"/>
                          <a:cs typeface="DejaVu Sans"/>
                        </a:rPr>
                        <a:t>с теми же правилами</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fig_02.svg</a:t>
                      </a:r>
                    </a:p>
                  </a:txBody>
                  <a:tcPr marL="142875" marR="114300" marT="95250" marB="95250" anchor="ctr">
                    <a:solidFill>
                      <a:srgbClr val="101923"/>
                    </a:solidFill>
                  </a:tcPr>
                </a:tc>
              </a:tr>
            </a:tbl>
          </a:graphicData>
        </a:graphic>
      </p:graphicFrame>
      <p:sp>
        <p:nvSpPr>
          <p:cNvPr id="4" name="">
            <a:extLst xmlns:a="http://schemas.openxmlformats.org/drawingml/2006/main">
              <a:ext uri="{FF2B5EF4-FFF2-40B4-BE49-F238E27FC236}">
                <a16:creationId xmlns:a16="http://schemas.microsoft.com/office/drawing/2014/main" id="{0F7F1C11-5B8A-43B8-9FE5-4DC88C39CA72}"/>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Для каждого перехода нужны версия, параметры, дата и ответственный.</a:t>
            </a:r>
          </a:p>
        </p:txBody>
      </p:sp>
    </p:spTree>
    <p:extLst>
      <p:ext uri="{BB962C8B-B14F-4D97-AF65-F5344CB8AC3E}">
        <p14:creationId xmlns:p14="http://schemas.microsoft.com/office/powerpoint/2010/main" val="1837994517"/>
      </p:ext>
    </p:extLst>
  </p:cSld>
</p:sld>
</file>

<file path=ppt/slides/slide38.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528522-0D5B-4602-89F3-7361772C1F3E}"/>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Связь результата с журналом и публикацией</a:t>
            </a:r>
          </a:p>
        </p:txBody>
      </p:sp>
      <p:sp>
        <p:nvSpPr>
          <p:cNvPr id="2" name="">
            <a:extLst xmlns:a="http://schemas.openxmlformats.org/drawingml/2006/main">
              <a:ext uri="{FF2B5EF4-FFF2-40B4-BE49-F238E27FC236}">
                <a16:creationId xmlns:a16="http://schemas.microsoft.com/office/drawing/2014/main" id="{BA91A12A-87A4-459A-BFFF-8A367230CC5C}"/>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38 / 44</a:t>
            </a:r>
          </a:p>
        </p:txBody>
      </p:sp>
      <p:graphicFrame>
        <p:nvGraphicFramePr>
          <p:cNvPr id="7" name=""/>
          <p:cNvGraphicFramePr/>
          <p:nvPr/>
        </p:nvGraphicFramePr>
        <p:xfrm>
          <a:off xmlns:a="http://schemas.openxmlformats.org/drawingml/2006/main" x="609600" y="1619250"/>
          <a:ext xmlns:a="http://schemas.openxmlformats.org/drawingml/2006/main" cx="10972800" cy="3143250"/>
        </p:xfrm>
        <a:graphic xmlns:a="http://schemas.openxmlformats.org/drawingml/2006/main">
          <a:graphicData uri="http://schemas.openxmlformats.org/drawingml/2006/table">
            <a:tbl>
              <a:tblPr firstRow="0" bandRow="0"/>
              <a:tblGrid>
                <a:gridCol w="4068566"/>
                <a:gridCol w="6904234"/>
              </a:tblGrid>
              <a:tr h="628650">
                <a:tc>
                  <a:txBody>
                    <a:bodyPr anchor="ctr">
                      <a:noAutofit/>
                    </a:bodyPr>
                    <a:lstStyle/>
                    <a:p>
                      <a:r>
                        <a:rPr sz="1950" b="1">
                          <a:solidFill>
                            <a:srgbClr val="81DFCE"/>
                          </a:solidFill>
                          <a:latin typeface="DejaVu Sans"/>
                          <a:ea typeface="DejaVu Sans"/>
                          <a:cs typeface="DejaVu Sans"/>
                        </a:rPr>
                        <a:t>Объект</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Что связываем</a:t>
                      </a:r>
                    </a:p>
                  </a:txBody>
                  <a:tcPr marL="142875" marR="114300" marT="95250" marB="95250" anchor="ctr">
                    <a:solidFill>
                      <a:srgbClr val="21343F"/>
                    </a:solidFill>
                  </a:tcPr>
                </a:tc>
              </a:tr>
              <a:tr h="628650">
                <a:tc>
                  <a:txBody>
                    <a:bodyPr anchor="ctr">
                      <a:noAutofit/>
                    </a:bodyPr>
                    <a:lstStyle/>
                    <a:p>
                      <a:r>
                        <a:rPr sz="1950" b="0">
                          <a:solidFill>
                            <a:srgbClr val="F2F1E9"/>
                          </a:solidFill>
                          <a:latin typeface="DejaVu Sans"/>
                          <a:ea typeface="DejaVu Sans"/>
                          <a:cs typeface="DejaVu Sans"/>
                        </a:rPr>
                        <a:t>Запись журнала LAB-2026-041</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Протокол v2, B001–B006, исходные файлы</a:t>
                      </a:r>
                    </a:p>
                  </a:txBody>
                  <a:tcPr marL="142875" marR="114300" marT="95250" marB="95250" anchor="ctr">
                    <a:solidFill>
                      <a:srgbClr val="101923"/>
                    </a:solidFill>
                  </a:tcPr>
                </a:tc>
              </a:tr>
              <a:tr h="628650">
                <a:tc>
                  <a:txBody>
                    <a:bodyPr anchor="ctr">
                      <a:noAutofit/>
                    </a:bodyPr>
                    <a:lstStyle/>
                    <a:p>
                      <a:r>
                        <a:rPr sz="1950" b="0">
                          <a:solidFill>
                            <a:srgbClr val="F2F1E9"/>
                          </a:solidFill>
                          <a:latin typeface="DejaVu Sans"/>
                          <a:ea typeface="DejaVu Sans"/>
                          <a:cs typeface="DejaVu Sans"/>
                        </a:rPr>
                        <a:t>Рисунок 2</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batch_summary.csv, n = 3 на режим, исключения</a:t>
                      </a:r>
                    </a:p>
                  </a:txBody>
                  <a:tcPr marL="142875" marR="114300" marT="95250" marB="95250" anchor="ctr">
                    <a:solidFill>
                      <a:srgbClr val="14212D"/>
                    </a:solidFill>
                  </a:tcPr>
                </a:tc>
              </a:tr>
              <a:tr h="628650">
                <a:tc>
                  <a:txBody>
                    <a:bodyPr anchor="ctr">
                      <a:noAutofit/>
                    </a:bodyPr>
                    <a:lstStyle/>
                    <a:p>
                      <a:r>
                        <a:rPr sz="1950" b="0">
                          <a:solidFill>
                            <a:srgbClr val="F2F1E9"/>
                          </a:solidFill>
                          <a:latin typeface="DejaVu Sans"/>
                          <a:ea typeface="DejaVu Sans"/>
                          <a:cs typeface="DejaVu Sans"/>
                        </a:rPr>
                        <a:t>Версия анализа</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Commit hash, tag paper-v1, среда и параметры</a:t>
                      </a:r>
                    </a:p>
                  </a:txBody>
                  <a:tcPr marL="142875" marR="114300" marT="95250" marB="95250" anchor="ctr">
                    <a:solidFill>
                      <a:srgbClr val="101923"/>
                    </a:solidFill>
                  </a:tcPr>
                </a:tc>
              </a:tr>
              <a:tr h="628650">
                <a:tc>
                  <a:txBody>
                    <a:bodyPr anchor="ctr">
                      <a:noAutofit/>
                    </a:bodyPr>
                    <a:lstStyle/>
                    <a:p>
                      <a:r>
                        <a:rPr sz="1950" b="0">
                          <a:solidFill>
                            <a:srgbClr val="F2F1E9"/>
                          </a:solidFill>
                          <a:latin typeface="DejaVu Sans"/>
                          <a:ea typeface="DejaVu Sans"/>
                          <a:cs typeface="DejaVu Sans"/>
                        </a:rPr>
                        <a:t>Публикация набора</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Постоянный идентификатор и точная версия</a:t>
                      </a:r>
                    </a:p>
                  </a:txBody>
                  <a:tcPr marL="142875" marR="114300" marT="95250" marB="95250" anchor="ctr">
                    <a:solidFill>
                      <a:srgbClr val="14212D"/>
                    </a:solidFill>
                  </a:tcPr>
                </a:tc>
              </a:tr>
            </a:tbl>
          </a:graphicData>
        </a:graphic>
      </p:graphicFrame>
      <p:sp>
        <p:nvSpPr>
          <p:cNvPr id="4" name="">
            <a:extLst xmlns:a="http://schemas.openxmlformats.org/drawingml/2006/main">
              <a:ext uri="{FF2B5EF4-FFF2-40B4-BE49-F238E27FC236}">
                <a16:creationId xmlns:a16="http://schemas.microsoft.com/office/drawing/2014/main" id="{79D9DF21-F1E3-4A19-B921-098D5CBA29AC}"/>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Подпись рисунка объясняет точки и интервалы. Манифест хранит путь расчёта.</a:t>
            </a:r>
          </a:p>
        </p:txBody>
      </p:sp>
    </p:spTree>
    <p:extLst>
      <p:ext uri="{BB962C8B-B14F-4D97-AF65-F5344CB8AC3E}">
        <p14:creationId xmlns:p14="http://schemas.microsoft.com/office/powerpoint/2010/main" val="1492458659"/>
      </p:ext>
    </p:extLst>
  </p:cSld>
</p:sld>
</file>

<file path=ppt/slides/slide39.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BFD528C-0F9E-4A24-8ED2-3B6FC2E64CE0}"/>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FAIR: принципы работы с данными</a:t>
            </a:r>
          </a:p>
        </p:txBody>
      </p:sp>
      <p:sp>
        <p:nvSpPr>
          <p:cNvPr id="2" name="">
            <a:extLst xmlns:a="http://schemas.openxmlformats.org/drawingml/2006/main">
              <a:ext uri="{FF2B5EF4-FFF2-40B4-BE49-F238E27FC236}">
                <a16:creationId xmlns:a16="http://schemas.microsoft.com/office/drawing/2014/main" id="{632D4CA1-D83C-4357-BB62-A098FDA745DA}"/>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39 / 44</a:t>
            </a:r>
          </a:p>
        </p:txBody>
      </p:sp>
      <p:graphicFrame>
        <p:nvGraphicFramePr>
          <p:cNvPr id="7" name=""/>
          <p:cNvGraphicFramePr/>
          <p:nvPr/>
        </p:nvGraphicFramePr>
        <p:xfrm>
          <a:off xmlns:a="http://schemas.openxmlformats.org/drawingml/2006/main" x="609600" y="1619250"/>
          <a:ext xmlns:a="http://schemas.openxmlformats.org/drawingml/2006/main" cx="10972800" cy="3524250"/>
        </p:xfrm>
        <a:graphic xmlns:a="http://schemas.openxmlformats.org/drawingml/2006/main">
          <a:graphicData uri="http://schemas.openxmlformats.org/drawingml/2006/table">
            <a:tbl>
              <a:tblPr firstRow="0" bandRow="0"/>
              <a:tblGrid>
                <a:gridCol w="4001845"/>
                <a:gridCol w="6970955"/>
              </a:tblGrid>
              <a:tr h="704850">
                <a:tc>
                  <a:txBody>
                    <a:bodyPr anchor="ctr">
                      <a:noAutofit/>
                    </a:bodyPr>
                    <a:lstStyle/>
                    <a:p>
                      <a:r>
                        <a:rPr sz="1875" b="1">
                          <a:solidFill>
                            <a:srgbClr val="81DFCE"/>
                          </a:solidFill>
                          <a:latin typeface="DejaVu Sans"/>
                          <a:ea typeface="DejaVu Sans"/>
                          <a:cs typeface="DejaVu Sans"/>
                        </a:rPr>
                        <a:t>Принцип</a:t>
                      </a:r>
                    </a:p>
                  </a:txBody>
                  <a:tcPr marL="142875" marR="114300" marT="95250" marB="95250" anchor="ctr">
                    <a:solidFill>
                      <a:srgbClr val="21343F"/>
                    </a:solidFill>
                  </a:tcPr>
                </a:tc>
                <a:tc>
                  <a:txBody>
                    <a:bodyPr anchor="ctr">
                      <a:noAutofit/>
                    </a:bodyPr>
                    <a:lstStyle/>
                    <a:p>
                      <a:r>
                        <a:rPr sz="1875" b="1">
                          <a:solidFill>
                            <a:srgbClr val="81DFCE"/>
                          </a:solidFill>
                          <a:latin typeface="DejaVu Sans"/>
                          <a:ea typeface="DejaVu Sans"/>
                          <a:cs typeface="DejaVu Sans"/>
                        </a:rPr>
                        <a:t>Практическое действие</a:t>
                      </a:r>
                    </a:p>
                  </a:txBody>
                  <a:tcPr marL="142875" marR="114300" marT="95250" marB="95250" anchor="ctr">
                    <a:solidFill>
                      <a:srgbClr val="21343F"/>
                    </a:solidFill>
                  </a:tcPr>
                </a:tc>
              </a:tr>
              <a:tr h="704850">
                <a:tc>
                  <a:txBody>
                    <a:bodyPr anchor="ctr">
                      <a:noAutofit/>
                    </a:bodyPr>
                    <a:lstStyle/>
                    <a:p>
                      <a:r>
                        <a:rPr sz="1875" b="0">
                          <a:solidFill>
                            <a:srgbClr val="F2F1E9"/>
                          </a:solidFill>
                          <a:latin typeface="DejaVu Sans"/>
                          <a:ea typeface="DejaVu Sans"/>
                          <a:cs typeface="DejaVu Sans"/>
                        </a:rPr>
                        <a:t>Findable / находимые</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Постоянный ID, описание и индексируемый репозиторий</a:t>
                      </a:r>
                    </a:p>
                  </a:txBody>
                  <a:tcPr marL="142875" marR="114300" marT="95250" marB="95250" anchor="ctr">
                    <a:solidFill>
                      <a:srgbClr val="101923"/>
                    </a:solidFill>
                  </a:tcPr>
                </a:tc>
              </a:tr>
              <a:tr h="704850">
                <a:tc>
                  <a:txBody>
                    <a:bodyPr anchor="ctr">
                      <a:noAutofit/>
                    </a:bodyPr>
                    <a:lstStyle/>
                    <a:p>
                      <a:r>
                        <a:rPr sz="1875" b="0">
                          <a:solidFill>
                            <a:srgbClr val="F2F1E9"/>
                          </a:solidFill>
                          <a:latin typeface="DejaVu Sans"/>
                          <a:ea typeface="DejaVu Sans"/>
                          <a:cs typeface="DejaVu Sans"/>
                        </a:rPr>
                        <a:t>Accessible / доступные</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Понятный способ получения и условия доступа</a:t>
                      </a:r>
                    </a:p>
                  </a:txBody>
                  <a:tcPr marL="142875" marR="114300" marT="95250" marB="95250" anchor="ctr">
                    <a:solidFill>
                      <a:srgbClr val="14212D"/>
                    </a:solidFill>
                  </a:tcPr>
                </a:tc>
              </a:tr>
              <a:tr h="704850">
                <a:tc>
                  <a:txBody>
                    <a:bodyPr anchor="ctr">
                      <a:noAutofit/>
                    </a:bodyPr>
                    <a:lstStyle/>
                    <a:p>
                      <a:r>
                        <a:rPr sz="1875" b="0">
                          <a:solidFill>
                            <a:srgbClr val="F2F1E9"/>
                          </a:solidFill>
                          <a:latin typeface="DejaVu Sans"/>
                          <a:ea typeface="DejaVu Sans"/>
                          <a:cs typeface="DejaVu Sans"/>
                        </a:rPr>
                        <a:t>Interoperable / совместимые</a:t>
                      </a:r>
                    </a:p>
                  </a:txBody>
                  <a:tcPr marL="142875" marR="114300" marT="95250" marB="95250" anchor="ctr">
                    <a:solidFill>
                      <a:srgbClr val="101923"/>
                    </a:solidFill>
                  </a:tcPr>
                </a:tc>
                <a:tc>
                  <a:txBody>
                    <a:bodyPr anchor="ctr">
                      <a:noAutofit/>
                    </a:bodyPr>
                    <a:lstStyle/>
                    <a:p>
                      <a:r>
                        <a:rPr sz="1875" b="0">
                          <a:solidFill>
                            <a:srgbClr val="F2F1E9"/>
                          </a:solidFill>
                          <a:latin typeface="DejaVu Sans"/>
                          <a:ea typeface="DejaVu Sans"/>
                          <a:cs typeface="DejaVu Sans"/>
                        </a:rPr>
                        <a:t>Явная схема, единицы и общие словари</a:t>
                      </a:r>
                    </a:p>
                  </a:txBody>
                  <a:tcPr marL="142875" marR="114300" marT="95250" marB="95250" anchor="ctr">
                    <a:solidFill>
                      <a:srgbClr val="101923"/>
                    </a:solidFill>
                  </a:tcPr>
                </a:tc>
              </a:tr>
              <a:tr h="704850">
                <a:tc>
                  <a:txBody>
                    <a:bodyPr anchor="ctr">
                      <a:noAutofit/>
                    </a:bodyPr>
                    <a:lstStyle/>
                    <a:p>
                      <a:r>
                        <a:rPr sz="1875" b="0">
                          <a:solidFill>
                            <a:srgbClr val="F2F1E9"/>
                          </a:solidFill>
                          <a:latin typeface="DejaVu Sans"/>
                          <a:ea typeface="DejaVu Sans"/>
                          <a:cs typeface="DejaVu Sans"/>
                        </a:rPr>
                        <a:t>Reusable / пригодные к повторному использованию</a:t>
                      </a:r>
                    </a:p>
                  </a:txBody>
                  <a:tcPr marL="142875" marR="114300" marT="95250" marB="95250" anchor="ctr">
                    <a:solidFill>
                      <a:srgbClr val="14212D"/>
                    </a:solidFill>
                  </a:tcPr>
                </a:tc>
                <a:tc>
                  <a:txBody>
                    <a:bodyPr anchor="ctr">
                      <a:noAutofit/>
                    </a:bodyPr>
                    <a:lstStyle/>
                    <a:p>
                      <a:r>
                        <a:rPr sz="1875" b="0">
                          <a:solidFill>
                            <a:srgbClr val="F2F1E9"/>
                          </a:solidFill>
                          <a:latin typeface="DejaVu Sans"/>
                          <a:ea typeface="DejaVu Sans"/>
                          <a:cs typeface="DejaVu Sans"/>
                        </a:rPr>
                        <a:t>Происхождение, протокол, качество и условия использования</a:t>
                      </a:r>
                    </a:p>
                  </a:txBody>
                  <a:tcPr marL="142875" marR="114300" marT="95250" marB="95250" anchor="ctr">
                    <a:solidFill>
                      <a:srgbClr val="14212D"/>
                    </a:solidFill>
                  </a:tcPr>
                </a:tc>
              </a:tr>
            </a:tbl>
          </a:graphicData>
        </a:graphic>
      </p:graphicFrame>
      <p:sp>
        <p:nvSpPr>
          <p:cNvPr id="4" name="">
            <a:extLst xmlns:a="http://schemas.openxmlformats.org/drawingml/2006/main">
              <a:ext uri="{FF2B5EF4-FFF2-40B4-BE49-F238E27FC236}">
                <a16:creationId xmlns:a16="http://schemas.microsoft.com/office/drawing/2014/main" id="{899A1A64-DBC9-4D18-AAFC-7DBC172B23DE}"/>
              </a:ext>
            </a:extLst>
          </p:cNvPr>
          <p:cNvSpPr>
            <a:spLocks xmlns:a="http://schemas.openxmlformats.org/drawingml/2006/main" noGrp="1"/>
          </p:cNvSpPr>
          <p:nvPr/>
        </p:nvSpPr>
        <p:spPr>
          <a:xfrm xmlns:a="http://schemas.openxmlformats.org/drawingml/2006/main">
            <a:off x="609600" y="58007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F1B766"/>
                </a:solidFill>
                <a:latin typeface="DejaVu Sans"/>
                <a:ea typeface="DejaVu Sans"/>
                <a:cs typeface="DejaVu Sans"/>
              </a:defRPr>
            </a:pPr>
            <a:r>
              <a:rPr sz="1950" b="0">
                <a:solidFill>
                  <a:srgbClr val="F1B766"/>
                </a:solidFill>
                <a:latin typeface="DejaVu Sans"/>
                <a:ea typeface="DejaVu Sans"/>
                <a:cs typeface="DejaVu Sans"/>
              </a:rPr>
              <a:t>FAIR допускает ограниченный доступ по прозрачным правилам.</a:t>
            </a:r>
          </a:p>
        </p:txBody>
      </p:sp>
    </p:spTree>
    <p:extLst>
      <p:ext uri="{BB962C8B-B14F-4D97-AF65-F5344CB8AC3E}">
        <p14:creationId xmlns:p14="http://schemas.microsoft.com/office/powerpoint/2010/main" val="1404099020"/>
      </p:ext>
    </p:extLst>
  </p:cSld>
</p:sld>
</file>

<file path=ppt/slides/slide40.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C587F9-3B87-44AC-A404-F830EBD18F61}"/>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ELN и LIMS: разные задачи, общие связи</a:t>
            </a:r>
          </a:p>
        </p:txBody>
      </p:sp>
      <p:sp>
        <p:nvSpPr>
          <p:cNvPr id="2" name="">
            <a:extLst xmlns:a="http://schemas.openxmlformats.org/drawingml/2006/main">
              <a:ext uri="{FF2B5EF4-FFF2-40B4-BE49-F238E27FC236}">
                <a16:creationId xmlns:a16="http://schemas.microsoft.com/office/drawing/2014/main" id="{845BEE1C-EE55-4180-8A2F-0416954684BA}"/>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40 / 44</a:t>
            </a:r>
          </a:p>
        </p:txBody>
      </p:sp>
      <p:sp>
        <p:nvSpPr>
          <p:cNvPr id="3" name="">
            <a:extLst xmlns:a="http://schemas.openxmlformats.org/drawingml/2006/main">
              <a:ext uri="{FF2B5EF4-FFF2-40B4-BE49-F238E27FC236}">
                <a16:creationId xmlns:a16="http://schemas.microsoft.com/office/drawing/2014/main" id="{0720A637-AA93-4E3A-A417-B13F6BADF386}"/>
              </a:ext>
            </a:extLst>
          </p:cNvPr>
          <p:cNvSpPr>
            <a:spLocks xmlns:a="http://schemas.openxmlformats.org/drawingml/2006/main" noGrp="1"/>
          </p:cNvSpPr>
          <p:nvPr/>
        </p:nvSpPr>
        <p:spPr>
          <a:xfrm xmlns:a="http://schemas.openxmlformats.org/drawingml/2006/main">
            <a:off x="609600" y="1295400"/>
            <a:ext cx="10934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75" b="0">
                <a:solidFill>
                  <a:srgbClr val="B6C3D0"/>
                </a:solidFill>
                <a:latin typeface="DejaVu Sans"/>
                <a:ea typeface="DejaVu Sans"/>
                <a:cs typeface="DejaVu Sans"/>
              </a:defRPr>
            </a:pPr>
            <a:r>
              <a:rPr sz="1875" b="0">
                <a:solidFill>
                  <a:srgbClr val="B6C3D0"/>
                </a:solidFill>
                <a:latin typeface="DejaVu Sans"/>
                <a:ea typeface="DejaVu Sans"/>
                <a:cs typeface="DejaVu Sans"/>
              </a:rPr>
              <a:t>ELN: электронный журнал. LIMS: управление лабораторной информацией.</a:t>
            </a:r>
          </a:p>
        </p:txBody>
      </p:sp>
      <p:graphicFrame>
        <p:nvGraphicFramePr>
          <p:cNvPr id="9" name=""/>
          <p:cNvGraphicFramePr/>
          <p:nvPr/>
        </p:nvGraphicFramePr>
        <p:xfrm>
          <a:off xmlns:a="http://schemas.openxmlformats.org/drawingml/2006/main" x="609600" y="1971675"/>
          <a:ext xmlns:a="http://schemas.openxmlformats.org/drawingml/2006/main" cx="10972800" cy="3048000"/>
        </p:xfrm>
        <a:graphic xmlns:a="http://schemas.openxmlformats.org/drawingml/2006/main">
          <a:graphicData uri="http://schemas.openxmlformats.org/drawingml/2006/table">
            <a:tbl>
              <a:tblPr firstRow="0" bandRow="0"/>
              <a:tblGrid>
                <a:gridCol w="2511846"/>
                <a:gridCol w="4230477"/>
                <a:gridCol w="4230477"/>
              </a:tblGrid>
              <a:tr h="762000">
                <a:tc>
                  <a:txBody>
                    <a:bodyPr anchor="ctr">
                      <a:noAutofit/>
                    </a:bodyPr>
                    <a:lstStyle/>
                    <a:p>
                      <a:r>
                        <a:rPr sz="1950" b="1">
                          <a:solidFill>
                            <a:srgbClr val="81DFCE"/>
                          </a:solidFill>
                          <a:latin typeface="DejaVu Sans"/>
                          <a:ea typeface="DejaVu Sans"/>
                          <a:cs typeface="DejaVu Sans"/>
                        </a:rPr>
                        <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ELN</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LIMS</a:t>
                      </a:r>
                    </a:p>
                  </a:txBody>
                  <a:tcPr marL="142875" marR="114300" marT="95250" marB="95250" anchor="ctr">
                    <a:solidFill>
                      <a:srgbClr val="21343F"/>
                    </a:solidFill>
                  </a:tcPr>
                </a:tc>
              </a:tr>
              <a:tr h="762000">
                <a:tc>
                  <a:txBody>
                    <a:bodyPr anchor="ctr">
                      <a:noAutofit/>
                    </a:bodyPr>
                    <a:lstStyle/>
                    <a:p>
                      <a:r>
                        <a:rPr sz="1950" b="0">
                          <a:solidFill>
                            <a:srgbClr val="F2F1E9"/>
                          </a:solidFill>
                          <a:latin typeface="DejaVu Sans"/>
                          <a:ea typeface="DejaVu Sans"/>
                          <a:cs typeface="DejaVu Sans"/>
                        </a:rPr>
                        <a:t>Основной вопрос</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Что и зачем делали?</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Где образец и каков</a:t>
                      </a:r>
                    </a:p>
                    <a:p>
                      <a:r>
                        <a:rPr sz="1950" b="0">
                          <a:solidFill>
                            <a:srgbClr val="F2F1E9"/>
                          </a:solidFill>
                          <a:latin typeface="DejaVu Sans"/>
                          <a:ea typeface="DejaVu Sans"/>
                          <a:cs typeface="DejaVu Sans"/>
                        </a:rPr>
                        <a:t>статус обработки?</a:t>
                      </a:r>
                    </a:p>
                  </a:txBody>
                  <a:tcPr marL="142875" marR="114300" marT="95250" marB="95250" anchor="ctr">
                    <a:solidFill>
                      <a:srgbClr val="101923"/>
                    </a:solidFill>
                  </a:tcPr>
                </a:tc>
              </a:tr>
              <a:tr h="762000">
                <a:tc>
                  <a:txBody>
                    <a:bodyPr anchor="ctr">
                      <a:noAutofit/>
                    </a:bodyPr>
                    <a:lstStyle/>
                    <a:p>
                      <a:r>
                        <a:rPr sz="1950" b="0">
                          <a:solidFill>
                            <a:srgbClr val="F2F1E9"/>
                          </a:solidFill>
                          <a:latin typeface="DejaVu Sans"/>
                          <a:ea typeface="DejaVu Sans"/>
                          <a:cs typeface="DejaVu Sans"/>
                        </a:rPr>
                        <a:t>Типичные записи</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Протокол, наблюдения,</a:t>
                      </a:r>
                    </a:p>
                    <a:p>
                      <a:r>
                        <a:rPr sz="1950" b="0">
                          <a:solidFill>
                            <a:srgbClr val="F2F1E9"/>
                          </a:solidFill>
                          <a:latin typeface="DejaVu Sans"/>
                          <a:ea typeface="DejaVu Sans"/>
                          <a:cs typeface="DejaVu Sans"/>
                        </a:rPr>
                        <a:t>отклонения, выводы</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Реестр, маршруты,</a:t>
                      </a:r>
                    </a:p>
                    <a:p>
                      <a:r>
                        <a:rPr sz="1950" b="0">
                          <a:solidFill>
                            <a:srgbClr val="F2F1E9"/>
                          </a:solidFill>
                          <a:latin typeface="DejaVu Sans"/>
                          <a:ea typeface="DejaVu Sans"/>
                          <a:cs typeface="DejaVu Sans"/>
                        </a:rPr>
                        <a:t>статусы, результаты</a:t>
                      </a:r>
                    </a:p>
                  </a:txBody>
                  <a:tcPr marL="142875" marR="114300" marT="95250" marB="95250" anchor="ctr">
                    <a:solidFill>
                      <a:srgbClr val="14212D"/>
                    </a:solidFill>
                  </a:tcPr>
                </a:tc>
              </a:tr>
              <a:tr h="762000">
                <a:tc>
                  <a:txBody>
                    <a:bodyPr anchor="ctr">
                      <a:noAutofit/>
                    </a:bodyPr>
                    <a:lstStyle/>
                    <a:p>
                      <a:r>
                        <a:rPr sz="1950" b="0">
                          <a:solidFill>
                            <a:srgbClr val="F2F1E9"/>
                          </a:solidFill>
                          <a:latin typeface="DejaVu Sans"/>
                          <a:ea typeface="DejaVu Sans"/>
                          <a:cs typeface="DejaVu Sans"/>
                        </a:rPr>
                        <a:t>Общие элементы</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ID объектов, файлы,</a:t>
                      </a:r>
                    </a:p>
                    <a:p>
                      <a:r>
                        <a:rPr sz="1950" b="0">
                          <a:solidFill>
                            <a:srgbClr val="F2F1E9"/>
                          </a:solidFill>
                          <a:latin typeface="DejaVu Sans"/>
                          <a:ea typeface="DejaVu Sans"/>
                          <a:cs typeface="DejaVu Sans"/>
                        </a:rPr>
                        <a:t>автор и время</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Связи, история,</a:t>
                      </a:r>
                    </a:p>
                    <a:p>
                      <a:r>
                        <a:rPr sz="1950" b="0">
                          <a:solidFill>
                            <a:srgbClr val="F2F1E9"/>
                          </a:solidFill>
                          <a:latin typeface="DejaVu Sans"/>
                          <a:ea typeface="DejaVu Sans"/>
                          <a:cs typeface="DejaVu Sans"/>
                        </a:rPr>
                        <a:t>права доступа</a:t>
                      </a:r>
                    </a:p>
                  </a:txBody>
                  <a:tcPr marL="142875" marR="114300" marT="95250" marB="95250" anchor="ctr">
                    <a:solidFill>
                      <a:srgbClr val="101923"/>
                    </a:solidFill>
                  </a:tcPr>
                </a:tc>
              </a:tr>
            </a:tbl>
          </a:graphicData>
        </a:graphic>
      </p:graphicFrame>
      <p:sp>
        <p:nvSpPr>
          <p:cNvPr id="5" name="">
            <a:extLst xmlns:a="http://schemas.openxmlformats.org/drawingml/2006/main">
              <a:ext uri="{FF2B5EF4-FFF2-40B4-BE49-F238E27FC236}">
                <a16:creationId xmlns:a16="http://schemas.microsoft.com/office/drawing/2014/main" id="{B23E88A8-184B-42B9-8B12-D0F83F128DB9}"/>
              </a:ext>
            </a:extLst>
          </p:cNvPr>
          <p:cNvSpPr>
            <a:spLocks xmlns:a="http://schemas.openxmlformats.org/drawingml/2006/main" noGrp="1"/>
          </p:cNvSpPr>
          <p:nvPr/>
        </p:nvSpPr>
        <p:spPr>
          <a:xfrm xmlns:a="http://schemas.openxmlformats.org/drawingml/2006/main">
            <a:off x="609600" y="56769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81DFCE"/>
                </a:solidFill>
                <a:latin typeface="DejaVu Sans"/>
                <a:ea typeface="DejaVu Sans"/>
                <a:cs typeface="DejaVu Sans"/>
              </a:defRPr>
            </a:pPr>
            <a:r>
              <a:rPr sz="1950" b="0">
                <a:solidFill>
                  <a:srgbClr val="81DFCE"/>
                </a:solidFill>
                <a:latin typeface="DejaVu Sans"/>
                <a:ea typeface="DejaVu Sans"/>
                <a:cs typeface="DejaVu Sans"/>
              </a:rPr>
              <a:t>Журнал, система учёта и файлы связываются устойчивыми идентификаторами.</a:t>
            </a:r>
          </a:p>
        </p:txBody>
      </p:sp>
    </p:spTree>
    <p:extLst>
      <p:ext uri="{BB962C8B-B14F-4D97-AF65-F5344CB8AC3E}">
        <p14:creationId xmlns:p14="http://schemas.microsoft.com/office/powerpoint/2010/main" val="1032689773"/>
      </p:ext>
    </p:extLst>
  </p:cSld>
</p:sld>
</file>

<file path=ppt/slides/slide41.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A8138F-5927-4845-8BE0-6E9AB012C1EF}"/>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Мини-проект на собственных данных</a:t>
            </a:r>
          </a:p>
        </p:txBody>
      </p:sp>
      <p:sp>
        <p:nvSpPr>
          <p:cNvPr id="2" name="">
            <a:extLst xmlns:a="http://schemas.openxmlformats.org/drawingml/2006/main">
              <a:ext uri="{FF2B5EF4-FFF2-40B4-BE49-F238E27FC236}">
                <a16:creationId xmlns:a16="http://schemas.microsoft.com/office/drawing/2014/main" id="{9F7021B1-0FB5-4865-B7B1-57D3FCB9ED97}"/>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41 / 44</a:t>
            </a:r>
          </a:p>
        </p:txBody>
      </p:sp>
      <p:sp>
        <p:nvSpPr>
          <p:cNvPr id="3" name="">
            <a:extLst xmlns:a="http://schemas.openxmlformats.org/drawingml/2006/main">
              <a:ext uri="{FF2B5EF4-FFF2-40B4-BE49-F238E27FC236}">
                <a16:creationId xmlns:a16="http://schemas.microsoft.com/office/drawing/2014/main" id="{88DFD007-4BDB-4AEE-8F45-F8B5E5CE4385}"/>
              </a:ext>
            </a:extLst>
          </p:cNvPr>
          <p:cNvSpPr>
            <a:spLocks xmlns:a="http://schemas.openxmlformats.org/drawingml/2006/main" noGrp="1"/>
          </p:cNvSpPr>
          <p:nvPr/>
        </p:nvSpPr>
        <p:spPr>
          <a:xfrm xmlns:a="http://schemas.openxmlformats.org/drawingml/2006/main">
            <a:off x="609600" y="16859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Дизайн</a:t>
            </a:r>
          </a:p>
        </p:txBody>
      </p:sp>
      <p:sp>
        <p:nvSpPr>
          <p:cNvPr id="4" name="">
            <a:extLst xmlns:a="http://schemas.openxmlformats.org/drawingml/2006/main">
              <a:ext uri="{FF2B5EF4-FFF2-40B4-BE49-F238E27FC236}">
                <a16:creationId xmlns:a16="http://schemas.microsoft.com/office/drawing/2014/main" id="{E58AD8B3-3190-4B5A-8581-8738F2FE5AB0}"/>
              </a:ext>
            </a:extLst>
          </p:cNvPr>
          <p:cNvSpPr>
            <a:spLocks xmlns:a="http://schemas.openxmlformats.org/drawingml/2006/main" noGrp="1"/>
          </p:cNvSpPr>
          <p:nvPr/>
        </p:nvSpPr>
        <p:spPr>
          <a:xfrm xmlns:a="http://schemas.openxmlformats.org/drawingml/2006/main">
            <a:off x="3124200" y="1685925"/>
            <a:ext cx="8248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Назвать единицу анализа и описать независимые и технические повторы.</a:t>
            </a:r>
          </a:p>
        </p:txBody>
      </p:sp>
      <p:sp>
        <p:nvSpPr>
          <p:cNvPr id="5" name="">
            <a:extLst xmlns:a="http://schemas.openxmlformats.org/drawingml/2006/main">
              <a:ext uri="{FF2B5EF4-FFF2-40B4-BE49-F238E27FC236}">
                <a16:creationId xmlns:a16="http://schemas.microsoft.com/office/drawing/2014/main" id="{D5D813E9-8539-4F07-A177-77B1A46F553C}"/>
              </a:ext>
            </a:extLst>
          </p:cNvPr>
          <p:cNvSpPr>
            <a:spLocks xmlns:a="http://schemas.openxmlformats.org/drawingml/2006/main" noGrp="1"/>
          </p:cNvSpPr>
          <p:nvPr/>
        </p:nvSpPr>
        <p:spPr>
          <a:xfrm xmlns:a="http://schemas.openxmlformats.org/drawingml/2006/main">
            <a:off x="609600" y="27146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Подготовка</a:t>
            </a:r>
          </a:p>
        </p:txBody>
      </p:sp>
      <p:sp>
        <p:nvSpPr>
          <p:cNvPr id="6" name="">
            <a:extLst xmlns:a="http://schemas.openxmlformats.org/drawingml/2006/main">
              <a:ext uri="{FF2B5EF4-FFF2-40B4-BE49-F238E27FC236}">
                <a16:creationId xmlns:a16="http://schemas.microsoft.com/office/drawing/2014/main" id="{FF4840A0-816C-44DD-A916-0A6BE8531F4A}"/>
              </a:ext>
            </a:extLst>
          </p:cNvPr>
          <p:cNvSpPr>
            <a:spLocks xmlns:a="http://schemas.openxmlformats.org/drawingml/2006/main" noGrp="1"/>
          </p:cNvSpPr>
          <p:nvPr/>
        </p:nvSpPr>
        <p:spPr>
          <a:xfrm xmlns:a="http://schemas.openxmlformats.org/drawingml/2006/main">
            <a:off x="3124200" y="2714625"/>
            <a:ext cx="8248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Собрать tidy-таблицу, реестр ID и журнал решений о качестве.</a:t>
            </a:r>
          </a:p>
        </p:txBody>
      </p:sp>
      <p:sp>
        <p:nvSpPr>
          <p:cNvPr id="7" name="">
            <a:extLst xmlns:a="http://schemas.openxmlformats.org/drawingml/2006/main">
              <a:ext uri="{FF2B5EF4-FFF2-40B4-BE49-F238E27FC236}">
                <a16:creationId xmlns:a16="http://schemas.microsoft.com/office/drawing/2014/main" id="{854D0A20-52B7-4886-93A5-E7C98119ED71}"/>
              </a:ext>
            </a:extLst>
          </p:cNvPr>
          <p:cNvSpPr>
            <a:spLocks xmlns:a="http://schemas.openxmlformats.org/drawingml/2006/main" noGrp="1"/>
          </p:cNvSpPr>
          <p:nvPr/>
        </p:nvSpPr>
        <p:spPr>
          <a:xfrm xmlns:a="http://schemas.openxmlformats.org/drawingml/2006/main">
            <a:off x="609600" y="37433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Описание</a:t>
            </a:r>
          </a:p>
        </p:txBody>
      </p:sp>
      <p:sp>
        <p:nvSpPr>
          <p:cNvPr id="8" name="">
            <a:extLst xmlns:a="http://schemas.openxmlformats.org/drawingml/2006/main">
              <a:ext uri="{FF2B5EF4-FFF2-40B4-BE49-F238E27FC236}">
                <a16:creationId xmlns:a16="http://schemas.microsoft.com/office/drawing/2014/main" id="{D581D8A1-C254-41F1-90C2-DBD16ED73576}"/>
              </a:ext>
            </a:extLst>
          </p:cNvPr>
          <p:cNvSpPr>
            <a:spLocks xmlns:a="http://schemas.openxmlformats.org/drawingml/2006/main" noGrp="1"/>
          </p:cNvSpPr>
          <p:nvPr/>
        </p:nvSpPr>
        <p:spPr>
          <a:xfrm xmlns:a="http://schemas.openxmlformats.org/drawingml/2006/main">
            <a:off x="3124200" y="3743325"/>
            <a:ext cx="8248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Добавить словарь и паспорт с единицами и происхождением.</a:t>
            </a:r>
          </a:p>
        </p:txBody>
      </p:sp>
      <p:sp>
        <p:nvSpPr>
          <p:cNvPr id="9" name="">
            <a:extLst xmlns:a="http://schemas.openxmlformats.org/drawingml/2006/main">
              <a:ext uri="{FF2B5EF4-FFF2-40B4-BE49-F238E27FC236}">
                <a16:creationId xmlns:a16="http://schemas.microsoft.com/office/drawing/2014/main" id="{DA8C452B-AA7F-4358-BBAC-5EDE484D2B64}"/>
              </a:ext>
            </a:extLst>
          </p:cNvPr>
          <p:cNvSpPr>
            <a:spLocks xmlns:a="http://schemas.openxmlformats.org/drawingml/2006/main" noGrp="1"/>
          </p:cNvSpPr>
          <p:nvPr/>
        </p:nvSpPr>
        <p:spPr>
          <a:xfrm xmlns:a="http://schemas.openxmlformats.org/drawingml/2006/main">
            <a:off x="609600" y="47720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1">
                <a:solidFill>
                  <a:srgbClr val="81DFCE"/>
                </a:solidFill>
                <a:latin typeface="DejaVu Sans"/>
                <a:ea typeface="DejaVu Sans"/>
                <a:cs typeface="DejaVu Sans"/>
              </a:defRPr>
            </a:pPr>
            <a:r>
              <a:rPr sz="2025" b="1">
                <a:solidFill>
                  <a:srgbClr val="81DFCE"/>
                </a:solidFill>
                <a:latin typeface="DejaVu Sans"/>
                <a:ea typeface="DejaVu Sans"/>
                <a:cs typeface="DejaVu Sans"/>
              </a:rPr>
              <a:t>Результат</a:t>
            </a:r>
          </a:p>
        </p:txBody>
      </p:sp>
      <p:sp>
        <p:nvSpPr>
          <p:cNvPr id="10" name="">
            <a:extLst xmlns:a="http://schemas.openxmlformats.org/drawingml/2006/main">
              <a:ext uri="{FF2B5EF4-FFF2-40B4-BE49-F238E27FC236}">
                <a16:creationId xmlns:a16="http://schemas.microsoft.com/office/drawing/2014/main" id="{4669E983-F57E-4B7D-B917-425329AE35BB}"/>
              </a:ext>
            </a:extLst>
          </p:cNvPr>
          <p:cNvSpPr>
            <a:spLocks xmlns:a="http://schemas.openxmlformats.org/drawingml/2006/main" noGrp="1"/>
          </p:cNvSpPr>
          <p:nvPr/>
        </p:nvSpPr>
        <p:spPr>
          <a:xfrm xmlns:a="http://schemas.openxmlformats.org/drawingml/2006/main">
            <a:off x="3124200" y="4772025"/>
            <a:ext cx="8248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2025" b="0">
                <a:solidFill>
                  <a:srgbClr val="F2F1E9"/>
                </a:solidFill>
                <a:latin typeface="DejaVu Sans"/>
                <a:ea typeface="DejaVu Sans"/>
                <a:cs typeface="DejaVu Sans"/>
              </a:defRPr>
            </a:pPr>
            <a:r>
              <a:rPr sz="2025" b="0">
                <a:solidFill>
                  <a:srgbClr val="F2F1E9"/>
                </a:solidFill>
                <a:latin typeface="DejaVu Sans"/>
                <a:ea typeface="DejaVu Sans"/>
                <a:cs typeface="DejaVu Sans"/>
              </a:rPr>
              <a:t>Получить рисунок через notebook и зафиксировать версию проекта.</a:t>
            </a:r>
          </a:p>
        </p:txBody>
      </p:sp>
    </p:spTree>
    <p:extLst>
      <p:ext uri="{BB962C8B-B14F-4D97-AF65-F5344CB8AC3E}">
        <p14:creationId xmlns:p14="http://schemas.microsoft.com/office/powerpoint/2010/main" val="952663213"/>
      </p:ext>
    </p:extLst>
  </p:cSld>
</p:sld>
</file>

<file path=ppt/slides/slide42.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AAFAA97-E758-46F6-9330-1F7922BDF35E}"/>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Проверка проекта перед передачей</a:t>
            </a:r>
          </a:p>
        </p:txBody>
      </p:sp>
      <p:sp>
        <p:nvSpPr>
          <p:cNvPr id="2" name="">
            <a:extLst xmlns:a="http://schemas.openxmlformats.org/drawingml/2006/main">
              <a:ext uri="{FF2B5EF4-FFF2-40B4-BE49-F238E27FC236}">
                <a16:creationId xmlns:a16="http://schemas.microsoft.com/office/drawing/2014/main" id="{F823C76F-27FD-4282-93E5-4BD154F6CB86}"/>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42 / 44</a:t>
            </a:r>
          </a:p>
        </p:txBody>
      </p:sp>
      <p:graphicFrame>
        <p:nvGraphicFramePr>
          <p:cNvPr id="7" name=""/>
          <p:cNvGraphicFramePr/>
          <p:nvPr/>
        </p:nvGraphicFramePr>
        <p:xfrm>
          <a:off xmlns:a="http://schemas.openxmlformats.org/drawingml/2006/main" x="609600" y="1485900"/>
          <a:ext xmlns:a="http://schemas.openxmlformats.org/drawingml/2006/main" cx="10972800" cy="4219575"/>
        </p:xfrm>
        <a:graphic xmlns:a="http://schemas.openxmlformats.org/drawingml/2006/main">
          <a:graphicData uri="http://schemas.openxmlformats.org/drawingml/2006/table">
            <a:tbl>
              <a:tblPr firstRow="0" bandRow="0"/>
              <a:tblGrid>
                <a:gridCol w="3376246"/>
                <a:gridCol w="7596554"/>
              </a:tblGrid>
              <a:tr h="602796">
                <a:tc>
                  <a:txBody>
                    <a:bodyPr anchor="ctr">
                      <a:noAutofit/>
                    </a:bodyPr>
                    <a:lstStyle/>
                    <a:p>
                      <a:r>
                        <a:rPr sz="1950" b="1">
                          <a:solidFill>
                            <a:srgbClr val="81DFCE"/>
                          </a:solidFill>
                          <a:latin typeface="DejaVu Sans"/>
                          <a:ea typeface="DejaVu Sans"/>
                          <a:cs typeface="DejaVu Sans"/>
                        </a:rPr>
                        <a:t>Проверяем</a:t>
                      </a:r>
                    </a:p>
                  </a:txBody>
                  <a:tcPr marL="142875" marR="114300" marT="95250" marB="95250" anchor="ctr">
                    <a:solidFill>
                      <a:srgbClr val="21343F"/>
                    </a:solidFill>
                  </a:tcPr>
                </a:tc>
                <a:tc>
                  <a:txBody>
                    <a:bodyPr anchor="ctr">
                      <a:noAutofit/>
                    </a:bodyPr>
                    <a:lstStyle/>
                    <a:p>
                      <a:r>
                        <a:rPr sz="1950" b="1">
                          <a:solidFill>
                            <a:srgbClr val="81DFCE"/>
                          </a:solidFill>
                          <a:latin typeface="DejaVu Sans"/>
                          <a:ea typeface="DejaVu Sans"/>
                          <a:cs typeface="DejaVu Sans"/>
                        </a:rPr>
                        <a:t>Критерий готовности</a:t>
                      </a:r>
                    </a:p>
                  </a:txBody>
                  <a:tcPr marL="142875" marR="114300" marT="95250" marB="95250" anchor="ctr">
                    <a:solidFill>
                      <a:srgbClr val="21343F"/>
                    </a:solidFill>
                  </a:tcPr>
                </a:tc>
              </a:tr>
              <a:tr h="602796">
                <a:tc>
                  <a:txBody>
                    <a:bodyPr anchor="ctr">
                      <a:noAutofit/>
                    </a:bodyPr>
                    <a:lstStyle/>
                    <a:p>
                      <a:r>
                        <a:rPr sz="1950" b="0">
                          <a:solidFill>
                            <a:srgbClr val="F2F1E9"/>
                          </a:solidFill>
                          <a:latin typeface="DejaVu Sans"/>
                          <a:ea typeface="DejaVu Sans"/>
                          <a:cs typeface="DejaVu Sans"/>
                        </a:rPr>
                        <a:t>Единица и повторы</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Понятно, что означает n</a:t>
                      </a:r>
                    </a:p>
                  </a:txBody>
                  <a:tcPr marL="142875" marR="114300" marT="95250" marB="95250" anchor="ctr">
                    <a:solidFill>
                      <a:srgbClr val="101923"/>
                    </a:solidFill>
                  </a:tcPr>
                </a:tc>
              </a:tr>
              <a:tr h="602796">
                <a:tc>
                  <a:txBody>
                    <a:bodyPr anchor="ctr">
                      <a:noAutofit/>
                    </a:bodyPr>
                    <a:lstStyle/>
                    <a:p>
                      <a:r>
                        <a:rPr sz="1950" b="0">
                          <a:solidFill>
                            <a:srgbClr val="F2F1E9"/>
                          </a:solidFill>
                          <a:latin typeface="DejaVu Sans"/>
                          <a:ea typeface="DejaVu Sans"/>
                          <a:cs typeface="DejaVu Sans"/>
                        </a:rPr>
                        <a:t>Числа и статусы</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Есть единицы, правила NA, LOD и QC</a:t>
                      </a:r>
                    </a:p>
                  </a:txBody>
                  <a:tcPr marL="142875" marR="114300" marT="95250" marB="95250" anchor="ctr">
                    <a:solidFill>
                      <a:srgbClr val="14212D"/>
                    </a:solidFill>
                  </a:tcPr>
                </a:tc>
              </a:tr>
              <a:tr h="602796">
                <a:tc>
                  <a:txBody>
                    <a:bodyPr anchor="ctr">
                      <a:noAutofit/>
                    </a:bodyPr>
                    <a:lstStyle/>
                    <a:p>
                      <a:r>
                        <a:rPr sz="1950" b="0">
                          <a:solidFill>
                            <a:srgbClr val="F2F1E9"/>
                          </a:solidFill>
                          <a:latin typeface="DejaVu Sans"/>
                          <a:ea typeface="DejaVu Sans"/>
                          <a:cs typeface="DejaVu Sans"/>
                        </a:rPr>
                        <a:t>Происхождение</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Любую строку можно связать с исходником</a:t>
                      </a:r>
                    </a:p>
                  </a:txBody>
                  <a:tcPr marL="142875" marR="114300" marT="95250" marB="95250" anchor="ctr">
                    <a:solidFill>
                      <a:srgbClr val="101923"/>
                    </a:solidFill>
                  </a:tcPr>
                </a:tc>
              </a:tr>
              <a:tr h="602796">
                <a:tc>
                  <a:txBody>
                    <a:bodyPr anchor="ctr">
                      <a:noAutofit/>
                    </a:bodyPr>
                    <a:lstStyle/>
                    <a:p>
                      <a:r>
                        <a:rPr sz="1950" b="0">
                          <a:solidFill>
                            <a:srgbClr val="F2F1E9"/>
                          </a:solidFill>
                          <a:latin typeface="DejaVu Sans"/>
                          <a:ea typeface="DejaVu Sans"/>
                          <a:cs typeface="DejaVu Sans"/>
                        </a:rPr>
                        <a:t>Повторный запуск</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Новая сессия создаёт итоговые файлы</a:t>
                      </a:r>
                    </a:p>
                  </a:txBody>
                  <a:tcPr marL="142875" marR="114300" marT="95250" marB="95250" anchor="ctr">
                    <a:solidFill>
                      <a:srgbClr val="14212D"/>
                    </a:solidFill>
                  </a:tcPr>
                </a:tc>
              </a:tr>
              <a:tr h="602796">
                <a:tc>
                  <a:txBody>
                    <a:bodyPr anchor="ctr">
                      <a:noAutofit/>
                    </a:bodyPr>
                    <a:lstStyle/>
                    <a:p>
                      <a:r>
                        <a:rPr sz="1950" b="0">
                          <a:solidFill>
                            <a:srgbClr val="F2F1E9"/>
                          </a:solidFill>
                          <a:latin typeface="DejaVu Sans"/>
                          <a:ea typeface="DejaVu Sans"/>
                          <a:cs typeface="DejaVu Sans"/>
                        </a:rPr>
                        <a:t>Версия</a:t>
                      </a:r>
                    </a:p>
                  </a:txBody>
                  <a:tcPr marL="142875" marR="114300" marT="95250" marB="95250" anchor="ctr">
                    <a:solidFill>
                      <a:srgbClr val="101923"/>
                    </a:solidFill>
                  </a:tcPr>
                </a:tc>
                <a:tc>
                  <a:txBody>
                    <a:bodyPr anchor="ctr">
                      <a:noAutofit/>
                    </a:bodyPr>
                    <a:lstStyle/>
                    <a:p>
                      <a:r>
                        <a:rPr sz="1950" b="0">
                          <a:solidFill>
                            <a:srgbClr val="F2F1E9"/>
                          </a:solidFill>
                          <a:latin typeface="DejaVu Sans"/>
                          <a:ea typeface="DejaVu Sans"/>
                          <a:cs typeface="DejaVu Sans"/>
                        </a:rPr>
                        <a:t>Известны данные, commit и среда</a:t>
                      </a:r>
                    </a:p>
                  </a:txBody>
                  <a:tcPr marL="142875" marR="114300" marT="95250" marB="95250" anchor="ctr">
                    <a:solidFill>
                      <a:srgbClr val="101923"/>
                    </a:solidFill>
                  </a:tcPr>
                </a:tc>
              </a:tr>
              <a:tr h="602796">
                <a:tc>
                  <a:txBody>
                    <a:bodyPr anchor="ctr">
                      <a:noAutofit/>
                    </a:bodyPr>
                    <a:lstStyle/>
                    <a:p>
                      <a:r>
                        <a:rPr sz="1950" b="0">
                          <a:solidFill>
                            <a:srgbClr val="F2F1E9"/>
                          </a:solidFill>
                          <a:latin typeface="DejaVu Sans"/>
                          <a:ea typeface="DejaVu Sans"/>
                          <a:cs typeface="DejaVu Sans"/>
                        </a:rPr>
                        <a:t>Передача</a:t>
                      </a:r>
                    </a:p>
                  </a:txBody>
                  <a:tcPr marL="142875" marR="114300" marT="95250" marB="95250" anchor="ctr">
                    <a:solidFill>
                      <a:srgbClr val="14212D"/>
                    </a:solidFill>
                  </a:tcPr>
                </a:tc>
                <a:tc>
                  <a:txBody>
                    <a:bodyPr anchor="ctr">
                      <a:noAutofit/>
                    </a:bodyPr>
                    <a:lstStyle/>
                    <a:p>
                      <a:r>
                        <a:rPr sz="1950" b="0">
                          <a:solidFill>
                            <a:srgbClr val="F2F1E9"/>
                          </a:solidFill>
                          <a:latin typeface="DejaVu Sans"/>
                          <a:ea typeface="DejaVu Sans"/>
                          <a:cs typeface="DejaVu Sans"/>
                        </a:rPr>
                        <a:t>Другой человек проходит шаги README</a:t>
                      </a:r>
                    </a:p>
                  </a:txBody>
                  <a:tcPr marL="142875" marR="114300" marT="95250" marB="95250" anchor="ctr">
                    <a:solidFill>
                      <a:srgbClr val="14212D"/>
                    </a:solidFill>
                  </a:tcPr>
                </a:tc>
              </a:tr>
            </a:tbl>
          </a:graphicData>
        </a:graphic>
      </p:graphicFrame>
      <p:sp>
        <p:nvSpPr>
          <p:cNvPr id="4" name="">
            <a:extLst xmlns:a="http://schemas.openxmlformats.org/drawingml/2006/main">
              <a:ext uri="{FF2B5EF4-FFF2-40B4-BE49-F238E27FC236}">
                <a16:creationId xmlns:a16="http://schemas.microsoft.com/office/drawing/2014/main" id="{D08EA4D1-1545-4891-A227-366BA6EB4970}"/>
              </a:ext>
            </a:extLst>
          </p:cNvPr>
          <p:cNvSpPr>
            <a:spLocks xmlns:a="http://schemas.openxmlformats.org/drawingml/2006/main" noGrp="1"/>
          </p:cNvSpPr>
          <p:nvPr/>
        </p:nvSpPr>
        <p:spPr>
          <a:xfrm xmlns:a="http://schemas.openxmlformats.org/drawingml/2006/main">
            <a:off x="609600" y="5943600"/>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0">
                <a:solidFill>
                  <a:srgbClr val="F1B766"/>
                </a:solidFill>
                <a:latin typeface="DejaVu Sans"/>
                <a:ea typeface="DejaVu Sans"/>
                <a:cs typeface="DejaVu Sans"/>
              </a:defRPr>
            </a:pPr>
            <a:r>
              <a:rPr sz="1950" b="0">
                <a:solidFill>
                  <a:srgbClr val="F1B766"/>
                </a:solidFill>
                <a:latin typeface="DejaVu Sans"/>
                <a:ea typeface="DejaVu Sans"/>
                <a:cs typeface="DejaVu Sans"/>
              </a:rPr>
              <a:t>Финальная проверка: коллега воспроизводит один рисунок без помощи автора.</a:t>
            </a:r>
          </a:p>
        </p:txBody>
      </p:sp>
    </p:spTree>
    <p:extLst>
      <p:ext uri="{BB962C8B-B14F-4D97-AF65-F5344CB8AC3E}">
        <p14:creationId xmlns:p14="http://schemas.microsoft.com/office/powerpoint/2010/main" val="966156409"/>
      </p:ext>
    </p:extLst>
  </p:cSld>
</p:sld>
</file>

<file path=ppt/slides/slide43.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4B7DF82-EC3F-49A3-90B5-0637FF894F6A}"/>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Источники: эксперимент и данные</a:t>
            </a:r>
          </a:p>
        </p:txBody>
      </p:sp>
      <p:sp>
        <p:nvSpPr>
          <p:cNvPr id="2" name="">
            <a:extLst xmlns:a="http://schemas.openxmlformats.org/drawingml/2006/main">
              <a:ext uri="{FF2B5EF4-FFF2-40B4-BE49-F238E27FC236}">
                <a16:creationId xmlns:a16="http://schemas.microsoft.com/office/drawing/2014/main" id="{1FF203DB-B764-4ECB-A123-D814AE570A05}"/>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43 / 44</a:t>
            </a:r>
          </a:p>
        </p:txBody>
      </p:sp>
      <p:sp>
        <p:nvSpPr>
          <p:cNvPr id="3" name="">
            <a:extLst xmlns:a="http://schemas.openxmlformats.org/drawingml/2006/main">
              <a:ext uri="{FF2B5EF4-FFF2-40B4-BE49-F238E27FC236}">
                <a16:creationId xmlns:a16="http://schemas.microsoft.com/office/drawing/2014/main" id="{9E173B77-2CCE-44FA-8A00-3739A849F01E}"/>
              </a:ext>
            </a:extLst>
          </p:cNvPr>
          <p:cNvSpPr>
            <a:spLocks xmlns:a="http://schemas.openxmlformats.org/drawingml/2006/main" noGrp="1"/>
          </p:cNvSpPr>
          <p:nvPr/>
        </p:nvSpPr>
        <p:spPr>
          <a:xfrm xmlns:a="http://schemas.openxmlformats.org/drawingml/2006/main">
            <a:off x="609600" y="15525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1">
                <a:solidFill>
                  <a:srgbClr val="81DFCE"/>
                </a:solidFill>
                <a:latin typeface="DejaVu Sans"/>
                <a:ea typeface="DejaVu Sans"/>
                <a:cs typeface="DejaVu Sans"/>
              </a:defRPr>
            </a:pPr>
            <a:r>
              <a:rPr sz="1950" b="1">
                <a:solidFill>
                  <a:srgbClr val="81DFCE"/>
                </a:solidFill>
                <a:latin typeface="DejaVu Sans"/>
                <a:ea typeface="DejaVu Sans"/>
                <a:cs typeface="DejaVu Sans"/>
                <a:hlinkClick xmlns:r="http://schemas.openxmlformats.org/officeDocument/2006/relationships" r:id="R63a149c345d64709"/>
              </a:rPr>
              <a:t>Lazic et al., 2018. What exactly is N?</a:t>
            </a:r>
          </a:p>
        </p:txBody>
      </p:sp>
      <p:sp>
        <p:nvSpPr>
          <p:cNvPr id="4" name="">
            <a:extLst xmlns:a="http://schemas.openxmlformats.org/drawingml/2006/main">
              <a:ext uri="{FF2B5EF4-FFF2-40B4-BE49-F238E27FC236}">
                <a16:creationId xmlns:a16="http://schemas.microsoft.com/office/drawing/2014/main" id="{AB33B8B0-E62F-405C-B0AF-B0ECE101619E}"/>
              </a:ext>
            </a:extLst>
          </p:cNvPr>
          <p:cNvSpPr>
            <a:spLocks xmlns:a="http://schemas.openxmlformats.org/drawingml/2006/main" noGrp="1"/>
          </p:cNvSpPr>
          <p:nvPr/>
        </p:nvSpPr>
        <p:spPr>
          <a:xfrm xmlns:a="http://schemas.openxmlformats.org/drawingml/2006/main">
            <a:off x="609600" y="19526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B6C3D0"/>
                </a:solidFill>
                <a:latin typeface="DejaVu Sans"/>
                <a:ea typeface="DejaVu Sans"/>
                <a:cs typeface="DejaVu Sans"/>
              </a:defRPr>
            </a:pPr>
            <a:r>
              <a:rPr sz="1800" b="0">
                <a:solidFill>
                  <a:srgbClr val="B6C3D0"/>
                </a:solidFill>
                <a:latin typeface="DejaVu Sans"/>
                <a:ea typeface="DejaVu Sans"/>
                <a:cs typeface="DejaVu Sans"/>
              </a:rPr>
              <a:t>Независимая единица и псевдорепликация</a:t>
            </a:r>
          </a:p>
        </p:txBody>
      </p:sp>
      <p:sp>
        <p:nvSpPr>
          <p:cNvPr id="5" name="">
            <a:extLst xmlns:a="http://schemas.openxmlformats.org/drawingml/2006/main">
              <a:ext uri="{FF2B5EF4-FFF2-40B4-BE49-F238E27FC236}">
                <a16:creationId xmlns:a16="http://schemas.microsoft.com/office/drawing/2014/main" id="{A7AC2AED-96D2-41DD-9868-7A9F1E9FD5E8}"/>
              </a:ext>
            </a:extLst>
          </p:cNvPr>
          <p:cNvSpPr>
            <a:spLocks xmlns:a="http://schemas.openxmlformats.org/drawingml/2006/main" noGrp="1"/>
          </p:cNvSpPr>
          <p:nvPr/>
        </p:nvSpPr>
        <p:spPr>
          <a:xfrm xmlns:a="http://schemas.openxmlformats.org/drawingml/2006/main">
            <a:off x="609600" y="24669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1">
                <a:solidFill>
                  <a:srgbClr val="81DFCE"/>
                </a:solidFill>
                <a:latin typeface="DejaVu Sans"/>
                <a:ea typeface="DejaVu Sans"/>
                <a:cs typeface="DejaVu Sans"/>
              </a:defRPr>
            </a:pPr>
            <a:r>
              <a:rPr sz="1950" b="1">
                <a:solidFill>
                  <a:srgbClr val="81DFCE"/>
                </a:solidFill>
                <a:latin typeface="DejaVu Sans"/>
                <a:ea typeface="DejaVu Sans"/>
                <a:cs typeface="DejaVu Sans"/>
                <a:hlinkClick xmlns:r="http://schemas.openxmlformats.org/officeDocument/2006/relationships" r:id="R9980c7f324234ab9"/>
              </a:rPr>
              <a:t>NASEM, 2019. Reproducibility and Replicability in Science</a:t>
            </a:r>
          </a:p>
        </p:txBody>
      </p:sp>
      <p:sp>
        <p:nvSpPr>
          <p:cNvPr id="6" name="">
            <a:extLst xmlns:a="http://schemas.openxmlformats.org/drawingml/2006/main">
              <a:ext uri="{FF2B5EF4-FFF2-40B4-BE49-F238E27FC236}">
                <a16:creationId xmlns:a16="http://schemas.microsoft.com/office/drawing/2014/main" id="{5F5B703B-44F3-4DEA-8AB4-070BB256F894}"/>
              </a:ext>
            </a:extLst>
          </p:cNvPr>
          <p:cNvSpPr>
            <a:spLocks xmlns:a="http://schemas.openxmlformats.org/drawingml/2006/main" noGrp="1"/>
          </p:cNvSpPr>
          <p:nvPr/>
        </p:nvSpPr>
        <p:spPr>
          <a:xfrm xmlns:a="http://schemas.openxmlformats.org/drawingml/2006/main">
            <a:off x="609600" y="28670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B6C3D0"/>
                </a:solidFill>
                <a:latin typeface="DejaVu Sans"/>
                <a:ea typeface="DejaVu Sans"/>
                <a:cs typeface="DejaVu Sans"/>
              </a:defRPr>
            </a:pPr>
            <a:r>
              <a:rPr sz="1800" b="0">
                <a:solidFill>
                  <a:srgbClr val="B6C3D0"/>
                </a:solidFill>
                <a:latin typeface="DejaVu Sans"/>
                <a:ea typeface="DejaVu Sans"/>
                <a:cs typeface="DejaVu Sans"/>
              </a:rPr>
              <a:t>Терминология воспроизводимости</a:t>
            </a:r>
          </a:p>
        </p:txBody>
      </p:sp>
      <p:sp>
        <p:nvSpPr>
          <p:cNvPr id="7" name="">
            <a:extLst xmlns:a="http://schemas.openxmlformats.org/drawingml/2006/main">
              <a:ext uri="{FF2B5EF4-FFF2-40B4-BE49-F238E27FC236}">
                <a16:creationId xmlns:a16="http://schemas.microsoft.com/office/drawing/2014/main" id="{DD1CB4D8-BB80-4D60-831F-123D1E72376F}"/>
              </a:ext>
            </a:extLst>
          </p:cNvPr>
          <p:cNvSpPr>
            <a:spLocks xmlns:a="http://schemas.openxmlformats.org/drawingml/2006/main" noGrp="1"/>
          </p:cNvSpPr>
          <p:nvPr/>
        </p:nvSpPr>
        <p:spPr>
          <a:xfrm xmlns:a="http://schemas.openxmlformats.org/drawingml/2006/main">
            <a:off x="609600" y="33813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1">
                <a:solidFill>
                  <a:srgbClr val="81DFCE"/>
                </a:solidFill>
                <a:latin typeface="DejaVu Sans"/>
                <a:ea typeface="DejaVu Sans"/>
                <a:cs typeface="DejaVu Sans"/>
              </a:defRPr>
            </a:pPr>
            <a:r>
              <a:rPr sz="1950" b="1">
                <a:solidFill>
                  <a:srgbClr val="81DFCE"/>
                </a:solidFill>
                <a:latin typeface="DejaVu Sans"/>
                <a:ea typeface="DejaVu Sans"/>
                <a:cs typeface="DejaVu Sans"/>
                <a:hlinkClick xmlns:r="http://schemas.openxmlformats.org/officeDocument/2006/relationships" r:id="R7ffe4d3f737c4482"/>
              </a:rPr>
              <a:t>BIPM. SI Brochure, 9th ed., v4.01</a:t>
            </a:r>
          </a:p>
        </p:txBody>
      </p:sp>
      <p:sp>
        <p:nvSpPr>
          <p:cNvPr id="8" name="">
            <a:extLst xmlns:a="http://schemas.openxmlformats.org/drawingml/2006/main">
              <a:ext uri="{FF2B5EF4-FFF2-40B4-BE49-F238E27FC236}">
                <a16:creationId xmlns:a16="http://schemas.microsoft.com/office/drawing/2014/main" id="{FDAFA795-EEB0-4318-9079-604687D28DB2}"/>
              </a:ext>
            </a:extLst>
          </p:cNvPr>
          <p:cNvSpPr>
            <a:spLocks xmlns:a="http://schemas.openxmlformats.org/drawingml/2006/main" noGrp="1"/>
          </p:cNvSpPr>
          <p:nvPr/>
        </p:nvSpPr>
        <p:spPr>
          <a:xfrm xmlns:a="http://schemas.openxmlformats.org/drawingml/2006/main">
            <a:off x="609600" y="37814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B6C3D0"/>
                </a:solidFill>
                <a:latin typeface="DejaVu Sans"/>
                <a:ea typeface="DejaVu Sans"/>
                <a:cs typeface="DejaVu Sans"/>
              </a:defRPr>
            </a:pPr>
            <a:r>
              <a:rPr sz="1800" b="0">
                <a:solidFill>
                  <a:srgbClr val="B6C3D0"/>
                </a:solidFill>
                <a:latin typeface="DejaVu Sans"/>
                <a:ea typeface="DejaVu Sans"/>
                <a:cs typeface="DejaVu Sans"/>
              </a:rPr>
              <a:t>Величины, единицы и правила записи</a:t>
            </a:r>
          </a:p>
        </p:txBody>
      </p:sp>
      <p:sp>
        <p:nvSpPr>
          <p:cNvPr id="9" name="">
            <a:extLst xmlns:a="http://schemas.openxmlformats.org/drawingml/2006/main">
              <a:ext uri="{FF2B5EF4-FFF2-40B4-BE49-F238E27FC236}">
                <a16:creationId xmlns:a16="http://schemas.microsoft.com/office/drawing/2014/main" id="{8D0FF770-4E9E-465C-BC3C-48168B78AD73}"/>
              </a:ext>
            </a:extLst>
          </p:cNvPr>
          <p:cNvSpPr>
            <a:spLocks xmlns:a="http://schemas.openxmlformats.org/drawingml/2006/main" noGrp="1"/>
          </p:cNvSpPr>
          <p:nvPr/>
        </p:nvSpPr>
        <p:spPr>
          <a:xfrm xmlns:a="http://schemas.openxmlformats.org/drawingml/2006/main">
            <a:off x="609600" y="42957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1">
                <a:solidFill>
                  <a:srgbClr val="81DFCE"/>
                </a:solidFill>
                <a:latin typeface="DejaVu Sans"/>
                <a:ea typeface="DejaVu Sans"/>
                <a:cs typeface="DejaVu Sans"/>
              </a:defRPr>
            </a:pPr>
            <a:r>
              <a:rPr sz="1950" b="1">
                <a:solidFill>
                  <a:srgbClr val="81DFCE"/>
                </a:solidFill>
                <a:latin typeface="DejaVu Sans"/>
                <a:ea typeface="DejaVu Sans"/>
                <a:cs typeface="DejaVu Sans"/>
                <a:hlinkClick xmlns:r="http://schemas.openxmlformats.org/officeDocument/2006/relationships" r:id="Rf924903ea29341e6"/>
              </a:rPr>
              <a:t>Eurachem, 2025. The Fitness for Purpose of Analytical Methods</a:t>
            </a:r>
          </a:p>
        </p:txBody>
      </p:sp>
      <p:sp>
        <p:nvSpPr>
          <p:cNvPr id="10" name="">
            <a:extLst xmlns:a="http://schemas.openxmlformats.org/drawingml/2006/main">
              <a:ext uri="{FF2B5EF4-FFF2-40B4-BE49-F238E27FC236}">
                <a16:creationId xmlns:a16="http://schemas.microsoft.com/office/drawing/2014/main" id="{B567F253-5268-44A4-B728-354BE15BCA5F}"/>
              </a:ext>
            </a:extLst>
          </p:cNvPr>
          <p:cNvSpPr>
            <a:spLocks xmlns:a="http://schemas.openxmlformats.org/drawingml/2006/main" noGrp="1"/>
          </p:cNvSpPr>
          <p:nvPr/>
        </p:nvSpPr>
        <p:spPr>
          <a:xfrm xmlns:a="http://schemas.openxmlformats.org/drawingml/2006/main">
            <a:off x="609600" y="46958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B6C3D0"/>
                </a:solidFill>
                <a:latin typeface="DejaVu Sans"/>
                <a:ea typeface="DejaVu Sans"/>
                <a:cs typeface="DejaVu Sans"/>
              </a:defRPr>
            </a:pPr>
            <a:r>
              <a:rPr sz="1800" b="0">
                <a:solidFill>
                  <a:srgbClr val="B6C3D0"/>
                </a:solidFill>
                <a:latin typeface="DejaVu Sans"/>
                <a:ea typeface="DejaVu Sans"/>
                <a:cs typeface="DejaVu Sans"/>
              </a:rPr>
              <a:t>Пределы обнаружения и количественного определения</a:t>
            </a:r>
          </a:p>
        </p:txBody>
      </p:sp>
      <p:sp>
        <p:nvSpPr>
          <p:cNvPr id="11" name="">
            <a:extLst xmlns:a="http://schemas.openxmlformats.org/drawingml/2006/main">
              <a:ext uri="{FF2B5EF4-FFF2-40B4-BE49-F238E27FC236}">
                <a16:creationId xmlns:a16="http://schemas.microsoft.com/office/drawing/2014/main" id="{3A3B9DB0-59F0-4EB1-9EBC-AE4E65232FE5}"/>
              </a:ext>
            </a:extLst>
          </p:cNvPr>
          <p:cNvSpPr>
            <a:spLocks xmlns:a="http://schemas.openxmlformats.org/drawingml/2006/main" noGrp="1"/>
          </p:cNvSpPr>
          <p:nvPr/>
        </p:nvSpPr>
        <p:spPr>
          <a:xfrm xmlns:a="http://schemas.openxmlformats.org/drawingml/2006/main">
            <a:off x="609600" y="52101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50" b="1">
                <a:solidFill>
                  <a:srgbClr val="81DFCE"/>
                </a:solidFill>
                <a:latin typeface="DejaVu Sans"/>
                <a:ea typeface="DejaVu Sans"/>
                <a:cs typeface="DejaVu Sans"/>
              </a:defRPr>
            </a:pPr>
            <a:r>
              <a:rPr sz="1950" b="1">
                <a:solidFill>
                  <a:srgbClr val="81DFCE"/>
                </a:solidFill>
                <a:latin typeface="DejaVu Sans"/>
                <a:ea typeface="DejaVu Sans"/>
                <a:cs typeface="DejaVu Sans"/>
                <a:hlinkClick xmlns:r="http://schemas.openxmlformats.org/officeDocument/2006/relationships" r:id="R1892ee7c4dab4f40"/>
              </a:rPr>
              <a:t>Wickham, 2014. Tidy Data</a:t>
            </a:r>
          </a:p>
        </p:txBody>
      </p:sp>
      <p:sp>
        <p:nvSpPr>
          <p:cNvPr id="12" name="">
            <a:extLst xmlns:a="http://schemas.openxmlformats.org/drawingml/2006/main">
              <a:ext uri="{FF2B5EF4-FFF2-40B4-BE49-F238E27FC236}">
                <a16:creationId xmlns:a16="http://schemas.microsoft.com/office/drawing/2014/main" id="{C3D95870-64D7-49FA-A57D-0AED458F6BD4}"/>
              </a:ext>
            </a:extLst>
          </p:cNvPr>
          <p:cNvSpPr>
            <a:spLocks xmlns:a="http://schemas.openxmlformats.org/drawingml/2006/main" noGrp="1"/>
          </p:cNvSpPr>
          <p:nvPr/>
        </p:nvSpPr>
        <p:spPr>
          <a:xfrm xmlns:a="http://schemas.openxmlformats.org/drawingml/2006/main">
            <a:off x="609600" y="56102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B6C3D0"/>
                </a:solidFill>
                <a:latin typeface="DejaVu Sans"/>
                <a:ea typeface="DejaVu Sans"/>
                <a:cs typeface="DejaVu Sans"/>
              </a:defRPr>
            </a:pPr>
            <a:r>
              <a:rPr sz="1800" b="0">
                <a:solidFill>
                  <a:srgbClr val="B6C3D0"/>
                </a:solidFill>
                <a:latin typeface="DejaVu Sans"/>
                <a:ea typeface="DejaVu Sans"/>
                <a:cs typeface="DejaVu Sans"/>
              </a:rPr>
              <a:t>Организация прямоугольных таблиц</a:t>
            </a:r>
          </a:p>
        </p:txBody>
      </p:sp>
    </p:spTree>
    <p:extLst>
      <p:ext uri="{BB962C8B-B14F-4D97-AF65-F5344CB8AC3E}">
        <p14:creationId xmlns:p14="http://schemas.microsoft.com/office/powerpoint/2010/main" val="471277882"/>
      </p:ext>
    </p:extLst>
  </p:cSld>
</p:sld>
</file>

<file path=ppt/slides/slide44.xml><?xml version="1.0" encoding="utf-8"?>
<p:sld xmlns:p="http://schemas.openxmlformats.org/presentationml/2006/main">
  <p:cSld>
    <p:bg>
      <p:bgPr>
        <a:solidFill xmlns:a="http://schemas.openxmlformats.org/drawingml/2006/main">
          <a:srgbClr val="10192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1F6D64E-B85E-48FD-8076-51DD4C15A8FB}"/>
              </a:ext>
            </a:extLst>
          </p:cNvPr>
          <p:cNvSpPr>
            <a:spLocks xmlns:a="http://schemas.openxmlformats.org/drawingml/2006/main" noGrp="1"/>
          </p:cNvSpPr>
          <p:nvPr/>
        </p:nvSpPr>
        <p:spPr>
          <a:xfrm xmlns:a="http://schemas.openxmlformats.org/drawingml/2006/main">
            <a:off x="609600" y="45720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3225" b="1">
                <a:solidFill>
                  <a:srgbClr val="F2F1E9"/>
                </a:solidFill>
                <a:latin typeface="DejaVu Sans"/>
                <a:ea typeface="DejaVu Sans"/>
                <a:cs typeface="DejaVu Sans"/>
              </a:defRPr>
            </a:pPr>
            <a:r>
              <a:rPr sz="3225" b="1">
                <a:solidFill>
                  <a:srgbClr val="F2F1E9"/>
                </a:solidFill>
                <a:latin typeface="DejaVu Sans"/>
                <a:ea typeface="DejaVu Sans"/>
                <a:cs typeface="DejaVu Sans"/>
              </a:rPr>
              <a:t>Источники: воспроизводимый проект</a:t>
            </a:r>
          </a:p>
        </p:txBody>
      </p:sp>
      <p:sp>
        <p:nvSpPr>
          <p:cNvPr id="2" name="">
            <a:extLst xmlns:a="http://schemas.openxmlformats.org/drawingml/2006/main">
              <a:ext uri="{FF2B5EF4-FFF2-40B4-BE49-F238E27FC236}">
                <a16:creationId xmlns:a16="http://schemas.microsoft.com/office/drawing/2014/main" id="{CEF00809-B797-4C43-B303-420EF45AFF22}"/>
              </a:ext>
            </a:extLst>
          </p:cNvPr>
          <p:cNvSpPr>
            <a:spLocks xmlns:a="http://schemas.openxmlformats.org/drawingml/2006/main" noGrp="1"/>
          </p:cNvSpPr>
          <p:nvPr/>
        </p:nvSpPr>
        <p:spPr>
          <a:xfrm xmlns:a="http://schemas.openxmlformats.org/drawingml/2006/main">
            <a:off x="10572750" y="6477000"/>
            <a:ext cx="1009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200" b="0">
                <a:solidFill>
                  <a:srgbClr val="B6C3D0"/>
                </a:solidFill>
                <a:latin typeface="DejaVu Sans"/>
                <a:ea typeface="DejaVu Sans"/>
                <a:cs typeface="DejaVu Sans"/>
              </a:defRPr>
            </a:pPr>
            <a:r>
              <a:rPr sz="1200" b="0">
                <a:solidFill>
                  <a:srgbClr val="B6C3D0"/>
                </a:solidFill>
                <a:latin typeface="DejaVu Sans"/>
                <a:ea typeface="DejaVu Sans"/>
                <a:cs typeface="DejaVu Sans"/>
              </a:rPr>
              <a:t>44 / 44</a:t>
            </a:r>
          </a:p>
        </p:txBody>
      </p:sp>
      <p:sp>
        <p:nvSpPr>
          <p:cNvPr id="3" name="">
            <a:extLst xmlns:a="http://schemas.openxmlformats.org/drawingml/2006/main">
              <a:ext uri="{FF2B5EF4-FFF2-40B4-BE49-F238E27FC236}">
                <a16:creationId xmlns:a16="http://schemas.microsoft.com/office/drawing/2014/main" id="{185B70B6-CD8C-435C-8F65-3F1A90A73CB2}"/>
              </a:ext>
            </a:extLst>
          </p:cNvPr>
          <p:cNvSpPr>
            <a:spLocks xmlns:a="http://schemas.openxmlformats.org/drawingml/2006/main" noGrp="1"/>
          </p:cNvSpPr>
          <p:nvPr/>
        </p:nvSpPr>
        <p:spPr>
          <a:xfrm xmlns:a="http://schemas.openxmlformats.org/drawingml/2006/main">
            <a:off x="609600" y="15525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13" b="1">
                <a:solidFill>
                  <a:srgbClr val="81DFCE"/>
                </a:solidFill>
                <a:latin typeface="DejaVu Sans"/>
                <a:ea typeface="DejaVu Sans"/>
                <a:cs typeface="DejaVu Sans"/>
              </a:defRPr>
            </a:pPr>
            <a:r>
              <a:rPr sz="1913" b="1">
                <a:solidFill>
                  <a:srgbClr val="81DFCE"/>
                </a:solidFill>
                <a:latin typeface="DejaVu Sans"/>
                <a:ea typeface="DejaVu Sans"/>
                <a:cs typeface="DejaVu Sans"/>
                <a:hlinkClick xmlns:r="http://schemas.openxmlformats.org/officeDocument/2006/relationships" r:id="R5116a614e7ce48a0"/>
              </a:rPr>
              <a:t>Wilson et al., 2017. Good enough practices in scientific computing</a:t>
            </a:r>
          </a:p>
        </p:txBody>
      </p:sp>
      <p:sp>
        <p:nvSpPr>
          <p:cNvPr id="4" name="">
            <a:extLst xmlns:a="http://schemas.openxmlformats.org/drawingml/2006/main">
              <a:ext uri="{FF2B5EF4-FFF2-40B4-BE49-F238E27FC236}">
                <a16:creationId xmlns:a16="http://schemas.microsoft.com/office/drawing/2014/main" id="{71D19A49-DE7A-4852-A469-B4F053BD2E83}"/>
              </a:ext>
            </a:extLst>
          </p:cNvPr>
          <p:cNvSpPr>
            <a:spLocks xmlns:a="http://schemas.openxmlformats.org/drawingml/2006/main" noGrp="1"/>
          </p:cNvSpPr>
          <p:nvPr/>
        </p:nvSpPr>
        <p:spPr>
          <a:xfrm xmlns:a="http://schemas.openxmlformats.org/drawingml/2006/main">
            <a:off x="609600" y="19526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B6C3D0"/>
                </a:solidFill>
                <a:latin typeface="DejaVu Sans"/>
                <a:ea typeface="DejaVu Sans"/>
                <a:cs typeface="DejaVu Sans"/>
              </a:defRPr>
            </a:pPr>
            <a:r>
              <a:rPr sz="1800" b="0">
                <a:solidFill>
                  <a:srgbClr val="B6C3D0"/>
                </a:solidFill>
                <a:latin typeface="DejaVu Sans"/>
                <a:ea typeface="DejaVu Sans"/>
                <a:cs typeface="DejaVu Sans"/>
              </a:rPr>
              <a:t>Организация небольшого научного проекта</a:t>
            </a:r>
          </a:p>
        </p:txBody>
      </p:sp>
      <p:sp>
        <p:nvSpPr>
          <p:cNvPr id="5" name="">
            <a:extLst xmlns:a="http://schemas.openxmlformats.org/drawingml/2006/main">
              <a:ext uri="{FF2B5EF4-FFF2-40B4-BE49-F238E27FC236}">
                <a16:creationId xmlns:a16="http://schemas.microsoft.com/office/drawing/2014/main" id="{2BB51F38-CBAF-4FBF-AAB8-77D827E52242}"/>
              </a:ext>
            </a:extLst>
          </p:cNvPr>
          <p:cNvSpPr>
            <a:spLocks xmlns:a="http://schemas.openxmlformats.org/drawingml/2006/main" noGrp="1"/>
          </p:cNvSpPr>
          <p:nvPr/>
        </p:nvSpPr>
        <p:spPr>
          <a:xfrm xmlns:a="http://schemas.openxmlformats.org/drawingml/2006/main">
            <a:off x="609600" y="24669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13" b="1">
                <a:solidFill>
                  <a:srgbClr val="81DFCE"/>
                </a:solidFill>
                <a:latin typeface="DejaVu Sans"/>
                <a:ea typeface="DejaVu Sans"/>
                <a:cs typeface="DejaVu Sans"/>
              </a:defRPr>
            </a:pPr>
            <a:r>
              <a:rPr sz="1913" b="1">
                <a:solidFill>
                  <a:srgbClr val="81DFCE"/>
                </a:solidFill>
                <a:latin typeface="DejaVu Sans"/>
                <a:ea typeface="DejaVu Sans"/>
                <a:cs typeface="DejaVu Sans"/>
                <a:hlinkClick xmlns:r="http://schemas.openxmlformats.org/officeDocument/2006/relationships" r:id="R4dd9a23bc3744fde"/>
              </a:rPr>
              <a:t>pandas, JupyterLab и Pro Git</a:t>
            </a:r>
          </a:p>
        </p:txBody>
      </p:sp>
      <p:sp>
        <p:nvSpPr>
          <p:cNvPr id="6" name="">
            <a:extLst xmlns:a="http://schemas.openxmlformats.org/drawingml/2006/main">
              <a:ext uri="{FF2B5EF4-FFF2-40B4-BE49-F238E27FC236}">
                <a16:creationId xmlns:a16="http://schemas.microsoft.com/office/drawing/2014/main" id="{1F7FE318-25CA-46A7-8B86-DF8E3B9FA3C4}"/>
              </a:ext>
            </a:extLst>
          </p:cNvPr>
          <p:cNvSpPr>
            <a:spLocks xmlns:a="http://schemas.openxmlformats.org/drawingml/2006/main" noGrp="1"/>
          </p:cNvSpPr>
          <p:nvPr/>
        </p:nvSpPr>
        <p:spPr>
          <a:xfrm xmlns:a="http://schemas.openxmlformats.org/drawingml/2006/main">
            <a:off x="609600" y="28670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B6C3D0"/>
                </a:solidFill>
                <a:latin typeface="DejaVu Sans"/>
                <a:ea typeface="DejaVu Sans"/>
                <a:cs typeface="DejaVu Sans"/>
              </a:defRPr>
            </a:pPr>
            <a:r>
              <a:rPr sz="1800" b="0">
                <a:solidFill>
                  <a:srgbClr val="B6C3D0"/>
                </a:solidFill>
                <a:latin typeface="DejaVu Sans"/>
                <a:ea typeface="DejaVu Sans"/>
                <a:cs typeface="DejaVu Sans"/>
              </a:rPr>
              <a:t>Официальная документация используемых инструментов</a:t>
            </a:r>
          </a:p>
        </p:txBody>
      </p:sp>
      <p:sp>
        <p:nvSpPr>
          <p:cNvPr id="7" name="">
            <a:extLst xmlns:a="http://schemas.openxmlformats.org/drawingml/2006/main">
              <a:ext uri="{FF2B5EF4-FFF2-40B4-BE49-F238E27FC236}">
                <a16:creationId xmlns:a16="http://schemas.microsoft.com/office/drawing/2014/main" id="{825F3C71-CCFF-4D64-95FF-02552458D85D}"/>
              </a:ext>
            </a:extLst>
          </p:cNvPr>
          <p:cNvSpPr>
            <a:spLocks xmlns:a="http://schemas.openxmlformats.org/drawingml/2006/main" noGrp="1"/>
          </p:cNvSpPr>
          <p:nvPr/>
        </p:nvSpPr>
        <p:spPr>
          <a:xfrm xmlns:a="http://schemas.openxmlformats.org/drawingml/2006/main">
            <a:off x="609600" y="33813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13" b="1">
                <a:solidFill>
                  <a:srgbClr val="81DFCE"/>
                </a:solidFill>
                <a:latin typeface="DejaVu Sans"/>
                <a:ea typeface="DejaVu Sans"/>
                <a:cs typeface="DejaVu Sans"/>
              </a:defRPr>
            </a:pPr>
            <a:r>
              <a:rPr sz="1913" b="1">
                <a:solidFill>
                  <a:srgbClr val="81DFCE"/>
                </a:solidFill>
                <a:latin typeface="DejaVu Sans"/>
                <a:ea typeface="DejaVu Sans"/>
                <a:cs typeface="DejaVu Sans"/>
                <a:hlinkClick xmlns:r="http://schemas.openxmlformats.org/officeDocument/2006/relationships" r:id="R5f21acb7a1a84de4"/>
              </a:rPr>
              <a:t>Wilkinson et al., 2016. The FAIR Guiding Principles</a:t>
            </a:r>
          </a:p>
        </p:txBody>
      </p:sp>
      <p:sp>
        <p:nvSpPr>
          <p:cNvPr id="8" name="">
            <a:extLst xmlns:a="http://schemas.openxmlformats.org/drawingml/2006/main">
              <a:ext uri="{FF2B5EF4-FFF2-40B4-BE49-F238E27FC236}">
                <a16:creationId xmlns:a16="http://schemas.microsoft.com/office/drawing/2014/main" id="{8EF81DB3-0D0A-46DE-88F1-DF6FB3C0F22D}"/>
              </a:ext>
            </a:extLst>
          </p:cNvPr>
          <p:cNvSpPr>
            <a:spLocks xmlns:a="http://schemas.openxmlformats.org/drawingml/2006/main" noGrp="1"/>
          </p:cNvSpPr>
          <p:nvPr/>
        </p:nvSpPr>
        <p:spPr>
          <a:xfrm xmlns:a="http://schemas.openxmlformats.org/drawingml/2006/main">
            <a:off x="609600" y="37814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B6C3D0"/>
                </a:solidFill>
                <a:latin typeface="DejaVu Sans"/>
                <a:ea typeface="DejaVu Sans"/>
                <a:cs typeface="DejaVu Sans"/>
              </a:defRPr>
            </a:pPr>
            <a:r>
              <a:rPr sz="1800" b="0">
                <a:solidFill>
                  <a:srgbClr val="B6C3D0"/>
                </a:solidFill>
                <a:latin typeface="DejaVu Sans"/>
                <a:ea typeface="DejaVu Sans"/>
                <a:cs typeface="DejaVu Sans"/>
              </a:rPr>
              <a:t>Находимость, доступность и повторное использование</a:t>
            </a:r>
          </a:p>
        </p:txBody>
      </p:sp>
      <p:sp>
        <p:nvSpPr>
          <p:cNvPr id="9" name="">
            <a:extLst xmlns:a="http://schemas.openxmlformats.org/drawingml/2006/main">
              <a:ext uri="{FF2B5EF4-FFF2-40B4-BE49-F238E27FC236}">
                <a16:creationId xmlns:a16="http://schemas.microsoft.com/office/drawing/2014/main" id="{E4A762F4-6306-4355-860D-513F671E104E}"/>
              </a:ext>
            </a:extLst>
          </p:cNvPr>
          <p:cNvSpPr>
            <a:spLocks xmlns:a="http://schemas.openxmlformats.org/drawingml/2006/main" noGrp="1"/>
          </p:cNvSpPr>
          <p:nvPr/>
        </p:nvSpPr>
        <p:spPr>
          <a:xfrm xmlns:a="http://schemas.openxmlformats.org/drawingml/2006/main">
            <a:off x="609600" y="42957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13" b="1">
                <a:solidFill>
                  <a:srgbClr val="81DFCE"/>
                </a:solidFill>
                <a:latin typeface="DejaVu Sans"/>
                <a:ea typeface="DejaVu Sans"/>
                <a:cs typeface="DejaVu Sans"/>
              </a:defRPr>
            </a:pPr>
            <a:r>
              <a:rPr sz="1913" b="1">
                <a:solidFill>
                  <a:srgbClr val="81DFCE"/>
                </a:solidFill>
                <a:latin typeface="DejaVu Sans"/>
                <a:ea typeface="DejaVu Sans"/>
                <a:cs typeface="DejaVu Sans"/>
                <a:hlinkClick xmlns:r="http://schemas.openxmlformats.org/officeDocument/2006/relationships" r:id="R22c3515c0cdf4f6c"/>
              </a:rPr>
              <a:t>W3C, 2013. PROV Model Primer</a:t>
            </a:r>
          </a:p>
        </p:txBody>
      </p:sp>
      <p:sp>
        <p:nvSpPr>
          <p:cNvPr id="10" name="">
            <a:extLst xmlns:a="http://schemas.openxmlformats.org/drawingml/2006/main">
              <a:ext uri="{FF2B5EF4-FFF2-40B4-BE49-F238E27FC236}">
                <a16:creationId xmlns:a16="http://schemas.microsoft.com/office/drawing/2014/main" id="{C0EFFD64-4C32-4157-A844-350FC9342B90}"/>
              </a:ext>
            </a:extLst>
          </p:cNvPr>
          <p:cNvSpPr>
            <a:spLocks xmlns:a="http://schemas.openxmlformats.org/drawingml/2006/main" noGrp="1"/>
          </p:cNvSpPr>
          <p:nvPr/>
        </p:nvSpPr>
        <p:spPr>
          <a:xfrm xmlns:a="http://schemas.openxmlformats.org/drawingml/2006/main">
            <a:off x="609600" y="46958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B6C3D0"/>
                </a:solidFill>
                <a:latin typeface="DejaVu Sans"/>
                <a:ea typeface="DejaVu Sans"/>
                <a:cs typeface="DejaVu Sans"/>
              </a:defRPr>
            </a:pPr>
            <a:r>
              <a:rPr sz="1800" b="0">
                <a:solidFill>
                  <a:srgbClr val="B6C3D0"/>
                </a:solidFill>
                <a:latin typeface="DejaVu Sans"/>
                <a:ea typeface="DejaVu Sans"/>
                <a:cs typeface="DejaVu Sans"/>
              </a:rPr>
              <a:t>Описание происхождения цифровых объектов</a:t>
            </a:r>
          </a:p>
        </p:txBody>
      </p:sp>
      <p:sp>
        <p:nvSpPr>
          <p:cNvPr id="11" name="">
            <a:extLst xmlns:a="http://schemas.openxmlformats.org/drawingml/2006/main">
              <a:ext uri="{FF2B5EF4-FFF2-40B4-BE49-F238E27FC236}">
                <a16:creationId xmlns:a16="http://schemas.microsoft.com/office/drawing/2014/main" id="{EFB416C9-38CB-4E9E-9363-082A6A843651}"/>
              </a:ext>
            </a:extLst>
          </p:cNvPr>
          <p:cNvSpPr>
            <a:spLocks xmlns:a="http://schemas.openxmlformats.org/drawingml/2006/main" noGrp="1"/>
          </p:cNvSpPr>
          <p:nvPr/>
        </p:nvSpPr>
        <p:spPr>
          <a:xfrm xmlns:a="http://schemas.openxmlformats.org/drawingml/2006/main">
            <a:off x="609600" y="52101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913" b="1">
                <a:solidFill>
                  <a:srgbClr val="81DFCE"/>
                </a:solidFill>
                <a:latin typeface="DejaVu Sans"/>
                <a:ea typeface="DejaVu Sans"/>
                <a:cs typeface="DejaVu Sans"/>
              </a:defRPr>
            </a:pPr>
            <a:r>
              <a:rPr sz="1913" b="1">
                <a:solidFill>
                  <a:srgbClr val="81DFCE"/>
                </a:solidFill>
                <a:latin typeface="DejaVu Sans"/>
                <a:ea typeface="DejaVu Sans"/>
                <a:cs typeface="DejaVu Sans"/>
                <a:hlinkClick xmlns:r="http://schemas.openxmlformats.org/officeDocument/2006/relationships" r:id="R98c1dfadeb9f4182"/>
              </a:rPr>
              <a:t>Institutional ELN/LIMS deployment, 2020</a:t>
            </a:r>
          </a:p>
        </p:txBody>
      </p:sp>
      <p:sp>
        <p:nvSpPr>
          <p:cNvPr id="12" name="">
            <a:extLst xmlns:a="http://schemas.openxmlformats.org/drawingml/2006/main">
              <a:ext uri="{FF2B5EF4-FFF2-40B4-BE49-F238E27FC236}">
                <a16:creationId xmlns:a16="http://schemas.microsoft.com/office/drawing/2014/main" id="{934EADA0-35BE-4869-A783-F2E2BB6CE382}"/>
              </a:ext>
            </a:extLst>
          </p:cNvPr>
          <p:cNvSpPr>
            <a:spLocks xmlns:a="http://schemas.openxmlformats.org/drawingml/2006/main" noGrp="1"/>
          </p:cNvSpPr>
          <p:nvPr/>
        </p:nvSpPr>
        <p:spPr>
          <a:xfrm xmlns:a="http://schemas.openxmlformats.org/drawingml/2006/main">
            <a:off x="609600" y="56102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2000"/>
              </a:lnSpc>
              <a:buNone/>
              <a:defRPr sz="1800" b="0">
                <a:solidFill>
                  <a:srgbClr val="B6C3D0"/>
                </a:solidFill>
                <a:latin typeface="DejaVu Sans"/>
                <a:ea typeface="DejaVu Sans"/>
                <a:cs typeface="DejaVu Sans"/>
              </a:defRPr>
            </a:pPr>
            <a:r>
              <a:rPr sz="1800" b="0">
                <a:solidFill>
                  <a:srgbClr val="B6C3D0"/>
                </a:solidFill>
                <a:latin typeface="DejaVu Sans"/>
                <a:ea typeface="DejaVu Sans"/>
                <a:cs typeface="DejaVu Sans"/>
              </a:rPr>
              <a:t>Роли электронного журнала и лабораторного учёта</a:t>
            </a:r>
          </a:p>
        </p:txBody>
      </p:sp>
    </p:spTree>
    <p:extLst>
      <p:ext uri="{BB962C8B-B14F-4D97-AF65-F5344CB8AC3E}">
        <p14:creationId xmlns:p14="http://schemas.microsoft.com/office/powerpoint/2010/main" val="1243573726"/>
      </p:ext>
    </p:extLst>
  </p:cSld>
</p:sld>
</file>

<file path=ppt/theme/theme1.xml><?xml version="1.0" encoding="utf-8"?>
<a:theme xmlns:a="http://schemas.openxmlformats.org/drawingml/2006/main" name="ChatGPT">
  <a:themeElements>
    <a:clrScheme name="Scientific dark">
      <a:dk1>
        <a:srgbClr val="000000"/>
      </a:dk1>
      <a:lt1>
        <a:srgbClr val="FFFFFF"/>
      </a:lt1>
      <a:dk2>
        <a:srgbClr val="101923"/>
      </a:dk2>
      <a:lt2>
        <a:srgbClr val="F2F1E9"/>
      </a:lt2>
      <a:accent1>
        <a:srgbClr val="81DFCE"/>
      </a:accent1>
      <a:accent2>
        <a:srgbClr val="F1B766"/>
      </a:accent2>
      <a:accent3>
        <a:srgbClr val="F29191"/>
      </a:accent3>
      <a:accent4>
        <a:srgbClr val="9EADEF"/>
      </a:accent4>
      <a:accent5>
        <a:srgbClr val="88B9E7"/>
      </a:accent5>
      <a:accent6>
        <a:srgbClr val="A4C68A"/>
      </a:accent6>
      <a:hlink>
        <a:srgbClr val="81DFCE"/>
      </a:hlink>
      <a:folHlink>
        <a:srgbClr val="9EADEF"/>
      </a:folHlink>
    </a:clrScheme>
    <a:fontScheme name="Office">
      <a:majorFont>
        <a:latin typeface="Calibri Light"/>
        <a:ea typeface="Calibri Light"/>
        <a:cs typeface="Calibri Light"/>
      </a:majorFont>
      <a:minorFont>
        <a:latin typeface="Calibri"/>
        <a:ea typeface="Calibri"/>
        <a:cs typeface="Calibri"/>
      </a:minorFont>
    </a:fontScheme>
    <a:fmtScheme name="Scientific dark">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2026-09-22T21:42:59.7890000Z</dcterms:created>
  <dcterms:modified xsi:type="dcterms:W3CDTF">2026-09-22T21:42:59.7900000Z</dcterms:modified>
</coreProperties>
</file>