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notesSlides/notesSlide37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1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28.xml" ContentType="application/vnd.openxmlformats-officedocument.presentationml.notesSlide+xml"/>
  <Override PartName="/ppt/slides/slide36.xml" ContentType="application/vnd.openxmlformats-officedocument.presentationml.slide+xml"/>
  <Override PartName="/ppt/slides/slide35.xml" ContentType="application/vnd.openxmlformats-officedocument.presentationml.slide+xml"/>
  <Override PartName="/ppt/slides/slide32.xml" ContentType="application/vnd.openxmlformats-officedocument.presentationml.slide+xml"/>
  <Override PartName="/ppt/slides/slide31.xml" ContentType="application/vnd.openxmlformats-officedocument.presentationml.slide+xml"/>
  <Override PartName="/ppt/slides/slide30.xml" ContentType="application/vnd.openxmlformats-officedocument.presentationml.slide+xml"/>
  <Override PartName="/ppt/notesSlides/notesSlide7.xml" ContentType="application/vnd.openxmlformats-officedocument.presentationml.notesSlide+xml"/>
  <Override PartName="/ppt/notesSlides/notesSlide16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26.xml" ContentType="application/vnd.openxmlformats-officedocument.presentationml.slide+xml"/>
  <Override PartName="/ppt/slides/slide25.xml" ContentType="application/vnd.openxmlformats-officedocument.presentationml.slide+xml"/>
  <Override PartName="/ppt/slides/slide24.xml" ContentType="application/vnd.openxmlformats-officedocument.presentationml.slide+xml"/>
  <Override PartName="/ppt/slides/slide23.xml" ContentType="application/vnd.openxmlformats-officedocument.presentationml.slide+xml"/>
  <Override PartName="/ppt/slides/slide22.xml" ContentType="application/vnd.openxmlformats-officedocument.presentationml.slide+xml"/>
  <Override PartName="/ppt/slides/slide19.xml" ContentType="application/vnd.openxmlformats-officedocument.presentationml.slide+xml"/>
  <Override PartName="/ppt/slides/slide18.xml" ContentType="application/vnd.openxmlformats-officedocument.presentationml.slide+xml"/>
  <Override PartName="/ppt/notesSlides/notesSlide3.xml" ContentType="application/vnd.openxmlformats-officedocument.presentationml.notesSlide+xml"/>
  <Override PartName="/ppt/notesSlides/notesSlide19.xml" ContentType="application/vnd.openxmlformats-officedocument.presentationml.notes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0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33.xml" ContentType="application/vnd.openxmlformats-officedocument.presentationml.slide+xml"/>
  <Override PartName="/ppt/slides/slide8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7.xml" ContentType="application/vnd.openxmlformats-officedocument.presentationml.slide+xml"/>
  <Override PartName="/ppt/slides/slide21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4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9.xml" ContentType="application/vnd.openxmlformats-officedocument.presentationml.slide+xml"/>
  <Override PartName="/ppt/slideLayouts/slideLayout2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s/slide5.xml" ContentType="application/vnd.openxmlformats-officedocument.presentationml.slide+xml"/>
  <Override PartName="/ppt/slides/slide15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4.xml" ContentType="application/vnd.openxmlformats-officedocument.presentationml.slide+xml"/>
  <Override PartName="/ppt/notesSlides/notesSlide23.xml" ContentType="application/vnd.openxmlformats-officedocument.presentationml.notesSlid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s/slide28.xml" ContentType="application/vnd.openxmlformats-officedocument.presentationml.slide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slideLayouts/slideLayout6.xml" ContentType="application/vnd.openxmlformats-officedocument.presentationml.slideLayout+xml"/>
  <Override PartName="/ppt/slides/slide38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22.xml" ContentType="application/vnd.openxmlformats-officedocument.presentationml.notesSlide+xml"/>
  <Override PartName="/ppt/slideLayouts/slideLayout5.xml" ContentType="application/vnd.openxmlformats-officedocument.presentationml.slideLayout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42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</p:sldIdLst>
  <p:sldSz cx="20104100" cy="11309350"/>
  <p:notesSz cx="20104100" cy="1130935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>
        <p:scale>
          <a:sx n="116" d="112"/>
          <a:sy n="105" d="108"/>
        </p:scale>
        <p:origin x="114" y="101"/>
      </p:cViewPr>
      <p:guideLst>
        <p:guide pos="6332"/>
        <p:guide pos="3562" orient="horz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notesMaster" Target="notesMasters/notesMaster1.xml"/><Relationship Id="rId43" Type="http://schemas.openxmlformats.org/officeDocument/2006/relationships/presProps" Target="presProps.xml" /><Relationship Id="rId44" Type="http://schemas.openxmlformats.org/officeDocument/2006/relationships/tableStyles" Target="tableStyles.xml" /><Relationship Id="rId45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/>
          <p:nvPr>
            <p:ph type="hdr" sz="quarter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" name="Date Placeholder"/>
          <p:cNvSpPr/>
          <p:nvPr>
            <p:ph type="dt" sz="quarter" idx="1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" name="Slide Image Placeholder"/>
          <p:cNvSpPr/>
          <p:nvPr>
            <p:ph type="sldImg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" name="Notes Placeholder"/>
          <p:cNvSpPr/>
          <p:nvPr>
            <p:ph type="body" sz="quarter" idx="3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" name="Footer Placeholder"/>
          <p:cNvSpPr/>
          <p:nvPr>
            <p:ph type="ftr" sz="quarter" idx="4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 bwMode="auto"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/>
    </a:lvl1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 ?>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 ?>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 ?>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 ?>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 ?>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 ?>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 ?>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 ?>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 ?>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 ?>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 ?>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 ?>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 ?>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 ?>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 ?>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 ?>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 ?>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 ?>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 ?>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 ?>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 ?>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 ?>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 ?>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 ?>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 ?>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Массивы NumPy, построение и оформление научных графиков, краткое знакомство с Seaborn. Все наборы измерений в примерах искусственные.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NumPy хранит однородные массивы. Matplotlib управляет Figure и Axes. Seaborn строится поверх Matplotlib. В Python-скрипте используйте help(np.linspace), а синтаксис с вопросительным знаком доступен в IPython/Jupyter. Стиль dark_background задаём до создания рисунков. Установить пакеты можно командой python -m pip install numpy matplotlib seaborn pandas в терминале.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https://numpy.org/doc/stable/user/absolute_beginners.html</a:t>
            </a:r>
            <a:endParaRPr/>
          </a:p>
          <a:p>
            <a:pPr>
              <a:defRPr/>
            </a:pPr>
            <a:r>
              <a:rPr/>
              <a:t>https://matplotlib.org/stable/users/explain/quick_start.html</a:t>
            </a:r>
            <a:endParaRPr/>
          </a:p>
          <a:p>
            <a:pPr>
              <a:defRPr/>
            </a:pPr>
            <a:r>
              <a:rPr/>
              <a:t>https://seaborn.pydata.org/tutorial/function_overview.html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https://numpy.org/doc/stable/user/absolute_beginners.html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В примере int64 хранит целые значения. Присваивание 1.9 усекает дробную часть к нулю. astype по умолчанию создаёт копию, поэтому изменение b не затрагивает a. Вещественные числа также имеют конечную точность, а целочисленные типы имеют ограниченный диапазон и могут переполняться. dtype=float обычно соответствует float64. Для воспроизводимого формата данных можно задавать тип явно.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https://numpy.org/doc/stable/user/basics.types.html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Перед примером ones_like нужен A со слайда 3. zeros((2, 3)) создаёт массив из нулей, ones_like(A) сохраняет форму и dtype массива A, eye(3) создаёт единичную матрицу. Для сетки с фиксированным числом точек используем linspace, чтобы не полагаться на накопление ошибок дробного шага arange. Дополнительно: np.full((2, 3), 5.0), np.diag([1, 2, 3]).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https://numpy.org/doc/stable/user/absolute_beginners.html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 определён на слайде 3. A[строка, столбец] выбирает элемент, двоеточие выбирает всю ось. При работе с булевыми массивами используем &amp; и |, а не and и or. Операция a[mask] возвращает копию выбранных значений, но присваивание a[mask] = 0 изменяет исходный массив.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https://numpy.org/doc/stable/user/basics.indexing.html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A[1, :] имеет форму (4,), A[:, 2] имеет форму (3,), а A[:, 2:3] сохраняет двумерную форму (3, 1). Для последующего broadcasting это различие может быть важно. Обычная индексация целым числом убирает соответствующую ось из результата. Срезы следующего слайда показывают последствия общей памяти.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https://numpy.org/doc/stable/user/basics.indexing.html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Оба примера начинаются с нового массива a. Срез создаёт новый объект-представление общей памяти, поэтому изменение b затрагивает a. np.shares_memory(a, b) проверяет фактическое пересечение памяти. np.may_share_memory даёт консервативную оценку: True ещё не доказывает пересечение. reshape по возможности возвращает представление, иначе копию.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https://numpy.org/doc/stable/user/basics.copies.html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Операции +, -, *, /, ** и ufunc выполняются поэлементно с учётом broadcasting. Оператор @ выполняет матричное умножение; для двух 2D-массивов внутренние размеры должны совпадать. Векторизация часто ускоряет расчёты по сравнению с Python-циклом, но не гарантирует ускорения любой задачи. Сравнение a == b даёт булев массив; np.array_equal(a, b) даёт одно значение, np.allclose используется для приближённого сравнения чисел с плавающей точкой. log(0) даёт -inf и предупреждение, log отрицательного вещественного числа даёт nan.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https://numpy.org/doc/stable/user/absolute_beginners.html</a:t>
            </a:r>
            <a:endParaRPr/>
          </a:p>
          <a:p>
            <a:pPr>
              <a:defRPr/>
            </a:pPr>
            <a:r>
              <a:rPr/>
              <a:t>https://numpy.org/doc/stable/reference/generated/numpy.matmul.html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np.isclose выполняет поэлементную проверку, np.allclose возвращает одно булево значение. В стандартном определении сравнивается abs(a-b) &lt;= atol + rtol*abs(b), поэтому роли аргументов могут различаться. Для точного сравнения формы и значений используют np.array_equal. NaN не равен самому себе, для поиска пропусков нужен np.isnan. isfinite исключает как NaN, так и обе бесконечности. В реальном анализе нельзя автоматически удалять невалидные наблюдения без понимания причины.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https://numpy.org/doc/stable/reference/generated/numpy.allclose.html</a:t>
            </a:r>
            <a:endParaRPr/>
          </a:p>
          <a:p>
            <a:pPr>
              <a:defRPr/>
            </a:pPr>
            <a:r>
              <a:rPr/>
              <a:t>https://numpy.org/doc/stable/reference/generated/numpy.isfinite.html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В reshape допустим только один размер −1. Произведение размеров должно совпадать с числом элементов. Для 2D-массива .T переставляет строки и столбцы; для 1D-массива форма не меняется. ravel может вернуть копию, например для некоторых некомпактных представлений. Не смешивайте reshape с resize, который изменяет число элементов.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https://numpy.org/doc/stable/reference/generated/numpy.reshape.html</a:t>
            </a:r>
            <a:endParaRPr/>
          </a:p>
          <a:p>
            <a:pPr>
              <a:defRPr/>
            </a:pPr>
            <a:r>
              <a:rPr/>
              <a:t>https://numpy.org/doc/stable/user/basics.copies.html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Broadcasting сопоставляет последние оси, отсутствующие ведущие оси рассматриваются как размер 1. В примере формы (2, 3) и (3,) совместимы. Для прибавления разных значений к строкам можно использовать np.array([10, 20])[:, None] формы (2, 1). Транспонирование одномерного массива не делает его столбцом: для столбца нужна новая ось. reshape меняет форму, resize изменяет размер и имеет другую семантику; resize в базовом примере не нужен.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https://numpy.org/doc/stable/user/basics.broadcasting.html</a:t>
            </a:r>
            <a:endParaRPr/>
          </a:p>
          <a:p>
            <a:pPr>
              <a:defRPr/>
            </a:pPr>
            <a:r>
              <a:rPr/>
              <a:t>https://numpy.org/doc/stable/user/basics.copies.html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Стандартное отклонение NumPy по умолчанию делит сумму квадратов отклонений на N. ddof=1 соответствует квадратному корню выборочной дисперсии с делителем N−1; само стандартное отклонение не является строго несмещённой оценкой. nanmean исключает NaN, но не бесконечности. Для строки только из NaN возвращается NaN с предупреждением. Дополнительно: X.min(), X.max(), X.argmax(), np.isfinite(X).all().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https://numpy.org/doc/stable/reference/generated/numpy.std.html</a:t>
            </a:r>
            <a:endParaRPr/>
          </a:p>
          <a:p>
            <a:pPr>
              <a:defRPr/>
            </a:pPr>
            <a:r>
              <a:rPr/>
              <a:t>https://numpy.org/doc/stable/reference/generated/numpy.nanmean.html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Рекомендуемый интерфейс для нового кода: Generator, создаваемый через default_rng. uniform обычно исключает правую границу, хотя из-за округления в некоторых параметризациях возможно получить high. normal получает стандартное отклонение scale, а не дисперсию. integers по умолчанию не включает high. Для независимых повторов не нужно повторно инициализировать генератор внутри каждой итерации. Фиксированный seed не делает случайные данные репрезентативными для реального эксперимента.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https://numpy.org/doc/stable/reference/random/generator.html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Все данные искусственные. Нормальный шум имеет нулевое среднее и стандартное отклонение 0.6 мВ для каждой точки. Функция default_rng создаёт отдельный генератор; его состояние меняется при каждом новом вызове. Повторная инициализация тем же seed в той же среде воспроизводит последовательность. Не обещаем идентичность потока между произвольными версиями и алгоритмами. В дальнейших примерах до раздела Seaborn используем эти x, y, sigma.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Код примера:</a:t>
            </a:r>
            <a:endParaRPr/>
          </a:p>
          <a:p>
            <a:pPr>
              <a:defRPr/>
            </a:pPr>
            <a:r>
              <a:rPr/>
              <a:t>import numpy as np</a:t>
            </a:r>
            <a:endParaRPr/>
          </a:p>
          <a:p>
            <a:pPr>
              <a:defRPr/>
            </a:pPr>
            <a:r>
              <a:rPr/>
              <a:t>import matplotlib.pyplot as plt</a:t>
            </a:r>
            <a:endParaRPr/>
          </a:p>
          <a:p>
            <a:pPr>
              <a:defRPr/>
            </a:pPr>
            <a:r>
              <a:rPr/>
              <a:t>from numpy.polynomial import Polynomial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plt.style.use("dark_background")</a:t>
            </a:r>
            <a:endParaRPr/>
          </a:p>
          <a:p>
            <a:pPr>
              <a:defRPr/>
            </a:pPr>
            <a:r>
              <a:rPr/>
              <a:t>rng = np.random.default_rng(42)</a:t>
            </a:r>
            <a:endParaRPr/>
          </a:p>
          <a:p>
            <a:pPr>
              <a:defRPr/>
            </a:pPr>
            <a:r>
              <a:rPr/>
              <a:t>x = np.linspace(0, 10, 21)</a:t>
            </a:r>
            <a:endParaRPr/>
          </a:p>
          <a:p>
            <a:pPr>
              <a:defRPr/>
            </a:pPr>
            <a:r>
              <a:rPr/>
              <a:t>sigma = np.full_like(x, 0.6)</a:t>
            </a:r>
            <a:endParaRPr/>
          </a:p>
          <a:p>
            <a:pPr>
              <a:defRPr/>
            </a:pPr>
            <a:r>
              <a:rPr/>
              <a:t>y = 1.5 + 0.8*x + rng.normal(0, sigma)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https://numpy.org/doc/stable/reference/random/generator.html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comments="" записывает обычный заголовок без символа #, поэтому при чтении нужна skiprows=1. По умолчанию savetxt сохраняет много значащих цифр; показанный фрагмент округлён только для чтения на слайде. Для смешанных типов данных, пропусков и именованных столбцов часто удобнее pandas.read_csv. Для сохранения dtype и формы NumPy-массива подходят np.save и np.load.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Код примера:</a:t>
            </a:r>
            <a:endParaRPr/>
          </a:p>
          <a:p>
            <a:pPr>
              <a:defRPr/>
            </a:pPr>
            <a:r>
              <a:rPr/>
              <a:t>import numpy as np</a:t>
            </a:r>
            <a:endParaRPr/>
          </a:p>
          <a:p>
            <a:pPr>
              <a:defRPr/>
            </a:pPr>
            <a:r>
              <a:rPr/>
              <a:t>import matplotlib.pyplot as plt</a:t>
            </a:r>
            <a:endParaRPr/>
          </a:p>
          <a:p>
            <a:pPr>
              <a:defRPr/>
            </a:pPr>
            <a:r>
              <a:rPr/>
              <a:t>from numpy.polynomial import Polynomial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plt.style.use("dark_background")</a:t>
            </a:r>
            <a:endParaRPr/>
          </a:p>
          <a:p>
            <a:pPr>
              <a:defRPr/>
            </a:pPr>
            <a:r>
              <a:rPr/>
              <a:t>rng = np.random.default_rng(42)</a:t>
            </a:r>
            <a:endParaRPr/>
          </a:p>
          <a:p>
            <a:pPr>
              <a:defRPr/>
            </a:pPr>
            <a:r>
              <a:rPr/>
              <a:t>x = np.linspace(0, 10, 21)</a:t>
            </a:r>
            <a:endParaRPr/>
          </a:p>
          <a:p>
            <a:pPr>
              <a:defRPr/>
            </a:pPr>
            <a:r>
              <a:rPr/>
              <a:t>sigma = np.full_like(x, 0.6)</a:t>
            </a:r>
            <a:endParaRPr/>
          </a:p>
          <a:p>
            <a:pPr>
              <a:defRPr/>
            </a:pPr>
            <a:r>
              <a:rPr/>
              <a:t>y = 1.5 + 0.8*x + rng.normal(0, sigma)</a:t>
            </a:r>
            <a:endParaRPr/>
          </a:p>
          <a:p>
            <a:pPr>
              <a:defRPr/>
            </a:pPr>
            <a:r>
              <a:rPr/>
              <a:t>model = Polynomial.fit(x, y, deg=1)</a:t>
            </a:r>
            <a:endParaRPr/>
          </a:p>
          <a:p>
            <a:pPr>
              <a:defRPr/>
            </a:pPr>
            <a:r>
              <a:rPr/>
              <a:t>y_fit = model(x)</a:t>
            </a:r>
            <a:endParaRPr/>
          </a:p>
          <a:p>
            <a:pPr>
              <a:defRPr/>
            </a:pPr>
            <a:r>
              <a:rPr/>
              <a:t>residual = y - y_fit</a:t>
            </a:r>
            <a:endParaRPr/>
          </a:p>
          <a:p>
            <a:pPr>
              <a:defRPr/>
            </a:pPr>
            <a:r>
              <a:rPr/>
              <a:t>x_dense = np.linspace(x.min(), x.max(), 200)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data = np.column_stack([x, y, sigma])</a:t>
            </a:r>
            <a:endParaRPr/>
          </a:p>
          <a:p>
            <a:pPr>
              <a:defRPr/>
            </a:pPr>
            <a:r>
              <a:rPr/>
              <a:t>np.savetxt("measurements.csv", data,</a:t>
            </a:r>
            <a:endParaRPr/>
          </a:p>
          <a:p>
            <a:pPr>
              <a:defRPr/>
            </a:pPr>
            <a:r>
              <a:rPr/>
              <a:t>    delimiter=",", header="x,y,sigma",</a:t>
            </a:r>
            <a:endParaRPr/>
          </a:p>
          <a:p>
            <a:pPr>
              <a:defRPr/>
            </a:pPr>
            <a:r>
              <a:rPr/>
              <a:t>    comments="")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data = np.loadtxt("measurements.csv",</a:t>
            </a:r>
            <a:endParaRPr/>
          </a:p>
          <a:p>
            <a:pPr>
              <a:defRPr/>
            </a:pPr>
            <a:r>
              <a:rPr/>
              <a:t>    delimiter=",", skiprows=1)</a:t>
            </a:r>
            <a:endParaRPr/>
          </a:p>
          <a:p>
            <a:pPr>
              <a:defRPr/>
            </a:pPr>
            <a:r>
              <a:rPr/>
              <a:t>x, y, sigma = data.T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https://numpy.org/doc/stable/reference/generated/numpy.savetxt.html</a:t>
            </a:r>
            <a:endParaRPr/>
          </a:p>
          <a:p>
            <a:pPr>
              <a:defRPr/>
            </a:pPr>
            <a:r>
              <a:rPr/>
              <a:t>https://numpy.org/doc/stable/reference/generated/numpy.loadtxt.html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Polynomial.fit выполняет метод наименьших квадратов. При одинаковой sigma достаточно невзвешенной аппроксимации. При известных неодинаковых стандартных отклонениях измерений и ошибках только по y можно передать w=1/sigma; это вес невозведённого в квадрат остатка. fit использует масштабированную область, поэтому для привычных коэффициентов по степеням x нужен convert().coef. Старый np.polyfit не удалён, но для новых примеров удобен API numpy.polynomial. Не интерпретируем успешный fit как подтверждение физической модели и не экстраполируем без обоснования.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Код примера:</a:t>
            </a:r>
            <a:endParaRPr/>
          </a:p>
          <a:p>
            <a:pPr>
              <a:defRPr/>
            </a:pPr>
            <a:r>
              <a:rPr/>
              <a:t>import numpy as np</a:t>
            </a:r>
            <a:endParaRPr/>
          </a:p>
          <a:p>
            <a:pPr>
              <a:defRPr/>
            </a:pPr>
            <a:r>
              <a:rPr/>
              <a:t>import matplotlib.pyplot as plt</a:t>
            </a:r>
            <a:endParaRPr/>
          </a:p>
          <a:p>
            <a:pPr>
              <a:defRPr/>
            </a:pPr>
            <a:r>
              <a:rPr/>
              <a:t>from numpy.polynomial import Polynomial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plt.style.use("dark_background")</a:t>
            </a:r>
            <a:endParaRPr/>
          </a:p>
          <a:p>
            <a:pPr>
              <a:defRPr/>
            </a:pPr>
            <a:r>
              <a:rPr/>
              <a:t>rng = np.random.default_rng(42)</a:t>
            </a:r>
            <a:endParaRPr/>
          </a:p>
          <a:p>
            <a:pPr>
              <a:defRPr/>
            </a:pPr>
            <a:r>
              <a:rPr/>
              <a:t>x = np.linspace(0, 10, 21)</a:t>
            </a:r>
            <a:endParaRPr/>
          </a:p>
          <a:p>
            <a:pPr>
              <a:defRPr/>
            </a:pPr>
            <a:r>
              <a:rPr/>
              <a:t>sigma = np.full_like(x, 0.6)</a:t>
            </a:r>
            <a:endParaRPr/>
          </a:p>
          <a:p>
            <a:pPr>
              <a:defRPr/>
            </a:pPr>
            <a:r>
              <a:rPr/>
              <a:t>y = 1.5 + 0.8*x + rng.normal(0, sigma)</a:t>
            </a:r>
            <a:endParaRPr/>
          </a:p>
          <a:p>
            <a:pPr>
              <a:defRPr/>
            </a:pPr>
            <a:r>
              <a:rPr/>
              <a:t>model = Polynomial.fit(x, y, deg=1)</a:t>
            </a:r>
            <a:endParaRPr/>
          </a:p>
          <a:p>
            <a:pPr>
              <a:defRPr/>
            </a:pPr>
            <a:r>
              <a:rPr/>
              <a:t>y_fit = model(x)</a:t>
            </a:r>
            <a:endParaRPr/>
          </a:p>
          <a:p>
            <a:pPr>
              <a:defRPr/>
            </a:pPr>
            <a:r>
              <a:rPr/>
              <a:t>residual = y - y_fit</a:t>
            </a:r>
            <a:endParaRPr/>
          </a:p>
          <a:p>
            <a:pPr>
              <a:defRPr/>
            </a:pPr>
            <a:r>
              <a:rPr/>
              <a:t>x_dense = np.linspace(x.min(), x.max(), 200)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https://numpy.org/doc/stable/reference/generated/numpy.polynomial.polynomial.Polynomial.fit.html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Начинаем с вопроса к данным. Для отдельных пар измерений подходят точки, для упорядоченного сигнала линия, для распределения гистограмма. boxplot отображает квартили и медиану, его полезно дополнять наблюдениями. imshow особенно удобен для регулярных сеток. Эта таблица показывает примеры функций, а не исчерпывающий перечень. В Seaborn lineplot есть встроенная агрегация, к ней вернёмся отдельно.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https://matplotlib.org/stable/users/explain/quick_start.html</a:t>
            </a:r>
            <a:endParaRPr/>
          </a:p>
          <a:p>
            <a:pPr>
              <a:defRPr/>
            </a:pPr>
            <a:r>
              <a:rPr/>
              <a:t>https://seaborn.pydata.org/tutorial/function_overview.html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  <a:p>
            <a:pPr>
              <a:defRPr/>
            </a:pPr>
            <a:r>
              <a:rPr/>
              <a:t>Код примера:</a:t>
            </a:r>
            <a:endParaRPr/>
          </a:p>
          <a:p>
            <a:pPr>
              <a:defRPr/>
            </a:pPr>
            <a:r>
              <a:rPr/>
              <a:t>import numpy as np</a:t>
            </a:r>
            <a:endParaRPr/>
          </a:p>
          <a:p>
            <a:pPr>
              <a:defRPr/>
            </a:pPr>
            <a:r>
              <a:rPr/>
              <a:t>import matplotlib.pyplot as plt</a:t>
            </a:r>
            <a:endParaRPr/>
          </a:p>
          <a:p>
            <a:pPr>
              <a:defRPr/>
            </a:pPr>
            <a:r>
              <a:rPr/>
              <a:t>from numpy.polynomial import Polynomial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plt.style.use("dark_background")</a:t>
            </a:r>
            <a:endParaRPr/>
          </a:p>
          <a:p>
            <a:pPr>
              <a:defRPr/>
            </a:pPr>
            <a:r>
              <a:rPr/>
              <a:t>rng = np.random.default_rng(42)</a:t>
            </a:r>
            <a:endParaRPr/>
          </a:p>
          <a:p>
            <a:pPr>
              <a:defRPr/>
            </a:pPr>
            <a:r>
              <a:rPr/>
              <a:t>x = np.linspace(0, 10, 21)</a:t>
            </a:r>
            <a:endParaRPr/>
          </a:p>
          <a:p>
            <a:pPr>
              <a:defRPr/>
            </a:pPr>
            <a:r>
              <a:rPr/>
              <a:t>sigma = np.full_like(x, 0.6)</a:t>
            </a:r>
            <a:endParaRPr/>
          </a:p>
          <a:p>
            <a:pPr>
              <a:defRPr/>
            </a:pPr>
            <a:r>
              <a:rPr/>
              <a:t>y = 1.5 + 0.8*x + rng.normal(0, sigma)</a:t>
            </a:r>
            <a:endParaRPr/>
          </a:p>
          <a:p>
            <a:pPr>
              <a:defRPr/>
            </a:pPr>
            <a:r>
              <a:rPr/>
              <a:t>model = Polynomial.fit(x, y, deg=1)</a:t>
            </a:r>
            <a:endParaRPr/>
          </a:p>
          <a:p>
            <a:pPr>
              <a:defRPr/>
            </a:pPr>
            <a:r>
              <a:rPr/>
              <a:t>y_fit = model(x)</a:t>
            </a:r>
            <a:endParaRPr/>
          </a:p>
          <a:p>
            <a:pPr>
              <a:defRPr/>
            </a:pPr>
            <a:r>
              <a:rPr/>
              <a:t>residual = y - y_fit</a:t>
            </a:r>
            <a:endParaRPr/>
          </a:p>
          <a:p>
            <a:pPr>
              <a:defRPr/>
            </a:pPr>
            <a:r>
              <a:rPr/>
              <a:t>x_dense = np.linspace(x.min(), x.max(), 200)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fig, ax = plt.subplots(</a:t>
            </a:r>
            <a:endParaRPr/>
          </a:p>
          <a:p>
            <a:pPr>
              <a:defRPr/>
            </a:pPr>
            <a:r>
              <a:rPr/>
              <a:t>    figsize=(6, 4), layout="constrained")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ax.scatter(x, y, color="cyan")</a:t>
            </a:r>
            <a:endParaRPr/>
          </a:p>
          <a:p>
            <a:pPr>
              <a:defRPr/>
            </a:pPr>
            <a:r>
              <a:rPr/>
              <a:t>ax.set(xlabel="c, мг/л", ylabel="S, мВ")</a:t>
            </a:r>
            <a:endParaRPr/>
          </a:p>
          <a:p>
            <a:pPr>
              <a:defRPr/>
            </a:pPr>
            <a:r>
              <a:rPr/>
              <a:t>plt.show()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https://matplotlib.org/stable/users/explain/quick_start.html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Линия показывает последовательность, поэтому при неупорядоченных x может идти назад. Для функции y(x) обычно сортируют по x: order = np.argsort(u); ax.plot(u[order], v[order]). Но траектории и временные последовательности могут требовать исходного порядка. scatter удобно использовать, когда нужен только набор наблюдений или разные цвета и размеры отдельных точек.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Код примера:</a:t>
            </a:r>
            <a:endParaRPr/>
          </a:p>
          <a:p>
            <a:pPr>
              <a:defRPr/>
            </a:pPr>
            <a:r>
              <a:rPr/>
              <a:t>import numpy as np</a:t>
            </a:r>
            <a:endParaRPr/>
          </a:p>
          <a:p>
            <a:pPr>
              <a:defRPr/>
            </a:pPr>
            <a:r>
              <a:rPr/>
              <a:t>import matplotlib.pyplot as plt</a:t>
            </a:r>
            <a:endParaRPr/>
          </a:p>
          <a:p>
            <a:pPr>
              <a:defRPr/>
            </a:pPr>
            <a:r>
              <a:rPr/>
              <a:t>from numpy.polynomial import Polynomial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plt.style.use("dark_background")</a:t>
            </a:r>
            <a:endParaRPr/>
          </a:p>
          <a:p>
            <a:pPr>
              <a:defRPr/>
            </a:pPr>
            <a:r>
              <a:rPr/>
              <a:t>rng = np.random.default_rng(42)</a:t>
            </a:r>
            <a:endParaRPr/>
          </a:p>
          <a:p>
            <a:pPr>
              <a:defRPr/>
            </a:pPr>
            <a:r>
              <a:rPr/>
              <a:t>x = np.linspace(0, 10, 21)</a:t>
            </a:r>
            <a:endParaRPr/>
          </a:p>
          <a:p>
            <a:pPr>
              <a:defRPr/>
            </a:pPr>
            <a:r>
              <a:rPr/>
              <a:t>sigma = np.full_like(x, 0.6)</a:t>
            </a:r>
            <a:endParaRPr/>
          </a:p>
          <a:p>
            <a:pPr>
              <a:defRPr/>
            </a:pPr>
            <a:r>
              <a:rPr/>
              <a:t>y = 1.5 + 0.8*x + rng.normal(0, sigma)</a:t>
            </a:r>
            <a:endParaRPr/>
          </a:p>
          <a:p>
            <a:pPr>
              <a:defRPr/>
            </a:pPr>
            <a:r>
              <a:rPr/>
              <a:t>model = Polynomial.fit(x, y, deg=1)</a:t>
            </a:r>
            <a:endParaRPr/>
          </a:p>
          <a:p>
            <a:pPr>
              <a:defRPr/>
            </a:pPr>
            <a:r>
              <a:rPr/>
              <a:t>y_fit = model(x)</a:t>
            </a:r>
            <a:endParaRPr/>
          </a:p>
          <a:p>
            <a:pPr>
              <a:defRPr/>
            </a:pPr>
            <a:r>
              <a:rPr/>
              <a:t>residual = y - y_fit</a:t>
            </a:r>
            <a:endParaRPr/>
          </a:p>
          <a:p>
            <a:pPr>
              <a:defRPr/>
            </a:pPr>
            <a:r>
              <a:rPr/>
              <a:t>x_dense = np.linspace(x.min(), x.max(), 200)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u = np.array([0, 2, 1, 3])</a:t>
            </a:r>
            <a:endParaRPr/>
          </a:p>
          <a:p>
            <a:pPr>
              <a:defRPr/>
            </a:pPr>
            <a:r>
              <a:rPr/>
              <a:t>v = np.array([0, 1, 3, 2])</a:t>
            </a:r>
            <a:endParaRPr/>
          </a:p>
          <a:p>
            <a:pPr>
              <a:defRPr/>
            </a:pPr>
            <a:r>
              <a:rPr/>
              <a:t>fig, (ax1, ax2) = plt.subplots(</a:t>
            </a:r>
            <a:endParaRPr/>
          </a:p>
          <a:p>
            <a:pPr>
              <a:defRPr/>
            </a:pPr>
            <a:r>
              <a:rPr/>
              <a:t>    1, 2, figsize=(6, 4),</a:t>
            </a:r>
            <a:endParaRPr/>
          </a:p>
          <a:p>
            <a:pPr>
              <a:defRPr/>
            </a:pPr>
            <a:r>
              <a:rPr/>
              <a:t>    layout="constrained")</a:t>
            </a:r>
            <a:endParaRPr/>
          </a:p>
          <a:p>
            <a:pPr>
              <a:defRPr/>
            </a:pPr>
            <a:r>
              <a:rPr/>
              <a:t>ax1.plot(u, v, "o-", color="cyan")</a:t>
            </a:r>
            <a:endParaRPr/>
          </a:p>
          <a:p>
            <a:pPr>
              <a:defRPr/>
            </a:pPr>
            <a:r>
              <a:rPr/>
              <a:t>ax2.scatter(u, v, color="cyan")</a:t>
            </a:r>
            <a:endParaRPr/>
          </a:p>
          <a:p>
            <a:pPr>
              <a:defRPr/>
            </a:pPr>
            <a:r>
              <a:rPr/>
              <a:t>ax1.set(title="plot", xlabel="u", ylabel="v")</a:t>
            </a:r>
            <a:endParaRPr/>
          </a:p>
          <a:p>
            <a:pPr>
              <a:defRPr/>
            </a:pPr>
            <a:r>
              <a:rPr/>
              <a:t>ax2.set(title="scatter", xlabel="u")</a:t>
            </a:r>
            <a:endParaRPr/>
          </a:p>
          <a:p>
            <a:pPr>
              <a:defRPr/>
            </a:pPr>
            <a:r>
              <a:rPr/>
              <a:t>plt.show()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https://matplotlib.org/stable/api/_as_gen/matplotlib.axes.Axes.plot.html</a:t>
            </a:r>
            <a:endParaRPr/>
          </a:p>
          <a:p>
            <a:pPr>
              <a:defRPr/>
            </a:pPr>
            <a:r>
              <a:rPr/>
              <a:t>https://matplotlib.org/stable/api/_as_gen/matplotlib.axes.Axes.scatter.html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В этом примере plot с форматом "o" показывает только точки. Модель рассчитываем на более плотной сетке x_dense. plot соединяет точки в переданном порядке, поэтому для линии по x данные обычно нужно предварительно сортировать. Толщина linewidth измеряется в пунктах, а не в пикселях. Прозрачная сетка помогает читать значения, не перекрывая данные.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Код примера:</a:t>
            </a:r>
            <a:endParaRPr/>
          </a:p>
          <a:p>
            <a:pPr>
              <a:defRPr/>
            </a:pPr>
            <a:r>
              <a:rPr/>
              <a:t>import numpy as np</a:t>
            </a:r>
            <a:endParaRPr/>
          </a:p>
          <a:p>
            <a:pPr>
              <a:defRPr/>
            </a:pPr>
            <a:r>
              <a:rPr/>
              <a:t>import matplotlib.pyplot as plt</a:t>
            </a:r>
            <a:endParaRPr/>
          </a:p>
          <a:p>
            <a:pPr>
              <a:defRPr/>
            </a:pPr>
            <a:r>
              <a:rPr/>
              <a:t>from numpy.polynomial import Polynomial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plt.style.use("dark_background")</a:t>
            </a:r>
            <a:endParaRPr/>
          </a:p>
          <a:p>
            <a:pPr>
              <a:defRPr/>
            </a:pPr>
            <a:r>
              <a:rPr/>
              <a:t>rng = np.random.default_rng(42)</a:t>
            </a:r>
            <a:endParaRPr/>
          </a:p>
          <a:p>
            <a:pPr>
              <a:defRPr/>
            </a:pPr>
            <a:r>
              <a:rPr/>
              <a:t>x = np.linspace(0, 10, 21)</a:t>
            </a:r>
            <a:endParaRPr/>
          </a:p>
          <a:p>
            <a:pPr>
              <a:defRPr/>
            </a:pPr>
            <a:r>
              <a:rPr/>
              <a:t>sigma = np.full_like(x, 0.6)</a:t>
            </a:r>
            <a:endParaRPr/>
          </a:p>
          <a:p>
            <a:pPr>
              <a:defRPr/>
            </a:pPr>
            <a:r>
              <a:rPr/>
              <a:t>y = 1.5 + 0.8*x + rng.normal(0, sigma)</a:t>
            </a:r>
            <a:endParaRPr/>
          </a:p>
          <a:p>
            <a:pPr>
              <a:defRPr/>
            </a:pPr>
            <a:r>
              <a:rPr/>
              <a:t>model = Polynomial.fit(x, y, deg=1)</a:t>
            </a:r>
            <a:endParaRPr/>
          </a:p>
          <a:p>
            <a:pPr>
              <a:defRPr/>
            </a:pPr>
            <a:r>
              <a:rPr/>
              <a:t>y_fit = model(x)</a:t>
            </a:r>
            <a:endParaRPr/>
          </a:p>
          <a:p>
            <a:pPr>
              <a:defRPr/>
            </a:pPr>
            <a:r>
              <a:rPr/>
              <a:t>residual = y - y_fit</a:t>
            </a:r>
            <a:endParaRPr/>
          </a:p>
          <a:p>
            <a:pPr>
              <a:defRPr/>
            </a:pPr>
            <a:r>
              <a:rPr/>
              <a:t>x_dense = np.linspace(x.min(), x.max(), 200)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fig, ax = plt.subplots(</a:t>
            </a:r>
            <a:endParaRPr/>
          </a:p>
          <a:p>
            <a:pPr>
              <a:defRPr/>
            </a:pPr>
            <a:r>
              <a:rPr/>
              <a:t>    figsize=(6, 4), layout="constrained")</a:t>
            </a:r>
            <a:endParaRPr/>
          </a:p>
          <a:p>
            <a:pPr>
              <a:defRPr/>
            </a:pPr>
            <a:r>
              <a:rPr/>
              <a:t>ax.plot(x, y, "o", color="cyan",</a:t>
            </a:r>
            <a:endParaRPr/>
          </a:p>
          <a:p>
            <a:pPr>
              <a:defRPr/>
            </a:pPr>
            <a:r>
              <a:rPr/>
              <a:t>        label="Измерения")</a:t>
            </a:r>
            <a:endParaRPr/>
          </a:p>
          <a:p>
            <a:pPr>
              <a:defRPr/>
            </a:pPr>
            <a:r>
              <a:rPr/>
              <a:t>ax.plot(x_dense, model(x_dense),</a:t>
            </a:r>
            <a:endParaRPr/>
          </a:p>
          <a:p>
            <a:pPr>
              <a:defRPr/>
            </a:pPr>
            <a:r>
              <a:rPr/>
              <a:t>        color="orange", lw=2, ls="--",</a:t>
            </a:r>
            <a:endParaRPr/>
          </a:p>
          <a:p>
            <a:pPr>
              <a:defRPr/>
            </a:pPr>
            <a:r>
              <a:rPr/>
              <a:t>        label="Модель")</a:t>
            </a:r>
            <a:endParaRPr/>
          </a:p>
          <a:p>
            <a:pPr>
              <a:defRPr/>
            </a:pPr>
            <a:r>
              <a:rPr/>
              <a:t>ax.set(xlabel="c, мг/л", ylabel="S, мВ")</a:t>
            </a:r>
            <a:endParaRPr/>
          </a:p>
          <a:p>
            <a:pPr>
              <a:defRPr/>
            </a:pPr>
            <a:r>
              <a:rPr/>
              <a:t>ax.legend()</a:t>
            </a:r>
            <a:endParaRPr/>
          </a:p>
          <a:p>
            <a:pPr>
              <a:defRPr/>
            </a:pPr>
            <a:r>
              <a:rPr/>
              <a:t>ax.grid(alpha=0.2)</a:t>
            </a:r>
            <a:endParaRPr/>
          </a:p>
          <a:p>
            <a:pPr>
              <a:defRPr/>
            </a:pPr>
            <a:r>
              <a:rPr/>
              <a:t>plt.show()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https://matplotlib.org/stable/api/_as_gen/matplotlib.axes.Axes.plot.html</a:t>
            </a:r>
            <a:endParaRPr/>
          </a:p>
          <a:p>
            <a:pPr>
              <a:defRPr/>
            </a:pPr>
            <a:r>
              <a:rPr/>
              <a:t>https://matplotlib.org/stable/users/explain/quick_start.html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Параметр color задаёт общий цвет, c может содержать численный массив, который Matplotlib преобразует в цвета по cmap. Для отклонений со значимым нулём используем расходящуюся палитру и симметричный диапазон. Для неотрицательной интенсивности чаще подходит последовательная палитра вроде viridis. s задаёт площадь маркера в квадратных пунктах. Если сравниваем несколько графиков, диапазон цветовой шкалы должен быть одинаковым.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Код примера:</a:t>
            </a:r>
            <a:endParaRPr/>
          </a:p>
          <a:p>
            <a:pPr>
              <a:defRPr/>
            </a:pPr>
            <a:r>
              <a:rPr/>
              <a:t>import numpy as np</a:t>
            </a:r>
            <a:endParaRPr/>
          </a:p>
          <a:p>
            <a:pPr>
              <a:defRPr/>
            </a:pPr>
            <a:r>
              <a:rPr/>
              <a:t>import matplotlib.pyplot as plt</a:t>
            </a:r>
            <a:endParaRPr/>
          </a:p>
          <a:p>
            <a:pPr>
              <a:defRPr/>
            </a:pPr>
            <a:r>
              <a:rPr/>
              <a:t>from numpy.polynomial import Polynomial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plt.style.use("dark_background")</a:t>
            </a:r>
            <a:endParaRPr/>
          </a:p>
          <a:p>
            <a:pPr>
              <a:defRPr/>
            </a:pPr>
            <a:r>
              <a:rPr/>
              <a:t>rng = np.random.default_rng(42)</a:t>
            </a:r>
            <a:endParaRPr/>
          </a:p>
          <a:p>
            <a:pPr>
              <a:defRPr/>
            </a:pPr>
            <a:r>
              <a:rPr/>
              <a:t>x = np.linspace(0, 10, 21)</a:t>
            </a:r>
            <a:endParaRPr/>
          </a:p>
          <a:p>
            <a:pPr>
              <a:defRPr/>
            </a:pPr>
            <a:r>
              <a:rPr/>
              <a:t>sigma = np.full_like(x, 0.6)</a:t>
            </a:r>
            <a:endParaRPr/>
          </a:p>
          <a:p>
            <a:pPr>
              <a:defRPr/>
            </a:pPr>
            <a:r>
              <a:rPr/>
              <a:t>y = 1.5 + 0.8*x + rng.normal(0, sigma)</a:t>
            </a:r>
            <a:endParaRPr/>
          </a:p>
          <a:p>
            <a:pPr>
              <a:defRPr/>
            </a:pPr>
            <a:r>
              <a:rPr/>
              <a:t>model = Polynomial.fit(x, y, deg=1)</a:t>
            </a:r>
            <a:endParaRPr/>
          </a:p>
          <a:p>
            <a:pPr>
              <a:defRPr/>
            </a:pPr>
            <a:r>
              <a:rPr/>
              <a:t>y_fit = model(x)</a:t>
            </a:r>
            <a:endParaRPr/>
          </a:p>
          <a:p>
            <a:pPr>
              <a:defRPr/>
            </a:pPr>
            <a:r>
              <a:rPr/>
              <a:t>residual = y - y_fit</a:t>
            </a:r>
            <a:endParaRPr/>
          </a:p>
          <a:p>
            <a:pPr>
              <a:defRPr/>
            </a:pPr>
            <a:r>
              <a:rPr/>
              <a:t>x_dense = np.linspace(x.min(), x.max(), 200)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m = np.max(np.abs(residual))</a:t>
            </a:r>
            <a:endParaRPr/>
          </a:p>
          <a:p>
            <a:pPr>
              <a:defRPr/>
            </a:pPr>
            <a:r>
              <a:rPr/>
              <a:t>fig, ax = plt.subplots(</a:t>
            </a:r>
            <a:endParaRPr/>
          </a:p>
          <a:p>
            <a:pPr>
              <a:defRPr/>
            </a:pPr>
            <a:r>
              <a:rPr/>
              <a:t>    figsize=(6, 4), layout="constrained")</a:t>
            </a:r>
            <a:endParaRPr/>
          </a:p>
          <a:p>
            <a:pPr>
              <a:defRPr/>
            </a:pPr>
            <a:r>
              <a:rPr/>
              <a:t>points = ax.scatter(x, y, c=residual,</a:t>
            </a:r>
            <a:endParaRPr/>
          </a:p>
          <a:p>
            <a:pPr>
              <a:defRPr/>
            </a:pPr>
            <a:r>
              <a:rPr/>
              <a:t>    cmap="coolwarm", vmin=-m, vmax=m, s=70)</a:t>
            </a:r>
            <a:endParaRPr/>
          </a:p>
          <a:p>
            <a:pPr>
              <a:defRPr/>
            </a:pPr>
            <a:r>
              <a:rPr/>
              <a:t>fig.colorbar(points, ax=ax,</a:t>
            </a:r>
            <a:endParaRPr/>
          </a:p>
          <a:p>
            <a:pPr>
              <a:defRPr/>
            </a:pPr>
            <a:r>
              <a:rPr/>
              <a:t>             label="Остаток, мВ")</a:t>
            </a:r>
            <a:endParaRPr/>
          </a:p>
          <a:p>
            <a:pPr>
              <a:defRPr/>
            </a:pPr>
            <a:r>
              <a:rPr/>
              <a:t>ax.set(xlabel="c, мг/л", ylabel="S, мВ")</a:t>
            </a:r>
            <a:endParaRPr/>
          </a:p>
          <a:p>
            <a:pPr>
              <a:defRPr/>
            </a:pPr>
            <a:r>
              <a:rPr/>
              <a:t>plt.show()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https://matplotlib.org/stable/api/_as_gen/matplotlib.axes.Axes.scatter.html</a:t>
            </a:r>
            <a:endParaRPr/>
          </a:p>
          <a:p>
            <a:pPr>
              <a:defRPr/>
            </a:pPr>
            <a:r>
              <a:rPr/>
              <a:t>https://matplotlib.org/stable/users/explain/colors/colormaps.html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xy задаёт координаты точки, xytext координаты текста аннотации; по умолчанию обе пары в координатах данных. Подписи делений могут содержать математические выражения MathText между знаками $. Ограничения осей выбирают по задаче, чтобы важные данные не оказались за рамкой. Для логарифмической оси нулевые и отрицательные значения требуют отдельного решения. Переменная t новая и не заменяет концентрацию x из предыдущего примера.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Код примера:</a:t>
            </a:r>
            <a:endParaRPr/>
          </a:p>
          <a:p>
            <a:pPr>
              <a:defRPr/>
            </a:pPr>
            <a:r>
              <a:rPr/>
              <a:t>import numpy as np</a:t>
            </a:r>
            <a:endParaRPr/>
          </a:p>
          <a:p>
            <a:pPr>
              <a:defRPr/>
            </a:pPr>
            <a:r>
              <a:rPr/>
              <a:t>import matplotlib.pyplot as plt</a:t>
            </a:r>
            <a:endParaRPr/>
          </a:p>
          <a:p>
            <a:pPr>
              <a:defRPr/>
            </a:pPr>
            <a:r>
              <a:rPr/>
              <a:t>from numpy.polynomial import Polynomial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plt.style.use("dark_background")</a:t>
            </a:r>
            <a:endParaRPr/>
          </a:p>
          <a:p>
            <a:pPr>
              <a:defRPr/>
            </a:pPr>
            <a:r>
              <a:rPr/>
              <a:t>rng = np.random.default_rng(42)</a:t>
            </a:r>
            <a:endParaRPr/>
          </a:p>
          <a:p>
            <a:pPr>
              <a:defRPr/>
            </a:pPr>
            <a:r>
              <a:rPr/>
              <a:t>x = np.linspace(0, 10, 21)</a:t>
            </a:r>
            <a:endParaRPr/>
          </a:p>
          <a:p>
            <a:pPr>
              <a:defRPr/>
            </a:pPr>
            <a:r>
              <a:rPr/>
              <a:t>sigma = np.full_like(x, 0.6)</a:t>
            </a:r>
            <a:endParaRPr/>
          </a:p>
          <a:p>
            <a:pPr>
              <a:defRPr/>
            </a:pPr>
            <a:r>
              <a:rPr/>
              <a:t>y = 1.5 + 0.8*x + rng.normal(0, sigma)</a:t>
            </a:r>
            <a:endParaRPr/>
          </a:p>
          <a:p>
            <a:pPr>
              <a:defRPr/>
            </a:pPr>
            <a:r>
              <a:rPr/>
              <a:t>model = Polynomial.fit(x, y, deg=1)</a:t>
            </a:r>
            <a:endParaRPr/>
          </a:p>
          <a:p>
            <a:pPr>
              <a:defRPr/>
            </a:pPr>
            <a:r>
              <a:rPr/>
              <a:t>y_fit = model(x)</a:t>
            </a:r>
            <a:endParaRPr/>
          </a:p>
          <a:p>
            <a:pPr>
              <a:defRPr/>
            </a:pPr>
            <a:r>
              <a:rPr/>
              <a:t>residual = y - y_fit</a:t>
            </a:r>
            <a:endParaRPr/>
          </a:p>
          <a:p>
            <a:pPr>
              <a:defRPr/>
            </a:pPr>
            <a:r>
              <a:rPr/>
              <a:t>x_dense = np.linspace(x.min(), x.max(), 200)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t = np.linspace(0, 2*np.pi, 100)</a:t>
            </a:r>
            <a:endParaRPr/>
          </a:p>
          <a:p>
            <a:pPr>
              <a:defRPr/>
            </a:pPr>
            <a:r>
              <a:rPr/>
              <a:t>fig, ax = plt.subplots(</a:t>
            </a:r>
            <a:endParaRPr/>
          </a:p>
          <a:p>
            <a:pPr>
              <a:defRPr/>
            </a:pPr>
            <a:r>
              <a:rPr/>
              <a:t>    figsize=(6, 4), layout="constrained")</a:t>
            </a:r>
            <a:endParaRPr/>
          </a:p>
          <a:p>
            <a:pPr>
              <a:defRPr/>
            </a:pPr>
            <a:r>
              <a:rPr/>
              <a:t>ax.plot(t, np.sin(t)**2, color="cyan")</a:t>
            </a:r>
            <a:endParaRPr/>
          </a:p>
          <a:p>
            <a:pPr>
              <a:defRPr/>
            </a:pPr>
            <a:r>
              <a:rPr/>
              <a:t>ax.set(xlim=(0, 2*np.pi), ylim=(-0.05, 1.3),</a:t>
            </a:r>
            <a:endParaRPr/>
          </a:p>
          <a:p>
            <a:pPr>
              <a:defRPr/>
            </a:pPr>
            <a:r>
              <a:rPr/>
              <a:t>       xlabel="t, рад", ylabel="sin²(t)")</a:t>
            </a:r>
            <a:endParaRPr/>
          </a:p>
          <a:p>
            <a:pPr>
              <a:defRPr/>
            </a:pPr>
            <a:r>
              <a:rPr/>
              <a:t>ax.set_xticks([0, np.pi, 2*np.pi],</a:t>
            </a:r>
            <a:endParaRPr/>
          </a:p>
          <a:p>
            <a:pPr>
              <a:defRPr/>
            </a:pPr>
            <a:r>
              <a:rPr/>
              <a:t>              ["0", r"$\pi$", r"$2\pi$"])</a:t>
            </a:r>
            <a:endParaRPr/>
          </a:p>
          <a:p>
            <a:pPr>
              <a:defRPr/>
            </a:pPr>
            <a:r>
              <a:rPr/>
              <a:t>ax.annotate("Максимум", xy=(np.pi/2, 1),</a:t>
            </a:r>
            <a:endParaRPr/>
          </a:p>
          <a:p>
            <a:pPr>
              <a:defRPr/>
            </a:pPr>
            <a:r>
              <a:rPr/>
              <a:t>    xytext=(2.8, 1.15),</a:t>
            </a:r>
            <a:endParaRPr/>
          </a:p>
          <a:p>
            <a:pPr>
              <a:defRPr/>
            </a:pPr>
            <a:r>
              <a:rPr/>
              <a:t>    arrowprops={"arrowstyle": "-&gt;"})</a:t>
            </a:r>
            <a:endParaRPr/>
          </a:p>
          <a:p>
            <a:pPr>
              <a:defRPr/>
            </a:pPr>
            <a:r>
              <a:rPr/>
              <a:t>plt.show()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https://matplotlib.org/stable/api/_as_gen/matplotlib.axes.Axes.set_xticks.html</a:t>
            </a:r>
            <a:endParaRPr/>
          </a:p>
          <a:p>
            <a:pPr>
              <a:defRPr/>
            </a:pPr>
            <a:r>
              <a:rPr/>
              <a:t>https://matplotlib.org/stable/api/_as_gen/matplotlib.axes.Axes.annotate.html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Для экспоненциального спада полулогарифмический график получается прямым. ax.set_xscale("log") меняет ось x, обе команды вместе задают логарифмический масштаб по обеим осям. Нули и отрицательные значения нельзя содержательно показать на обычной логарифмической шкале. Не добавляйте к данным произвольную константу только ради отображения. При необходимости учитывайте физический смысл и альтернативы, например symlog, отдельно.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Код примера:</a:t>
            </a:r>
            <a:endParaRPr/>
          </a:p>
          <a:p>
            <a:pPr>
              <a:defRPr/>
            </a:pPr>
            <a:r>
              <a:rPr/>
              <a:t>import numpy as np</a:t>
            </a:r>
            <a:endParaRPr/>
          </a:p>
          <a:p>
            <a:pPr>
              <a:defRPr/>
            </a:pPr>
            <a:r>
              <a:rPr/>
              <a:t>import matplotlib.pyplot as plt</a:t>
            </a:r>
            <a:endParaRPr/>
          </a:p>
          <a:p>
            <a:pPr>
              <a:defRPr/>
            </a:pPr>
            <a:r>
              <a:rPr/>
              <a:t>from numpy.polynomial import Polynomial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plt.style.use("dark_background")</a:t>
            </a:r>
            <a:endParaRPr/>
          </a:p>
          <a:p>
            <a:pPr>
              <a:defRPr/>
            </a:pPr>
            <a:r>
              <a:rPr/>
              <a:t>rng = np.random.default_rng(42)</a:t>
            </a:r>
            <a:endParaRPr/>
          </a:p>
          <a:p>
            <a:pPr>
              <a:defRPr/>
            </a:pPr>
            <a:r>
              <a:rPr/>
              <a:t>x = np.linspace(0, 10, 21)</a:t>
            </a:r>
            <a:endParaRPr/>
          </a:p>
          <a:p>
            <a:pPr>
              <a:defRPr/>
            </a:pPr>
            <a:r>
              <a:rPr/>
              <a:t>sigma = np.full_like(x, 0.6)</a:t>
            </a:r>
            <a:endParaRPr/>
          </a:p>
          <a:p>
            <a:pPr>
              <a:defRPr/>
            </a:pPr>
            <a:r>
              <a:rPr/>
              <a:t>y = 1.5 + 0.8*x + rng.normal(0, sigma)</a:t>
            </a:r>
            <a:endParaRPr/>
          </a:p>
          <a:p>
            <a:pPr>
              <a:defRPr/>
            </a:pPr>
            <a:r>
              <a:rPr/>
              <a:t>model = Polynomial.fit(x, y, deg=1)</a:t>
            </a:r>
            <a:endParaRPr/>
          </a:p>
          <a:p>
            <a:pPr>
              <a:defRPr/>
            </a:pPr>
            <a:r>
              <a:rPr/>
              <a:t>y_fit = model(x)</a:t>
            </a:r>
            <a:endParaRPr/>
          </a:p>
          <a:p>
            <a:pPr>
              <a:defRPr/>
            </a:pPr>
            <a:r>
              <a:rPr/>
              <a:t>residual = y - y_fit</a:t>
            </a:r>
            <a:endParaRPr/>
          </a:p>
          <a:p>
            <a:pPr>
              <a:defRPr/>
            </a:pPr>
            <a:r>
              <a:rPr/>
              <a:t>x_dense = np.linspace(x.min(), x.max(), 200)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u = np.linspace(0, 5, 100)</a:t>
            </a:r>
            <a:endParaRPr/>
          </a:p>
          <a:p>
            <a:pPr>
              <a:defRPr/>
            </a:pPr>
            <a:r>
              <a:rPr/>
              <a:t>signal = np.exp(-u)</a:t>
            </a:r>
            <a:endParaRPr/>
          </a:p>
          <a:p>
            <a:pPr>
              <a:defRPr/>
            </a:pPr>
            <a:r>
              <a:rPr/>
              <a:t>fig, ax = plt.subplots(</a:t>
            </a:r>
            <a:endParaRPr/>
          </a:p>
          <a:p>
            <a:pPr>
              <a:defRPr/>
            </a:pPr>
            <a:r>
              <a:rPr/>
              <a:t>    figsize=(6, 4), layout="constrained")</a:t>
            </a:r>
            <a:endParaRPr/>
          </a:p>
          <a:p>
            <a:pPr>
              <a:defRPr/>
            </a:pPr>
            <a:r>
              <a:rPr/>
              <a:t>ax.plot(u, signal, color="cyan")</a:t>
            </a:r>
            <a:endParaRPr/>
          </a:p>
          <a:p>
            <a:pPr>
              <a:defRPr/>
            </a:pPr>
            <a:r>
              <a:rPr/>
              <a:t>ax.set_yscale("log")</a:t>
            </a:r>
            <a:endParaRPr/>
          </a:p>
          <a:p>
            <a:pPr>
              <a:defRPr/>
            </a:pPr>
            <a:r>
              <a:rPr/>
              <a:t>ax.set(xlabel="t, с", ylabel="S, отн. ед.")</a:t>
            </a:r>
            <a:endParaRPr/>
          </a:p>
          <a:p>
            <a:pPr>
              <a:defRPr/>
            </a:pPr>
            <a:r>
              <a:rPr/>
              <a:t>ax.grid(alpha=0.25, which="both")</a:t>
            </a:r>
            <a:endParaRPr/>
          </a:p>
          <a:p>
            <a:pPr>
              <a:defRPr/>
            </a:pPr>
            <a:r>
              <a:rPr/>
              <a:t>plt.show()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https://matplotlib.org/stable/users/explain/axes/axes_scales.html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Стиль и rcParams задают значения по умолчанию, поэтому их лучше применять до создания рисунков. Для временных настроек подходит контекст with plt.rc_context({...}):. Не все параметры определяются стилем автоматически; проверяйте читаемость подписей и контраст маркеров. sns.set_theme() меняет общие настройки Matplotlib: если используете его, тёмный стиль следует задать после него. Крупный график на экране может иметь слишком мелкие подписи после вставки в статью или слайды.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Код примера:</a:t>
            </a:r>
            <a:endParaRPr/>
          </a:p>
          <a:p>
            <a:pPr>
              <a:defRPr/>
            </a:pPr>
            <a:r>
              <a:rPr/>
              <a:t>import numpy as np</a:t>
            </a:r>
            <a:endParaRPr/>
          </a:p>
          <a:p>
            <a:pPr>
              <a:defRPr/>
            </a:pPr>
            <a:r>
              <a:rPr/>
              <a:t>import matplotlib.pyplot as plt</a:t>
            </a:r>
            <a:endParaRPr/>
          </a:p>
          <a:p>
            <a:pPr>
              <a:defRPr/>
            </a:pPr>
            <a:r>
              <a:rPr/>
              <a:t>from numpy.polynomial import Polynomial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plt.style.use("dark_background")</a:t>
            </a:r>
            <a:endParaRPr/>
          </a:p>
          <a:p>
            <a:pPr>
              <a:defRPr/>
            </a:pPr>
            <a:r>
              <a:rPr/>
              <a:t>rng = np.random.default_rng(42)</a:t>
            </a:r>
            <a:endParaRPr/>
          </a:p>
          <a:p>
            <a:pPr>
              <a:defRPr/>
            </a:pPr>
            <a:r>
              <a:rPr/>
              <a:t>x = np.linspace(0, 10, 21)</a:t>
            </a:r>
            <a:endParaRPr/>
          </a:p>
          <a:p>
            <a:pPr>
              <a:defRPr/>
            </a:pPr>
            <a:r>
              <a:rPr/>
              <a:t>sigma = np.full_like(x, 0.6)</a:t>
            </a:r>
            <a:endParaRPr/>
          </a:p>
          <a:p>
            <a:pPr>
              <a:defRPr/>
            </a:pPr>
            <a:r>
              <a:rPr/>
              <a:t>y = 1.5 + 0.8*x + rng.normal(0, sigma)</a:t>
            </a:r>
            <a:endParaRPr/>
          </a:p>
          <a:p>
            <a:pPr>
              <a:defRPr/>
            </a:pPr>
            <a:r>
              <a:rPr/>
              <a:t>model = Polynomial.fit(x, y, deg=1)</a:t>
            </a:r>
            <a:endParaRPr/>
          </a:p>
          <a:p>
            <a:pPr>
              <a:defRPr/>
            </a:pPr>
            <a:r>
              <a:rPr/>
              <a:t>y_fit = model(x)</a:t>
            </a:r>
            <a:endParaRPr/>
          </a:p>
          <a:p>
            <a:pPr>
              <a:defRPr/>
            </a:pPr>
            <a:r>
              <a:rPr/>
              <a:t>residual = y - y_fit</a:t>
            </a:r>
            <a:endParaRPr/>
          </a:p>
          <a:p>
            <a:pPr>
              <a:defRPr/>
            </a:pPr>
            <a:r>
              <a:rPr/>
              <a:t>x_dense = np.linspace(x.min(), x.max(), 200)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plt.style.use("dark_background")</a:t>
            </a:r>
            <a:endParaRPr/>
          </a:p>
          <a:p>
            <a:pPr>
              <a:defRPr/>
            </a:pPr>
            <a:r>
              <a:rPr/>
              <a:t>plt.rcParams.update({</a:t>
            </a:r>
            <a:endParaRPr/>
          </a:p>
          <a:p>
            <a:pPr>
              <a:defRPr/>
            </a:pPr>
            <a:r>
              <a:rPr/>
              <a:t>    "font.size": 12,</a:t>
            </a:r>
            <a:endParaRPr/>
          </a:p>
          <a:p>
            <a:pPr>
              <a:defRPr/>
            </a:pPr>
            <a:r>
              <a:rPr/>
              <a:t>    "axes.grid": True,</a:t>
            </a:r>
            <a:endParaRPr/>
          </a:p>
          <a:p>
            <a:pPr>
              <a:defRPr/>
            </a:pPr>
            <a:r>
              <a:rPr/>
              <a:t>    "grid.alpha": 0.2,</a:t>
            </a:r>
            <a:endParaRPr/>
          </a:p>
          <a:p>
            <a:pPr>
              <a:defRPr/>
            </a:pPr>
            <a:r>
              <a:rPr/>
              <a:t>    "lines.linewidth": 2</a:t>
            </a:r>
            <a:endParaRPr/>
          </a:p>
          <a:p>
            <a:pPr>
              <a:defRPr/>
            </a:pPr>
            <a:r>
              <a:rPr/>
              <a:t>})</a:t>
            </a:r>
            <a:endParaRPr/>
          </a:p>
          <a:p>
            <a:pPr>
              <a:defRPr/>
            </a:pPr>
            <a:r>
              <a:rPr/>
              <a:t>u = np.linspace(0, 2*np.pi, 100)</a:t>
            </a:r>
            <a:endParaRPr/>
          </a:p>
          <a:p>
            <a:pPr>
              <a:defRPr/>
            </a:pPr>
            <a:r>
              <a:rPr/>
              <a:t>fig, ax = plt.subplots(</a:t>
            </a:r>
            <a:endParaRPr/>
          </a:p>
          <a:p>
            <a:pPr>
              <a:defRPr/>
            </a:pPr>
            <a:r>
              <a:rPr/>
              <a:t>    figsize=(6, 4), layout="constrained")</a:t>
            </a:r>
            <a:endParaRPr/>
          </a:p>
          <a:p>
            <a:pPr>
              <a:defRPr/>
            </a:pPr>
            <a:r>
              <a:rPr/>
              <a:t>ax.plot(u, np.sin(u), label="sin")</a:t>
            </a:r>
            <a:endParaRPr/>
          </a:p>
          <a:p>
            <a:pPr>
              <a:defRPr/>
            </a:pPr>
            <a:r>
              <a:rPr/>
              <a:t>ax.plot(u, np.cos(u), ls="--", label="cos")</a:t>
            </a:r>
            <a:endParaRPr/>
          </a:p>
          <a:p>
            <a:pPr>
              <a:defRPr/>
            </a:pPr>
            <a:r>
              <a:rPr/>
              <a:t>ax.set(xlabel="u, рад", ylabel="Значение")</a:t>
            </a:r>
            <a:endParaRPr/>
          </a:p>
          <a:p>
            <a:pPr>
              <a:defRPr/>
            </a:pPr>
            <a:r>
              <a:rPr/>
              <a:t>ax.legend()</a:t>
            </a:r>
            <a:endParaRPr/>
          </a:p>
          <a:p>
            <a:pPr>
              <a:defRPr/>
            </a:pPr>
            <a:r>
              <a:rPr/>
              <a:t>plt.show()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https://matplotlib.org/stable/users/explain/customizing.html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yerr задаёт неотрицательные длины интервалов в единицах y. Это могут быть стандартные отклонения, стандартные ошибки, интервалы неопределённости или иные величины, но их смысл нужно явно подписать. В нашем искусственном примере это известное стандартное отклонение шума, а не оценка стандартной ошибки среднего. xerr задаёт погрешности по x. Для несимметричных интервалов yerr имеет форму (2, N).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Код примера:</a:t>
            </a:r>
            <a:endParaRPr/>
          </a:p>
          <a:p>
            <a:pPr>
              <a:defRPr/>
            </a:pPr>
            <a:r>
              <a:rPr/>
              <a:t>import numpy as np</a:t>
            </a:r>
            <a:endParaRPr/>
          </a:p>
          <a:p>
            <a:pPr>
              <a:defRPr/>
            </a:pPr>
            <a:r>
              <a:rPr/>
              <a:t>import matplotlib.pyplot as plt</a:t>
            </a:r>
            <a:endParaRPr/>
          </a:p>
          <a:p>
            <a:pPr>
              <a:defRPr/>
            </a:pPr>
            <a:r>
              <a:rPr/>
              <a:t>from numpy.polynomial import Polynomial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plt.style.use("dark_background")</a:t>
            </a:r>
            <a:endParaRPr/>
          </a:p>
          <a:p>
            <a:pPr>
              <a:defRPr/>
            </a:pPr>
            <a:r>
              <a:rPr/>
              <a:t>rng = np.random.default_rng(42)</a:t>
            </a:r>
            <a:endParaRPr/>
          </a:p>
          <a:p>
            <a:pPr>
              <a:defRPr/>
            </a:pPr>
            <a:r>
              <a:rPr/>
              <a:t>x = np.linspace(0, 10, 21)</a:t>
            </a:r>
            <a:endParaRPr/>
          </a:p>
          <a:p>
            <a:pPr>
              <a:defRPr/>
            </a:pPr>
            <a:r>
              <a:rPr/>
              <a:t>sigma = np.full_like(x, 0.6)</a:t>
            </a:r>
            <a:endParaRPr/>
          </a:p>
          <a:p>
            <a:pPr>
              <a:defRPr/>
            </a:pPr>
            <a:r>
              <a:rPr/>
              <a:t>y = 1.5 + 0.8*x + rng.normal(0, sigma)</a:t>
            </a:r>
            <a:endParaRPr/>
          </a:p>
          <a:p>
            <a:pPr>
              <a:defRPr/>
            </a:pPr>
            <a:r>
              <a:rPr/>
              <a:t>model = Polynomial.fit(x, y, deg=1)</a:t>
            </a:r>
            <a:endParaRPr/>
          </a:p>
          <a:p>
            <a:pPr>
              <a:defRPr/>
            </a:pPr>
            <a:r>
              <a:rPr/>
              <a:t>y_fit = model(x)</a:t>
            </a:r>
            <a:endParaRPr/>
          </a:p>
          <a:p>
            <a:pPr>
              <a:defRPr/>
            </a:pPr>
            <a:r>
              <a:rPr/>
              <a:t>residual = y - y_fit</a:t>
            </a:r>
            <a:endParaRPr/>
          </a:p>
          <a:p>
            <a:pPr>
              <a:defRPr/>
            </a:pPr>
            <a:r>
              <a:rPr/>
              <a:t>x_dense = np.linspace(x.min(), x.max(), 200)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fig, ax = plt.subplots(</a:t>
            </a:r>
            <a:endParaRPr/>
          </a:p>
          <a:p>
            <a:pPr>
              <a:defRPr/>
            </a:pPr>
            <a:r>
              <a:rPr/>
              <a:t>    figsize=(6, 4), layout="constrained")</a:t>
            </a:r>
            <a:endParaRPr/>
          </a:p>
          <a:p>
            <a:pPr>
              <a:defRPr/>
            </a:pPr>
            <a:r>
              <a:rPr/>
              <a:t>ax.errorbar(x, y, yerr=sigma,</a:t>
            </a:r>
            <a:endParaRPr/>
          </a:p>
          <a:p>
            <a:pPr>
              <a:defRPr/>
            </a:pPr>
            <a:r>
              <a:rPr/>
              <a:t>    fmt="o", capsize=3, color="cyan",</a:t>
            </a:r>
            <a:endParaRPr/>
          </a:p>
          <a:p>
            <a:pPr>
              <a:defRPr/>
            </a:pPr>
            <a:r>
              <a:rPr/>
              <a:t>    label="Измерения ±1σ")</a:t>
            </a:r>
            <a:endParaRPr/>
          </a:p>
          <a:p>
            <a:pPr>
              <a:defRPr/>
            </a:pPr>
            <a:r>
              <a:rPr/>
              <a:t>ax.plot(x_dense, model(x_dense),</a:t>
            </a:r>
            <a:endParaRPr/>
          </a:p>
          <a:p>
            <a:pPr>
              <a:defRPr/>
            </a:pPr>
            <a:r>
              <a:rPr/>
              <a:t>    color="orange", label="Модель")</a:t>
            </a:r>
            <a:endParaRPr/>
          </a:p>
          <a:p>
            <a:pPr>
              <a:defRPr/>
            </a:pPr>
            <a:r>
              <a:rPr/>
              <a:t>ax.set(xlabel="c, мг/л", ylabel="S, мВ")</a:t>
            </a:r>
            <a:endParaRPr/>
          </a:p>
          <a:p>
            <a:pPr>
              <a:defRPr/>
            </a:pPr>
            <a:r>
              <a:rPr/>
              <a:t>ax.legend()</a:t>
            </a:r>
            <a:endParaRPr/>
          </a:p>
          <a:p>
            <a:pPr>
              <a:defRPr/>
            </a:pPr>
            <a:r>
              <a:rPr/>
              <a:t>plt.show()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https://matplotlib.org/stable/api/_as_gen/matplotlib.axes.Axes.errorbar.html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Верхняя панель показывает данные и модель, нижняя остатки y−model(x). Проверяем систематическую кривизну, изменение разброса и выделяющиеся точки. Отсутствие видимой структуры само по себе не доказывает адекватность модели. При сетке 2×2 subplots возвращает двумерный массив Axes, например axs[0, 1].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Код примера:</a:t>
            </a:r>
            <a:endParaRPr/>
          </a:p>
          <a:p>
            <a:pPr>
              <a:defRPr/>
            </a:pPr>
            <a:r>
              <a:rPr/>
              <a:t>import numpy as np</a:t>
            </a:r>
            <a:endParaRPr/>
          </a:p>
          <a:p>
            <a:pPr>
              <a:defRPr/>
            </a:pPr>
            <a:r>
              <a:rPr/>
              <a:t>import matplotlib.pyplot as plt</a:t>
            </a:r>
            <a:endParaRPr/>
          </a:p>
          <a:p>
            <a:pPr>
              <a:defRPr/>
            </a:pPr>
            <a:r>
              <a:rPr/>
              <a:t>from numpy.polynomial import Polynomial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plt.style.use("dark_background")</a:t>
            </a:r>
            <a:endParaRPr/>
          </a:p>
          <a:p>
            <a:pPr>
              <a:defRPr/>
            </a:pPr>
            <a:r>
              <a:rPr/>
              <a:t>rng = np.random.default_rng(42)</a:t>
            </a:r>
            <a:endParaRPr/>
          </a:p>
          <a:p>
            <a:pPr>
              <a:defRPr/>
            </a:pPr>
            <a:r>
              <a:rPr/>
              <a:t>x = np.linspace(0, 10, 21)</a:t>
            </a:r>
            <a:endParaRPr/>
          </a:p>
          <a:p>
            <a:pPr>
              <a:defRPr/>
            </a:pPr>
            <a:r>
              <a:rPr/>
              <a:t>sigma = np.full_like(x, 0.6)</a:t>
            </a:r>
            <a:endParaRPr/>
          </a:p>
          <a:p>
            <a:pPr>
              <a:defRPr/>
            </a:pPr>
            <a:r>
              <a:rPr/>
              <a:t>y = 1.5 + 0.8*x + rng.normal(0, sigma)</a:t>
            </a:r>
            <a:endParaRPr/>
          </a:p>
          <a:p>
            <a:pPr>
              <a:defRPr/>
            </a:pPr>
            <a:r>
              <a:rPr/>
              <a:t>model = Polynomial.fit(x, y, deg=1)</a:t>
            </a:r>
            <a:endParaRPr/>
          </a:p>
          <a:p>
            <a:pPr>
              <a:defRPr/>
            </a:pPr>
            <a:r>
              <a:rPr/>
              <a:t>y_fit = model(x)</a:t>
            </a:r>
            <a:endParaRPr/>
          </a:p>
          <a:p>
            <a:pPr>
              <a:defRPr/>
            </a:pPr>
            <a:r>
              <a:rPr/>
              <a:t>residual = y - y_fit</a:t>
            </a:r>
            <a:endParaRPr/>
          </a:p>
          <a:p>
            <a:pPr>
              <a:defRPr/>
            </a:pPr>
            <a:r>
              <a:rPr/>
              <a:t>x_dense = np.linspace(x.min(), x.max(), 200)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fig, (ax1, ax2) = plt.subplots(</a:t>
            </a:r>
            <a:endParaRPr/>
          </a:p>
          <a:p>
            <a:pPr>
              <a:defRPr/>
            </a:pPr>
            <a:r>
              <a:rPr/>
              <a:t>    2, 1, sharex=True, figsize=(6, 5),</a:t>
            </a:r>
            <a:endParaRPr/>
          </a:p>
          <a:p>
            <a:pPr>
              <a:defRPr/>
            </a:pPr>
            <a:r>
              <a:rPr/>
              <a:t>    layout="constrained")</a:t>
            </a:r>
            <a:endParaRPr/>
          </a:p>
          <a:p>
            <a:pPr>
              <a:defRPr/>
            </a:pPr>
            <a:r>
              <a:rPr/>
              <a:t>ax1.scatter(x, y, color="cyan")</a:t>
            </a:r>
            <a:endParaRPr/>
          </a:p>
          <a:p>
            <a:pPr>
              <a:defRPr/>
            </a:pPr>
            <a:r>
              <a:rPr/>
              <a:t>ax1.plot(x_dense, model(x_dense),</a:t>
            </a:r>
            <a:endParaRPr/>
          </a:p>
          <a:p>
            <a:pPr>
              <a:defRPr/>
            </a:pPr>
            <a:r>
              <a:rPr/>
              <a:t>         color="orange")</a:t>
            </a:r>
            <a:endParaRPr/>
          </a:p>
          <a:p>
            <a:pPr>
              <a:defRPr/>
            </a:pPr>
            <a:r>
              <a:rPr/>
              <a:t>ax1.set_ylabel("S, мВ")</a:t>
            </a:r>
            <a:endParaRPr/>
          </a:p>
          <a:p>
            <a:pPr>
              <a:defRPr/>
            </a:pPr>
            <a:r>
              <a:rPr/>
              <a:t>ax2.scatter(x, residual, color="cyan")</a:t>
            </a:r>
            <a:endParaRPr/>
          </a:p>
          <a:p>
            <a:pPr>
              <a:defRPr/>
            </a:pPr>
            <a:r>
              <a:rPr/>
              <a:t>ax2.axhline(0, color="gray", ls="--")</a:t>
            </a:r>
            <a:endParaRPr/>
          </a:p>
          <a:p>
            <a:pPr>
              <a:defRPr/>
            </a:pPr>
            <a:r>
              <a:rPr/>
              <a:t>ax2.set(xlabel="c, мг/л",</a:t>
            </a:r>
            <a:endParaRPr/>
          </a:p>
          <a:p>
            <a:pPr>
              <a:defRPr/>
            </a:pPr>
            <a:r>
              <a:rPr/>
              <a:t>        ylabel="Остаток, мВ")</a:t>
            </a:r>
            <a:endParaRPr/>
          </a:p>
          <a:p>
            <a:pPr>
              <a:defRPr/>
            </a:pPr>
            <a:r>
              <a:rPr/>
              <a:t>plt.show()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https://matplotlib.org/stable/api/_as_gen/matplotlib.pyplot.subplots.html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В этом примере добавляем три графика в сетку 2×2 и удаляем неиспользуемый четвёртый Axes. Это демонстрация индексации двумерного массива axs, а не рекомендуемая композиция для каждого рисунка. Более плотную композицию можно собрать через subplot_mosaic или GridSpec. sharex и sharey полезны, когда панели имеют одинаковые величины и единицы; для разнородных графиков их не включают автоматически.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Код примера:</a:t>
            </a:r>
            <a:endParaRPr/>
          </a:p>
          <a:p>
            <a:pPr>
              <a:defRPr/>
            </a:pPr>
            <a:r>
              <a:rPr/>
              <a:t>import numpy as np</a:t>
            </a:r>
            <a:endParaRPr/>
          </a:p>
          <a:p>
            <a:pPr>
              <a:defRPr/>
            </a:pPr>
            <a:r>
              <a:rPr/>
              <a:t>import matplotlib.pyplot as plt</a:t>
            </a:r>
            <a:endParaRPr/>
          </a:p>
          <a:p>
            <a:pPr>
              <a:defRPr/>
            </a:pPr>
            <a:r>
              <a:rPr/>
              <a:t>from numpy.polynomial import Polynomial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plt.style.use("dark_background")</a:t>
            </a:r>
            <a:endParaRPr/>
          </a:p>
          <a:p>
            <a:pPr>
              <a:defRPr/>
            </a:pPr>
            <a:r>
              <a:rPr/>
              <a:t>rng = np.random.default_rng(42)</a:t>
            </a:r>
            <a:endParaRPr/>
          </a:p>
          <a:p>
            <a:pPr>
              <a:defRPr/>
            </a:pPr>
            <a:r>
              <a:rPr/>
              <a:t>x = np.linspace(0, 10, 21)</a:t>
            </a:r>
            <a:endParaRPr/>
          </a:p>
          <a:p>
            <a:pPr>
              <a:defRPr/>
            </a:pPr>
            <a:r>
              <a:rPr/>
              <a:t>sigma = np.full_like(x, 0.6)</a:t>
            </a:r>
            <a:endParaRPr/>
          </a:p>
          <a:p>
            <a:pPr>
              <a:defRPr/>
            </a:pPr>
            <a:r>
              <a:rPr/>
              <a:t>y = 1.5 + 0.8*x + rng.normal(0, sigma)</a:t>
            </a:r>
            <a:endParaRPr/>
          </a:p>
          <a:p>
            <a:pPr>
              <a:defRPr/>
            </a:pPr>
            <a:r>
              <a:rPr/>
              <a:t>model = Polynomial.fit(x, y, deg=1)</a:t>
            </a:r>
            <a:endParaRPr/>
          </a:p>
          <a:p>
            <a:pPr>
              <a:defRPr/>
            </a:pPr>
            <a:r>
              <a:rPr/>
              <a:t>y_fit = model(x)</a:t>
            </a:r>
            <a:endParaRPr/>
          </a:p>
          <a:p>
            <a:pPr>
              <a:defRPr/>
            </a:pPr>
            <a:r>
              <a:rPr/>
              <a:t>residual = y - y_fit</a:t>
            </a:r>
            <a:endParaRPr/>
          </a:p>
          <a:p>
            <a:pPr>
              <a:defRPr/>
            </a:pPr>
            <a:r>
              <a:rPr/>
              <a:t>x_dense = np.linspace(x.min(), x.max(), 200)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fig, axs = plt.subplots(</a:t>
            </a:r>
            <a:endParaRPr/>
          </a:p>
          <a:p>
            <a:pPr>
              <a:defRPr/>
            </a:pPr>
            <a:r>
              <a:rPr/>
              <a:t>    2, 2, figsize=(6, 5),</a:t>
            </a:r>
            <a:endParaRPr/>
          </a:p>
          <a:p>
            <a:pPr>
              <a:defRPr/>
            </a:pPr>
            <a:r>
              <a:rPr/>
              <a:t>    layout="constrained")</a:t>
            </a:r>
            <a:endParaRPr/>
          </a:p>
          <a:p>
            <a:pPr>
              <a:defRPr/>
            </a:pPr>
            <a:r>
              <a:rPr/>
              <a:t>axs[0, 0].scatter(x, y, color="cyan")</a:t>
            </a:r>
            <a:endParaRPr/>
          </a:p>
          <a:p>
            <a:pPr>
              <a:defRPr/>
            </a:pPr>
            <a:r>
              <a:rPr/>
              <a:t>axs[0, 0].set(xlabel="c, мг/л", ylabel="S, мВ")</a:t>
            </a:r>
            <a:endParaRPr/>
          </a:p>
          <a:p>
            <a:pPr>
              <a:defRPr/>
            </a:pPr>
            <a:r>
              <a:rPr/>
              <a:t>axs[0, 1].plot(x, residual, "o", color="cyan")</a:t>
            </a:r>
            <a:endParaRPr/>
          </a:p>
          <a:p>
            <a:pPr>
              <a:defRPr/>
            </a:pPr>
            <a:r>
              <a:rPr/>
              <a:t>axs[0, 1].set(xlabel="c, мг/л", ylabel="Остаток, мВ")</a:t>
            </a:r>
            <a:endParaRPr/>
          </a:p>
          <a:p>
            <a:pPr>
              <a:defRPr/>
            </a:pPr>
            <a:r>
              <a:rPr/>
              <a:t>axs[1, 0].hist(residual, bins=6, color="cyan")</a:t>
            </a:r>
            <a:endParaRPr/>
          </a:p>
          <a:p>
            <a:pPr>
              <a:defRPr/>
            </a:pPr>
            <a:r>
              <a:rPr/>
              <a:t>axs[1, 0].set(xlabel="Остаток, мВ", ylabel="Число")</a:t>
            </a:r>
            <a:endParaRPr/>
          </a:p>
          <a:p>
            <a:pPr>
              <a:defRPr/>
            </a:pPr>
            <a:r>
              <a:rPr/>
              <a:t>fig.delaxes(axs[1, 1])</a:t>
            </a:r>
            <a:endParaRPr/>
          </a:p>
          <a:p>
            <a:pPr>
              <a:defRPr/>
            </a:pPr>
            <a:r>
              <a:rPr/>
              <a:t>plt.show()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https://matplotlib.org/stable/api/_as_gen/matplotlib.pyplot.subplots.html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Гистограмма показывает распределение значений, а scatter показывает связь двух переменных. bins может быть числом, последовательностью границ или именем алгоритма, например "auto". При density=True суммарная площадь столбцов равна 1; сумма их высот обычно не равна 1. Гистограмма остатков из небольшой выборки не заменяет анализ предположений модели.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Код примера:</a:t>
            </a:r>
            <a:endParaRPr/>
          </a:p>
          <a:p>
            <a:pPr>
              <a:defRPr/>
            </a:pPr>
            <a:r>
              <a:rPr/>
              <a:t>import numpy as np</a:t>
            </a:r>
            <a:endParaRPr/>
          </a:p>
          <a:p>
            <a:pPr>
              <a:defRPr/>
            </a:pPr>
            <a:r>
              <a:rPr/>
              <a:t>import matplotlib.pyplot as plt</a:t>
            </a:r>
            <a:endParaRPr/>
          </a:p>
          <a:p>
            <a:pPr>
              <a:defRPr/>
            </a:pPr>
            <a:r>
              <a:rPr/>
              <a:t>from numpy.polynomial import Polynomial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plt.style.use("dark_background")</a:t>
            </a:r>
            <a:endParaRPr/>
          </a:p>
          <a:p>
            <a:pPr>
              <a:defRPr/>
            </a:pPr>
            <a:r>
              <a:rPr/>
              <a:t>rng = np.random.default_rng(42)</a:t>
            </a:r>
            <a:endParaRPr/>
          </a:p>
          <a:p>
            <a:pPr>
              <a:defRPr/>
            </a:pPr>
            <a:r>
              <a:rPr/>
              <a:t>x = np.linspace(0, 10, 21)</a:t>
            </a:r>
            <a:endParaRPr/>
          </a:p>
          <a:p>
            <a:pPr>
              <a:defRPr/>
            </a:pPr>
            <a:r>
              <a:rPr/>
              <a:t>sigma = np.full_like(x, 0.6)</a:t>
            </a:r>
            <a:endParaRPr/>
          </a:p>
          <a:p>
            <a:pPr>
              <a:defRPr/>
            </a:pPr>
            <a:r>
              <a:rPr/>
              <a:t>y = 1.5 + 0.8*x + rng.normal(0, sigma)</a:t>
            </a:r>
            <a:endParaRPr/>
          </a:p>
          <a:p>
            <a:pPr>
              <a:defRPr/>
            </a:pPr>
            <a:r>
              <a:rPr/>
              <a:t>model = Polynomial.fit(x, y, deg=1)</a:t>
            </a:r>
            <a:endParaRPr/>
          </a:p>
          <a:p>
            <a:pPr>
              <a:defRPr/>
            </a:pPr>
            <a:r>
              <a:rPr/>
              <a:t>y_fit = model(x)</a:t>
            </a:r>
            <a:endParaRPr/>
          </a:p>
          <a:p>
            <a:pPr>
              <a:defRPr/>
            </a:pPr>
            <a:r>
              <a:rPr/>
              <a:t>residual = y - y_fit</a:t>
            </a:r>
            <a:endParaRPr/>
          </a:p>
          <a:p>
            <a:pPr>
              <a:defRPr/>
            </a:pPr>
            <a:r>
              <a:rPr/>
              <a:t>x_dense = np.linspace(x.min(), x.max(), 200)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fig, ax = plt.subplots(</a:t>
            </a:r>
            <a:endParaRPr/>
          </a:p>
          <a:p>
            <a:pPr>
              <a:defRPr/>
            </a:pPr>
            <a:r>
              <a:rPr/>
              <a:t>    figsize=(6, 4), layout="constrained")</a:t>
            </a:r>
            <a:endParaRPr/>
          </a:p>
          <a:p>
            <a:pPr>
              <a:defRPr/>
            </a:pPr>
            <a:r>
              <a:rPr/>
              <a:t>ax.hist(residual, bins=6, color="cyan",</a:t>
            </a:r>
            <a:endParaRPr/>
          </a:p>
          <a:p>
            <a:pPr>
              <a:defRPr/>
            </a:pPr>
            <a:r>
              <a:rPr/>
              <a:t>        edgecolor="black")</a:t>
            </a:r>
            <a:endParaRPr/>
          </a:p>
          <a:p>
            <a:pPr>
              <a:defRPr/>
            </a:pPr>
            <a:r>
              <a:rPr/>
              <a:t>ax.set(xlabel="Остаток, мВ",</a:t>
            </a:r>
            <a:endParaRPr/>
          </a:p>
          <a:p>
            <a:pPr>
              <a:defRPr/>
            </a:pPr>
            <a:r>
              <a:rPr/>
              <a:t>       ylabel="Число наблюдений")</a:t>
            </a:r>
            <a:endParaRPr/>
          </a:p>
          <a:p>
            <a:pPr>
              <a:defRPr/>
            </a:pPr>
            <a:r>
              <a:rPr/>
              <a:t>plt.show()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https://matplotlib.org/stable/api/_as_gen/matplotlib.axes.Axes.hist.html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imshow подходит для регулярных двумерных сеток: карты сигнала, изображения, матрицы. Цветовая шкала показывает соответствие цвета и численного значения. В примере искусственная матрица с индексами строк и столбцов. aspect="auto" заполняет доступную область; для изображения с одинаковым физическим масштабом по осям может понадобиться aspect="equal". Для физической сетки используйте extent с корректными границами. Для сравнения нескольких карт фиксируйте одинаковые vmin и vmax.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Код примера:</a:t>
            </a:r>
            <a:endParaRPr/>
          </a:p>
          <a:p>
            <a:pPr>
              <a:defRPr/>
            </a:pPr>
            <a:r>
              <a:rPr/>
              <a:t>import numpy as np</a:t>
            </a:r>
            <a:endParaRPr/>
          </a:p>
          <a:p>
            <a:pPr>
              <a:defRPr/>
            </a:pPr>
            <a:r>
              <a:rPr/>
              <a:t>import matplotlib.pyplot as plt</a:t>
            </a:r>
            <a:endParaRPr/>
          </a:p>
          <a:p>
            <a:pPr>
              <a:defRPr/>
            </a:pPr>
            <a:r>
              <a:rPr/>
              <a:t>from numpy.polynomial import Polynomial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plt.style.use("dark_background")</a:t>
            </a:r>
            <a:endParaRPr/>
          </a:p>
          <a:p>
            <a:pPr>
              <a:defRPr/>
            </a:pPr>
            <a:r>
              <a:rPr/>
              <a:t>rng = np.random.default_rng(42)</a:t>
            </a:r>
            <a:endParaRPr/>
          </a:p>
          <a:p>
            <a:pPr>
              <a:defRPr/>
            </a:pPr>
            <a:r>
              <a:rPr/>
              <a:t>x = np.linspace(0, 10, 21)</a:t>
            </a:r>
            <a:endParaRPr/>
          </a:p>
          <a:p>
            <a:pPr>
              <a:defRPr/>
            </a:pPr>
            <a:r>
              <a:rPr/>
              <a:t>sigma = np.full_like(x, 0.6)</a:t>
            </a:r>
            <a:endParaRPr/>
          </a:p>
          <a:p>
            <a:pPr>
              <a:defRPr/>
            </a:pPr>
            <a:r>
              <a:rPr/>
              <a:t>y = 1.5 + 0.8*x + rng.normal(0, sigma)</a:t>
            </a:r>
            <a:endParaRPr/>
          </a:p>
          <a:p>
            <a:pPr>
              <a:defRPr/>
            </a:pPr>
            <a:r>
              <a:rPr/>
              <a:t>model = Polynomial.fit(x, y, deg=1)</a:t>
            </a:r>
            <a:endParaRPr/>
          </a:p>
          <a:p>
            <a:pPr>
              <a:defRPr/>
            </a:pPr>
            <a:r>
              <a:rPr/>
              <a:t>y_fit = model(x)</a:t>
            </a:r>
            <a:endParaRPr/>
          </a:p>
          <a:p>
            <a:pPr>
              <a:defRPr/>
            </a:pPr>
            <a:r>
              <a:rPr/>
              <a:t>residual = y - y_fit</a:t>
            </a:r>
            <a:endParaRPr/>
          </a:p>
          <a:p>
            <a:pPr>
              <a:defRPr/>
            </a:pPr>
            <a:r>
              <a:rPr/>
              <a:t>x_dense = np.linspace(x.min(), x.max(), 200)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Z = np.arange(12).reshape(3, 4)</a:t>
            </a:r>
            <a:endParaRPr/>
          </a:p>
          <a:p>
            <a:pPr>
              <a:defRPr/>
            </a:pPr>
            <a:r>
              <a:rPr/>
              <a:t>fig, ax = plt.subplots(</a:t>
            </a:r>
            <a:endParaRPr/>
          </a:p>
          <a:p>
            <a:pPr>
              <a:defRPr/>
            </a:pPr>
            <a:r>
              <a:rPr/>
              <a:t>    figsize=(6, 4), layout="constrained")</a:t>
            </a:r>
            <a:endParaRPr/>
          </a:p>
          <a:p>
            <a:pPr>
              <a:defRPr/>
            </a:pPr>
            <a:r>
              <a:rPr/>
              <a:t>im = ax.imshow(Z, cmap="viridis",</a:t>
            </a:r>
            <a:endParaRPr/>
          </a:p>
          <a:p>
            <a:pPr>
              <a:defRPr/>
            </a:pPr>
            <a:r>
              <a:rPr/>
              <a:t>    origin="lower", aspect="auto")</a:t>
            </a:r>
            <a:endParaRPr/>
          </a:p>
          <a:p>
            <a:pPr>
              <a:defRPr/>
            </a:pPr>
            <a:r>
              <a:rPr/>
              <a:t>fig.colorbar(im, ax=ax, label="Значение")</a:t>
            </a:r>
            <a:endParaRPr/>
          </a:p>
          <a:p>
            <a:pPr>
              <a:defRPr/>
            </a:pPr>
            <a:r>
              <a:rPr/>
              <a:t>ax.set(xlabel="Столбец", ylabel="Строка")</a:t>
            </a:r>
            <a:endParaRPr/>
          </a:p>
          <a:p>
            <a:pPr>
              <a:defRPr/>
            </a:pPr>
            <a:r>
              <a:rPr/>
              <a:t>ax.set_xticks(range(4))</a:t>
            </a:r>
            <a:endParaRPr/>
          </a:p>
          <a:p>
            <a:pPr>
              <a:defRPr/>
            </a:pPr>
            <a:r>
              <a:rPr/>
              <a:t>ax.set_yticks(range(3))</a:t>
            </a:r>
            <a:endParaRPr/>
          </a:p>
          <a:p>
            <a:pPr>
              <a:defRPr/>
            </a:pPr>
            <a:r>
              <a:rPr/>
              <a:t>plt.show()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https://matplotlib.org/stable/api/_as_gen/matplotlib.axes.Axes.imshow.html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figsize задаётся в дюймах; для PNG число пикселей равно размеру в дюймах, умноженному на dpi сохранения. layout="constrained" размещает содержимое внутри заданного холста. bbox_inches="tight" обрезает холст вокруг содержимого, поэтому строгий размер в пикселях меняется. Явно сбрасываем savefig.bbox в None на случай пользовательских настроек. SVG и PDF сохраняют линии и текст в векторном виде; растровые элементы, например imshow, остаются растровыми. На тёмной теме savefig сохраняет фон рисунка по умолчанию. При массовом сохранении закрывайте рисунки через plt.close(fig).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Код примера:</a:t>
            </a:r>
            <a:endParaRPr/>
          </a:p>
          <a:p>
            <a:pPr>
              <a:defRPr/>
            </a:pPr>
            <a:r>
              <a:rPr/>
              <a:t>import numpy as np</a:t>
            </a:r>
            <a:endParaRPr/>
          </a:p>
          <a:p>
            <a:pPr>
              <a:defRPr/>
            </a:pPr>
            <a:r>
              <a:rPr/>
              <a:t>import matplotlib.pyplot as plt</a:t>
            </a:r>
            <a:endParaRPr/>
          </a:p>
          <a:p>
            <a:pPr>
              <a:defRPr/>
            </a:pPr>
            <a:r>
              <a:rPr/>
              <a:t>plt.style.use("dark_background")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t = np.linspace(0, 2*np.pi, 100)</a:t>
            </a:r>
            <a:endParaRPr/>
          </a:p>
          <a:p>
            <a:pPr>
              <a:defRPr/>
            </a:pPr>
            <a:r>
              <a:rPr/>
              <a:t>fig, ax = plt.subplots(</a:t>
            </a:r>
            <a:endParaRPr/>
          </a:p>
          <a:p>
            <a:pPr>
              <a:defRPr/>
            </a:pPr>
            <a:r>
              <a:rPr/>
              <a:t>    figsize=(6, 4), layout="constrained")</a:t>
            </a:r>
            <a:endParaRPr/>
          </a:p>
          <a:p>
            <a:pPr>
              <a:defRPr/>
            </a:pPr>
            <a:r>
              <a:rPr/>
              <a:t>ax.plot(t, np.sin(t)**2, color="cyan")</a:t>
            </a:r>
            <a:endParaRPr/>
          </a:p>
          <a:p>
            <a:pPr>
              <a:defRPr/>
            </a:pPr>
            <a:r>
              <a:rPr/>
              <a:t>ax.set(xlabel="t, рад", ylabel="sin²(t)")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plt.rcParams["savefig.bbox"] = None</a:t>
            </a:r>
            <a:endParaRPr/>
          </a:p>
          <a:p>
            <a:pPr>
              <a:defRPr/>
            </a:pPr>
            <a:r>
              <a:rPr/>
              <a:t>fig.savefig("signal.png", dpi=150)</a:t>
            </a:r>
            <a:endParaRPr/>
          </a:p>
          <a:p>
            <a:pPr>
              <a:defRPr/>
            </a:pPr>
            <a:r>
              <a:rPr/>
              <a:t>fig.savefig("signal.svg")</a:t>
            </a:r>
            <a:endParaRPr/>
          </a:p>
          <a:p>
            <a:pPr>
              <a:defRPr/>
            </a:pPr>
            <a:r>
              <a:rPr/>
              <a:t>plt.show()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https://matplotlib.org/stable/api/_as_gen/matplotlib.pyplot.savefig.html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Создаём отдельный искусственный набор данных. Для каждой группы и каждого момента времени генерируем пять независимых наблюдений. Здесь t измеряется в секундах, signal в мВ, группа B имеет добавку 1 мВ в модели генерации. Независимость повторов важна для интерпретации доверительных интервалов далее. Это длинный формат данных. Если строки относятся к повторным измерениям одних объектов, их зависимость нужно учитывать при анализе. Seaborn уже импортирован на слайде 2. Не вызываем sns.set_theme(), чтобы сохранить текущую тёмную тему Matplotlib.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Код примера:</a:t>
            </a:r>
            <a:endParaRPr/>
          </a:p>
          <a:p>
            <a:pPr>
              <a:defRPr/>
            </a:pPr>
            <a:r>
              <a:rPr/>
              <a:t>import numpy as np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import pandas as pd</a:t>
            </a:r>
            <a:endParaRPr/>
          </a:p>
          <a:p>
            <a:pPr>
              <a:defRPr/>
            </a:pPr>
            <a:r>
              <a:rPr/>
              <a:t>import seaborn as sns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rng = np.random.default_rng(7)</a:t>
            </a:r>
            <a:endParaRPr/>
          </a:p>
          <a:p>
            <a:pPr>
              <a:defRPr/>
            </a:pPr>
            <a:r>
              <a:rPr/>
              <a:t>df = pd.DataFrame({</a:t>
            </a:r>
            <a:endParaRPr/>
          </a:p>
          <a:p>
            <a:pPr>
              <a:defRPr/>
            </a:pPr>
            <a:r>
              <a:rPr/>
              <a:t>    "group": np.repeat(["A", "B"], 20),</a:t>
            </a:r>
            <a:endParaRPr/>
          </a:p>
          <a:p>
            <a:pPr>
              <a:defRPr/>
            </a:pPr>
            <a:r>
              <a:rPr/>
              <a:t>    "t": np.tile(np.repeat([0, 1, 2, 3], 5), 2)</a:t>
            </a:r>
            <a:endParaRPr/>
          </a:p>
          <a:p>
            <a:pPr>
              <a:defRPr/>
            </a:pPr>
            <a:r>
              <a:rPr/>
              <a:t>})</a:t>
            </a:r>
            <a:endParaRPr/>
          </a:p>
          <a:p>
            <a:pPr>
              <a:defRPr/>
            </a:pPr>
            <a:r>
              <a:rPr/>
              <a:t>df["signal"] = (10 + 0.4*df["t"]</a:t>
            </a:r>
            <a:endParaRPr/>
          </a:p>
          <a:p>
            <a:pPr>
              <a:defRPr/>
            </a:pPr>
            <a:r>
              <a:rPr/>
              <a:t>    + (df["group"] == "B").astype(float)</a:t>
            </a:r>
            <a:endParaRPr/>
          </a:p>
          <a:p>
            <a:pPr>
              <a:defRPr/>
            </a:pPr>
            <a:r>
              <a:rPr/>
              <a:t>    + rng.normal(0, 0.5, len(df)))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https://seaborn.pydata.org/tutorial/data_structure.html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Функции уровня Axes, например scatterplot, histplot, boxplot и lineplot, принимают ax и удобны для совместного использования с plt.subplots. relplot, displot и catplot создают собственную фигуру и сетку панелей; их не следует вставлять в существующий ax. s задаёт площадь маркера в квадратных пунктах. Совмещение цвета и формы полезно при печати без цвета и для различения близких цветов.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Код примера:</a:t>
            </a:r>
            <a:endParaRPr/>
          </a:p>
          <a:p>
            <a:pPr>
              <a:defRPr/>
            </a:pPr>
            <a:r>
              <a:rPr/>
              <a:t>import numpy as np</a:t>
            </a:r>
            <a:endParaRPr/>
          </a:p>
          <a:p>
            <a:pPr>
              <a:defRPr/>
            </a:pPr>
            <a:r>
              <a:rPr/>
              <a:t>import matplotlib.pyplot as plt</a:t>
            </a:r>
            <a:endParaRPr/>
          </a:p>
          <a:p>
            <a:pPr>
              <a:defRPr/>
            </a:pPr>
            <a:r>
              <a:rPr/>
              <a:t>from numpy.polynomial import Polynomial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plt.style.use("dark_background")</a:t>
            </a:r>
            <a:endParaRPr/>
          </a:p>
          <a:p>
            <a:pPr>
              <a:defRPr/>
            </a:pPr>
            <a:r>
              <a:rPr/>
              <a:t>rng = np.random.default_rng(42)</a:t>
            </a:r>
            <a:endParaRPr/>
          </a:p>
          <a:p>
            <a:pPr>
              <a:defRPr/>
            </a:pPr>
            <a:r>
              <a:rPr/>
              <a:t>x = np.linspace(0, 10, 21)</a:t>
            </a:r>
            <a:endParaRPr/>
          </a:p>
          <a:p>
            <a:pPr>
              <a:defRPr/>
            </a:pPr>
            <a:r>
              <a:rPr/>
              <a:t>sigma = np.full_like(x, 0.6)</a:t>
            </a:r>
            <a:endParaRPr/>
          </a:p>
          <a:p>
            <a:pPr>
              <a:defRPr/>
            </a:pPr>
            <a:r>
              <a:rPr/>
              <a:t>y = 1.5 + 0.8*x + rng.normal(0, sigma)</a:t>
            </a:r>
            <a:endParaRPr/>
          </a:p>
          <a:p>
            <a:pPr>
              <a:defRPr/>
            </a:pPr>
            <a:r>
              <a:rPr/>
              <a:t>model = Polynomial.fit(x, y, deg=1)</a:t>
            </a:r>
            <a:endParaRPr/>
          </a:p>
          <a:p>
            <a:pPr>
              <a:defRPr/>
            </a:pPr>
            <a:r>
              <a:rPr/>
              <a:t>y_fit = model(x)</a:t>
            </a:r>
            <a:endParaRPr/>
          </a:p>
          <a:p>
            <a:pPr>
              <a:defRPr/>
            </a:pPr>
            <a:r>
              <a:rPr/>
              <a:t>residual = y - y_fit</a:t>
            </a:r>
            <a:endParaRPr/>
          </a:p>
          <a:p>
            <a:pPr>
              <a:defRPr/>
            </a:pPr>
            <a:r>
              <a:rPr/>
              <a:t>x_dense = np.linspace(x.min(), x.max(), 200)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import pandas as pd</a:t>
            </a:r>
            <a:endParaRPr/>
          </a:p>
          <a:p>
            <a:pPr>
              <a:defRPr/>
            </a:pPr>
            <a:r>
              <a:rPr/>
              <a:t>import seaborn as sns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rng = np.random.default_rng(7)</a:t>
            </a:r>
            <a:endParaRPr/>
          </a:p>
          <a:p>
            <a:pPr>
              <a:defRPr/>
            </a:pPr>
            <a:r>
              <a:rPr/>
              <a:t>df = pd.DataFrame({</a:t>
            </a:r>
            <a:endParaRPr/>
          </a:p>
          <a:p>
            <a:pPr>
              <a:defRPr/>
            </a:pPr>
            <a:r>
              <a:rPr/>
              <a:t>    "group": np.repeat(["A", "B"], 20),</a:t>
            </a:r>
            <a:endParaRPr/>
          </a:p>
          <a:p>
            <a:pPr>
              <a:defRPr/>
            </a:pPr>
            <a:r>
              <a:rPr/>
              <a:t>    "t": np.tile(np.repeat([0, 1, 2, 3], 5), 2)</a:t>
            </a:r>
            <a:endParaRPr/>
          </a:p>
          <a:p>
            <a:pPr>
              <a:defRPr/>
            </a:pPr>
            <a:r>
              <a:rPr/>
              <a:t>})</a:t>
            </a:r>
            <a:endParaRPr/>
          </a:p>
          <a:p>
            <a:pPr>
              <a:defRPr/>
            </a:pPr>
            <a:r>
              <a:rPr/>
              <a:t>df["signal"] = (10 + 0.4*df["t"]</a:t>
            </a:r>
            <a:endParaRPr/>
          </a:p>
          <a:p>
            <a:pPr>
              <a:defRPr/>
            </a:pPr>
            <a:r>
              <a:rPr/>
              <a:t>    + (df["group"] == "B").astype(float)</a:t>
            </a:r>
            <a:endParaRPr/>
          </a:p>
          <a:p>
            <a:pPr>
              <a:defRPr/>
            </a:pPr>
            <a:r>
              <a:rPr/>
              <a:t>    + rng.normal(0, 0.5, len(df)))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fig, ax = plt.subplots(</a:t>
            </a:r>
            <a:endParaRPr/>
          </a:p>
          <a:p>
            <a:pPr>
              <a:defRPr/>
            </a:pPr>
            <a:r>
              <a:rPr/>
              <a:t>    figsize=(6, 4), layout="constrained")</a:t>
            </a:r>
            <a:endParaRPr/>
          </a:p>
          <a:p>
            <a:pPr>
              <a:defRPr/>
            </a:pPr>
            <a:r>
              <a:rPr/>
              <a:t>sns.scatterplot(data=df, x="t", y="signal",</a:t>
            </a:r>
            <a:endParaRPr/>
          </a:p>
          <a:p>
            <a:pPr>
              <a:defRPr/>
            </a:pPr>
            <a:r>
              <a:rPr/>
              <a:t>    hue="group", style="group", s=70,</a:t>
            </a:r>
            <a:endParaRPr/>
          </a:p>
          <a:p>
            <a:pPr>
              <a:defRPr/>
            </a:pPr>
            <a:r>
              <a:rPr/>
              <a:t>    palette=["cyan", "orange"], ax=ax)</a:t>
            </a:r>
            <a:endParaRPr/>
          </a:p>
          <a:p>
            <a:pPr>
              <a:defRPr/>
            </a:pPr>
            <a:r>
              <a:rPr/>
              <a:t>ax.set(xlabel="t, с", ylabel="S, мВ")</a:t>
            </a:r>
            <a:endParaRPr/>
          </a:p>
          <a:p>
            <a:pPr>
              <a:defRPr/>
            </a:pPr>
            <a:r>
              <a:rPr/>
              <a:t>ax.legend(title="Группа")</a:t>
            </a:r>
            <a:endParaRPr/>
          </a:p>
          <a:p>
            <a:pPr>
              <a:defRPr/>
            </a:pPr>
            <a:r>
              <a:rPr/>
              <a:t>plt.show()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https://seaborn.pydata.org/generated/seaborn.scatterplot.html</a:t>
            </a:r>
            <a:endParaRPr/>
          </a:p>
          <a:p>
            <a:pPr>
              <a:defRPr/>
            </a:pPr>
            <a:r>
              <a:rPr/>
              <a:t>https://seaborn.pydata.org/tutorial/function_overview.html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Отбираем один момент времени, чтобы сравнивать группы в одинаковых условиях. Коробка простирается от первого до третьего квартиля, белая линия внутри показывает медиану. По умолчанию усы доходят до крайних наблюдений в пределах 1.5 межквартильного размаха от коробки. showfliers=False убирает отдельные символы выбросов boxplot, но swarmplot показывает все исходные наблюдения. Для пяти наблюдений форма распределения оценивается ненадёжно; исходные точки особенно полезны. swarmplot раздвигает близкие точки по горизонтали, сохраняя их значения по вертикали. Для больших наборов данных быстрее stripplot с небольшим jitter.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Код примера:</a:t>
            </a:r>
            <a:endParaRPr/>
          </a:p>
          <a:p>
            <a:pPr>
              <a:defRPr/>
            </a:pPr>
            <a:r>
              <a:rPr/>
              <a:t>import numpy as np</a:t>
            </a:r>
            <a:endParaRPr/>
          </a:p>
          <a:p>
            <a:pPr>
              <a:defRPr/>
            </a:pPr>
            <a:r>
              <a:rPr/>
              <a:t>import matplotlib.pyplot as plt</a:t>
            </a:r>
            <a:endParaRPr/>
          </a:p>
          <a:p>
            <a:pPr>
              <a:defRPr/>
            </a:pPr>
            <a:r>
              <a:rPr/>
              <a:t>from numpy.polynomial import Polynomial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plt.style.use("dark_background")</a:t>
            </a:r>
            <a:endParaRPr/>
          </a:p>
          <a:p>
            <a:pPr>
              <a:defRPr/>
            </a:pPr>
            <a:r>
              <a:rPr/>
              <a:t>rng = np.random.default_rng(42)</a:t>
            </a:r>
            <a:endParaRPr/>
          </a:p>
          <a:p>
            <a:pPr>
              <a:defRPr/>
            </a:pPr>
            <a:r>
              <a:rPr/>
              <a:t>x = np.linspace(0, 10, 21)</a:t>
            </a:r>
            <a:endParaRPr/>
          </a:p>
          <a:p>
            <a:pPr>
              <a:defRPr/>
            </a:pPr>
            <a:r>
              <a:rPr/>
              <a:t>sigma = np.full_like(x, 0.6)</a:t>
            </a:r>
            <a:endParaRPr/>
          </a:p>
          <a:p>
            <a:pPr>
              <a:defRPr/>
            </a:pPr>
            <a:r>
              <a:rPr/>
              <a:t>y = 1.5 + 0.8*x + rng.normal(0, sigma)</a:t>
            </a:r>
            <a:endParaRPr/>
          </a:p>
          <a:p>
            <a:pPr>
              <a:defRPr/>
            </a:pPr>
            <a:r>
              <a:rPr/>
              <a:t>model = Polynomial.fit(x, y, deg=1)</a:t>
            </a:r>
            <a:endParaRPr/>
          </a:p>
          <a:p>
            <a:pPr>
              <a:defRPr/>
            </a:pPr>
            <a:r>
              <a:rPr/>
              <a:t>y_fit = model(x)</a:t>
            </a:r>
            <a:endParaRPr/>
          </a:p>
          <a:p>
            <a:pPr>
              <a:defRPr/>
            </a:pPr>
            <a:r>
              <a:rPr/>
              <a:t>residual = y - y_fit</a:t>
            </a:r>
            <a:endParaRPr/>
          </a:p>
          <a:p>
            <a:pPr>
              <a:defRPr/>
            </a:pPr>
            <a:r>
              <a:rPr/>
              <a:t>x_dense = np.linspace(x.min(), x.max(), 200)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import pandas as pd</a:t>
            </a:r>
            <a:endParaRPr/>
          </a:p>
          <a:p>
            <a:pPr>
              <a:defRPr/>
            </a:pPr>
            <a:r>
              <a:rPr/>
              <a:t>import seaborn as sns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rng = np.random.default_rng(7)</a:t>
            </a:r>
            <a:endParaRPr/>
          </a:p>
          <a:p>
            <a:pPr>
              <a:defRPr/>
            </a:pPr>
            <a:r>
              <a:rPr/>
              <a:t>df = pd.DataFrame({</a:t>
            </a:r>
            <a:endParaRPr/>
          </a:p>
          <a:p>
            <a:pPr>
              <a:defRPr/>
            </a:pPr>
            <a:r>
              <a:rPr/>
              <a:t>    "group": np.repeat(["A", "B"], 20),</a:t>
            </a:r>
            <a:endParaRPr/>
          </a:p>
          <a:p>
            <a:pPr>
              <a:defRPr/>
            </a:pPr>
            <a:r>
              <a:rPr/>
              <a:t>    "t": np.tile(np.repeat([0, 1, 2, 3], 5), 2)</a:t>
            </a:r>
            <a:endParaRPr/>
          </a:p>
          <a:p>
            <a:pPr>
              <a:defRPr/>
            </a:pPr>
            <a:r>
              <a:rPr/>
              <a:t>})</a:t>
            </a:r>
            <a:endParaRPr/>
          </a:p>
          <a:p>
            <a:pPr>
              <a:defRPr/>
            </a:pPr>
            <a:r>
              <a:rPr/>
              <a:t>df["signal"] = (10 + 0.4*df["t"]</a:t>
            </a:r>
            <a:endParaRPr/>
          </a:p>
          <a:p>
            <a:pPr>
              <a:defRPr/>
            </a:pPr>
            <a:r>
              <a:rPr/>
              <a:t>    + (df["group"] == "B").astype(float)</a:t>
            </a:r>
            <a:endParaRPr/>
          </a:p>
          <a:p>
            <a:pPr>
              <a:defRPr/>
            </a:pPr>
            <a:r>
              <a:rPr/>
              <a:t>    + rng.normal(0, 0.5, len(df)))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part = df.query("t == 3")</a:t>
            </a:r>
            <a:endParaRPr/>
          </a:p>
          <a:p>
            <a:pPr>
              <a:defRPr/>
            </a:pPr>
            <a:r>
              <a:rPr/>
              <a:t>fig, ax = plt.subplots(</a:t>
            </a:r>
            <a:endParaRPr/>
          </a:p>
          <a:p>
            <a:pPr>
              <a:defRPr/>
            </a:pPr>
            <a:r>
              <a:rPr/>
              <a:t>    figsize=(6, 4), layout="constrained")</a:t>
            </a:r>
            <a:endParaRPr/>
          </a:p>
          <a:p>
            <a:pPr>
              <a:defRPr/>
            </a:pPr>
            <a:r>
              <a:rPr/>
              <a:t>sns.boxplot(data=part, x="group", y="signal",</a:t>
            </a:r>
            <a:endParaRPr/>
          </a:p>
          <a:p>
            <a:pPr>
              <a:defRPr/>
            </a:pPr>
            <a:r>
              <a:rPr/>
              <a:t>    color="gray", width=0.5,</a:t>
            </a:r>
            <a:endParaRPr/>
          </a:p>
          <a:p>
            <a:pPr>
              <a:defRPr/>
            </a:pPr>
            <a:r>
              <a:rPr/>
              <a:t>    medianprops={"color": "white"},</a:t>
            </a:r>
            <a:endParaRPr/>
          </a:p>
          <a:p>
            <a:pPr>
              <a:defRPr/>
            </a:pPr>
            <a:r>
              <a:rPr/>
              <a:t>    showfliers=False, ax=ax)</a:t>
            </a:r>
            <a:endParaRPr/>
          </a:p>
          <a:p>
            <a:pPr>
              <a:defRPr/>
            </a:pPr>
            <a:r>
              <a:rPr/>
              <a:t>sns.swarmplot(data=part, x="group", y="signal",</a:t>
            </a:r>
            <a:endParaRPr/>
          </a:p>
          <a:p>
            <a:pPr>
              <a:defRPr/>
            </a:pPr>
            <a:r>
              <a:rPr/>
              <a:t>    color="cyan", size=7, ax=ax)</a:t>
            </a:r>
            <a:endParaRPr/>
          </a:p>
          <a:p>
            <a:pPr>
              <a:defRPr/>
            </a:pPr>
            <a:r>
              <a:rPr/>
              <a:t>ax.set(xlabel="Группа", ylabel="S, мВ",</a:t>
            </a:r>
            <a:endParaRPr/>
          </a:p>
          <a:p>
            <a:pPr>
              <a:defRPr/>
            </a:pPr>
            <a:r>
              <a:rPr/>
              <a:t>       title="Измерения при t = 3 с")</a:t>
            </a:r>
            <a:endParaRPr/>
          </a:p>
          <a:p>
            <a:pPr>
              <a:defRPr/>
            </a:pPr>
            <a:r>
              <a:rPr/>
              <a:t>plt.show()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https://seaborn.pydata.org/generated/seaborn.boxplot.html</a:t>
            </a:r>
            <a:endParaRPr/>
          </a:p>
          <a:p>
            <a:pPr>
              <a:defRPr/>
            </a:pPr>
            <a:r>
              <a:rPr/>
              <a:t>https://seaborn.pydata.org/generated/seaborn.swarmplot.html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lineplot по умолчанию агрегирует наблюдения с одинаковым x внутри каждой группы и оценивает 95%-й доверительный интервал среднего с помощью bootstrap. На слайде эти параметры заданы явно. seed фиксирует bootstrap в той же среде; это другой генератор, чем генератор исходных данных. Пять независимых повторов на точку дают лишь иллюстрацию, доверительный интервал чувствителен к малому объёму. errorbar="sd" показывает стандартное отклонение наблюдений; errorbar=None отключает полосу, но сохраняет усреднение. Чтобы показывать отдельные траектории при наличии столбца идентификатора, используйте units="id", estimator=None. errorbar доступен в Seaborn 0.12 и новее.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Код примера:</a:t>
            </a:r>
            <a:endParaRPr/>
          </a:p>
          <a:p>
            <a:pPr>
              <a:defRPr/>
            </a:pPr>
            <a:r>
              <a:rPr/>
              <a:t>import numpy as np</a:t>
            </a:r>
            <a:endParaRPr/>
          </a:p>
          <a:p>
            <a:pPr>
              <a:defRPr/>
            </a:pPr>
            <a:r>
              <a:rPr/>
              <a:t>import matplotlib.pyplot as plt</a:t>
            </a:r>
            <a:endParaRPr/>
          </a:p>
          <a:p>
            <a:pPr>
              <a:defRPr/>
            </a:pPr>
            <a:r>
              <a:rPr/>
              <a:t>from numpy.polynomial import Polynomial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plt.style.use("dark_background")</a:t>
            </a:r>
            <a:endParaRPr/>
          </a:p>
          <a:p>
            <a:pPr>
              <a:defRPr/>
            </a:pPr>
            <a:r>
              <a:rPr/>
              <a:t>rng = np.random.default_rng(42)</a:t>
            </a:r>
            <a:endParaRPr/>
          </a:p>
          <a:p>
            <a:pPr>
              <a:defRPr/>
            </a:pPr>
            <a:r>
              <a:rPr/>
              <a:t>x = np.linspace(0, 10, 21)</a:t>
            </a:r>
            <a:endParaRPr/>
          </a:p>
          <a:p>
            <a:pPr>
              <a:defRPr/>
            </a:pPr>
            <a:r>
              <a:rPr/>
              <a:t>sigma = np.full_like(x, 0.6)</a:t>
            </a:r>
            <a:endParaRPr/>
          </a:p>
          <a:p>
            <a:pPr>
              <a:defRPr/>
            </a:pPr>
            <a:r>
              <a:rPr/>
              <a:t>y = 1.5 + 0.8*x + rng.normal(0, sigma)</a:t>
            </a:r>
            <a:endParaRPr/>
          </a:p>
          <a:p>
            <a:pPr>
              <a:defRPr/>
            </a:pPr>
            <a:r>
              <a:rPr/>
              <a:t>model = Polynomial.fit(x, y, deg=1)</a:t>
            </a:r>
            <a:endParaRPr/>
          </a:p>
          <a:p>
            <a:pPr>
              <a:defRPr/>
            </a:pPr>
            <a:r>
              <a:rPr/>
              <a:t>y_fit = model(x)</a:t>
            </a:r>
            <a:endParaRPr/>
          </a:p>
          <a:p>
            <a:pPr>
              <a:defRPr/>
            </a:pPr>
            <a:r>
              <a:rPr/>
              <a:t>residual = y - y_fit</a:t>
            </a:r>
            <a:endParaRPr/>
          </a:p>
          <a:p>
            <a:pPr>
              <a:defRPr/>
            </a:pPr>
            <a:r>
              <a:rPr/>
              <a:t>x_dense = np.linspace(x.min(), x.max(), 200)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import pandas as pd</a:t>
            </a:r>
            <a:endParaRPr/>
          </a:p>
          <a:p>
            <a:pPr>
              <a:defRPr/>
            </a:pPr>
            <a:r>
              <a:rPr/>
              <a:t>import seaborn as sns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rng = np.random.default_rng(7)</a:t>
            </a:r>
            <a:endParaRPr/>
          </a:p>
          <a:p>
            <a:pPr>
              <a:defRPr/>
            </a:pPr>
            <a:r>
              <a:rPr/>
              <a:t>df = pd.DataFrame({</a:t>
            </a:r>
            <a:endParaRPr/>
          </a:p>
          <a:p>
            <a:pPr>
              <a:defRPr/>
            </a:pPr>
            <a:r>
              <a:rPr/>
              <a:t>    "group": np.repeat(["A", "B"], 20),</a:t>
            </a:r>
            <a:endParaRPr/>
          </a:p>
          <a:p>
            <a:pPr>
              <a:defRPr/>
            </a:pPr>
            <a:r>
              <a:rPr/>
              <a:t>    "t": np.tile(np.repeat([0, 1, 2, 3], 5), 2)</a:t>
            </a:r>
            <a:endParaRPr/>
          </a:p>
          <a:p>
            <a:pPr>
              <a:defRPr/>
            </a:pPr>
            <a:r>
              <a:rPr/>
              <a:t>})</a:t>
            </a:r>
            <a:endParaRPr/>
          </a:p>
          <a:p>
            <a:pPr>
              <a:defRPr/>
            </a:pPr>
            <a:r>
              <a:rPr/>
              <a:t>df["signal"] = (10 + 0.4*df["t"]</a:t>
            </a:r>
            <a:endParaRPr/>
          </a:p>
          <a:p>
            <a:pPr>
              <a:defRPr/>
            </a:pPr>
            <a:r>
              <a:rPr/>
              <a:t>    + (df["group"] == "B").astype(float)</a:t>
            </a:r>
            <a:endParaRPr/>
          </a:p>
          <a:p>
            <a:pPr>
              <a:defRPr/>
            </a:pPr>
            <a:r>
              <a:rPr/>
              <a:t>    + rng.normal(0, 0.5, len(df)))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fig, ax = plt.subplots(</a:t>
            </a:r>
            <a:endParaRPr/>
          </a:p>
          <a:p>
            <a:pPr>
              <a:defRPr/>
            </a:pPr>
            <a:r>
              <a:rPr/>
              <a:t>    figsize=(6, 4), layout="constrained")</a:t>
            </a:r>
            <a:endParaRPr/>
          </a:p>
          <a:p>
            <a:pPr>
              <a:defRPr/>
            </a:pPr>
            <a:r>
              <a:rPr/>
              <a:t>sns.lineplot(data=df, x="t", y="signal",</a:t>
            </a:r>
            <a:endParaRPr/>
          </a:p>
          <a:p>
            <a:pPr>
              <a:defRPr/>
            </a:pPr>
            <a:r>
              <a:rPr/>
              <a:t>    hue="group", estimator="mean",</a:t>
            </a:r>
            <a:endParaRPr/>
          </a:p>
          <a:p>
            <a:pPr>
              <a:defRPr/>
            </a:pPr>
            <a:r>
              <a:rPr/>
              <a:t>    errorbar=("ci", 95), seed=7,</a:t>
            </a:r>
            <a:endParaRPr/>
          </a:p>
          <a:p>
            <a:pPr>
              <a:defRPr/>
            </a:pPr>
            <a:r>
              <a:rPr/>
              <a:t>    palette=["cyan", "orange"],</a:t>
            </a:r>
            <a:endParaRPr/>
          </a:p>
          <a:p>
            <a:pPr>
              <a:defRPr/>
            </a:pPr>
            <a:r>
              <a:rPr/>
              <a:t>    marker="o", ax=ax)</a:t>
            </a:r>
            <a:endParaRPr/>
          </a:p>
          <a:p>
            <a:pPr>
              <a:defRPr/>
            </a:pPr>
            <a:r>
              <a:rPr/>
              <a:t>ax.set(xlabel="t, с", ylabel="S, мВ")</a:t>
            </a:r>
            <a:endParaRPr/>
          </a:p>
          <a:p>
            <a:pPr>
              <a:defRPr/>
            </a:pPr>
            <a:r>
              <a:rPr/>
              <a:t>ax.legend(title="Группа")</a:t>
            </a:r>
            <a:endParaRPr/>
          </a:p>
          <a:p>
            <a:pPr>
              <a:defRPr/>
            </a:pPr>
            <a:r>
              <a:rPr/>
              <a:t>plt.show()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https://seaborn.pydata.org/generated/seaborn.lineplot.html</a:t>
            </a:r>
            <a:endParaRPr/>
          </a:p>
          <a:p>
            <a:pPr>
              <a:defRPr/>
            </a:pPr>
            <a:r>
              <a:rPr/>
              <a:t>https://seaborn.pydata.org/tutorial/error_bars.html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Функции уровня Axes удобно объединять в заранее подготовленных панелях Matplotlib. Функции уровня Figure возвращают объект сетки, например FacetGrid, и управляют своей фигурой. На гистограмме собраны все моменты времени; она описывает смешанное распределение, поэтому для сравнения групп при фиксированных условиях следует фильтровать t, как в примере boxplot. Легенда слева относится к обеим панелям: группы используют одинаковые цвета.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Код примера:</a:t>
            </a:r>
            <a:endParaRPr/>
          </a:p>
          <a:p>
            <a:pPr>
              <a:defRPr/>
            </a:pPr>
            <a:r>
              <a:rPr/>
              <a:t>import numpy as np</a:t>
            </a:r>
            <a:endParaRPr/>
          </a:p>
          <a:p>
            <a:pPr>
              <a:defRPr/>
            </a:pPr>
            <a:r>
              <a:rPr/>
              <a:t>import matplotlib.pyplot as plt</a:t>
            </a:r>
            <a:endParaRPr/>
          </a:p>
          <a:p>
            <a:pPr>
              <a:defRPr/>
            </a:pPr>
            <a:r>
              <a:rPr/>
              <a:t>from numpy.polynomial import Polynomial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plt.style.use("dark_background")</a:t>
            </a:r>
            <a:endParaRPr/>
          </a:p>
          <a:p>
            <a:pPr>
              <a:defRPr/>
            </a:pPr>
            <a:r>
              <a:rPr/>
              <a:t>rng = np.random.default_rng(42)</a:t>
            </a:r>
            <a:endParaRPr/>
          </a:p>
          <a:p>
            <a:pPr>
              <a:defRPr/>
            </a:pPr>
            <a:r>
              <a:rPr/>
              <a:t>x = np.linspace(0, 10, 21)</a:t>
            </a:r>
            <a:endParaRPr/>
          </a:p>
          <a:p>
            <a:pPr>
              <a:defRPr/>
            </a:pPr>
            <a:r>
              <a:rPr/>
              <a:t>sigma = np.full_like(x, 0.6)</a:t>
            </a:r>
            <a:endParaRPr/>
          </a:p>
          <a:p>
            <a:pPr>
              <a:defRPr/>
            </a:pPr>
            <a:r>
              <a:rPr/>
              <a:t>y = 1.5 + 0.8*x + rng.normal(0, sigma)</a:t>
            </a:r>
            <a:endParaRPr/>
          </a:p>
          <a:p>
            <a:pPr>
              <a:defRPr/>
            </a:pPr>
            <a:r>
              <a:rPr/>
              <a:t>model = Polynomial.fit(x, y, deg=1)</a:t>
            </a:r>
            <a:endParaRPr/>
          </a:p>
          <a:p>
            <a:pPr>
              <a:defRPr/>
            </a:pPr>
            <a:r>
              <a:rPr/>
              <a:t>y_fit = model(x)</a:t>
            </a:r>
            <a:endParaRPr/>
          </a:p>
          <a:p>
            <a:pPr>
              <a:defRPr/>
            </a:pPr>
            <a:r>
              <a:rPr/>
              <a:t>residual = y - y_fit</a:t>
            </a:r>
            <a:endParaRPr/>
          </a:p>
          <a:p>
            <a:pPr>
              <a:defRPr/>
            </a:pPr>
            <a:r>
              <a:rPr/>
              <a:t>x_dense = np.linspace(x.min(), x.max(), 200)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import pandas as pd</a:t>
            </a:r>
            <a:endParaRPr/>
          </a:p>
          <a:p>
            <a:pPr>
              <a:defRPr/>
            </a:pPr>
            <a:r>
              <a:rPr/>
              <a:t>import seaborn as sns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rng = np.random.default_rng(7)</a:t>
            </a:r>
            <a:endParaRPr/>
          </a:p>
          <a:p>
            <a:pPr>
              <a:defRPr/>
            </a:pPr>
            <a:r>
              <a:rPr/>
              <a:t>df = pd.DataFrame({</a:t>
            </a:r>
            <a:endParaRPr/>
          </a:p>
          <a:p>
            <a:pPr>
              <a:defRPr/>
            </a:pPr>
            <a:r>
              <a:rPr/>
              <a:t>    "group": np.repeat(["A", "B"], 20),</a:t>
            </a:r>
            <a:endParaRPr/>
          </a:p>
          <a:p>
            <a:pPr>
              <a:defRPr/>
            </a:pPr>
            <a:r>
              <a:rPr/>
              <a:t>    "t": np.tile(np.repeat([0, 1, 2, 3], 5), 2)</a:t>
            </a:r>
            <a:endParaRPr/>
          </a:p>
          <a:p>
            <a:pPr>
              <a:defRPr/>
            </a:pPr>
            <a:r>
              <a:rPr/>
              <a:t>})</a:t>
            </a:r>
            <a:endParaRPr/>
          </a:p>
          <a:p>
            <a:pPr>
              <a:defRPr/>
            </a:pPr>
            <a:r>
              <a:rPr/>
              <a:t>df["signal"] = (10 + 0.4*df["t"]</a:t>
            </a:r>
            <a:endParaRPr/>
          </a:p>
          <a:p>
            <a:pPr>
              <a:defRPr/>
            </a:pPr>
            <a:r>
              <a:rPr/>
              <a:t>    + (df["group"] == "B").astype(float)</a:t>
            </a:r>
            <a:endParaRPr/>
          </a:p>
          <a:p>
            <a:pPr>
              <a:defRPr/>
            </a:pPr>
            <a:r>
              <a:rPr/>
              <a:t>    + rng.normal(0, 0.5, len(df)))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fig, axs = plt.subplots(</a:t>
            </a:r>
            <a:endParaRPr/>
          </a:p>
          <a:p>
            <a:pPr>
              <a:defRPr/>
            </a:pPr>
            <a:r>
              <a:rPr/>
              <a:t>    1, 2, figsize=(7, 4),</a:t>
            </a:r>
            <a:endParaRPr/>
          </a:p>
          <a:p>
            <a:pPr>
              <a:defRPr/>
            </a:pPr>
            <a:r>
              <a:rPr/>
              <a:t>    layout="constrained")</a:t>
            </a:r>
            <a:endParaRPr/>
          </a:p>
          <a:p>
            <a:pPr>
              <a:defRPr/>
            </a:pPr>
            <a:r>
              <a:rPr/>
              <a:t>sns.scatterplot(data=df, x="t", y="signal",</a:t>
            </a:r>
            <a:endParaRPr/>
          </a:p>
          <a:p>
            <a:pPr>
              <a:defRPr/>
            </a:pPr>
            <a:r>
              <a:rPr/>
              <a:t>    hue="group", ax=axs[0])</a:t>
            </a:r>
            <a:endParaRPr/>
          </a:p>
          <a:p>
            <a:pPr>
              <a:defRPr/>
            </a:pPr>
            <a:r>
              <a:rPr/>
              <a:t>sns.histplot(data=df, x="signal",</a:t>
            </a:r>
            <a:endParaRPr/>
          </a:p>
          <a:p>
            <a:pPr>
              <a:defRPr/>
            </a:pPr>
            <a:r>
              <a:rPr/>
              <a:t>    hue="group", ax=axs[1], bins=8,</a:t>
            </a:r>
            <a:endParaRPr/>
          </a:p>
          <a:p>
            <a:pPr>
              <a:defRPr/>
            </a:pPr>
            <a:r>
              <a:rPr/>
              <a:t>    element="step", legend=False)</a:t>
            </a:r>
            <a:endParaRPr/>
          </a:p>
          <a:p>
            <a:pPr>
              <a:defRPr/>
            </a:pPr>
            <a:r>
              <a:rPr/>
              <a:t>axs[0].set(xlabel="t, с", ylabel="S, мВ")</a:t>
            </a:r>
            <a:endParaRPr/>
          </a:p>
          <a:p>
            <a:pPr>
              <a:defRPr/>
            </a:pPr>
            <a:r>
              <a:rPr/>
              <a:t>axs[0].legend(title="Группа")</a:t>
            </a:r>
            <a:endParaRPr/>
          </a:p>
          <a:p>
            <a:pPr>
              <a:defRPr/>
            </a:pPr>
            <a:r>
              <a:rPr/>
              <a:t>axs[1].set(xlabel="S, мВ", ylabel="Число")</a:t>
            </a:r>
            <a:endParaRPr/>
          </a:p>
          <a:p>
            <a:pPr>
              <a:defRPr/>
            </a:pPr>
            <a:r>
              <a:rPr/>
              <a:t>plt.show()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https://seaborn.pydata.org/tutorial/function_overview.html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Итог работы: запускаемый notebook или скрипт и два файла изображения. Проверяем корректность сетки, 20 маркеров, подписи и точный размер PNG.</a:t>
            </a:r>
            <a:endParaRPr/>
          </a:p>
          <a:p>
            <a:pPr>
              <a:defRPr/>
            </a:pPr>
            <a:r>
              <a:rPr/>
              <a:t>Индексы 20 маркеров, включая края: idx = np.linspace(0, t.size - 1, 20, dtype=int). Для t.size=100 индексы различны.</a:t>
            </a:r>
            <a:endParaRPr/>
          </a:p>
          <a:p>
            <a:pPr>
              <a:defRPr/>
            </a:pPr>
            <a:r>
              <a:rPr/>
              <a:t>Решение:</a:t>
            </a:r>
            <a:endParaRPr/>
          </a:p>
          <a:p>
            <a:pPr>
              <a:defRPr/>
            </a:pPr>
            <a:r>
              <a:rPr/>
              <a:t>import numpy as np</a:t>
            </a:r>
            <a:endParaRPr/>
          </a:p>
          <a:p>
            <a:pPr>
              <a:defRPr/>
            </a:pPr>
            <a:r>
              <a:rPr/>
              <a:t>import matplotlib.pyplot as plt</a:t>
            </a:r>
            <a:endParaRPr/>
          </a:p>
          <a:p>
            <a:pPr>
              <a:defRPr/>
            </a:pPr>
            <a:r>
              <a:rPr/>
              <a:t>plt.style.use("dark_background")</a:t>
            </a:r>
            <a:endParaRPr/>
          </a:p>
          <a:p>
            <a:pPr>
              <a:defRPr/>
            </a:pPr>
            <a:r>
              <a:rPr/>
              <a:t>t = np.linspace(0, 2*np.pi, 100)</a:t>
            </a:r>
            <a:endParaRPr/>
          </a:p>
          <a:p>
            <a:pPr>
              <a:defRPr/>
            </a:pPr>
            <a:r>
              <a:rPr/>
              <a:t>y = np.sin(t)**2</a:t>
            </a:r>
            <a:endParaRPr/>
          </a:p>
          <a:p>
            <a:pPr>
              <a:defRPr/>
            </a:pPr>
            <a:r>
              <a:rPr/>
              <a:t>idx = np.linspace(0, t.size - 1, 20, dtype=int)</a:t>
            </a:r>
            <a:endParaRPr/>
          </a:p>
          <a:p>
            <a:pPr>
              <a:defRPr/>
            </a:pPr>
            <a:r>
              <a:rPr/>
              <a:t>fig, ax = plt.subplots(figsize=(6, 4), layout="constrained")</a:t>
            </a:r>
            <a:endParaRPr/>
          </a:p>
          <a:p>
            <a:pPr>
              <a:defRPr/>
            </a:pPr>
            <a:r>
              <a:rPr/>
              <a:t>ax.plot(t, y, color="red", ls="-.")</a:t>
            </a:r>
            <a:endParaRPr/>
          </a:p>
          <a:p>
            <a:pPr>
              <a:defRPr/>
            </a:pPr>
            <a:r>
              <a:rPr/>
              <a:t>ax.scatter(t[idx], y[idx], color="dodgerblue", marker="o", zorder=3)</a:t>
            </a:r>
            <a:endParaRPr/>
          </a:p>
          <a:p>
            <a:pPr>
              <a:defRPr/>
            </a:pPr>
            <a:r>
              <a:rPr/>
              <a:t>ax.set(xlabel="t, рад", ylabel="sin²(t)", xlim=(0, 2*np.pi), ylim=(-0.05, 1.3))</a:t>
            </a:r>
            <a:endParaRPr/>
          </a:p>
          <a:p>
            <a:pPr>
              <a:defRPr/>
            </a:pPr>
            <a:r>
              <a:rPr/>
              <a:t>ax.set_xticks([0, np.pi, 2*np.pi], ["0", r"$\pi$", r"$2\pi$"])</a:t>
            </a:r>
            <a:endParaRPr/>
          </a:p>
          <a:p>
            <a:pPr>
              <a:defRPr/>
            </a:pPr>
            <a:r>
              <a:rPr/>
              <a:t>ax.annotate("Максимум", xy=(np.pi/2, 1), xytext=(2.8, 1.15), arrowprops={"arrowstyle": "-&gt;"})</a:t>
            </a:r>
            <a:endParaRPr/>
          </a:p>
          <a:p>
            <a:pPr>
              <a:defRPr/>
            </a:pPr>
            <a:r>
              <a:rPr/>
              <a:t>plt.rcParams["savefig.bbox"] = None</a:t>
            </a:r>
            <a:endParaRPr/>
          </a:p>
          <a:p>
            <a:pPr>
              <a:defRPr/>
            </a:pPr>
            <a:r>
              <a:rPr/>
              <a:t>fig.savefig("practice.png", dpi=150)</a:t>
            </a:r>
            <a:endParaRPr/>
          </a:p>
          <a:p>
            <a:pPr>
              <a:defRPr/>
            </a:pPr>
            <a:r>
              <a:rPr/>
              <a:t>fig.savefig("practice.svg")</a:t>
            </a:r>
            <a:endParaRPr/>
          </a:p>
          <a:p>
            <a:pPr>
              <a:defRPr/>
            </a:pPr>
            <a:r>
              <a:rPr/>
              <a:t>plt.show()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0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r>
              <a:rPr/>
              <a:t>Заголовки на слайде являются ссылками. np.lookfor и np.sctypes удалены в NumPy 2.0, вместо них используем официальную документацию и явные dtype. NumPy: https://numpy.org/doc/stable/ . Matplotlib: https://matplotlib.org/stable/ . Seaborn: https://seaborn.pydata.org/ .</a:t>
            </a:r>
            <a:endParaRPr/>
          </a:p>
          <a:p>
            <a:pPr>
              <a:defRPr/>
            </a:pPr>
            <a:endParaRPr/>
          </a:p>
          <a:p>
            <a:pPr>
              <a:defRPr/>
            </a:pPr>
            <a:r>
              <a:rPr/>
              <a:t>Документация:</a:t>
            </a:r>
            <a:endParaRPr/>
          </a:p>
          <a:p>
            <a:pPr>
              <a:defRPr/>
            </a:pPr>
            <a:r>
              <a:rPr/>
              <a:t>https://numpy.org/doc/stable/user/absolute_beginners.html</a:t>
            </a:r>
            <a:endParaRPr/>
          </a:p>
          <a:p>
            <a:pPr>
              <a:defRPr/>
            </a:pPr>
            <a:r>
              <a:rPr/>
              <a:t>https://matplotlib.org/stable/users/explain/quick_start.html</a:t>
            </a:r>
            <a:endParaRPr/>
          </a:p>
          <a:p>
            <a:pPr>
              <a:defRPr/>
            </a:pPr>
            <a:r>
              <a:rPr/>
              <a:t>https://seaborn.pydata.org/tutorial.html</a:t>
            </a:r>
            <a:endParaRPr/>
          </a:p>
          <a:p>
            <a:pPr>
              <a:defRPr/>
            </a:pPr>
            <a:r>
              <a:rPr/>
              <a:t>https://numpy.org/doc/stable/numpy_2_0_migration_guide.html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</p:spTree>
  </p:cSld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Slide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>
            <a:spLocks noGrp="1"/>
          </p:cNvSpPr>
          <p:nvPr/>
        </p:nvSpPr>
        <p:spPr bwMode="auto"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 fill="norm" stroke="1" extrusionOk="0">
                <a:moveTo>
                  <a:pt x="0" y="0"/>
                </a:moveTo>
                <a:lnTo>
                  <a:pt x="20104099" y="0"/>
                </a:lnTo>
                <a:lnTo>
                  <a:pt x="20104099" y="11308556"/>
                </a:lnTo>
                <a:lnTo>
                  <a:pt x="0" y="1130855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pPr>
              <a:buNone/>
              <a:defRPr/>
            </a:pPr>
            <a:endParaRPr/>
          </a:p>
        </p:txBody>
      </p:sp>
      <p:sp>
        <p:nvSpPr>
          <p:cNvPr id="17" name="bk object 17"/>
          <p:cNvSpPr>
            <a:spLocks noGrp="1"/>
          </p:cNvSpPr>
          <p:nvPr/>
        </p:nvSpPr>
        <p:spPr bwMode="auto">
          <a:xfrm>
            <a:off x="1256506" y="628253"/>
            <a:ext cx="8796020" cy="10052050"/>
          </a:xfrm>
          <a:custGeom>
            <a:avLst/>
            <a:gdLst/>
            <a:ahLst/>
            <a:cxnLst/>
            <a:rect l="l" t="t" r="r" b="b"/>
            <a:pathLst>
              <a:path w="8796020" h="10052050" fill="norm" stroke="1" extrusionOk="0">
                <a:moveTo>
                  <a:pt x="0" y="0"/>
                </a:moveTo>
                <a:lnTo>
                  <a:pt x="8795543" y="0"/>
                </a:lnTo>
                <a:lnTo>
                  <a:pt x="8795543" y="10052050"/>
                </a:lnTo>
                <a:lnTo>
                  <a:pt x="0" y="1005205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pPr>
              <a:buNone/>
              <a:defRPr/>
            </a:pPr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 idx="0"/>
          </p:nvPr>
        </p:nvSpPr>
        <p:spPr bwMode="auto">
          <a:xfrm>
            <a:off x="0" y="509640"/>
            <a:ext cx="20104100" cy="11079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buNone/>
              <a:defRPr sz="7200" b="0" i="0">
                <a:solidFill>
                  <a:schemeClr val="bg1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>
              <a:buNone/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 bwMode="auto"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>
            <a:pPr>
              <a:buNone/>
              <a:defRPr/>
            </a:pP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idx="5"/>
          </p:nvPr>
        </p:nvSpPr>
        <p:spPr bwMode="auto"/>
        <p:txBody>
          <a:bodyPr lIns="0" tIns="0" rIns="0" bIns="0"/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None/>
              <a:defRPr/>
            </a:pP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idx="6"/>
          </p:nvPr>
        </p:nvSpPr>
        <p:spPr bwMode="auto"/>
        <p:txBody>
          <a:bodyPr lIns="0" tIns="0" rIns="0" bIns="0"/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None/>
              <a:defRPr/>
            </a:pPr>
            <a:fld id="{1D8BD707-D9CF-40AE-B4C6-C98DA3205C09}" type="datetimeFigureOut">
              <a:rPr/>
              <a:t/>
            </a:fld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idx="7"/>
          </p:nvPr>
        </p:nvSpPr>
        <p:spPr bwMode="auto"/>
        <p:txBody>
          <a:bodyPr lIns="0" tIns="0" rIns="0" bIns="0"/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None/>
              <a:defRPr/>
            </a:pPr>
            <a:fld id="{B6F15528-21DE-4FAA-801E-634DDDAF4B2B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idx="0"/>
          </p:nvPr>
        </p:nvSpPr>
        <p:spPr bwMode="auto">
          <a:xfrm>
            <a:off x="0" y="509639"/>
            <a:ext cx="20104100" cy="1107996"/>
          </a:xfrm>
        </p:spPr>
        <p:txBody>
          <a:bodyPr lIns="0" tIns="0" rIns="0" bIns="0"/>
          <a:lstStyle>
            <a:lvl1pPr algn="ctr">
              <a:buNone/>
              <a:defRPr sz="7200" b="0" i="0">
                <a:solidFill>
                  <a:schemeClr val="bg1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>
              <a:buNone/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 bwMode="auto">
          <a:xfrm>
            <a:off x="866670" y="2301875"/>
            <a:ext cx="18232226" cy="7848600"/>
          </a:xfrm>
        </p:spPr>
        <p:txBody>
          <a:bodyPr lIns="0" tIns="0" rIns="0" bIns="0"/>
          <a:lstStyle>
            <a:lvl1pPr>
              <a:buNone/>
              <a:defRPr sz="3950" b="0" i="0">
                <a:solidFill>
                  <a:schemeClr val="bg1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>
              <a:buNone/>
              <a:defRPr/>
            </a:pP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idx="5"/>
          </p:nvPr>
        </p:nvSpPr>
        <p:spPr bwMode="auto"/>
        <p:txBody>
          <a:bodyPr lIns="0" tIns="0" rIns="0" bIns="0"/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None/>
              <a:defRPr/>
            </a:pP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idx="6"/>
          </p:nvPr>
        </p:nvSpPr>
        <p:spPr bwMode="auto"/>
        <p:txBody>
          <a:bodyPr lIns="0" tIns="0" rIns="0" bIns="0"/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None/>
              <a:defRPr/>
            </a:pPr>
            <a:fld id="{1D8BD707-D9CF-40AE-B4C6-C98DA3205C09}" type="datetimeFigureOut">
              <a:rPr/>
              <a:t/>
            </a:fld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idx="7"/>
          </p:nvPr>
        </p:nvSpPr>
        <p:spPr bwMode="auto"/>
        <p:txBody>
          <a:bodyPr lIns="0" tIns="0" rIns="0" bIns="0"/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None/>
              <a:defRPr/>
            </a:pPr>
            <a:fld id="{B6F15528-21DE-4FAA-801E-634DDDAF4B2B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idx="0"/>
          </p:nvPr>
        </p:nvSpPr>
        <p:spPr bwMode="auto"/>
        <p:txBody>
          <a:bodyPr lIns="0" tIns="0" rIns="0" bIns="0"/>
          <a:lstStyle>
            <a:lvl1pPr>
              <a:buNone/>
              <a:defRPr sz="7200" b="0" i="0">
                <a:solidFill>
                  <a:schemeClr val="bg1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>
              <a:buNone/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idx="2"/>
          </p:nvPr>
        </p:nvSpPr>
        <p:spPr bwMode="auto"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>
            <a:pPr>
              <a:buNone/>
              <a:defRPr/>
            </a:pPr>
            <a:endParaRPr/>
          </a:p>
        </p:txBody>
      </p:sp>
      <p:sp>
        <p:nvSpPr>
          <p:cNvPr id="4" name="Holder 4"/>
          <p:cNvSpPr>
            <a:spLocks noGrp="1"/>
          </p:cNvSpPr>
          <p:nvPr>
            <p:ph idx="3"/>
          </p:nvPr>
        </p:nvSpPr>
        <p:spPr bwMode="auto"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/>
            </a:lvl1pPr>
          </a:lstStyle>
          <a:p>
            <a:pPr>
              <a:buNone/>
              <a:defRPr/>
            </a:pP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idx="5"/>
          </p:nvPr>
        </p:nvSpPr>
        <p:spPr bwMode="auto"/>
        <p:txBody>
          <a:bodyPr lIns="0" tIns="0" rIns="0" bIns="0"/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None/>
              <a:defRPr/>
            </a:pPr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idx="6"/>
          </p:nvPr>
        </p:nvSpPr>
        <p:spPr bwMode="auto"/>
        <p:txBody>
          <a:bodyPr lIns="0" tIns="0" rIns="0" bIns="0"/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None/>
              <a:defRPr/>
            </a:pPr>
            <a:fld id="{1D8BD707-D9CF-40AE-B4C6-C98DA3205C09}" type="datetimeFigureOut">
              <a:rPr/>
              <a:t/>
            </a:fld>
            <a:endParaRPr/>
          </a:p>
        </p:txBody>
      </p:sp>
      <p:sp>
        <p:nvSpPr>
          <p:cNvPr id="7" name="Holder 7"/>
          <p:cNvSpPr>
            <a:spLocks noGrp="1"/>
          </p:cNvSpPr>
          <p:nvPr>
            <p:ph type="sldNum" idx="7"/>
          </p:nvPr>
        </p:nvSpPr>
        <p:spPr bwMode="auto"/>
        <p:txBody>
          <a:bodyPr lIns="0" tIns="0" rIns="0" bIns="0"/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None/>
              <a:defRPr/>
            </a:pPr>
            <a:fld id="{B6F15528-21DE-4FAA-801E-634DDDAF4B2B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 idx="0"/>
          </p:nvPr>
        </p:nvSpPr>
        <p:spPr bwMode="auto"/>
        <p:txBody>
          <a:bodyPr lIns="0" tIns="0" rIns="0" bIns="0"/>
          <a:lstStyle>
            <a:lvl1pPr>
              <a:buNone/>
              <a:defRPr sz="7200" b="0" i="0">
                <a:solidFill>
                  <a:schemeClr val="bg1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>
              <a:buNone/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idx="5"/>
          </p:nvPr>
        </p:nvSpPr>
        <p:spPr bwMode="auto"/>
        <p:txBody>
          <a:bodyPr lIns="0" tIns="0" rIns="0" bIns="0"/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None/>
              <a:defRPr/>
            </a:pP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idx="6"/>
          </p:nvPr>
        </p:nvSpPr>
        <p:spPr bwMode="auto"/>
        <p:txBody>
          <a:bodyPr lIns="0" tIns="0" rIns="0" bIns="0"/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None/>
              <a:defRPr/>
            </a:pPr>
            <a:fld id="{1D8BD707-D9CF-40AE-B4C6-C98DA3205C09}" type="datetimeFigureOut">
              <a:rPr/>
              <a:t/>
            </a:fld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sldNum" idx="7"/>
          </p:nvPr>
        </p:nvSpPr>
        <p:spPr bwMode="auto"/>
        <p:txBody>
          <a:bodyPr lIns="0" tIns="0" rIns="0" bIns="0"/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None/>
              <a:defRPr/>
            </a:pPr>
            <a:fld id="{B6F15528-21DE-4FAA-801E-634DDDAF4B2B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/>
          </p:nvPr>
        </p:nvSpPr>
        <p:spPr bwMode="auto"/>
        <p:txBody>
          <a:bodyPr lIns="0" tIns="0" rIns="0" bIns="0"/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None/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idx="6"/>
          </p:nvPr>
        </p:nvSpPr>
        <p:spPr bwMode="auto"/>
        <p:txBody>
          <a:bodyPr lIns="0" tIns="0" rIns="0" bIns="0"/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None/>
              <a:defRPr/>
            </a:pPr>
            <a:fld id="{1D8BD707-D9CF-40AE-B4C6-C98DA3205C09}" type="datetimeFigureOut">
              <a:rPr/>
              <a:t/>
            </a:fld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sldNum" idx="7"/>
          </p:nvPr>
        </p:nvSpPr>
        <p:spPr bwMode="auto"/>
        <p:txBody>
          <a:bodyPr lIns="0" tIns="0" rIns="0" bIns="0"/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None/>
              <a:defRPr/>
            </a:pPr>
            <a:fld id="{B6F15528-21DE-4FAA-801E-634DDDAF4B2B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type="title" userDrawn="1">
  <p:cSld name="Титульный слайд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 idx="0"/>
          </p:nvPr>
        </p:nvSpPr>
        <p:spPr bwMode="auto">
          <a:xfrm>
            <a:off x="2513013" y="4265593"/>
            <a:ext cx="15078075" cy="1522596"/>
          </a:xfrm>
        </p:spPr>
        <p:txBody>
          <a:bodyPr anchor="b"/>
          <a:lstStyle>
            <a:lvl1pPr algn="ctr">
              <a:buNone/>
              <a:defRPr sz="9900"/>
            </a:lvl1pPr>
          </a:lstStyle>
          <a:p>
            <a:pPr>
              <a:buNone/>
              <a:defRPr/>
            </a:pPr>
            <a:r>
              <a:rPr/>
              <a:t>Образец заголовка</a:t>
            </a:r>
            <a:endParaRPr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 bwMode="auto">
          <a:xfrm>
            <a:off x="2513013" y="5940028"/>
            <a:ext cx="15078075" cy="609077"/>
          </a:xfrm>
        </p:spPr>
        <p:txBody>
          <a:bodyPr/>
          <a:lstStyle>
            <a:lvl1pPr marL="0" indent="0" algn="ctr">
              <a:buNone/>
              <a:defRPr sz="3950"/>
            </a:lvl1pPr>
            <a:lvl2pPr marL="753923" indent="0" algn="ctr">
              <a:buNone/>
              <a:defRPr sz="3300"/>
            </a:lvl2pPr>
            <a:lvl3pPr marL="1507846" indent="0" algn="ctr">
              <a:buNone/>
              <a:defRPr sz="2950"/>
            </a:lvl3pPr>
            <a:lvl4pPr marL="2261768" indent="0" algn="ctr">
              <a:buNone/>
              <a:defRPr sz="2650"/>
            </a:lvl4pPr>
            <a:lvl5pPr marL="3015690" indent="0" algn="ctr">
              <a:buNone/>
              <a:defRPr sz="2650"/>
            </a:lvl5pPr>
            <a:lvl6pPr marL="3769614" indent="0" algn="ctr">
              <a:buNone/>
              <a:defRPr sz="2650"/>
            </a:lvl6pPr>
            <a:lvl7pPr marL="4523537" indent="0" algn="ctr">
              <a:buNone/>
              <a:defRPr sz="2650"/>
            </a:lvl7pPr>
            <a:lvl8pPr marL="5277460" indent="0" algn="ctr">
              <a:buNone/>
              <a:defRPr sz="2650"/>
            </a:lvl8pPr>
            <a:lvl9pPr marL="6031381" indent="0" algn="ctr">
              <a:buNone/>
              <a:defRPr sz="2650"/>
            </a:lvl9pPr>
          </a:lstStyle>
          <a:p>
            <a:pPr>
              <a:buNone/>
              <a:defRPr/>
            </a:pPr>
            <a:r>
              <a:rPr/>
              <a:t>Образец подзаголовка</a:t>
            </a:r>
            <a:endParaRPr/>
          </a:p>
        </p:txBody>
      </p:sp>
      <p:sp>
        <p:nvSpPr>
          <p:cNvPr id="4" name="Дата 3"/>
          <p:cNvSpPr>
            <a:spLocks noGrp="1"/>
          </p:cNvSpPr>
          <p:nvPr>
            <p:ph type="dt" idx="10"/>
          </p:nvPr>
        </p:nvSpPr>
        <p:spPr bwMode="auto">
          <a:xfrm>
            <a:off x="1005205" y="10517696"/>
            <a:ext cx="4623943" cy="276999"/>
          </a:xfrm>
        </p:spPr>
        <p:txBody>
          <a:bodyPr/>
          <a:lstStyle/>
          <a:p>
            <a:pPr>
              <a:buNone/>
              <a:defRPr/>
            </a:pPr>
            <a:fld id="{C0A01E0C-EEAA-40B3-A2DD-D7056A467167}" type="datetimeFigureOut">
              <a:rPr/>
              <a:t/>
            </a:fld>
            <a:endParaRPr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idx="11"/>
          </p:nvPr>
        </p:nvSpPr>
        <p:spPr bwMode="auto">
          <a:xfrm>
            <a:off x="6835394" y="10517696"/>
            <a:ext cx="6433312" cy="276999"/>
          </a:xfrm>
        </p:spPr>
        <p:txBody>
          <a:bodyPr/>
          <a:lstStyle/>
          <a:p>
            <a:pPr>
              <a:buNone/>
              <a:defRPr/>
            </a:pPr>
            <a:endParaRPr/>
          </a:p>
        </p:txBody>
      </p:sp>
      <p:sp>
        <p:nvSpPr>
          <p:cNvPr id="6" name="Номер слайда 5"/>
          <p:cNvSpPr>
            <a:spLocks noGrp="1"/>
          </p:cNvSpPr>
          <p:nvPr>
            <p:ph type="sldNum" idx="12"/>
          </p:nvPr>
        </p:nvSpPr>
        <p:spPr bwMode="auto">
          <a:xfrm>
            <a:off x="14474953" y="10517696"/>
            <a:ext cx="4623943" cy="276999"/>
          </a:xfrm>
        </p:spPr>
        <p:txBody>
          <a:bodyPr/>
          <a:lstStyle/>
          <a:p>
            <a:pPr>
              <a:buNone/>
              <a:defRPr/>
            </a:pPr>
            <a:fld id="{3EBC29FE-C590-41A7-8A30-148F2018CD70}" type="slidenum">
              <a:rPr/>
              <a:t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>
            <a:spLocks noGrp="1"/>
          </p:cNvSpPr>
          <p:nvPr/>
        </p:nvSpPr>
        <p:spPr bwMode="auto"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 fill="norm" stroke="1" extrusionOk="0">
                <a:moveTo>
                  <a:pt x="0" y="0"/>
                </a:moveTo>
                <a:lnTo>
                  <a:pt x="20104099" y="0"/>
                </a:lnTo>
                <a:lnTo>
                  <a:pt x="20104099" y="11308556"/>
                </a:lnTo>
                <a:lnTo>
                  <a:pt x="0" y="11308556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/>
          <a:lstStyle/>
          <a:p>
            <a:pPr>
              <a:buNone/>
              <a:defRPr/>
            </a:pPr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 idx="0"/>
          </p:nvPr>
        </p:nvSpPr>
        <p:spPr bwMode="auto">
          <a:xfrm>
            <a:off x="8545525" y="509640"/>
            <a:ext cx="3013048" cy="11550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 sz="7200" b="0" i="0">
                <a:solidFill>
                  <a:schemeClr val="bg1"/>
                </a:solidFill>
                <a:latin typeface="DejaVu Sans"/>
                <a:ea typeface="DejaVu Sans"/>
                <a:cs typeface="DejaVu Sans"/>
              </a:defRPr>
            </a:lvl1pPr>
          </a:lstStyle>
          <a:p>
            <a:pPr>
              <a:buNone/>
              <a:defRPr/>
            </a:pP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 bwMode="auto">
          <a:xfrm>
            <a:off x="2663593" y="4424867"/>
            <a:ext cx="8801735" cy="442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buNone/>
              <a:defRPr sz="3950" b="0" i="0">
                <a:solidFill>
                  <a:schemeClr val="bg1"/>
                </a:solidFill>
                <a:latin typeface="DejaVu Sans Mono"/>
                <a:ea typeface="DejaVu Sans Mono"/>
                <a:cs typeface="DejaVu Sans Mono"/>
              </a:defRPr>
            </a:lvl1pPr>
          </a:lstStyle>
          <a:p>
            <a:pPr>
              <a:buNone/>
              <a:defRPr/>
            </a:pPr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idx="5"/>
          </p:nvPr>
        </p:nvSpPr>
        <p:spPr bwMode="auto"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None/>
              <a:defRPr/>
            </a:pPr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idx="6"/>
          </p:nvPr>
        </p:nvSpPr>
        <p:spPr bwMode="auto"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None/>
              <a:defRPr/>
            </a:pPr>
            <a:fld id="{1D8BD707-D9CF-40AE-B4C6-C98DA3205C09}" type="datetimeFigureOut">
              <a:rPr/>
              <a:t/>
            </a:fld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sldNum" idx="7"/>
          </p:nvPr>
        </p:nvSpPr>
        <p:spPr bwMode="auto"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buNone/>
              <a:defRPr/>
            </a:pPr>
            <a:fld id="{B6F15528-21DE-4FAA-801E-634DDDAF4B2B}" type="slidenum">
              <a:rPr/>
              <a:t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>
        <a:buNone/>
        <a:defRPr>
          <a:latin typeface="+mj-lt"/>
          <a:ea typeface="+mj-lt"/>
          <a:cs typeface="+mj-lt"/>
        </a:defRPr>
      </a:lvl1pPr>
    </p:titleStyle>
    <p:bodyStyle>
      <a:lvl1pPr marL="0">
        <a:buNone/>
        <a:defRPr>
          <a:latin typeface="+mn-lt"/>
          <a:ea typeface="+mn-lt"/>
          <a:cs typeface="+mn-lt"/>
        </a:defRPr>
      </a:lvl1pPr>
      <a:lvl2pPr marL="457200">
        <a:buNone/>
        <a:defRPr>
          <a:latin typeface="+mn-lt"/>
          <a:ea typeface="+mn-lt"/>
          <a:cs typeface="+mn-lt"/>
        </a:defRPr>
      </a:lvl2pPr>
      <a:lvl3pPr marL="914400">
        <a:buNone/>
        <a:defRPr>
          <a:latin typeface="+mn-lt"/>
          <a:ea typeface="+mn-lt"/>
          <a:cs typeface="+mn-lt"/>
        </a:defRPr>
      </a:lvl3pPr>
      <a:lvl4pPr marL="1371600">
        <a:buNone/>
        <a:defRPr>
          <a:latin typeface="+mn-lt"/>
          <a:ea typeface="+mn-lt"/>
          <a:cs typeface="+mn-lt"/>
        </a:defRPr>
      </a:lvl4pPr>
      <a:lvl5pPr marL="1828800">
        <a:buNone/>
        <a:defRPr>
          <a:latin typeface="+mn-lt"/>
          <a:ea typeface="+mn-lt"/>
          <a:cs typeface="+mn-lt"/>
        </a:defRPr>
      </a:lvl5pPr>
      <a:lvl6pPr marL="2286000">
        <a:buNone/>
        <a:defRPr>
          <a:latin typeface="+mn-lt"/>
          <a:ea typeface="+mn-lt"/>
          <a:cs typeface="+mn-lt"/>
        </a:defRPr>
      </a:lvl6pPr>
      <a:lvl7pPr marL="2743200">
        <a:buNone/>
        <a:defRPr>
          <a:latin typeface="+mn-lt"/>
          <a:ea typeface="+mn-lt"/>
          <a:cs typeface="+mn-lt"/>
        </a:defRPr>
      </a:lvl7pPr>
      <a:lvl8pPr marL="3200400">
        <a:buNone/>
        <a:defRPr>
          <a:latin typeface="+mn-lt"/>
          <a:ea typeface="+mn-lt"/>
          <a:cs typeface="+mn-lt"/>
        </a:defRPr>
      </a:lvl8pPr>
      <a:lvl9pPr marL="3657600">
        <a:buNone/>
        <a:defRPr>
          <a:latin typeface="+mn-lt"/>
          <a:ea typeface="+mn-lt"/>
          <a:cs typeface="+mn-lt"/>
        </a:defRPr>
      </a:lvl9pPr>
    </p:bodyStyle>
    <p:otherStyle>
      <a:lvl1pPr marL="0">
        <a:buNone/>
        <a:defRPr>
          <a:latin typeface="+mn-lt"/>
          <a:ea typeface="+mn-lt"/>
          <a:cs typeface="+mn-lt"/>
        </a:defRPr>
      </a:lvl1pPr>
      <a:lvl2pPr marL="457200">
        <a:buNone/>
        <a:defRPr>
          <a:latin typeface="+mn-lt"/>
          <a:ea typeface="+mn-lt"/>
          <a:cs typeface="+mn-lt"/>
        </a:defRPr>
      </a:lvl2pPr>
      <a:lvl3pPr marL="914400">
        <a:buNone/>
        <a:defRPr>
          <a:latin typeface="+mn-lt"/>
          <a:ea typeface="+mn-lt"/>
          <a:cs typeface="+mn-lt"/>
        </a:defRPr>
      </a:lvl3pPr>
      <a:lvl4pPr marL="1371600">
        <a:buNone/>
        <a:defRPr>
          <a:latin typeface="+mn-lt"/>
          <a:ea typeface="+mn-lt"/>
          <a:cs typeface="+mn-lt"/>
        </a:defRPr>
      </a:lvl4pPr>
      <a:lvl5pPr marL="1828800">
        <a:buNone/>
        <a:defRPr>
          <a:latin typeface="+mn-lt"/>
          <a:ea typeface="+mn-lt"/>
          <a:cs typeface="+mn-lt"/>
        </a:defRPr>
      </a:lvl5pPr>
      <a:lvl6pPr marL="2286000">
        <a:buNone/>
        <a:defRPr>
          <a:latin typeface="+mn-lt"/>
          <a:ea typeface="+mn-lt"/>
          <a:cs typeface="+mn-lt"/>
        </a:defRPr>
      </a:lvl6pPr>
      <a:lvl7pPr marL="2743200">
        <a:buNone/>
        <a:defRPr>
          <a:latin typeface="+mn-lt"/>
          <a:ea typeface="+mn-lt"/>
          <a:cs typeface="+mn-lt"/>
        </a:defRPr>
      </a:lvl7pPr>
      <a:lvl8pPr marL="3200400">
        <a:buNone/>
        <a:defRPr>
          <a:latin typeface="+mn-lt"/>
          <a:ea typeface="+mn-lt"/>
          <a:cs typeface="+mn-lt"/>
        </a:defRPr>
      </a:lvl8pPr>
      <a:lvl9pPr marL="3657600">
        <a:buNone/>
        <a:defRPr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/Relationships>
</file>

<file path=ppt/slides/_rels/slide2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png"/></Relationships>
</file>

<file path=ppt/slides/_rels/slide2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6.png"/></Relationships>
</file>

<file path=ppt/slides/_rels/slide2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7.png"/></Relationships>
</file>

<file path=ppt/slides/_rels/slide2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.png"/></Relationships>
</file>

<file path=ppt/slides/_rels/slide2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.png"/></Relationships>
</file>

<file path=ppt/slides/_rels/slide2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0.png"/></Relationships>
</file>

<file path=ppt/slides/_rels/slide2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1.png"/></Relationships>
</file>

<file path=ppt/slides/_rels/slide2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2.png"/></Relationships>
</file>

<file path=ppt/slides/_rels/slide3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/Relationships>
</file>

<file path=ppt/slides/_rels/slide3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4.png"/></Relationships>
</file>

<file path=ppt/slides/_rels/slide3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5.png"/></Relationships>
</file>

<file path=ppt/slides/_rels/slide3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png"/></Relationships>
</file>

<file path=ppt/slides/_rels/slide3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7.png"/></Relationships>
</file>

<file path=ppt/slides/_rels/slide3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numpy.org/doc/stable/user/absolute_beginners.html" TargetMode="External"/><Relationship Id="rId4" Type="http://schemas.openxmlformats.org/officeDocument/2006/relationships/hyperlink" Target="https://matplotlib.org/stable/users/explain/quick_start.html" TargetMode="External"/><Relationship Id="rId5" Type="http://schemas.openxmlformats.org/officeDocument/2006/relationships/hyperlink" Target="https://seaborn.pydata.org/tutorial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cover-title"/>
          <p:cNvSpPr>
            <a:spLocks noGrp="1"/>
          </p:cNvSpPr>
          <p:nvPr/>
        </p:nvSpPr>
        <p:spPr bwMode="auto">
          <a:xfrm>
            <a:off x="942380" y="3612709"/>
            <a:ext cx="18062277" cy="196342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09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109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Python</a:t>
            </a:r>
            <a:endParaRPr/>
          </a:p>
        </p:txBody>
      </p:sp>
      <p:pic>
        <p:nvPicPr>
          <p:cNvPr id="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5674914" y="816821"/>
            <a:ext cx="3455392" cy="977042"/>
          </a:xfrm>
          <a:prstGeom prst="rect">
            <a:avLst/>
          </a:prstGeom>
        </p:spPr>
      </p:pic>
      <p:sp>
        <p:nvSpPr>
          <p:cNvPr id="3" name="s1-text-1"/>
          <p:cNvSpPr>
            <a:spLocks noGrp="1"/>
          </p:cNvSpPr>
          <p:nvPr/>
        </p:nvSpPr>
        <p:spPr bwMode="auto">
          <a:xfrm>
            <a:off x="1005205" y="2827338"/>
            <a:ext cx="17276961" cy="7853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450" b="0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450" b="0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Лекция 4</a:t>
            </a:r>
            <a:endParaRPr/>
          </a:p>
        </p:txBody>
      </p:sp>
      <p:sp>
        <p:nvSpPr>
          <p:cNvPr id="4" name="s1-text-2"/>
          <p:cNvSpPr>
            <a:spLocks noGrp="1"/>
          </p:cNvSpPr>
          <p:nvPr/>
        </p:nvSpPr>
        <p:spPr bwMode="auto">
          <a:xfrm>
            <a:off x="1005205" y="5764627"/>
            <a:ext cx="18062277" cy="10995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3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3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NumPy и визуализация данных</a:t>
            </a:r>
            <a:endParaRPr/>
          </a:p>
        </p:txBody>
      </p:sp>
      <p:sp>
        <p:nvSpPr>
          <p:cNvPr id="5" name="s1-text-3"/>
          <p:cNvSpPr>
            <a:spLocks noGrp="1"/>
          </p:cNvSpPr>
          <p:nvPr/>
        </p:nvSpPr>
        <p:spPr bwMode="auto">
          <a:xfrm>
            <a:off x="1005205" y="7084051"/>
            <a:ext cx="15706328" cy="94244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3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Matplotlib и Seaborn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Инструменты для работы с данными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02</a:t>
            </a:r>
            <a:endParaRPr/>
          </a:p>
        </p:txBody>
      </p:sp>
      <p:sp>
        <p:nvSpPr>
          <p:cNvPr id="3" name="s2-text-1"/>
          <p:cNvSpPr>
            <a:spLocks noGrp="1"/>
          </p:cNvSpPr>
          <p:nvPr/>
        </p:nvSpPr>
        <p:spPr bwMode="auto">
          <a:xfrm>
            <a:off x="942380" y="2890167"/>
            <a:ext cx="8402886" cy="62829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NumPy</a:t>
            </a:r>
            <a:endParaRPr/>
          </a:p>
        </p:txBody>
      </p:sp>
      <p:sp>
        <p:nvSpPr>
          <p:cNvPr id="4" name="s2-text-2"/>
          <p:cNvSpPr>
            <a:spLocks noGrp="1"/>
          </p:cNvSpPr>
          <p:nvPr/>
        </p:nvSpPr>
        <p:spPr bwMode="auto">
          <a:xfrm>
            <a:off x="942380" y="3675539"/>
            <a:ext cx="8402886" cy="102098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Числовые массивы и вычисления</a:t>
            </a:r>
            <a:endParaRPr/>
          </a:p>
        </p:txBody>
      </p:sp>
      <p:sp>
        <p:nvSpPr>
          <p:cNvPr id="5" name="s2-text-3"/>
          <p:cNvSpPr>
            <a:spLocks noGrp="1"/>
          </p:cNvSpPr>
          <p:nvPr/>
        </p:nvSpPr>
        <p:spPr bwMode="auto">
          <a:xfrm>
            <a:off x="942380" y="4994963"/>
            <a:ext cx="8402886" cy="62829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Matplotlib</a:t>
            </a:r>
            <a:endParaRPr/>
          </a:p>
        </p:txBody>
      </p:sp>
      <p:sp>
        <p:nvSpPr>
          <p:cNvPr id="6" name="s2-text-4"/>
          <p:cNvSpPr>
            <a:spLocks noGrp="1"/>
          </p:cNvSpPr>
          <p:nvPr/>
        </p:nvSpPr>
        <p:spPr bwMode="auto">
          <a:xfrm>
            <a:off x="942380" y="5780334"/>
            <a:ext cx="8402886" cy="102098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Управление каждым элементом графика</a:t>
            </a:r>
            <a:endParaRPr/>
          </a:p>
        </p:txBody>
      </p:sp>
      <p:sp>
        <p:nvSpPr>
          <p:cNvPr id="7" name="s2-text-5"/>
          <p:cNvSpPr>
            <a:spLocks noGrp="1"/>
          </p:cNvSpPr>
          <p:nvPr/>
        </p:nvSpPr>
        <p:spPr bwMode="auto">
          <a:xfrm>
            <a:off x="942380" y="7099759"/>
            <a:ext cx="8402886" cy="62829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Seaborn</a:t>
            </a:r>
            <a:endParaRPr/>
          </a:p>
        </p:txBody>
      </p:sp>
      <p:sp>
        <p:nvSpPr>
          <p:cNvPr id="8" name="s2-text-6"/>
          <p:cNvSpPr>
            <a:spLocks noGrp="1"/>
          </p:cNvSpPr>
          <p:nvPr/>
        </p:nvSpPr>
        <p:spPr bwMode="auto">
          <a:xfrm>
            <a:off x="942380" y="7885130"/>
            <a:ext cx="8402886" cy="102098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Визуализация данных с группами</a:t>
            </a:r>
            <a:endParaRPr/>
          </a:p>
        </p:txBody>
      </p:sp>
      <p:sp>
        <p:nvSpPr>
          <p:cNvPr id="9" name="s2-code-7"/>
          <p:cNvSpPr>
            <a:spLocks noGrp="1"/>
          </p:cNvSpPr>
          <p:nvPr/>
        </p:nvSpPr>
        <p:spPr bwMode="auto">
          <a:xfrm>
            <a:off x="10366177" y="3188608"/>
            <a:ext cx="8952607" cy="33670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0CDEE"/>
                </a:solidFill>
                <a:latin typeface="DejaVu Sans Mono"/>
                <a:ea typeface="DejaVu Sans Mono"/>
                <a:cs typeface="DejaVu Sans Mono"/>
              </a:rPr>
              <a:t>import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numpy </a:t>
            </a:r>
            <a:r>
              <a:rPr>
                <a:solidFill>
                  <a:srgbClr val="70CDEE"/>
                </a:solidFill>
                <a:latin typeface="DejaVu Sans Mono"/>
                <a:ea typeface="DejaVu Sans Mono"/>
                <a:cs typeface="DejaVu Sans Mono"/>
              </a:rPr>
              <a:t>as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np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0CDEE"/>
                </a:solidFill>
                <a:latin typeface="DejaVu Sans Mono"/>
                <a:ea typeface="DejaVu Sans Mono"/>
                <a:cs typeface="DejaVu Sans Mono"/>
              </a:rPr>
              <a:t>import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matplotlib.pyplot </a:t>
            </a:r>
            <a:r>
              <a:rPr>
                <a:solidFill>
                  <a:srgbClr val="70CDEE"/>
                </a:solidFill>
                <a:latin typeface="DejaVu Sans Mono"/>
                <a:ea typeface="DejaVu Sans Mono"/>
                <a:cs typeface="DejaVu Sans Mono"/>
              </a:rPr>
              <a:t>as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plt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0CDEE"/>
                </a:solidFill>
                <a:latin typeface="DejaVu Sans Mono"/>
                <a:ea typeface="DejaVu Sans Mono"/>
                <a:cs typeface="DejaVu Sans Mono"/>
              </a:rPr>
              <a:t>import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seaborn </a:t>
            </a:r>
            <a:r>
              <a:rPr>
                <a:solidFill>
                  <a:srgbClr val="70CDEE"/>
                </a:solidFill>
                <a:latin typeface="DejaVu Sans Mono"/>
                <a:ea typeface="DejaVu Sans Mono"/>
                <a:cs typeface="DejaVu Sans Mono"/>
              </a:rPr>
              <a:t>as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sns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plt.style.use(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"dark_background"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help(np.linspace)</a:t>
            </a:r>
            <a:endParaRPr/>
          </a:p>
        </p:txBody>
      </p:sp>
      <p:sp>
        <p:nvSpPr>
          <p:cNvPr id="10" name="s2-text-8"/>
          <p:cNvSpPr>
            <a:spLocks noGrp="1"/>
          </p:cNvSpPr>
          <p:nvPr/>
        </p:nvSpPr>
        <p:spPr bwMode="auto">
          <a:xfrm>
            <a:off x="942380" y="9691485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Импорты достаточно выполнить один раз. В Jupyter/IPython также работает np.linspace?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Массив: форма и тип</a:t>
            </a:r>
            <a:endParaRPr/>
          </a:p>
        </p:txBody>
      </p:sp>
      <p:sp>
        <p:nvSpPr>
          <p:cNvPr id="2" name="subtitle"/>
          <p:cNvSpPr>
            <a:spLocks noGrp="1"/>
          </p:cNvSpPr>
          <p:nvPr/>
        </p:nvSpPr>
        <p:spPr bwMode="auto">
          <a:xfrm>
            <a:off x="942380" y="1869184"/>
            <a:ext cx="18219341" cy="7853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9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9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ndarray хранит элементы с единым dtype</a:t>
            </a:r>
            <a:endParaRPr/>
          </a:p>
        </p:txBody>
      </p:sp>
      <p:sp>
        <p:nvSpPr>
          <p:cNvPr id="3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03</a:t>
            </a:r>
            <a:endParaRPr/>
          </a:p>
        </p:txBody>
      </p:sp>
      <p:graphicFrame>
        <p:nvGraphicFramePr>
          <p:cNvPr id="12" name=""/>
          <p:cNvGraphicFramePr>
            <a:graphicFrameLocks xmlns:a="http://schemas.openxmlformats.org/drawingml/2006/main"/>
          </p:cNvGraphicFramePr>
          <p:nvPr/>
        </p:nvGraphicFramePr>
        <p:xfrm>
          <a:off x="11779746" y="3267146"/>
          <a:ext cx="6361063" cy="2481774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2120354"/>
                <a:gridCol w="2120354"/>
                <a:gridCol w="2120354"/>
              </a:tblGrid>
              <a:tr h="1240887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85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85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85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</a:tr>
              <a:tr h="1240887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85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85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85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5" name="s3-text-2"/>
          <p:cNvSpPr>
            <a:spLocks noGrp="1"/>
          </p:cNvSpPr>
          <p:nvPr/>
        </p:nvSpPr>
        <p:spPr bwMode="auto">
          <a:xfrm>
            <a:off x="11779746" y="6204435"/>
            <a:ext cx="7067848" cy="70683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100" b="0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100" b="0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2 строки, 3 столбца</a:t>
            </a:r>
            <a:endParaRPr/>
          </a:p>
        </p:txBody>
      </p:sp>
      <p:sp>
        <p:nvSpPr>
          <p:cNvPr id="6" name="s3-text-3"/>
          <p:cNvSpPr>
            <a:spLocks noGrp="1"/>
          </p:cNvSpPr>
          <p:nvPr/>
        </p:nvSpPr>
        <p:spPr bwMode="auto">
          <a:xfrm>
            <a:off x="11779746" y="7225418"/>
            <a:ext cx="7224911" cy="141366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Примеры типов:</a:t>
            </a:r>
            <a:endParaRPr/>
          </a:p>
          <a:p>
            <a:pPr algn="l">
              <a:lnSpc>
                <a:spcPct val="118000"/>
              </a:lnSpc>
              <a:buNone/>
              <a:def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float64, int64, bool</a:t>
            </a:r>
            <a:endParaRPr/>
          </a:p>
        </p:txBody>
      </p:sp>
      <p:sp>
        <p:nvSpPr>
          <p:cNvPr id="7" name="s3-text-4"/>
          <p:cNvSpPr>
            <a:spLocks noGrp="1"/>
          </p:cNvSpPr>
          <p:nvPr/>
        </p:nvSpPr>
        <p:spPr bwMode="auto">
          <a:xfrm>
            <a:off x="942380" y="9691485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shape описывает размеры по осям, size даёт общее число элементов.</a:t>
            </a:r>
            <a:endParaRPr/>
          </a:p>
        </p:txBody>
      </p:sp>
      <p:sp>
        <p:nvSpPr>
          <p:cNvPr id="8" name="s3-code-5"/>
          <p:cNvSpPr>
            <a:spLocks noGrp="1"/>
          </p:cNvSpPr>
          <p:nvPr/>
        </p:nvSpPr>
        <p:spPr bwMode="auto">
          <a:xfrm>
            <a:off x="942380" y="3110071"/>
            <a:ext cx="9580860" cy="35143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 = np.array([[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3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          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4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5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6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]], dtype=float)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A.shape    </a:t>
            </a: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(2, 3)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A.ndim     </a:t>
            </a: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2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A.size     </a:t>
            </a: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6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A.dtype    </a:t>
            </a: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dtype('float64')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Тип данных и преобразование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04</a:t>
            </a:r>
            <a:endParaRPr/>
          </a:p>
        </p:txBody>
      </p:sp>
      <p:sp>
        <p:nvSpPr>
          <p:cNvPr id="3" name="s4-code-1"/>
          <p:cNvSpPr>
            <a:spLocks noGrp="1"/>
          </p:cNvSpPr>
          <p:nvPr/>
        </p:nvSpPr>
        <p:spPr bwMode="auto">
          <a:xfrm>
            <a:off x="942380" y="3361389"/>
            <a:ext cx="11308556" cy="35143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 = np.array([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3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], dtype=np.int64)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 =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1.9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print(a)            </a:t>
            </a: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[1 2 3]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b = a.astype(np.float64)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b[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 =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1.9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print(b)            </a:t>
            </a: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[1.9 2.  3. ]</a:t>
            </a:r>
            <a:endParaRPr/>
          </a:p>
        </p:txBody>
      </p:sp>
      <p:sp>
        <p:nvSpPr>
          <p:cNvPr id="4" name="s4-text-2"/>
          <p:cNvSpPr>
            <a:spLocks noGrp="1"/>
          </p:cNvSpPr>
          <p:nvPr/>
        </p:nvSpPr>
        <p:spPr bwMode="auto">
          <a:xfrm>
            <a:off x="12879189" y="2921581"/>
            <a:ext cx="6282531" cy="157074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dtype задаётся для всего массива</a:t>
            </a:r>
            <a:endParaRPr/>
          </a:p>
        </p:txBody>
      </p:sp>
      <p:sp>
        <p:nvSpPr>
          <p:cNvPr id="5" name="s4-text-3"/>
          <p:cNvSpPr>
            <a:spLocks noGrp="1"/>
          </p:cNvSpPr>
          <p:nvPr/>
        </p:nvSpPr>
        <p:spPr bwMode="auto">
          <a:xfrm>
            <a:off x="12879189" y="4869303"/>
            <a:ext cx="6282531" cy="212050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При записи дробного числа</a:t>
            </a:r>
            <a:endParaRPr/>
          </a:p>
          <a:p>
            <a:pPr algn="l">
              <a:lnSpc>
                <a:spcPct val="118000"/>
              </a:lnSpc>
              <a:buNone/>
              <a:def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в целочисленный массив</a:t>
            </a:r>
            <a:endParaRPr/>
          </a:p>
          <a:p>
            <a:pPr algn="l">
              <a:lnSpc>
                <a:spcPct val="118000"/>
              </a:lnSpc>
              <a:buNone/>
              <a:def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дробная часть теряется.</a:t>
            </a:r>
            <a:endParaRPr/>
          </a:p>
        </p:txBody>
      </p:sp>
      <p:sp>
        <p:nvSpPr>
          <p:cNvPr id="6" name="s4-text-4"/>
          <p:cNvSpPr>
            <a:spLocks noGrp="1"/>
          </p:cNvSpPr>
          <p:nvPr/>
        </p:nvSpPr>
        <p:spPr bwMode="auto">
          <a:xfrm>
            <a:off x="12879189" y="7476737"/>
            <a:ext cx="6282531" cy="188489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Пример типа для дробных</a:t>
            </a:r>
            <a:endParaRPr/>
          </a:p>
          <a:p>
            <a:pPr algn="l">
              <a:lnSpc>
                <a:spcPct val="118000"/>
              </a:lnSpc>
              <a:buNone/>
              <a:def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измерений: float64.</a:t>
            </a:r>
            <a:endParaRPr/>
          </a:p>
        </p:txBody>
      </p:sp>
      <p:sp>
        <p:nvSpPr>
          <p:cNvPr id="7" name="s4-text-5"/>
          <p:cNvSpPr>
            <a:spLocks noGrp="1"/>
          </p:cNvSpPr>
          <p:nvPr/>
        </p:nvSpPr>
        <p:spPr bwMode="auto">
          <a:xfrm>
            <a:off x="942380" y="9722900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astype возвращает массив с новым dtype. Выбор типа влияет на точность и объём памяти.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Создание массивов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05</a:t>
            </a:r>
            <a:endParaRPr/>
          </a:p>
        </p:txBody>
      </p:sp>
      <p:sp>
        <p:nvSpPr>
          <p:cNvPr id="3" name="s5-text-1"/>
          <p:cNvSpPr>
            <a:spLocks noGrp="1"/>
          </p:cNvSpPr>
          <p:nvPr/>
        </p:nvSpPr>
        <p:spPr bwMode="auto">
          <a:xfrm>
            <a:off x="942380" y="2576019"/>
            <a:ext cx="8638480" cy="70683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Последовательности</a:t>
            </a:r>
            <a:endParaRPr/>
          </a:p>
        </p:txBody>
      </p:sp>
      <p:sp>
        <p:nvSpPr>
          <p:cNvPr id="4" name="s5-code-2"/>
          <p:cNvSpPr>
            <a:spLocks noGrp="1"/>
          </p:cNvSpPr>
          <p:nvPr/>
        </p:nvSpPr>
        <p:spPr bwMode="auto">
          <a:xfrm>
            <a:off x="942380" y="3706954"/>
            <a:ext cx="9580860" cy="25461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np.arange(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9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[1, 3, 5, 7]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np.linspace(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6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[0., 0.2, 0.4, 0.6, 0.8, 1.]</a:t>
            </a:r>
            <a:endParaRPr/>
          </a:p>
        </p:txBody>
      </p:sp>
      <p:sp>
        <p:nvSpPr>
          <p:cNvPr id="5" name="s5-text-3"/>
          <p:cNvSpPr>
            <a:spLocks noGrp="1"/>
          </p:cNvSpPr>
          <p:nvPr/>
        </p:nvSpPr>
        <p:spPr bwMode="auto">
          <a:xfrm>
            <a:off x="11230025" y="2576019"/>
            <a:ext cx="7853164" cy="70683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Заданная форма</a:t>
            </a:r>
            <a:endParaRPr/>
          </a:p>
        </p:txBody>
      </p:sp>
      <p:sp>
        <p:nvSpPr>
          <p:cNvPr id="6" name="s5-code-4"/>
          <p:cNvSpPr>
            <a:spLocks noGrp="1"/>
          </p:cNvSpPr>
          <p:nvPr/>
        </p:nvSpPr>
        <p:spPr bwMode="auto">
          <a:xfrm>
            <a:off x="11230025" y="3706954"/>
            <a:ext cx="8010226" cy="254617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np.zeros((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3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np.ones_like(A)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np.eye(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3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</p:txBody>
      </p:sp>
      <p:sp>
        <p:nvSpPr>
          <p:cNvPr id="7" name="s5-text-5"/>
          <p:cNvSpPr>
            <a:spLocks noGrp="1"/>
          </p:cNvSpPr>
          <p:nvPr/>
        </p:nvSpPr>
        <p:spPr bwMode="auto">
          <a:xfrm>
            <a:off x="942380" y="8858991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arange задаёт шаг и исключает stop.</a:t>
            </a:r>
            <a:endParaRPr/>
          </a:p>
          <a:p>
            <a:pPr algn="l">
              <a:lnSpc>
                <a:spcPct val="118000"/>
              </a:lnSpc>
              <a:buNone/>
              <a:defRPr sz="27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linspace задаёт число точек и по умолчанию включает оба края.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Индексы, срезы и маски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06</a:t>
            </a:r>
            <a:endParaRPr/>
          </a:p>
        </p:txBody>
      </p:sp>
      <p:sp>
        <p:nvSpPr>
          <p:cNvPr id="3" name="s6-text-1"/>
          <p:cNvSpPr>
            <a:spLocks noGrp="1"/>
          </p:cNvSpPr>
          <p:nvPr/>
        </p:nvSpPr>
        <p:spPr bwMode="auto">
          <a:xfrm>
            <a:off x="942380" y="2560311"/>
            <a:ext cx="8952607" cy="70683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Выбор по позиции</a:t>
            </a:r>
            <a:endParaRPr/>
          </a:p>
        </p:txBody>
      </p:sp>
      <p:sp>
        <p:nvSpPr>
          <p:cNvPr id="4" name="s6-code-2"/>
          <p:cNvSpPr>
            <a:spLocks noGrp="1"/>
          </p:cNvSpPr>
          <p:nvPr/>
        </p:nvSpPr>
        <p:spPr bwMode="auto">
          <a:xfrm>
            <a:off x="942380" y="3691245"/>
            <a:ext cx="9580860" cy="351438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 = np.arange(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a[-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          </a:t>
            </a: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9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: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9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: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3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       </a:t>
            </a: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[2, 5, 8]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a[[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5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8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]]   </a:t>
            </a: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[2, 5, 8]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        </a:t>
            </a: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5.0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A[:,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        </a:t>
            </a: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[1., 4.]</a:t>
            </a:r>
            <a:endParaRPr/>
          </a:p>
        </p:txBody>
      </p:sp>
      <p:sp>
        <p:nvSpPr>
          <p:cNvPr id="5" name="s6-text-3"/>
          <p:cNvSpPr>
            <a:spLocks noGrp="1"/>
          </p:cNvSpPr>
          <p:nvPr/>
        </p:nvSpPr>
        <p:spPr bwMode="auto">
          <a:xfrm>
            <a:off x="11151493" y="2560311"/>
            <a:ext cx="8010226" cy="70683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Выбор по условию</a:t>
            </a:r>
            <a:endParaRPr/>
          </a:p>
        </p:txBody>
      </p:sp>
      <p:sp>
        <p:nvSpPr>
          <p:cNvPr id="6" name="s6-code-4"/>
          <p:cNvSpPr>
            <a:spLocks noGrp="1"/>
          </p:cNvSpPr>
          <p:nvPr/>
        </p:nvSpPr>
        <p:spPr bwMode="auto">
          <a:xfrm>
            <a:off x="11151493" y="3691245"/>
            <a:ext cx="8088759" cy="20620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mask = (a &gt;=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3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 &amp; (a &lt;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7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a[mask]        </a:t>
            </a: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[3, 4, 5, 6]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a[mask] =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endParaRPr/>
          </a:p>
        </p:txBody>
      </p:sp>
      <p:sp>
        <p:nvSpPr>
          <p:cNvPr id="7" name="s6-text-5"/>
          <p:cNvSpPr>
            <a:spLocks noGrp="1"/>
          </p:cNvSpPr>
          <p:nvPr/>
        </p:nvSpPr>
        <p:spPr bwMode="auto">
          <a:xfrm>
            <a:off x="942380" y="8953235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Индексы начинаются с 0. В срезе stop не входит.</a:t>
            </a:r>
            <a:endParaRPr/>
          </a:p>
          <a:p>
            <a:pPr algn="l">
              <a:lnSpc>
                <a:spcPct val="118000"/>
              </a:lnSpc>
              <a:buNone/>
              <a:defRPr sz="27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Условия объединяем через &amp; и |, каждое в скобках.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Строки, столбцы и подмассивы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07</a:t>
            </a:r>
            <a:endParaRPr/>
          </a:p>
        </p:txBody>
      </p:sp>
      <p:sp>
        <p:nvSpPr>
          <p:cNvPr id="3" name="s7-code-1"/>
          <p:cNvSpPr>
            <a:spLocks noGrp="1"/>
          </p:cNvSpPr>
          <p:nvPr/>
        </p:nvSpPr>
        <p:spPr bwMode="auto">
          <a:xfrm>
            <a:off x="942380" y="3078656"/>
            <a:ext cx="9580860" cy="39984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 = np.arange(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).reshape(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3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4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:]        </a:t>
            </a: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[4, 5, 6, 7]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A[:,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        </a:t>
            </a: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[2, 6, 10]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A[: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: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3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[[1, 2],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 [5, 6]]</a:t>
            </a:r>
            <a:endParaRPr/>
          </a:p>
        </p:txBody>
      </p:sp>
      <p:graphicFrame>
        <p:nvGraphicFramePr>
          <p:cNvPr id="10" name=""/>
          <p:cNvGraphicFramePr>
            <a:graphicFrameLocks xmlns:a="http://schemas.openxmlformats.org/drawingml/2006/main"/>
          </p:cNvGraphicFramePr>
          <p:nvPr/>
        </p:nvGraphicFramePr>
        <p:xfrm>
          <a:off x="11622683" y="3204316"/>
          <a:ext cx="7224911" cy="3769783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806228"/>
                <a:gridCol w="1806228"/>
                <a:gridCol w="1806228"/>
                <a:gridCol w="1806228"/>
              </a:tblGrid>
              <a:tr h="125659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60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60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60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2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60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3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</a:tr>
              <a:tr h="125659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60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4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60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5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60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6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60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7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</a:tr>
              <a:tr h="1256594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60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8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60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60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360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11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5" name="s7-text-3"/>
          <p:cNvSpPr>
            <a:spLocks noGrp="1"/>
          </p:cNvSpPr>
          <p:nvPr/>
        </p:nvSpPr>
        <p:spPr bwMode="auto">
          <a:xfrm>
            <a:off x="11622683" y="7539567"/>
            <a:ext cx="7303443" cy="94244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200" b="1"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3200" b="1"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A[строка, столбец]</a:t>
            </a:r>
            <a:endParaRPr/>
          </a:p>
        </p:txBody>
      </p:sp>
      <p:sp>
        <p:nvSpPr>
          <p:cNvPr id="6" name="s7-text-4"/>
          <p:cNvSpPr>
            <a:spLocks noGrp="1"/>
          </p:cNvSpPr>
          <p:nvPr/>
        </p:nvSpPr>
        <p:spPr bwMode="auto">
          <a:xfrm>
            <a:off x="942380" y="9660070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Двоеточие выбирает всю ось. Обычные срезы подмассивов разделяют память с исходным массивом.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Представление и копия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08</a:t>
            </a:r>
            <a:endParaRPr/>
          </a:p>
        </p:txBody>
      </p:sp>
      <p:sp>
        <p:nvSpPr>
          <p:cNvPr id="3" name="s8-text-1"/>
          <p:cNvSpPr>
            <a:spLocks noGrp="1"/>
          </p:cNvSpPr>
          <p:nvPr/>
        </p:nvSpPr>
        <p:spPr bwMode="auto">
          <a:xfrm>
            <a:off x="942380" y="2560311"/>
            <a:ext cx="8952607" cy="70683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Срез разделяет память</a:t>
            </a:r>
            <a:endParaRPr/>
          </a:p>
        </p:txBody>
      </p:sp>
      <p:sp>
        <p:nvSpPr>
          <p:cNvPr id="4" name="s8-code-2"/>
          <p:cNvSpPr>
            <a:spLocks noGrp="1"/>
          </p:cNvSpPr>
          <p:nvPr/>
        </p:nvSpPr>
        <p:spPr bwMode="auto">
          <a:xfrm>
            <a:off x="942380" y="3722661"/>
            <a:ext cx="9580860" cy="303027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 = np.arange(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6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b = a[::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b[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 =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99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print(a)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[99  1  2  3  4  5]</a:t>
            </a:r>
            <a:endParaRPr/>
          </a:p>
        </p:txBody>
      </p:sp>
      <p:sp>
        <p:nvSpPr>
          <p:cNvPr id="5" name="s8-text-3"/>
          <p:cNvSpPr>
            <a:spLocks noGrp="1"/>
          </p:cNvSpPr>
          <p:nvPr/>
        </p:nvSpPr>
        <p:spPr bwMode="auto">
          <a:xfrm>
            <a:off x="11151493" y="2560311"/>
            <a:ext cx="8088759" cy="70683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copy() отделяет данные</a:t>
            </a:r>
            <a:endParaRPr/>
          </a:p>
        </p:txBody>
      </p:sp>
      <p:sp>
        <p:nvSpPr>
          <p:cNvPr id="6" name="s8-code-4"/>
          <p:cNvSpPr>
            <a:spLocks noGrp="1"/>
          </p:cNvSpPr>
          <p:nvPr/>
        </p:nvSpPr>
        <p:spPr bwMode="auto">
          <a:xfrm>
            <a:off x="11151493" y="3722661"/>
            <a:ext cx="8167291" cy="303027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 = np.arange(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6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c = a[::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].copy()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c[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 =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99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print(a)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[0 1 2 3 4 5]</a:t>
            </a:r>
            <a:endParaRPr/>
          </a:p>
        </p:txBody>
      </p:sp>
      <p:sp>
        <p:nvSpPr>
          <p:cNvPr id="7" name="s8-text-5"/>
          <p:cNvSpPr>
            <a:spLocks noGrp="1"/>
          </p:cNvSpPr>
          <p:nvPr/>
        </p:nvSpPr>
        <p:spPr bwMode="auto">
          <a:xfrm>
            <a:off x="942380" y="8953235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b = a даёт ссылку на тот же объект.</a:t>
            </a:r>
            <a:endParaRPr/>
          </a:p>
          <a:p>
            <a:pPr algn="l">
              <a:lnSpc>
                <a:spcPct val="118000"/>
              </a:lnSpc>
              <a:buNone/>
              <a:defRPr sz="27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Индексация маской или списком индексов возвращает копию.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Операции с массивами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09</a:t>
            </a:r>
            <a:endParaRPr/>
          </a:p>
        </p:txBody>
      </p:sp>
      <p:sp>
        <p:nvSpPr>
          <p:cNvPr id="3" name="s9-text-1"/>
          <p:cNvSpPr>
            <a:spLocks noGrp="1"/>
          </p:cNvSpPr>
          <p:nvPr/>
        </p:nvSpPr>
        <p:spPr bwMode="auto">
          <a:xfrm>
            <a:off x="942380" y="2560311"/>
            <a:ext cx="9423797" cy="70683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Поэлементные вычисления</a:t>
            </a:r>
            <a:endParaRPr/>
          </a:p>
        </p:txBody>
      </p:sp>
      <p:sp>
        <p:nvSpPr>
          <p:cNvPr id="4" name="s9-code-2"/>
          <p:cNvSpPr>
            <a:spLocks noGrp="1"/>
          </p:cNvSpPr>
          <p:nvPr/>
        </p:nvSpPr>
        <p:spPr bwMode="auto">
          <a:xfrm>
            <a:off x="942380" y="3675539"/>
            <a:ext cx="9580860" cy="383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 = np.array([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3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4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b = np.full(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4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2.0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 - b   </a:t>
            </a: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[-1., 0., 1., 2.]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 * b   </a:t>
            </a: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[ 2., 4., 6., 8.]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np.sin(a)**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np.log(a)</a:t>
            </a:r>
            <a:endParaRPr/>
          </a:p>
        </p:txBody>
      </p:sp>
      <p:sp>
        <p:nvSpPr>
          <p:cNvPr id="5" name="s9-text-3"/>
          <p:cNvSpPr>
            <a:spLocks noGrp="1"/>
          </p:cNvSpPr>
          <p:nvPr/>
        </p:nvSpPr>
        <p:spPr bwMode="auto">
          <a:xfrm>
            <a:off x="11151493" y="2560311"/>
            <a:ext cx="8167291" cy="70683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Матричное умножение</a:t>
            </a:r>
            <a:endParaRPr/>
          </a:p>
        </p:txBody>
      </p:sp>
      <p:sp>
        <p:nvSpPr>
          <p:cNvPr id="6" name="s9-code-4"/>
          <p:cNvSpPr>
            <a:spLocks noGrp="1"/>
          </p:cNvSpPr>
          <p:nvPr/>
        </p:nvSpPr>
        <p:spPr bwMode="auto">
          <a:xfrm>
            <a:off x="11151493" y="3675539"/>
            <a:ext cx="8088759" cy="383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M = np.ones((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M * M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[[1., 1.],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 [1., 1.]]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M @ M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[[2., 2.],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 [2., 2.]]</a:t>
            </a:r>
            <a:endParaRPr/>
          </a:p>
        </p:txBody>
      </p:sp>
      <p:sp>
        <p:nvSpPr>
          <p:cNvPr id="7" name="s9-text-5"/>
          <p:cNvSpPr>
            <a:spLocks noGrp="1"/>
          </p:cNvSpPr>
          <p:nvPr/>
        </p:nvSpPr>
        <p:spPr bwMode="auto">
          <a:xfrm>
            <a:off x="942380" y="9110310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sin принимает радианы.</a:t>
            </a:r>
            <a:endParaRPr/>
          </a:p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log вычисляет натуральный логарифм: для конечного вещественного результата x &gt; 0.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Сравнения и проверка данных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10</a:t>
            </a:r>
            <a:endParaRPr/>
          </a:p>
        </p:txBody>
      </p:sp>
      <p:sp>
        <p:nvSpPr>
          <p:cNvPr id="3" name="s10-text-1"/>
          <p:cNvSpPr>
            <a:spLocks noGrp="1"/>
          </p:cNvSpPr>
          <p:nvPr/>
        </p:nvSpPr>
        <p:spPr bwMode="auto">
          <a:xfrm>
            <a:off x="942380" y="2591726"/>
            <a:ext cx="9737923" cy="10995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45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Числа с плавающей точкой</a:t>
            </a:r>
            <a:endParaRPr/>
          </a:p>
        </p:txBody>
      </p:sp>
      <p:sp>
        <p:nvSpPr>
          <p:cNvPr id="4" name="s10-code-2"/>
          <p:cNvSpPr>
            <a:spLocks noGrp="1"/>
          </p:cNvSpPr>
          <p:nvPr/>
        </p:nvSpPr>
        <p:spPr bwMode="auto">
          <a:xfrm>
            <a:off x="942380" y="4146762"/>
            <a:ext cx="9502329" cy="33670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u =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0.1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+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0.2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u ==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0.3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             </a:t>
            </a: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False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np.isclose(u,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0.3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       </a:t>
            </a: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True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np.allclose([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1.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2.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        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1.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2.00000001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True</a:t>
            </a:r>
            <a:endParaRPr/>
          </a:p>
        </p:txBody>
      </p:sp>
      <p:sp>
        <p:nvSpPr>
          <p:cNvPr id="5" name="s10-text-3"/>
          <p:cNvSpPr>
            <a:spLocks noGrp="1"/>
          </p:cNvSpPr>
          <p:nvPr/>
        </p:nvSpPr>
        <p:spPr bwMode="auto">
          <a:xfrm>
            <a:off x="11387088" y="2591726"/>
            <a:ext cx="7617569" cy="10995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45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Конечные значения</a:t>
            </a:r>
            <a:endParaRPr/>
          </a:p>
        </p:txBody>
      </p:sp>
      <p:sp>
        <p:nvSpPr>
          <p:cNvPr id="6" name="s10-code-4"/>
          <p:cNvSpPr>
            <a:spLocks noGrp="1"/>
          </p:cNvSpPr>
          <p:nvPr/>
        </p:nvSpPr>
        <p:spPr bwMode="auto">
          <a:xfrm>
            <a:off x="11387088" y="4146762"/>
            <a:ext cx="8010226" cy="33670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 = np.array([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1.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np.nan,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          np.inf,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4.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valid = np.isfinite(a)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a[valid]         </a:t>
            </a: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[1., 4.]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np.all(valid)    </a:t>
            </a: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False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np.any(valid)    </a:t>
            </a: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True</a:t>
            </a:r>
            <a:endParaRPr/>
          </a:p>
        </p:txBody>
      </p:sp>
      <p:sp>
        <p:nvSpPr>
          <p:cNvPr id="7" name="s10-text-5"/>
          <p:cNvSpPr>
            <a:spLocks noGrp="1"/>
          </p:cNvSpPr>
          <p:nvPr/>
        </p:nvSpPr>
        <p:spPr bwMode="auto">
          <a:xfrm>
            <a:off x="942380" y="9691485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Допуски rtol и atol в isclose/allclose выбирают под масштаб задачи.</a:t>
            </a:r>
            <a:endParaRPr/>
          </a:p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NaN и бесконечности требуют явного решения.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Работа с формой массива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11</a:t>
            </a:r>
            <a:endParaRPr/>
          </a:p>
        </p:txBody>
      </p:sp>
      <p:sp>
        <p:nvSpPr>
          <p:cNvPr id="3" name="s11-code-1"/>
          <p:cNvSpPr>
            <a:spLocks noGrp="1"/>
          </p:cNvSpPr>
          <p:nvPr/>
        </p:nvSpPr>
        <p:spPr bwMode="auto">
          <a:xfrm>
            <a:off x="942380" y="3094364"/>
            <a:ext cx="10287645" cy="448258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 = np.arange(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).reshape(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3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4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A.shape              </a:t>
            </a: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(3, 4)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A.reshape(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6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).shape </a:t>
            </a: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(2, 6)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A.reshape(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-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).shape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(2, 6)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A.T.shape            </a:t>
            </a: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(4, 3)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A.ravel().shape      </a:t>
            </a: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(12,)</a:t>
            </a:r>
            <a:endParaRPr/>
          </a:p>
        </p:txBody>
      </p:sp>
      <p:sp>
        <p:nvSpPr>
          <p:cNvPr id="4" name="s11-text-2"/>
          <p:cNvSpPr>
            <a:spLocks noGrp="1"/>
          </p:cNvSpPr>
          <p:nvPr/>
        </p:nvSpPr>
        <p:spPr bwMode="auto">
          <a:xfrm>
            <a:off x="12643594" y="2874460"/>
            <a:ext cx="6046936" cy="7853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70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70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reshape</a:t>
            </a:r>
            <a:endParaRPr/>
          </a:p>
        </p:txBody>
      </p:sp>
      <p:sp>
        <p:nvSpPr>
          <p:cNvPr id="5" name="s11-text-3"/>
          <p:cNvSpPr>
            <a:spLocks noGrp="1"/>
          </p:cNvSpPr>
          <p:nvPr/>
        </p:nvSpPr>
        <p:spPr bwMode="auto">
          <a:xfrm>
            <a:off x="12643594" y="3879735"/>
            <a:ext cx="6518126" cy="204196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Меняет форму и сохраняет</a:t>
            </a:r>
            <a:endParaRPr/>
          </a:p>
          <a:p>
            <a:pPr algn="l">
              <a:lnSpc>
                <a:spcPct val="118000"/>
              </a:lnSpc>
              <a:buNone/>
              <a:def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число элементов. Размер −1</a:t>
            </a:r>
            <a:endParaRPr/>
          </a:p>
          <a:p>
            <a:pPr algn="l">
              <a:lnSpc>
                <a:spcPct val="118000"/>
              </a:lnSpc>
              <a:buNone/>
              <a:def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NumPy вычисляет сам.</a:t>
            </a:r>
            <a:endParaRPr/>
          </a:p>
        </p:txBody>
      </p:sp>
      <p:sp>
        <p:nvSpPr>
          <p:cNvPr id="6" name="s11-text-4"/>
          <p:cNvSpPr>
            <a:spLocks noGrp="1"/>
          </p:cNvSpPr>
          <p:nvPr/>
        </p:nvSpPr>
        <p:spPr bwMode="auto">
          <a:xfrm>
            <a:off x="12643594" y="6722779"/>
            <a:ext cx="6282531" cy="7853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70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70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T и ravel()</a:t>
            </a:r>
            <a:endParaRPr/>
          </a:p>
        </p:txBody>
      </p:sp>
      <p:sp>
        <p:nvSpPr>
          <p:cNvPr id="7" name="s11-text-5"/>
          <p:cNvSpPr>
            <a:spLocks noGrp="1"/>
          </p:cNvSpPr>
          <p:nvPr/>
        </p:nvSpPr>
        <p:spPr bwMode="auto">
          <a:xfrm>
            <a:off x="12643594" y="7680934"/>
            <a:ext cx="6361063" cy="149220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Транспонирование</a:t>
            </a:r>
            <a:endParaRPr/>
          </a:p>
          <a:p>
            <a:pPr algn="l">
              <a:lnSpc>
                <a:spcPct val="118000"/>
              </a:lnSpc>
              <a:buNone/>
              <a:def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и приведение к одной оси</a:t>
            </a:r>
            <a:endParaRPr/>
          </a:p>
        </p:txBody>
      </p:sp>
      <p:sp>
        <p:nvSpPr>
          <p:cNvPr id="8" name="s11-text-6"/>
          <p:cNvSpPr>
            <a:spLocks noGrp="1"/>
          </p:cNvSpPr>
          <p:nvPr/>
        </p:nvSpPr>
        <p:spPr bwMode="auto">
          <a:xfrm>
            <a:off x="942380" y="9722900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reshape и ravel по возможности возвращают представление.</a:t>
            </a:r>
            <a:endParaRPr/>
          </a:p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Если нужна независимость, используем copy().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Broadcasting: согласование форм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12</a:t>
            </a:r>
            <a:endParaRPr/>
          </a:p>
        </p:txBody>
      </p:sp>
      <p:sp>
        <p:nvSpPr>
          <p:cNvPr id="3" name="s12-code-1"/>
          <p:cNvSpPr>
            <a:spLocks noGrp="1"/>
          </p:cNvSpPr>
          <p:nvPr/>
        </p:nvSpPr>
        <p:spPr bwMode="auto">
          <a:xfrm>
            <a:off x="942380" y="3502757"/>
            <a:ext cx="10052050" cy="303027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 = np.arange(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6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).reshape(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3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shift = np.array([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30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 + shift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[[10, 21, 32],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 [13, 24, 35]]</a:t>
            </a:r>
            <a:endParaRPr/>
          </a:p>
        </p:txBody>
      </p:sp>
      <p:sp>
        <p:nvSpPr>
          <p:cNvPr id="4" name="s12-text-2"/>
          <p:cNvSpPr>
            <a:spLocks noGrp="1"/>
          </p:cNvSpPr>
          <p:nvPr/>
        </p:nvSpPr>
        <p:spPr bwMode="auto">
          <a:xfrm>
            <a:off x="12172404" y="2905875"/>
            <a:ext cx="6910784" cy="1020983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4100" b="1"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4100" b="1"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(2, 3) + (3,)</a:t>
            </a:r>
            <a:endParaRPr/>
          </a:p>
        </p:txBody>
      </p:sp>
      <p:sp>
        <p:nvSpPr>
          <p:cNvPr id="5" name="s12-text-3"/>
          <p:cNvSpPr>
            <a:spLocks noGrp="1"/>
          </p:cNvSpPr>
          <p:nvPr/>
        </p:nvSpPr>
        <p:spPr bwMode="auto">
          <a:xfrm>
            <a:off x="12172404" y="4460910"/>
            <a:ext cx="7146379" cy="204196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Последние размеры равны: 3.</a:t>
            </a:r>
            <a:endParaRPr/>
          </a:p>
          <a:p>
            <a:pPr algn="l">
              <a:lnSpc>
                <a:spcPct val="118000"/>
              </a:lnSpc>
              <a:buNone/>
              <a:def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Вектор применяется</a:t>
            </a:r>
            <a:endParaRPr/>
          </a:p>
          <a:p>
            <a:pPr algn="l">
              <a:lnSpc>
                <a:spcPct val="118000"/>
              </a:lnSpc>
              <a:buNone/>
              <a:def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к каждой строке.</a:t>
            </a:r>
            <a:endParaRPr/>
          </a:p>
        </p:txBody>
      </p:sp>
      <p:sp>
        <p:nvSpPr>
          <p:cNvPr id="6" name="s12-code-4"/>
          <p:cNvSpPr>
            <a:spLocks noGrp="1"/>
          </p:cNvSpPr>
          <p:nvPr/>
        </p:nvSpPr>
        <p:spPr bwMode="auto">
          <a:xfrm>
            <a:off x="942380" y="7413907"/>
            <a:ext cx="10601771" cy="109386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row_shift = np.array([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 + row_shift[:, </a:t>
            </a:r>
            <a:r>
              <a:rPr>
                <a:solidFill>
                  <a:srgbClr val="70CDEE"/>
                </a:solidFill>
                <a:latin typeface="DejaVu Sans Mono"/>
                <a:ea typeface="DejaVu Sans Mono"/>
                <a:cs typeface="DejaVu Sans Mono"/>
              </a:rPr>
              <a:t>None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</a:t>
            </a:r>
            <a:endParaRPr/>
          </a:p>
        </p:txBody>
      </p:sp>
      <p:sp>
        <p:nvSpPr>
          <p:cNvPr id="7" name="s12-text-5"/>
          <p:cNvSpPr>
            <a:spLocks noGrp="1"/>
          </p:cNvSpPr>
          <p:nvPr/>
        </p:nvSpPr>
        <p:spPr bwMode="auto">
          <a:xfrm>
            <a:off x="12172404" y="7492443"/>
            <a:ext cx="7146379" cy="157074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950" b="0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2950" b="0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[:, None] добавляет ось:</a:t>
            </a:r>
            <a:endParaRPr/>
          </a:p>
          <a:p>
            <a:pPr algn="l">
              <a:lnSpc>
                <a:spcPct val="118000"/>
              </a:lnSpc>
              <a:buNone/>
              <a:defRPr sz="2950" b="0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2950" b="0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(2,) становится (2, 1)</a:t>
            </a:r>
            <a:endParaRPr/>
          </a:p>
        </p:txBody>
      </p:sp>
      <p:sp>
        <p:nvSpPr>
          <p:cNvPr id="8" name="s12-text-6"/>
          <p:cNvSpPr>
            <a:spLocks noGrp="1"/>
          </p:cNvSpPr>
          <p:nvPr/>
        </p:nvSpPr>
        <p:spPr bwMode="auto">
          <a:xfrm>
            <a:off x="942380" y="9722900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Размеры сравниваются справа: они должны совпадать либо один из них должен быть равен 1.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Статистики и оси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13</a:t>
            </a:r>
            <a:endParaRPr/>
          </a:p>
        </p:txBody>
      </p:sp>
      <p:sp>
        <p:nvSpPr>
          <p:cNvPr id="3" name="s13-code-1"/>
          <p:cNvSpPr>
            <a:spLocks noGrp="1"/>
          </p:cNvSpPr>
          <p:nvPr/>
        </p:nvSpPr>
        <p:spPr bwMode="auto">
          <a:xfrm>
            <a:off x="942380" y="3031533"/>
            <a:ext cx="9580860" cy="383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X = np.array([[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1.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2.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3.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          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4.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5.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6.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]])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X.sum(axis=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   </a:t>
            </a: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[5., 7., 9.]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X.mean(axis=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  </a:t>
            </a: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[2., 5.]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X.mean()        </a:t>
            </a: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3.5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np.median(X)    </a:t>
            </a: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3.5</a:t>
            </a:r>
            <a:endParaRPr/>
          </a:p>
        </p:txBody>
      </p:sp>
      <p:sp>
        <p:nvSpPr>
          <p:cNvPr id="4" name="s13-text-2"/>
          <p:cNvSpPr>
            <a:spLocks noGrp="1"/>
          </p:cNvSpPr>
          <p:nvPr/>
        </p:nvSpPr>
        <p:spPr bwMode="auto">
          <a:xfrm>
            <a:off x="11779746" y="2937290"/>
            <a:ext cx="6832253" cy="65971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axis=0</a:t>
            </a:r>
            <a:endParaRPr/>
          </a:p>
        </p:txBody>
      </p:sp>
      <p:sp>
        <p:nvSpPr>
          <p:cNvPr id="5" name="s13-text-3"/>
          <p:cNvSpPr>
            <a:spLocks noGrp="1"/>
          </p:cNvSpPr>
          <p:nvPr/>
        </p:nvSpPr>
        <p:spPr bwMode="auto">
          <a:xfrm>
            <a:off x="11779746" y="3754076"/>
            <a:ext cx="7303443" cy="12565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Сводим строки, получаем</a:t>
            </a:r>
            <a:endParaRPr/>
          </a:p>
          <a:p>
            <a:pPr algn="l">
              <a:lnSpc>
                <a:spcPct val="118000"/>
              </a:lnSpc>
              <a:buNone/>
              <a:def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результат для каждого столбца</a:t>
            </a:r>
            <a:endParaRPr/>
          </a:p>
        </p:txBody>
      </p:sp>
      <p:sp>
        <p:nvSpPr>
          <p:cNvPr id="6" name="s13-text-4"/>
          <p:cNvSpPr>
            <a:spLocks noGrp="1"/>
          </p:cNvSpPr>
          <p:nvPr/>
        </p:nvSpPr>
        <p:spPr bwMode="auto">
          <a:xfrm>
            <a:off x="11779746" y="5529016"/>
            <a:ext cx="6832253" cy="65971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axis=1</a:t>
            </a:r>
            <a:endParaRPr/>
          </a:p>
        </p:txBody>
      </p:sp>
      <p:sp>
        <p:nvSpPr>
          <p:cNvPr id="7" name="s13-text-5"/>
          <p:cNvSpPr>
            <a:spLocks noGrp="1"/>
          </p:cNvSpPr>
          <p:nvPr/>
        </p:nvSpPr>
        <p:spPr bwMode="auto">
          <a:xfrm>
            <a:off x="11779746" y="6345802"/>
            <a:ext cx="7303443" cy="12565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Сводим столбцы, получаем</a:t>
            </a:r>
            <a:endParaRPr/>
          </a:p>
          <a:p>
            <a:pPr algn="l">
              <a:lnSpc>
                <a:spcPct val="118000"/>
              </a:lnSpc>
              <a:buNone/>
              <a:def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результат для каждой строки</a:t>
            </a:r>
            <a:endParaRPr/>
          </a:p>
        </p:txBody>
      </p:sp>
      <p:sp>
        <p:nvSpPr>
          <p:cNvPr id="8" name="s13-code-6"/>
          <p:cNvSpPr>
            <a:spLocks noGrp="1"/>
          </p:cNvSpPr>
          <p:nvPr/>
        </p:nvSpPr>
        <p:spPr bwMode="auto">
          <a:xfrm>
            <a:off x="942380" y="7712347"/>
            <a:ext cx="10209113" cy="10517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X.std(ddof=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np.nanmean([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1.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np.nan,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3.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])  </a:t>
            </a:r>
            <a:r>
              <a:rPr>
                <a:solidFill>
                  <a:srgbClr val="7DDD9D"/>
                </a:solidFill>
                <a:latin typeface="DejaVu Sans Mono"/>
                <a:ea typeface="DejaVu Sans Mono"/>
                <a:cs typeface="DejaVu Sans Mono"/>
              </a:rPr>
              <a:t># 2.0</a:t>
            </a:r>
            <a:endParaRPr/>
          </a:p>
        </p:txBody>
      </p:sp>
      <p:sp>
        <p:nvSpPr>
          <p:cNvPr id="9" name="s13-text-7"/>
          <p:cNvSpPr>
            <a:spLocks noGrp="1"/>
          </p:cNvSpPr>
          <p:nvPr/>
        </p:nvSpPr>
        <p:spPr bwMode="auto">
          <a:xfrm>
            <a:off x="942380" y="9424458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std и var по умолчанию используют ddof=0. ddof=1 задаёт делитель N−1. nanmean пропускает NaN.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Генератор случайных чисел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14</a:t>
            </a:r>
            <a:endParaRPr/>
          </a:p>
        </p:txBody>
      </p:sp>
      <p:sp>
        <p:nvSpPr>
          <p:cNvPr id="3" name="s14-code-1"/>
          <p:cNvSpPr>
            <a:spLocks noGrp="1"/>
          </p:cNvSpPr>
          <p:nvPr/>
        </p:nvSpPr>
        <p:spPr bwMode="auto">
          <a:xfrm>
            <a:off x="942380" y="3062949"/>
            <a:ext cx="10052050" cy="366171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9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rng = np.random.default_rng(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42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9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9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rng.uniform(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size=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4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9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9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rng.normal(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size=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4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9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9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rng.integers(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size=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4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</p:txBody>
      </p:sp>
      <p:sp>
        <p:nvSpPr>
          <p:cNvPr id="4" name="s14-text-2"/>
          <p:cNvSpPr>
            <a:spLocks noGrp="1"/>
          </p:cNvSpPr>
          <p:nvPr/>
        </p:nvSpPr>
        <p:spPr bwMode="auto">
          <a:xfrm>
            <a:off x="12722126" y="3015827"/>
            <a:ext cx="6125468" cy="70683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uniform</a:t>
            </a:r>
            <a:endParaRPr/>
          </a:p>
        </p:txBody>
      </p:sp>
      <p:sp>
        <p:nvSpPr>
          <p:cNvPr id="5" name="s14-text-3"/>
          <p:cNvSpPr>
            <a:spLocks noGrp="1"/>
          </p:cNvSpPr>
          <p:nvPr/>
        </p:nvSpPr>
        <p:spPr bwMode="auto">
          <a:xfrm>
            <a:off x="12722126" y="3832613"/>
            <a:ext cx="6439595" cy="149220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Равномерное распределение</a:t>
            </a:r>
            <a:endParaRPr/>
          </a:p>
          <a:p>
            <a:pPr algn="l">
              <a:lnSpc>
                <a:spcPct val="118000"/>
              </a:lnSpc>
              <a:buNone/>
              <a:def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на полуинтервале [0, 1)</a:t>
            </a:r>
            <a:endParaRPr/>
          </a:p>
        </p:txBody>
      </p:sp>
      <p:sp>
        <p:nvSpPr>
          <p:cNvPr id="6" name="s14-text-4"/>
          <p:cNvSpPr>
            <a:spLocks noGrp="1"/>
          </p:cNvSpPr>
          <p:nvPr/>
        </p:nvSpPr>
        <p:spPr bwMode="auto">
          <a:xfrm>
            <a:off x="12722126" y="5513308"/>
            <a:ext cx="6125468" cy="70683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normal</a:t>
            </a:r>
            <a:endParaRPr/>
          </a:p>
        </p:txBody>
      </p:sp>
      <p:sp>
        <p:nvSpPr>
          <p:cNvPr id="7" name="s14-text-5"/>
          <p:cNvSpPr>
            <a:spLocks noGrp="1"/>
          </p:cNvSpPr>
          <p:nvPr/>
        </p:nvSpPr>
        <p:spPr bwMode="auto">
          <a:xfrm>
            <a:off x="12722126" y="6330095"/>
            <a:ext cx="6439595" cy="149220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Среднее 0, стандартное</a:t>
            </a:r>
            <a:endParaRPr/>
          </a:p>
          <a:p>
            <a:pPr algn="l">
              <a:lnSpc>
                <a:spcPct val="118000"/>
              </a:lnSpc>
              <a:buNone/>
              <a:def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отклонение 1</a:t>
            </a:r>
            <a:endParaRPr/>
          </a:p>
        </p:txBody>
      </p:sp>
      <p:sp>
        <p:nvSpPr>
          <p:cNvPr id="8" name="s14-text-6"/>
          <p:cNvSpPr>
            <a:spLocks noGrp="1"/>
          </p:cNvSpPr>
          <p:nvPr/>
        </p:nvSpPr>
        <p:spPr bwMode="auto">
          <a:xfrm>
            <a:off x="12722126" y="8010790"/>
            <a:ext cx="6125468" cy="70683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integers</a:t>
            </a:r>
            <a:endParaRPr/>
          </a:p>
        </p:txBody>
      </p:sp>
      <p:sp>
        <p:nvSpPr>
          <p:cNvPr id="9" name="s14-text-7"/>
          <p:cNvSpPr>
            <a:spLocks noGrp="1"/>
          </p:cNvSpPr>
          <p:nvPr/>
        </p:nvSpPr>
        <p:spPr bwMode="auto">
          <a:xfrm>
            <a:off x="12722126" y="8843283"/>
            <a:ext cx="6439595" cy="70683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Целые числа от 0 до 9</a:t>
            </a:r>
            <a:endParaRPr/>
          </a:p>
        </p:txBody>
      </p:sp>
      <p:sp>
        <p:nvSpPr>
          <p:cNvPr id="10" name="s14-text-8"/>
          <p:cNvSpPr>
            <a:spLocks noGrp="1"/>
          </p:cNvSpPr>
          <p:nvPr/>
        </p:nvSpPr>
        <p:spPr bwMode="auto">
          <a:xfrm>
            <a:off x="942380" y="9722900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Генератор хранит состояние.</a:t>
            </a:r>
            <a:endParaRPr/>
          </a:p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Новый вызов продолжает последовательность, повторный seed начинает её заново.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Учебные измерения</a:t>
            </a:r>
            <a:endParaRPr/>
          </a:p>
        </p:txBody>
      </p:sp>
      <p:sp>
        <p:nvSpPr>
          <p:cNvPr id="2" name="subtitle"/>
          <p:cNvSpPr>
            <a:spLocks noGrp="1"/>
          </p:cNvSpPr>
          <p:nvPr/>
        </p:nvSpPr>
        <p:spPr bwMode="auto">
          <a:xfrm>
            <a:off x="942380" y="1869184"/>
            <a:ext cx="18219341" cy="7853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9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9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Искусственный пример: отклик прибора зависит от концентрации</a:t>
            </a:r>
            <a:endParaRPr/>
          </a:p>
        </p:txBody>
      </p:sp>
      <p:sp>
        <p:nvSpPr>
          <p:cNvPr id="3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15</a:t>
            </a:r>
            <a:endParaRPr/>
          </a:p>
        </p:txBody>
      </p:sp>
      <p:sp>
        <p:nvSpPr>
          <p:cNvPr id="4" name="s15-code-1"/>
          <p:cNvSpPr>
            <a:spLocks noGrp="1"/>
          </p:cNvSpPr>
          <p:nvPr/>
        </p:nvSpPr>
        <p:spPr bwMode="auto">
          <a:xfrm>
            <a:off x="942380" y="3345683"/>
            <a:ext cx="11151493" cy="206207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rng = np.random.default_rng(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42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x = np.linspace(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sigma = np.full_like(x,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0.6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y =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1.5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+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0.8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*x + rng.normal(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sigma)</a:t>
            </a:r>
            <a:endParaRPr/>
          </a:p>
        </p:txBody>
      </p:sp>
      <p:sp>
        <p:nvSpPr>
          <p:cNvPr id="5" name="s15-text-2"/>
          <p:cNvSpPr>
            <a:spLocks noGrp="1"/>
          </p:cNvSpPr>
          <p:nvPr/>
        </p:nvSpPr>
        <p:spPr bwMode="auto">
          <a:xfrm>
            <a:off x="13271847" y="3078656"/>
            <a:ext cx="5026025" cy="70683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85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85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x</a:t>
            </a:r>
            <a:endParaRPr/>
          </a:p>
        </p:txBody>
      </p:sp>
      <p:sp>
        <p:nvSpPr>
          <p:cNvPr id="6" name="s15-text-3"/>
          <p:cNvSpPr>
            <a:spLocks noGrp="1"/>
          </p:cNvSpPr>
          <p:nvPr/>
        </p:nvSpPr>
        <p:spPr bwMode="auto">
          <a:xfrm>
            <a:off x="13271847" y="3864028"/>
            <a:ext cx="5732809" cy="70683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Концентрация, мг/л</a:t>
            </a:r>
            <a:endParaRPr/>
          </a:p>
        </p:txBody>
      </p:sp>
      <p:sp>
        <p:nvSpPr>
          <p:cNvPr id="7" name="s15-text-4"/>
          <p:cNvSpPr>
            <a:spLocks noGrp="1"/>
          </p:cNvSpPr>
          <p:nvPr/>
        </p:nvSpPr>
        <p:spPr bwMode="auto">
          <a:xfrm>
            <a:off x="13271847" y="5073500"/>
            <a:ext cx="5026025" cy="70683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85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85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y</a:t>
            </a:r>
            <a:endParaRPr/>
          </a:p>
        </p:txBody>
      </p:sp>
      <p:sp>
        <p:nvSpPr>
          <p:cNvPr id="8" name="s15-text-5"/>
          <p:cNvSpPr>
            <a:spLocks noGrp="1"/>
          </p:cNvSpPr>
          <p:nvPr/>
        </p:nvSpPr>
        <p:spPr bwMode="auto">
          <a:xfrm>
            <a:off x="13271847" y="5858872"/>
            <a:ext cx="5732809" cy="70683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Отклик, мВ</a:t>
            </a:r>
            <a:endParaRPr/>
          </a:p>
        </p:txBody>
      </p:sp>
      <p:sp>
        <p:nvSpPr>
          <p:cNvPr id="9" name="s15-text-6"/>
          <p:cNvSpPr>
            <a:spLocks noGrp="1"/>
          </p:cNvSpPr>
          <p:nvPr/>
        </p:nvSpPr>
        <p:spPr bwMode="auto">
          <a:xfrm>
            <a:off x="13271847" y="7068344"/>
            <a:ext cx="5497215" cy="70683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70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70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sigma</a:t>
            </a:r>
            <a:endParaRPr/>
          </a:p>
        </p:txBody>
      </p:sp>
      <p:sp>
        <p:nvSpPr>
          <p:cNvPr id="10" name="s15-text-7"/>
          <p:cNvSpPr>
            <a:spLocks noGrp="1"/>
          </p:cNvSpPr>
          <p:nvPr/>
        </p:nvSpPr>
        <p:spPr bwMode="auto">
          <a:xfrm>
            <a:off x="13271847" y="7853715"/>
            <a:ext cx="5732809" cy="12565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Стандартное отклонение</a:t>
            </a:r>
            <a:endParaRPr/>
          </a:p>
          <a:p>
            <a:pPr algn="l">
              <a:lnSpc>
                <a:spcPct val="118000"/>
              </a:lnSpc>
              <a:buNone/>
              <a:def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шума, мВ</a:t>
            </a:r>
            <a:endParaRPr/>
          </a:p>
        </p:txBody>
      </p:sp>
      <p:sp>
        <p:nvSpPr>
          <p:cNvPr id="11" name="s15-text-8"/>
          <p:cNvSpPr>
            <a:spLocks noGrp="1"/>
          </p:cNvSpPr>
          <p:nvPr/>
        </p:nvSpPr>
        <p:spPr bwMode="auto">
          <a:xfrm>
            <a:off x="942380" y="6801317"/>
            <a:ext cx="11622683" cy="94244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x, y и sigma имеют форму (21,)</a:t>
            </a:r>
            <a:endParaRPr/>
          </a:p>
        </p:txBody>
      </p:sp>
      <p:sp>
        <p:nvSpPr>
          <p:cNvPr id="12" name="s15-text-9"/>
          <p:cNvSpPr>
            <a:spLocks noGrp="1"/>
          </p:cNvSpPr>
          <p:nvPr/>
        </p:nvSpPr>
        <p:spPr bwMode="auto">
          <a:xfrm>
            <a:off x="942380" y="9628655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Фиксированный seed помогает воспроизвести пример в той же программной среде.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CSV: сохранение и загрузка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16</a:t>
            </a:r>
            <a:endParaRPr/>
          </a:p>
        </p:txBody>
      </p:sp>
      <p:sp>
        <p:nvSpPr>
          <p:cNvPr id="3" name="s16-code-1"/>
          <p:cNvSpPr>
            <a:spLocks noGrp="1"/>
          </p:cNvSpPr>
          <p:nvPr/>
        </p:nvSpPr>
        <p:spPr bwMode="auto">
          <a:xfrm>
            <a:off x="942380" y="3172901"/>
            <a:ext cx="11622683" cy="3998484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data = np.column_stack([x, y, sigma])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np.savetxt(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"measurements.csv"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data,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delimiter=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","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header=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"x,y,sigma"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comments=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data = np.loadtxt(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"measurements.csv"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delimiter=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","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skiprows=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x, y, sigma = data.T</a:t>
            </a:r>
            <a:endParaRPr/>
          </a:p>
        </p:txBody>
      </p:sp>
      <p:sp>
        <p:nvSpPr>
          <p:cNvPr id="4" name="s16-text-2"/>
          <p:cNvSpPr>
            <a:spLocks noGrp="1"/>
          </p:cNvSpPr>
          <p:nvPr/>
        </p:nvSpPr>
        <p:spPr bwMode="auto">
          <a:xfrm>
            <a:off x="13036252" y="2952997"/>
            <a:ext cx="6282531" cy="12565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45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Строка = одно измерение</a:t>
            </a:r>
            <a:endParaRPr/>
          </a:p>
        </p:txBody>
      </p:sp>
      <p:sp>
        <p:nvSpPr>
          <p:cNvPr id="5" name="s16-text-3"/>
          <p:cNvSpPr>
            <a:spLocks noGrp="1"/>
          </p:cNvSpPr>
          <p:nvPr/>
        </p:nvSpPr>
        <p:spPr bwMode="auto">
          <a:xfrm>
            <a:off x="13036252" y="4617985"/>
            <a:ext cx="6282531" cy="2748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x,y,sigma</a:t>
            </a:r>
            <a:endParaRPr/>
          </a:p>
          <a:p>
            <a:pPr algn="l">
              <a:lnSpc>
                <a:spcPct val="118000"/>
              </a:lnSpc>
              <a:buNone/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0.0,1.683,0.6</a:t>
            </a:r>
            <a:endParaRPr/>
          </a:p>
          <a:p>
            <a:pPr algn="l">
              <a:lnSpc>
                <a:spcPct val="118000"/>
              </a:lnSpc>
              <a:buNone/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0.5,1.276,0.6</a:t>
            </a:r>
            <a:endParaRPr/>
          </a:p>
          <a:p>
            <a:pPr algn="l">
              <a:lnSpc>
                <a:spcPct val="118000"/>
              </a:lnSpc>
              <a:buNone/>
              <a:def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 sz="28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1.0,2.750,0.6</a:t>
            </a:r>
            <a:endParaRPr/>
          </a:p>
        </p:txBody>
      </p:sp>
      <p:sp>
        <p:nvSpPr>
          <p:cNvPr id="6" name="s16-text-4"/>
          <p:cNvSpPr>
            <a:spLocks noGrp="1"/>
          </p:cNvSpPr>
          <p:nvPr/>
        </p:nvSpPr>
        <p:spPr bwMode="auto">
          <a:xfrm>
            <a:off x="13036252" y="7712347"/>
            <a:ext cx="6282531" cy="10995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Показаны округлённые</a:t>
            </a:r>
            <a:endParaRPr/>
          </a:p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первые строки файла</a:t>
            </a:r>
            <a:endParaRPr/>
          </a:p>
        </p:txBody>
      </p:sp>
      <p:sp>
        <p:nvSpPr>
          <p:cNvPr id="7" name="s16-text-5"/>
          <p:cNvSpPr>
            <a:spLocks noGrp="1"/>
          </p:cNvSpPr>
          <p:nvPr/>
        </p:nvSpPr>
        <p:spPr bwMode="auto">
          <a:xfrm>
            <a:off x="942380" y="9471581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skiprows=1 пропускает заголовок.</a:t>
            </a:r>
            <a:endParaRPr/>
          </a:p>
          <a:p>
            <a:pPr algn="l">
              <a:lnSpc>
                <a:spcPct val="118000"/>
              </a:lnSpc>
              <a:buNone/>
              <a:defRPr sz="27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loadtxt удобно использовать для однородных числовых столбцов.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Линейная аппроксимация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17</a:t>
            </a:r>
            <a:endParaRPr/>
          </a:p>
        </p:txBody>
      </p:sp>
      <p:sp>
        <p:nvSpPr>
          <p:cNvPr id="3" name="s17-code-1"/>
          <p:cNvSpPr>
            <a:spLocks noGrp="1"/>
          </p:cNvSpPr>
          <p:nvPr/>
        </p:nvSpPr>
        <p:spPr bwMode="auto">
          <a:xfrm>
            <a:off x="942380" y="3094364"/>
            <a:ext cx="12329468" cy="3830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0CDEE"/>
                </a:solidFill>
                <a:latin typeface="DejaVu Sans Mono"/>
                <a:ea typeface="DejaVu Sans Mono"/>
                <a:cs typeface="DejaVu Sans Mono"/>
              </a:rPr>
              <a:t>from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numpy.polynomial </a:t>
            </a:r>
            <a:r>
              <a:rPr>
                <a:solidFill>
                  <a:srgbClr val="70CDEE"/>
                </a:solidFill>
                <a:latin typeface="DejaVu Sans Mono"/>
                <a:ea typeface="DejaVu Sans Mono"/>
                <a:cs typeface="DejaVu Sans Mono"/>
              </a:rPr>
              <a:t>import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Polynomial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model = Polynomial.fit(x, y, deg=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y_fit = model(x)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residual = y - y_fit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x_dense = np.linspace(x.min(), x.max(),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200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b0, b1 = model.convert().coef</a:t>
            </a:r>
            <a:endParaRPr/>
          </a:p>
        </p:txBody>
      </p:sp>
      <p:sp>
        <p:nvSpPr>
          <p:cNvPr id="4" name="s17-text-2"/>
          <p:cNvSpPr>
            <a:spLocks noGrp="1"/>
          </p:cNvSpPr>
          <p:nvPr/>
        </p:nvSpPr>
        <p:spPr bwMode="auto">
          <a:xfrm>
            <a:off x="13350379" y="3125779"/>
            <a:ext cx="5418683" cy="70683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45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45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Модель</a:t>
            </a:r>
            <a:endParaRPr/>
          </a:p>
        </p:txBody>
      </p:sp>
      <p:sp>
        <p:nvSpPr>
          <p:cNvPr id="5" name="s17-text-3"/>
          <p:cNvSpPr>
            <a:spLocks noGrp="1"/>
          </p:cNvSpPr>
          <p:nvPr/>
        </p:nvSpPr>
        <p:spPr bwMode="auto">
          <a:xfrm>
            <a:off x="13350379" y="4209591"/>
            <a:ext cx="5575746" cy="109952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45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345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y ≈ 1.356 + 0.824x</a:t>
            </a:r>
            <a:endParaRPr/>
          </a:p>
        </p:txBody>
      </p:sp>
      <p:sp>
        <p:nvSpPr>
          <p:cNvPr id="6" name="s17-text-4"/>
          <p:cNvSpPr>
            <a:spLocks noGrp="1"/>
          </p:cNvSpPr>
          <p:nvPr/>
        </p:nvSpPr>
        <p:spPr bwMode="auto">
          <a:xfrm>
            <a:off x="13350379" y="5780334"/>
            <a:ext cx="5732809" cy="125659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deg=1 задаёт прямую</a:t>
            </a:r>
            <a:endParaRPr/>
          </a:p>
        </p:txBody>
      </p:sp>
      <p:sp>
        <p:nvSpPr>
          <p:cNvPr id="7" name="s17-text-5"/>
          <p:cNvSpPr>
            <a:spLocks noGrp="1"/>
          </p:cNvSpPr>
          <p:nvPr/>
        </p:nvSpPr>
        <p:spPr bwMode="auto">
          <a:xfrm>
            <a:off x="13350379" y="7335370"/>
            <a:ext cx="5732809" cy="1413669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residual содержит</a:t>
            </a:r>
            <a:endParaRPr/>
          </a:p>
          <a:p>
            <a:pPr algn="l">
              <a:lnSpc>
                <a:spcPct val="118000"/>
              </a:lnSpc>
              <a:buNone/>
              <a:def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295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отклонения y от модели</a:t>
            </a:r>
            <a:endParaRPr/>
          </a:p>
        </p:txBody>
      </p:sp>
      <p:sp>
        <p:nvSpPr>
          <p:cNvPr id="8" name="s17-text-6"/>
          <p:cNvSpPr>
            <a:spLocks noGrp="1"/>
          </p:cNvSpPr>
          <p:nvPr/>
        </p:nvSpPr>
        <p:spPr bwMode="auto">
          <a:xfrm>
            <a:off x="942380" y="9455873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convert().coef даёт коэффициенты [b₀, b₁] в исходной шкале x.</a:t>
            </a:r>
            <a:endParaRPr/>
          </a:p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Качество модели проверяем по остаткам.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Тип графика и задача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18</a:t>
            </a:r>
            <a:endParaRPr/>
          </a:p>
        </p:txBody>
      </p:sp>
      <p:graphicFrame>
        <p:nvGraphicFramePr>
          <p:cNvPr id="7" name=""/>
          <p:cNvGraphicFramePr>
            <a:graphicFrameLocks xmlns:a="http://schemas.openxmlformats.org/drawingml/2006/main"/>
          </p:cNvGraphicFramePr>
          <p:nvPr/>
        </p:nvGraphicFramePr>
        <p:xfrm>
          <a:off x="942380" y="2670263"/>
          <a:ext cx="18219341" cy="5968824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8795544"/>
                <a:gridCol w="4005114"/>
                <a:gridCol w="5418683"/>
              </a:tblGrid>
              <a:tr h="99480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3100" b="1">
                          <a:solidFill>
                            <a:srgbClr val="7DDD9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Задача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3100" b="1">
                          <a:solidFill>
                            <a:srgbClr val="7DDD9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Matplotlib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3100" b="1">
                          <a:solidFill>
                            <a:srgbClr val="7DDD9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Seaborn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</a:tr>
              <a:tr h="99480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310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Связь двух величин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310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scatter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310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scatterplot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</a:tr>
              <a:tr h="99480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310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Кривая по упорядоченному x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310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plot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310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lineplot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</a:tr>
              <a:tr h="99480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310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Распределение значений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310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hist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310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histplot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</a:tr>
              <a:tr h="99480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310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Сравнение распределений групп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310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boxplot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310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boxplot + swarmplot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</a:tr>
              <a:tr h="994804"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310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Регулярная двумерная сетка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310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imshow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l">
                        <a:defRPr/>
                      </a:pPr>
                      <a:r>
                        <a:rPr sz="310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heatmap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4" name="s18-text-2"/>
          <p:cNvSpPr>
            <a:spLocks noGrp="1"/>
          </p:cNvSpPr>
          <p:nvPr/>
        </p:nvSpPr>
        <p:spPr bwMode="auto">
          <a:xfrm>
            <a:off x="942380" y="9424458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Линия соединяет точки в порядке данных.</a:t>
            </a:r>
            <a:endParaRPr/>
          </a:p>
          <a:p>
            <a:pPr algn="l">
              <a:lnSpc>
                <a:spcPct val="118000"/>
              </a:lnSpc>
              <a:buNone/>
              <a:defRPr sz="27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Seaborn lineplot при повторяющемся x может усреднять наблюдения.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Matplotlib: Figure и Axes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19</a:t>
            </a:r>
            <a:endParaRPr/>
          </a:p>
        </p:txBody>
      </p:sp>
      <p:sp>
        <p:nvSpPr>
          <p:cNvPr id="3" name="s19-code-1"/>
          <p:cNvSpPr>
            <a:spLocks noGrp="1"/>
          </p:cNvSpPr>
          <p:nvPr/>
        </p:nvSpPr>
        <p:spPr bwMode="auto">
          <a:xfrm>
            <a:off x="942380" y="3094364"/>
            <a:ext cx="9816455" cy="290399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fig, ax = plt.subplots(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figsize=(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6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4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), layout=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"constrained"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ax.scatter(x, y, color=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"cyan"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ax.set(xlabel=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"c, мг/л"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ylabel=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"S, мВ"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plt.show()</a:t>
            </a:r>
            <a:endParaRPr/>
          </a:p>
        </p:txBody>
      </p:sp>
      <p:pic>
        <p:nvPicPr>
          <p:cNvPr id="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837366" y="3254257"/>
            <a:ext cx="8638480" cy="5758987"/>
          </a:xfrm>
          <a:prstGeom prst="rect">
            <a:avLst/>
          </a:prstGeom>
        </p:spPr>
      </p:pic>
      <p:sp>
        <p:nvSpPr>
          <p:cNvPr id="5" name="s19-text-3"/>
          <p:cNvSpPr>
            <a:spLocks noGrp="1"/>
          </p:cNvSpPr>
          <p:nvPr/>
        </p:nvSpPr>
        <p:spPr bwMode="auto">
          <a:xfrm>
            <a:off x="942380" y="7382491"/>
            <a:ext cx="9737923" cy="157074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100" b="0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100" b="0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fig: весь рисунок</a:t>
            </a:r>
            <a:endParaRPr/>
          </a:p>
          <a:p>
            <a:pPr algn="l">
              <a:lnSpc>
                <a:spcPct val="118000"/>
              </a:lnSpc>
              <a:buNone/>
              <a:defRPr sz="3100" b="0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100" b="0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ax: одна область построения с осями</a:t>
            </a:r>
            <a:endParaRPr/>
          </a:p>
        </p:txBody>
      </p:sp>
      <p:sp>
        <p:nvSpPr>
          <p:cNvPr id="6" name="s19-text-4"/>
          <p:cNvSpPr>
            <a:spLocks noGrp="1"/>
          </p:cNvSpPr>
          <p:nvPr/>
        </p:nvSpPr>
        <p:spPr bwMode="auto">
          <a:xfrm>
            <a:off x="942380" y="9722900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Далее строим графики через методы ax. layout="constrained" помогает разместить подписи.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plot и scatter: порядок точек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20</a:t>
            </a:r>
            <a:endParaRPr/>
          </a:p>
        </p:txBody>
      </p:sp>
      <p:sp>
        <p:nvSpPr>
          <p:cNvPr id="3" name="s20-code-1"/>
          <p:cNvSpPr>
            <a:spLocks noGrp="1"/>
          </p:cNvSpPr>
          <p:nvPr/>
        </p:nvSpPr>
        <p:spPr bwMode="auto">
          <a:xfrm>
            <a:off x="942380" y="2858752"/>
            <a:ext cx="10020637" cy="444049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u = np.array([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3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v = np.array([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3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fig, (ax1, ax2) = plt.subplots(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figsize=(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6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4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layout=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"constrained"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ax1.plot(u, v,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"o-"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color=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"cyan"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ax2.scatter(u, v, color=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"cyan"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ax1.set(title=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"plot"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xlabel=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"u"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ylabel=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"v"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ax2.set(title=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"scatter"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xlabel=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"u"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plt.show()</a:t>
            </a:r>
            <a:endParaRPr/>
          </a:p>
        </p:txBody>
      </p:sp>
      <p:pic>
        <p:nvPicPr>
          <p:cNvPr id="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837366" y="3254257"/>
            <a:ext cx="8638480" cy="5758987"/>
          </a:xfrm>
          <a:prstGeom prst="rect">
            <a:avLst/>
          </a:prstGeom>
        </p:spPr>
      </p:pic>
      <p:sp>
        <p:nvSpPr>
          <p:cNvPr id="5" name="s20-text-3"/>
          <p:cNvSpPr>
            <a:spLocks noGrp="1"/>
          </p:cNvSpPr>
          <p:nvPr/>
        </p:nvSpPr>
        <p:spPr bwMode="auto">
          <a:xfrm>
            <a:off x="942380" y="9644362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plot соединяет точки в переданном порядке.</a:t>
            </a:r>
            <a:endParaRPr/>
          </a:p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Для линии зависимости по u сначала нужен подходящий порядок данных.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Данные и модель на одном графике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21</a:t>
            </a:r>
            <a:endParaRPr/>
          </a:p>
        </p:txBody>
      </p:sp>
      <p:sp>
        <p:nvSpPr>
          <p:cNvPr id="3" name="s21-code-1"/>
          <p:cNvSpPr>
            <a:spLocks noGrp="1"/>
          </p:cNvSpPr>
          <p:nvPr/>
        </p:nvSpPr>
        <p:spPr bwMode="auto">
          <a:xfrm>
            <a:off x="942380" y="2780215"/>
            <a:ext cx="9816455" cy="510350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fig, ax = plt.subplots(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figsize=(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6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4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), layout=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"constrained"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ax.plot(x, y,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"o"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color=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"cyan"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    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"Измерения"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ax.plot(x_dense, model(x_dense),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    color=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"orange"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lw=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ls=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"--"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    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"Модель"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ax.set(xlabel=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"c, мг/л"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ylabel=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"S, мВ"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ax.legend()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ax.grid(alpha=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0.2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plt.show()</a:t>
            </a:r>
            <a:endParaRPr/>
          </a:p>
        </p:txBody>
      </p:sp>
      <p:pic>
        <p:nvPicPr>
          <p:cNvPr id="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837366" y="3254257"/>
            <a:ext cx="8638480" cy="5758987"/>
          </a:xfrm>
          <a:prstGeom prst="rect">
            <a:avLst/>
          </a:prstGeom>
        </p:spPr>
      </p:pic>
      <p:sp>
        <p:nvSpPr>
          <p:cNvPr id="5" name="s21-text-3"/>
          <p:cNvSpPr>
            <a:spLocks noGrp="1"/>
          </p:cNvSpPr>
          <p:nvPr/>
        </p:nvSpPr>
        <p:spPr bwMode="auto">
          <a:xfrm>
            <a:off x="942380" y="9722900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"o" задаёт маркеры, ls задаёт стиль линии, lw задаёт толщину в пунктах.</a:t>
            </a:r>
            <a:endParaRPr/>
          </a:p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label используется в легенде.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Цвет как дополнительная величина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22</a:t>
            </a:r>
            <a:endParaRPr/>
          </a:p>
        </p:txBody>
      </p:sp>
      <p:sp>
        <p:nvSpPr>
          <p:cNvPr id="3" name="s22-code-1"/>
          <p:cNvSpPr>
            <a:spLocks noGrp="1"/>
          </p:cNvSpPr>
          <p:nvPr/>
        </p:nvSpPr>
        <p:spPr bwMode="auto">
          <a:xfrm>
            <a:off x="942380" y="2968704"/>
            <a:ext cx="10020637" cy="419843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m = np.max(np.abs(residual))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fig, ax = plt.subplots(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figsize=(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6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4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), layout=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"constrained"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points = ax.scatter(x, y, c=residual,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cmap=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"coolwarm"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vmin=-m, vmax=m, s=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70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fig.colorbar(points, ax=ax,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         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"Остаток, мВ"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ax.set(xlabel=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"c, мг/л"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ylabel=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"S, мВ"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plt.show()</a:t>
            </a:r>
            <a:endParaRPr/>
          </a:p>
        </p:txBody>
      </p:sp>
      <p:pic>
        <p:nvPicPr>
          <p:cNvPr id="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837366" y="3254257"/>
            <a:ext cx="8638480" cy="5758987"/>
          </a:xfrm>
          <a:prstGeom prst="rect">
            <a:avLst/>
          </a:prstGeom>
        </p:spPr>
      </p:pic>
      <p:sp>
        <p:nvSpPr>
          <p:cNvPr id="5" name="s22-text-3"/>
          <p:cNvSpPr>
            <a:spLocks noGrp="1"/>
          </p:cNvSpPr>
          <p:nvPr/>
        </p:nvSpPr>
        <p:spPr bwMode="auto">
          <a:xfrm>
            <a:off x="942380" y="9707192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c задаёт значения для цвета, colorbar показывает шкалу.</a:t>
            </a:r>
            <a:endParaRPr/>
          </a:p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Симметричные границы выделяют отклонения от нуля.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Пределы, деления и аннотация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23</a:t>
            </a:r>
            <a:endParaRPr/>
          </a:p>
        </p:txBody>
      </p:sp>
      <p:sp>
        <p:nvSpPr>
          <p:cNvPr id="3" name="s23-code-1"/>
          <p:cNvSpPr>
            <a:spLocks noGrp="1"/>
          </p:cNvSpPr>
          <p:nvPr/>
        </p:nvSpPr>
        <p:spPr bwMode="auto">
          <a:xfrm>
            <a:off x="942380" y="2748800"/>
            <a:ext cx="10020637" cy="535397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t = np.linspace(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*np.pi,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100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fig, ax = plt.subplots(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figsize=(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6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4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), layout=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"constrained"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ax.plot(t, np.sin(t)**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color=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"cyan"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ax.set(xlim=(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*np.pi), ylim=(-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0.05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1.3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   xlabel=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"t, рад"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ylabel=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"sin²(t)"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ax.set_xticks([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np.pi,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*np.pi],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          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"0"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r"$\pi$"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r"$2\pi$"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ax.annotate(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"Максимум"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xy=(np.pi/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xytext=(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2.8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1.15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arrowprops={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"arrowstyle"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"-&gt;"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})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plt.show()</a:t>
            </a:r>
            <a:endParaRPr/>
          </a:p>
        </p:txBody>
      </p:sp>
      <p:pic>
        <p:nvPicPr>
          <p:cNvPr id="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837366" y="3254257"/>
            <a:ext cx="8638480" cy="5758987"/>
          </a:xfrm>
          <a:prstGeom prst="rect">
            <a:avLst/>
          </a:prstGeom>
        </p:spPr>
      </p:pic>
      <p:sp>
        <p:nvSpPr>
          <p:cNvPr id="5" name="s23-text-3"/>
          <p:cNvSpPr>
            <a:spLocks noGrp="1"/>
          </p:cNvSpPr>
          <p:nvPr/>
        </p:nvSpPr>
        <p:spPr bwMode="auto">
          <a:xfrm>
            <a:off x="942380" y="9722900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xy задаёт точку, xytext задаёт положение подписи.</a:t>
            </a:r>
            <a:endParaRPr/>
          </a:p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Запись $...$ позволяет использовать математические символы.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Логарифмическая шкала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24</a:t>
            </a:r>
            <a:endParaRPr/>
          </a:p>
        </p:txBody>
      </p:sp>
      <p:sp>
        <p:nvSpPr>
          <p:cNvPr id="3" name="s24-code-1"/>
          <p:cNvSpPr>
            <a:spLocks noGrp="1"/>
          </p:cNvSpPr>
          <p:nvPr/>
        </p:nvSpPr>
        <p:spPr bwMode="auto">
          <a:xfrm>
            <a:off x="942380" y="2968704"/>
            <a:ext cx="10067756" cy="4198439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u = np.linspace(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5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100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signal = np.exp(-u)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fig, ax = plt.subplots(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figsize=(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6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4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), layout=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"constrained"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ax.plot(u, signal, color=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"cyan"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ax.set_yscale(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"log"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ax.set(xlabel=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"t, с"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ylabel=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"S, отн. ед."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ax.grid(alpha=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0.25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which=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"both"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plt.show()</a:t>
            </a:r>
            <a:endParaRPr/>
          </a:p>
        </p:txBody>
      </p:sp>
      <p:pic>
        <p:nvPicPr>
          <p:cNvPr id="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837366" y="3254257"/>
            <a:ext cx="8638480" cy="5758987"/>
          </a:xfrm>
          <a:prstGeom prst="rect">
            <a:avLst/>
          </a:prstGeom>
        </p:spPr>
      </p:pic>
      <p:sp>
        <p:nvSpPr>
          <p:cNvPr id="5" name="s24-text-3"/>
          <p:cNvSpPr>
            <a:spLocks noGrp="1"/>
          </p:cNvSpPr>
          <p:nvPr/>
        </p:nvSpPr>
        <p:spPr bwMode="auto">
          <a:xfrm>
            <a:off x="942380" y="9707192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Одинаковые вертикальные интервалы соответствуют одинаковым отношениям значений.</a:t>
            </a:r>
            <a:endParaRPr/>
          </a:p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Все S должны быть положительными.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Общий стиль рисунков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25</a:t>
            </a:r>
            <a:endParaRPr/>
          </a:p>
        </p:txBody>
      </p:sp>
      <p:sp>
        <p:nvSpPr>
          <p:cNvPr id="3" name="s25-code-1"/>
          <p:cNvSpPr>
            <a:spLocks noGrp="1"/>
          </p:cNvSpPr>
          <p:nvPr/>
        </p:nvSpPr>
        <p:spPr bwMode="auto">
          <a:xfrm>
            <a:off x="942380" y="2513189"/>
            <a:ext cx="10052050" cy="647161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plt.style.use(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"dark_background"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plt.rcParams.update({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"font.size"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"axes.grid"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>
                <a:solidFill>
                  <a:srgbClr val="70CDEE"/>
                </a:solidFill>
                <a:latin typeface="DejaVu Sans Mono"/>
                <a:ea typeface="DejaVu Sans Mono"/>
                <a:cs typeface="DejaVu Sans Mono"/>
              </a:rPr>
              <a:t>True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"grid.alpha"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0.2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"lines.linewidth"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})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u = np.linspace(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*np.pi,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100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fig, ax = plt.subplots(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figsize=(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6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4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), layout=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"constrained"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ax.plot(u, np.sin(u), 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"sin"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ax.plot(u, np.cos(u), ls=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"--"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"cos"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ax.set(xlabel=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"u, рад"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ylabel=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"Значение"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ax.legend()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plt.show()</a:t>
            </a:r>
            <a:endParaRPr/>
          </a:p>
        </p:txBody>
      </p:sp>
      <p:pic>
        <p:nvPicPr>
          <p:cNvPr id="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837366" y="3254257"/>
            <a:ext cx="8638480" cy="5758987"/>
          </a:xfrm>
          <a:prstGeom prst="rect">
            <a:avLst/>
          </a:prstGeom>
        </p:spPr>
      </p:pic>
      <p:sp>
        <p:nvSpPr>
          <p:cNvPr id="5" name="s25-text-3"/>
          <p:cNvSpPr>
            <a:spLocks noGrp="1"/>
          </p:cNvSpPr>
          <p:nvPr/>
        </p:nvSpPr>
        <p:spPr bwMode="auto">
          <a:xfrm>
            <a:off x="942380" y="9722900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rcParams задаёт общие настройки. Различать серии помогают цвет, маркеры и стиль линии.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Погрешности измерений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26</a:t>
            </a:r>
            <a:endParaRPr/>
          </a:p>
        </p:txBody>
      </p:sp>
      <p:sp>
        <p:nvSpPr>
          <p:cNvPr id="3" name="s26-code-1"/>
          <p:cNvSpPr>
            <a:spLocks noGrp="1"/>
          </p:cNvSpPr>
          <p:nvPr/>
        </p:nvSpPr>
        <p:spPr bwMode="auto">
          <a:xfrm>
            <a:off x="942380" y="2984412"/>
            <a:ext cx="9816455" cy="46509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fig, ax = plt.subplots(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figsize=(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6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4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), layout=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"constrained"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ax.errorbar(x, y, yerr=sigma,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fmt=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"o"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capsize=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3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color=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"cyan"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"Измерения ±1σ"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ax.plot(x_dense, model(x_dense),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color=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"orange"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"Модель"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ax.set(xlabel=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"c, мг/л"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ylabel=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"S, мВ"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ax.legend()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plt.show()</a:t>
            </a:r>
            <a:endParaRPr/>
          </a:p>
        </p:txBody>
      </p:sp>
      <p:pic>
        <p:nvPicPr>
          <p:cNvPr id="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837366" y="3254257"/>
            <a:ext cx="8638480" cy="5758987"/>
          </a:xfrm>
          <a:prstGeom prst="rect">
            <a:avLst/>
          </a:prstGeom>
        </p:spPr>
      </p:pic>
      <p:sp>
        <p:nvSpPr>
          <p:cNvPr id="5" name="s26-text-3"/>
          <p:cNvSpPr>
            <a:spLocks noGrp="1"/>
          </p:cNvSpPr>
          <p:nvPr/>
        </p:nvSpPr>
        <p:spPr bwMode="auto">
          <a:xfrm>
            <a:off x="942380" y="9675777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Здесь sigma = 0.6 мВ описывает шум одного измерения.</a:t>
            </a:r>
            <a:endParaRPr/>
          </a:p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Для доверительного интервала модели нужен отдельный расчёт.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Несколько панелей и остатки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27</a:t>
            </a:r>
            <a:endParaRPr/>
          </a:p>
        </p:txBody>
      </p:sp>
      <p:sp>
        <p:nvSpPr>
          <p:cNvPr id="3" name="s27-code-1"/>
          <p:cNvSpPr>
            <a:spLocks noGrp="1"/>
          </p:cNvSpPr>
          <p:nvPr/>
        </p:nvSpPr>
        <p:spPr bwMode="auto">
          <a:xfrm>
            <a:off x="942380" y="2843045"/>
            <a:ext cx="9816455" cy="5556032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fig, (ax1, ax2) = plt.subplots(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sharex=</a:t>
            </a:r>
            <a:r>
              <a:rPr>
                <a:solidFill>
                  <a:srgbClr val="70CDEE"/>
                </a:solidFill>
                <a:latin typeface="DejaVu Sans Mono"/>
                <a:ea typeface="DejaVu Sans Mono"/>
                <a:cs typeface="DejaVu Sans Mono"/>
              </a:rPr>
              <a:t>True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figsize=(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6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5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layout=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"constrained"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ax1.scatter(x, y, color=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"cyan"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ax1.plot(x_dense, model(x_dense),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     color=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"orange"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ax1.set_ylabel(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"S, мВ"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ax2.scatter(x, residual, color=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"cyan"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ax2.axhline(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color=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"gray"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ls=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"--"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ax2.set(xlabel=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"c, мг/л"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    ylabel=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"Остаток, мВ"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plt.show()</a:t>
            </a:r>
            <a:endParaRPr/>
          </a:p>
        </p:txBody>
      </p:sp>
      <p:pic>
        <p:nvPicPr>
          <p:cNvPr id="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837366" y="2432286"/>
            <a:ext cx="8638480" cy="7198734"/>
          </a:xfrm>
          <a:prstGeom prst="rect">
            <a:avLst/>
          </a:prstGeom>
        </p:spPr>
      </p:pic>
      <p:sp>
        <p:nvSpPr>
          <p:cNvPr id="5" name="s27-text-3"/>
          <p:cNvSpPr>
            <a:spLocks noGrp="1"/>
          </p:cNvSpPr>
          <p:nvPr/>
        </p:nvSpPr>
        <p:spPr bwMode="auto">
          <a:xfrm>
            <a:off x="942380" y="9722900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sharex=True связывает ось x. Структура остатков может указывать на неподходящую модель.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Сетка панелей 2 × 2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28</a:t>
            </a:r>
            <a:endParaRPr/>
          </a:p>
        </p:txBody>
      </p:sp>
      <p:sp>
        <p:nvSpPr>
          <p:cNvPr id="3" name="s28-code-1"/>
          <p:cNvSpPr>
            <a:spLocks noGrp="1"/>
          </p:cNvSpPr>
          <p:nvPr/>
        </p:nvSpPr>
        <p:spPr bwMode="auto">
          <a:xfrm>
            <a:off x="942380" y="2890167"/>
            <a:ext cx="10366177" cy="4640446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fig, axs = plt.subplots(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figsize=(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6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5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layout=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"constrained"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axs[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].scatter(x, y, color=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"cyan"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axs[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].set(xlabel=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"c, мг/л"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ylabel=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"S, мВ"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axs[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].plot(x, residual,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"o"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color=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"cyan"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axs[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].set(xlabel=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"c, мг/л"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ylabel=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"Остаток, мВ"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axs[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].hist(residual, bins=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6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color=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"cyan"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axs[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].set(xlabel=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"Остаток, мВ"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ylabel=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"Число"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fig.delaxes(axs[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plt.show()</a:t>
            </a:r>
            <a:endParaRPr/>
          </a:p>
        </p:txBody>
      </p:sp>
      <p:pic>
        <p:nvPicPr>
          <p:cNvPr id="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915600" y="2481774"/>
            <a:ext cx="8482012" cy="7068344"/>
          </a:xfrm>
          <a:prstGeom prst="rect">
            <a:avLst/>
          </a:prstGeom>
        </p:spPr>
      </p:pic>
      <p:sp>
        <p:nvSpPr>
          <p:cNvPr id="5" name="s28-text-3"/>
          <p:cNvSpPr>
            <a:spLocks noGrp="1"/>
          </p:cNvSpPr>
          <p:nvPr/>
        </p:nvSpPr>
        <p:spPr bwMode="auto">
          <a:xfrm>
            <a:off x="942380" y="9722900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axs[строка, столбец] выбирает панель.</a:t>
            </a:r>
            <a:endParaRPr/>
          </a:p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Соседние панели могут показывать разные свойства одного набора данных.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Распределение значений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29</a:t>
            </a:r>
            <a:endParaRPr/>
          </a:p>
        </p:txBody>
      </p:sp>
      <p:sp>
        <p:nvSpPr>
          <p:cNvPr id="3" name="s29-code-1"/>
          <p:cNvSpPr>
            <a:spLocks noGrp="1"/>
          </p:cNvSpPr>
          <p:nvPr/>
        </p:nvSpPr>
        <p:spPr bwMode="auto">
          <a:xfrm>
            <a:off x="942380" y="3062949"/>
            <a:ext cx="9816455" cy="336704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fig, ax = plt.subplots(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figsize=(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6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4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), layout=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"constrained"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ax.hist(residual, bins=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6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color=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"cyan"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    edgecolor=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"black"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ax.set(xlabel=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"Остаток, мВ"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   ylabel=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"Число наблюдений"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plt.show()</a:t>
            </a:r>
            <a:endParaRPr/>
          </a:p>
        </p:txBody>
      </p:sp>
      <p:pic>
        <p:nvPicPr>
          <p:cNvPr id="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837366" y="3254257"/>
            <a:ext cx="8638480" cy="5758987"/>
          </a:xfrm>
          <a:prstGeom prst="rect">
            <a:avLst/>
          </a:prstGeom>
        </p:spPr>
      </p:pic>
      <p:sp>
        <p:nvSpPr>
          <p:cNvPr id="5" name="s29-text-3"/>
          <p:cNvSpPr>
            <a:spLocks noGrp="1"/>
          </p:cNvSpPr>
          <p:nvPr/>
        </p:nvSpPr>
        <p:spPr bwMode="auto">
          <a:xfrm>
            <a:off x="942380" y="7696641"/>
            <a:ext cx="9816455" cy="157074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850" b="0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bins задаёт разбиение на интервалы</a:t>
            </a:r>
            <a:endParaRPr/>
          </a:p>
          <a:p>
            <a:pPr algn="l">
              <a:lnSpc>
                <a:spcPct val="118000"/>
              </a:lnSpc>
              <a:buNone/>
              <a:defRPr sz="2850" b="0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density=True показывает плотность</a:t>
            </a:r>
            <a:endParaRPr/>
          </a:p>
        </p:txBody>
      </p:sp>
      <p:sp>
        <p:nvSpPr>
          <p:cNvPr id="6" name="s29-text-4"/>
          <p:cNvSpPr>
            <a:spLocks noGrp="1"/>
          </p:cNvSpPr>
          <p:nvPr/>
        </p:nvSpPr>
        <p:spPr bwMode="auto">
          <a:xfrm>
            <a:off x="942380" y="9722900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В примере всего 21 наблюдение. Форма гистограммы зависит от разбиения и объёма данных.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Матрица как изображение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30</a:t>
            </a:r>
            <a:endParaRPr/>
          </a:p>
        </p:txBody>
      </p:sp>
      <p:sp>
        <p:nvSpPr>
          <p:cNvPr id="3" name="s30-code-1"/>
          <p:cNvSpPr>
            <a:spLocks noGrp="1"/>
          </p:cNvSpPr>
          <p:nvPr/>
        </p:nvSpPr>
        <p:spPr bwMode="auto">
          <a:xfrm>
            <a:off x="942380" y="2984412"/>
            <a:ext cx="9973518" cy="46509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Z = np.arange(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).reshape(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3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4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fig, ax = plt.subplots(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figsize=(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6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4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), layout=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"constrained"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im = ax.imshow(Z, cmap=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"viridis"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origin=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"lower"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aspect=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"auto"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fig.colorbar(im, ax=ax, 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"Значение"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ax.set(xlabel=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"Столбец"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ylabel=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"Строка"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ax.set_xticks(range(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4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ax.set_yticks(range(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3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plt.show()</a:t>
            </a:r>
            <a:endParaRPr/>
          </a:p>
        </p:txBody>
      </p:sp>
      <p:pic>
        <p:nvPicPr>
          <p:cNvPr id="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837366" y="3254257"/>
            <a:ext cx="8638480" cy="5758987"/>
          </a:xfrm>
          <a:prstGeom prst="rect">
            <a:avLst/>
          </a:prstGeom>
        </p:spPr>
      </p:pic>
      <p:sp>
        <p:nvSpPr>
          <p:cNvPr id="5" name="s30-text-3"/>
          <p:cNvSpPr>
            <a:spLocks noGrp="1"/>
          </p:cNvSpPr>
          <p:nvPr/>
        </p:nvSpPr>
        <p:spPr bwMode="auto">
          <a:xfrm>
            <a:off x="942380" y="9722900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origin="lower" помещает нулевую строку снизу.</a:t>
            </a:r>
            <a:endParaRPr/>
          </a:p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extent задаёт физические координаты границ изображения.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Сохранение: размер и разрешение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31</a:t>
            </a:r>
            <a:endParaRPr/>
          </a:p>
        </p:txBody>
      </p:sp>
      <p:sp>
        <p:nvSpPr>
          <p:cNvPr id="3" name="s31-code-1"/>
          <p:cNvSpPr>
            <a:spLocks noGrp="1"/>
          </p:cNvSpPr>
          <p:nvPr/>
        </p:nvSpPr>
        <p:spPr bwMode="auto">
          <a:xfrm>
            <a:off x="942380" y="2968704"/>
            <a:ext cx="11308556" cy="475621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t = np.linspace(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*np.pi,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100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fig, ax = plt.subplots(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figsize=(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6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4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), layout=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"constrained"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ax.plot(t, np.sin(t)**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color=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"cyan"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ax.set(xlabel=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"t, рад"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ylabel=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"sin²(t)"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plt.rcParams[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"savefig.bbox"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 = </a:t>
            </a:r>
            <a:r>
              <a:rPr>
                <a:solidFill>
                  <a:srgbClr val="70CDEE"/>
                </a:solidFill>
                <a:latin typeface="DejaVu Sans Mono"/>
                <a:ea typeface="DejaVu Sans Mono"/>
                <a:cs typeface="DejaVu Sans Mono"/>
              </a:rPr>
              <a:t>None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fig.savefig(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"signal.png"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dpi=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150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fig.savefig(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"signal.svg"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70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plt.show()</a:t>
            </a:r>
            <a:endParaRPr/>
          </a:p>
        </p:txBody>
      </p:sp>
      <p:sp>
        <p:nvSpPr>
          <p:cNvPr id="4" name="s31-text-2"/>
          <p:cNvSpPr>
            <a:spLocks noGrp="1"/>
          </p:cNvSpPr>
          <p:nvPr/>
        </p:nvSpPr>
        <p:spPr bwMode="auto">
          <a:xfrm>
            <a:off x="13240435" y="3251437"/>
            <a:ext cx="5968405" cy="97386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460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460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900 × 600 px</a:t>
            </a:r>
            <a:endParaRPr/>
          </a:p>
        </p:txBody>
      </p:sp>
      <p:sp>
        <p:nvSpPr>
          <p:cNvPr id="5" name="s31-text-3"/>
          <p:cNvSpPr>
            <a:spLocks noGrp="1"/>
          </p:cNvSpPr>
          <p:nvPr/>
        </p:nvSpPr>
        <p:spPr bwMode="auto">
          <a:xfrm>
            <a:off x="13240435" y="4727937"/>
            <a:ext cx="6125468" cy="172781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3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6 дюймов × 150 dpi</a:t>
            </a:r>
            <a:endParaRPr/>
          </a:p>
          <a:p>
            <a:pPr algn="l">
              <a:lnSpc>
                <a:spcPct val="118000"/>
              </a:lnSpc>
              <a:buNone/>
              <a:defRPr sz="3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3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4 дюйма × 150 dpi</a:t>
            </a:r>
            <a:endParaRPr/>
          </a:p>
        </p:txBody>
      </p:sp>
      <p:sp>
        <p:nvSpPr>
          <p:cNvPr id="6" name="s31-text-4"/>
          <p:cNvSpPr>
            <a:spLocks noGrp="1"/>
          </p:cNvSpPr>
          <p:nvPr/>
        </p:nvSpPr>
        <p:spPr bwMode="auto">
          <a:xfrm>
            <a:off x="13240435" y="7099759"/>
            <a:ext cx="5889873" cy="204196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85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PNG: растровый файл</a:t>
            </a:r>
            <a:endParaRPr/>
          </a:p>
          <a:p>
            <a:pPr algn="l">
              <a:lnSpc>
                <a:spcPct val="118000"/>
              </a:lnSpc>
              <a:buNone/>
              <a:defRPr sz="285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SVG/PDF: векторные элементы</a:t>
            </a:r>
            <a:endParaRPr/>
          </a:p>
        </p:txBody>
      </p:sp>
      <p:sp>
        <p:nvSpPr>
          <p:cNvPr id="7" name="s31-text-5"/>
          <p:cNvSpPr>
            <a:spLocks noGrp="1"/>
          </p:cNvSpPr>
          <p:nvPr/>
        </p:nvSpPr>
        <p:spPr bwMode="auto">
          <a:xfrm>
            <a:off x="942380" y="9722900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bbox_inches="tight" меняет итоговый размер. Сохраняем рисунок перед plt.show().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Seaborn: таблица наблюдений</a:t>
            </a:r>
            <a:endParaRPr/>
          </a:p>
        </p:txBody>
      </p:sp>
      <p:sp>
        <p:nvSpPr>
          <p:cNvPr id="2" name="subtitle"/>
          <p:cNvSpPr>
            <a:spLocks noGrp="1"/>
          </p:cNvSpPr>
          <p:nvPr/>
        </p:nvSpPr>
        <p:spPr bwMode="auto">
          <a:xfrm>
            <a:off x="942380" y="1869184"/>
            <a:ext cx="18219341" cy="78537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9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9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Одна строка соответствует одному измерению</a:t>
            </a:r>
            <a:endParaRPr/>
          </a:p>
        </p:txBody>
      </p:sp>
      <p:sp>
        <p:nvSpPr>
          <p:cNvPr id="3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32</a:t>
            </a:r>
            <a:endParaRPr/>
          </a:p>
        </p:txBody>
      </p:sp>
      <p:sp>
        <p:nvSpPr>
          <p:cNvPr id="4" name="s32-code-1"/>
          <p:cNvSpPr>
            <a:spLocks noGrp="1"/>
          </p:cNvSpPr>
          <p:nvPr/>
        </p:nvSpPr>
        <p:spPr bwMode="auto">
          <a:xfrm>
            <a:off x="942380" y="2827338"/>
            <a:ext cx="11999635" cy="4440491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70CDEE"/>
                </a:solidFill>
                <a:latin typeface="DejaVu Sans Mono"/>
                <a:ea typeface="DejaVu Sans Mono"/>
                <a:cs typeface="DejaVu Sans Mono"/>
              </a:rPr>
              <a:t>import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pandas </a:t>
            </a:r>
            <a:r>
              <a:rPr>
                <a:solidFill>
                  <a:srgbClr val="70CDEE"/>
                </a:solidFill>
                <a:latin typeface="DejaVu Sans Mono"/>
                <a:ea typeface="DejaVu Sans Mono"/>
                <a:cs typeface="DejaVu Sans Mono"/>
              </a:rPr>
              <a:t>as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pd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/>
              <a:t> 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rng = np.random.default_rng(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7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df = pd.DataFrame({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"group"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: np.repeat([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"A"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"B"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"t"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: np.tile(np.repeat([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3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5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})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df[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"signal"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 = 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+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0.4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*df[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"t"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+ (df[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"group"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 ==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"B"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).astype(float)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+ rng.normal(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0.5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len(df)))</a:t>
            </a:r>
            <a:endParaRPr/>
          </a:p>
        </p:txBody>
      </p:sp>
      <p:graphicFrame>
        <p:nvGraphicFramePr>
          <p:cNvPr id="12" name=""/>
          <p:cNvGraphicFramePr>
            <a:graphicFrameLocks xmlns:a="http://schemas.openxmlformats.org/drawingml/2006/main"/>
          </p:cNvGraphicFramePr>
          <p:nvPr/>
        </p:nvGraphicFramePr>
        <p:xfrm>
          <a:off x="13585974" y="3220023"/>
          <a:ext cx="5497215" cy="4068225"/>
        </p:xfrm>
        <a:graphic>
          <a:graphicData uri="http://schemas.openxmlformats.org/drawingml/2006/table">
            <a:tbl>
              <a:tblPr firstRow="0" firstCol="0" lastRow="0" lastCol="0" bandRow="0" bandCol="0"/>
              <a:tblGrid>
                <a:gridCol w="1832405"/>
                <a:gridCol w="1832405"/>
                <a:gridCol w="1832405"/>
              </a:tblGrid>
              <a:tr h="813645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50" b="1">
                          <a:solidFill>
                            <a:srgbClr val="7DDD9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group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50" b="1">
                          <a:solidFill>
                            <a:srgbClr val="7DDD9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t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50" b="1">
                          <a:solidFill>
                            <a:srgbClr val="7DDD9D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signal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</a:tr>
              <a:tr h="813645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5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5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5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10.00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</a:tr>
              <a:tr h="813645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5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5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5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10.15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</a:tr>
              <a:tr h="813645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5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5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5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9.86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</a:tr>
              <a:tr h="813645"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5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A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5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0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  <a:tc>
                  <a:txBody>
                    <a:bodyPr/>
                    <a:p>
                      <a:pPr algn="ctr">
                        <a:defRPr/>
                      </a:pPr>
                      <a:r>
                        <a:rPr sz="2850" b="0">
                          <a:solidFill>
                            <a:srgbClr val="F2F4F7"/>
                          </a:solidFill>
                          <a:latin typeface="DejaVu Sans"/>
                          <a:ea typeface="DejaVu Sans"/>
                          <a:cs typeface="DejaVu Sans"/>
                        </a:rPr>
                        <a:t>9.55</a:t>
                      </a:r>
                      <a:endParaRPr/>
                    </a:p>
                  </a:txBody>
                  <a:tcPr marL="91440" marR="91440" marT="45720" marB="45720" anchor="ctr"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6" name="s32-text-3"/>
          <p:cNvSpPr>
            <a:spLocks noGrp="1"/>
          </p:cNvSpPr>
          <p:nvPr/>
        </p:nvSpPr>
        <p:spPr bwMode="auto">
          <a:xfrm>
            <a:off x="13271847" y="8010790"/>
            <a:ext cx="6125468" cy="1759232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850" b="0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Искусственные данные:</a:t>
            </a:r>
            <a:endParaRPr/>
          </a:p>
          <a:p>
            <a:pPr algn="l">
              <a:lnSpc>
                <a:spcPct val="118000"/>
              </a:lnSpc>
              <a:buNone/>
              <a:defRPr sz="2850" b="0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2 группы, 4 момента времени,</a:t>
            </a:r>
            <a:endParaRPr/>
          </a:p>
          <a:p>
            <a:pPr algn="l">
              <a:lnSpc>
                <a:spcPct val="118000"/>
              </a:lnSpc>
              <a:buNone/>
              <a:defRPr sz="2850" b="0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по 5 независимых повторов</a:t>
            </a:r>
            <a:endParaRPr/>
          </a:p>
        </p:txBody>
      </p:sp>
      <p:sp>
        <p:nvSpPr>
          <p:cNvPr id="7" name="s32-text-4"/>
          <p:cNvSpPr>
            <a:spLocks noGrp="1"/>
          </p:cNvSpPr>
          <p:nvPr/>
        </p:nvSpPr>
        <p:spPr bwMode="auto">
          <a:xfrm>
            <a:off x="942380" y="9722900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DataFrame из pandas хранит столбцы с именами. Seaborn использует эти имена в x, y и hue.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Seaborn: сравнение групп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33</a:t>
            </a:r>
            <a:endParaRPr/>
          </a:p>
        </p:txBody>
      </p:sp>
      <p:sp>
        <p:nvSpPr>
          <p:cNvPr id="3" name="s33-code-1"/>
          <p:cNvSpPr>
            <a:spLocks noGrp="1"/>
          </p:cNvSpPr>
          <p:nvPr/>
        </p:nvSpPr>
        <p:spPr bwMode="auto">
          <a:xfrm>
            <a:off x="942380" y="3125779"/>
            <a:ext cx="9957812" cy="3745908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fig, ax = plt.subplots(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figsize=(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6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4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), layout=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"constrained"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sns.scatterplot(data=df, x=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"t"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y=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"signal"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hue=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"group"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style=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"group"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s=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70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palette=[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"cyan"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"orange"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], ax=ax)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ax.set(xlabel=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"t, с"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ylabel=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"S, мВ"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ax.legend(title=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"Группа"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plt.show()</a:t>
            </a:r>
            <a:endParaRPr/>
          </a:p>
        </p:txBody>
      </p:sp>
      <p:pic>
        <p:nvPicPr>
          <p:cNvPr id="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837366" y="3254257"/>
            <a:ext cx="8638480" cy="5758987"/>
          </a:xfrm>
          <a:prstGeom prst="rect">
            <a:avLst/>
          </a:prstGeom>
        </p:spPr>
      </p:pic>
      <p:sp>
        <p:nvSpPr>
          <p:cNvPr id="5" name="s33-text-3"/>
          <p:cNvSpPr>
            <a:spLocks noGrp="1"/>
          </p:cNvSpPr>
          <p:nvPr/>
        </p:nvSpPr>
        <p:spPr bwMode="auto">
          <a:xfrm>
            <a:off x="942380" y="7790886"/>
            <a:ext cx="9816455" cy="172781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850" b="0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hue задаёт цвет</a:t>
            </a:r>
            <a:endParaRPr/>
          </a:p>
          <a:p>
            <a:pPr algn="l">
              <a:lnSpc>
                <a:spcPct val="118000"/>
              </a:lnSpc>
              <a:buNone/>
              <a:defRPr sz="2850" b="0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style задаёт тип маркера</a:t>
            </a:r>
            <a:endParaRPr/>
          </a:p>
          <a:p>
            <a:pPr algn="l">
              <a:lnSpc>
                <a:spcPct val="118000"/>
              </a:lnSpc>
              <a:buNone/>
              <a:defRPr sz="2850" b="0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ax связывает Seaborn с Matplotlib</a:t>
            </a:r>
            <a:endParaRPr/>
          </a:p>
        </p:txBody>
      </p:sp>
      <p:sp>
        <p:nvSpPr>
          <p:cNvPr id="6" name="s33-text-4"/>
          <p:cNvSpPr>
            <a:spLocks noGrp="1"/>
          </p:cNvSpPr>
          <p:nvPr/>
        </p:nvSpPr>
        <p:spPr bwMode="auto">
          <a:xfrm>
            <a:off x="942380" y="9722900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scatterplot показывает исходные наблюдения. Цвет и форма помогают различать группы.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Seaborn: распределения по группам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34</a:t>
            </a:r>
            <a:endParaRPr/>
          </a:p>
        </p:txBody>
      </p:sp>
      <p:sp>
        <p:nvSpPr>
          <p:cNvPr id="3" name="s34-code-1"/>
          <p:cNvSpPr>
            <a:spLocks noGrp="1"/>
          </p:cNvSpPr>
          <p:nvPr/>
        </p:nvSpPr>
        <p:spPr bwMode="auto">
          <a:xfrm>
            <a:off x="942380" y="2952997"/>
            <a:ext cx="10256232" cy="5303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part = df.query(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"t == 3"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fig, ax = plt.subplots(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figsize=(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6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4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), layout=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"constrained"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sns.boxplot(data=part, x=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"group"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y=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"signal"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color=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"gray"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width=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0.5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medianprops={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"color"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: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"white"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},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showfliers=</a:t>
            </a:r>
            <a:r>
              <a:rPr>
                <a:solidFill>
                  <a:srgbClr val="70CDEE"/>
                </a:solidFill>
                <a:latin typeface="DejaVu Sans Mono"/>
                <a:ea typeface="DejaVu Sans Mono"/>
                <a:cs typeface="DejaVu Sans Mono"/>
              </a:rPr>
              <a:t>False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ax=ax)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sns.swarmplot(data=part, x=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"group"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y=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"signal"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color=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"cyan"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size=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7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ax=ax)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ax.set(xlabel=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"Группа"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ylabel=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"S, мВ"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   title=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"Измерения при t = 3 с"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plt.show()</a:t>
            </a:r>
            <a:endParaRPr/>
          </a:p>
        </p:txBody>
      </p:sp>
      <p:pic>
        <p:nvPicPr>
          <p:cNvPr id="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837366" y="3254257"/>
            <a:ext cx="8638480" cy="5758987"/>
          </a:xfrm>
          <a:prstGeom prst="rect">
            <a:avLst/>
          </a:prstGeom>
        </p:spPr>
      </p:pic>
      <p:sp>
        <p:nvSpPr>
          <p:cNvPr id="5" name="s34-text-3"/>
          <p:cNvSpPr>
            <a:spLocks noGrp="1"/>
          </p:cNvSpPr>
          <p:nvPr/>
        </p:nvSpPr>
        <p:spPr bwMode="auto">
          <a:xfrm>
            <a:off x="942380" y="9722900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Коробка показывает медиану и межквартильный размах.</a:t>
            </a:r>
            <a:endParaRPr/>
          </a:p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Точки сохраняют видимость всех пяти наблюдений в группе.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Seaborn: усреднение в lineplot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35</a:t>
            </a:r>
            <a:endParaRPr/>
          </a:p>
        </p:txBody>
      </p:sp>
      <p:sp>
        <p:nvSpPr>
          <p:cNvPr id="3" name="s35-code-1"/>
          <p:cNvSpPr>
            <a:spLocks noGrp="1"/>
          </p:cNvSpPr>
          <p:nvPr/>
        </p:nvSpPr>
        <p:spPr bwMode="auto">
          <a:xfrm>
            <a:off x="942380" y="2937290"/>
            <a:ext cx="9989224" cy="465097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fig, ax = plt.subplots(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figsize=(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6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4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), layout=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"constrained"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sns.lineplot(data=df, x=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"t"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y=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"signal"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hue=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"group"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estimator=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"mean"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errorbar=(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"ci"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95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), seed=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7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palette=[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"cyan"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"orange"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marker=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"o"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ax=ax)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ax.set(xlabel=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"t, с"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ylabel=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"S, мВ"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ax.legend(title=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"Группа"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6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plt.show()</a:t>
            </a:r>
            <a:endParaRPr/>
          </a:p>
        </p:txBody>
      </p:sp>
      <p:pic>
        <p:nvPicPr>
          <p:cNvPr id="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837366" y="3254257"/>
            <a:ext cx="8638480" cy="5758987"/>
          </a:xfrm>
          <a:prstGeom prst="rect">
            <a:avLst/>
          </a:prstGeom>
        </p:spPr>
      </p:pic>
      <p:sp>
        <p:nvSpPr>
          <p:cNvPr id="5" name="s35-text-3"/>
          <p:cNvSpPr>
            <a:spLocks noGrp="1"/>
          </p:cNvSpPr>
          <p:nvPr/>
        </p:nvSpPr>
        <p:spPr bwMode="auto">
          <a:xfrm>
            <a:off x="942380" y="9581533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При повторяющемся x по умолчанию видим среднее и 95%-й ДИ.</a:t>
            </a:r>
            <a:endParaRPr/>
          </a:p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errorbar="sd" показывает разброс, None убирает интервал.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Seaborn и несколько Axes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36</a:t>
            </a:r>
            <a:endParaRPr/>
          </a:p>
        </p:txBody>
      </p:sp>
      <p:sp>
        <p:nvSpPr>
          <p:cNvPr id="3" name="s36-code-1"/>
          <p:cNvSpPr>
            <a:spLocks noGrp="1"/>
          </p:cNvSpPr>
          <p:nvPr/>
        </p:nvSpPr>
        <p:spPr bwMode="auto">
          <a:xfrm>
            <a:off x="942380" y="2921581"/>
            <a:ext cx="10146288" cy="5303457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fig, axs = plt.subplots(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2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figsize=(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7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4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layout=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"constrained"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sns.scatterplot(data=df, x=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"t"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y=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"signal"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hue=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"group"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ax=axs[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sns.histplot(data=df, x=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"signal"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hue=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"group"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ax=axs[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], bins=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8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    element=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"step"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legend=</a:t>
            </a:r>
            <a:r>
              <a:rPr>
                <a:solidFill>
                  <a:srgbClr val="70CDEE"/>
                </a:solidFill>
                <a:latin typeface="DejaVu Sans Mono"/>
                <a:ea typeface="DejaVu Sans Mono"/>
                <a:cs typeface="DejaVu Sans Mono"/>
              </a:rPr>
              <a:t>False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axs[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].set(xlabel=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"t, с"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ylabel=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"S, мВ"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axs[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0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].legend(title=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"Группа"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axs[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1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].set(xlabel=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"S, мВ"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, ylabel=</a:t>
            </a:r>
            <a:r>
              <a:rPr>
                <a:solidFill>
                  <a:srgbClr val="FFD166"/>
                </a:solidFill>
                <a:latin typeface="DejaVu Sans Mono"/>
                <a:ea typeface="DejaVu Sans Mono"/>
                <a:cs typeface="DejaVu Sans Mono"/>
              </a:rPr>
              <a:t>"Число"</a:t>
            </a: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)</a:t>
            </a:r>
            <a:endParaRPr/>
          </a:p>
          <a:p>
            <a:pPr algn="l">
              <a:spcBef>
                <a:spcPts val="0"/>
              </a:spcBef>
              <a:spcAft>
                <a:spcPts val="0"/>
              </a:spcAft>
              <a:defRPr sz="2550" b="0"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defRPr>
            </a:pPr>
            <a:r>
              <a:rPr>
                <a:solidFill>
                  <a:srgbClr val="F2F4F7"/>
                </a:solidFill>
                <a:latin typeface="DejaVu Sans Mono"/>
                <a:ea typeface="DejaVu Sans Mono"/>
                <a:cs typeface="DejaVu Sans Mono"/>
              </a:rPr>
              <a:t>plt.show()</a:t>
            </a:r>
            <a:endParaRPr/>
          </a:p>
        </p:txBody>
      </p:sp>
      <p:pic>
        <p:nvPicPr>
          <p:cNvPr id="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0837366" y="3665614"/>
            <a:ext cx="8638480" cy="4936275"/>
          </a:xfrm>
          <a:prstGeom prst="rect">
            <a:avLst/>
          </a:prstGeom>
        </p:spPr>
      </p:pic>
      <p:sp>
        <p:nvSpPr>
          <p:cNvPr id="5" name="s36-text-3"/>
          <p:cNvSpPr>
            <a:spLocks noGrp="1"/>
          </p:cNvSpPr>
          <p:nvPr/>
        </p:nvSpPr>
        <p:spPr bwMode="auto">
          <a:xfrm>
            <a:off x="942380" y="9707192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6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scatterplot, histplot и boxplot принимают ax. relplot, displot и catplot создают собственную фигуру.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Практика: график функции sin²(t)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37</a:t>
            </a:r>
            <a:endParaRPr/>
          </a:p>
        </p:txBody>
      </p:sp>
      <p:sp>
        <p:nvSpPr>
          <p:cNvPr id="3" name="s37-text-1"/>
          <p:cNvSpPr>
            <a:spLocks noGrp="1"/>
          </p:cNvSpPr>
          <p:nvPr/>
        </p:nvSpPr>
        <p:spPr bwMode="auto">
          <a:xfrm>
            <a:off x="942380" y="2607433"/>
            <a:ext cx="1413570" cy="94244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95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95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01</a:t>
            </a:r>
            <a:endParaRPr/>
          </a:p>
        </p:txBody>
      </p:sp>
      <p:sp>
        <p:nvSpPr>
          <p:cNvPr id="4" name="s37-text-2"/>
          <p:cNvSpPr>
            <a:spLocks noGrp="1"/>
          </p:cNvSpPr>
          <p:nvPr/>
        </p:nvSpPr>
        <p:spPr bwMode="auto">
          <a:xfrm>
            <a:off x="2591544" y="2607433"/>
            <a:ext cx="16334581" cy="138225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100 точек от 0 до 2π, включая оба края.</a:t>
            </a:r>
            <a:endParaRPr/>
          </a:p>
          <a:p>
            <a:pPr algn="l">
              <a:lnSpc>
                <a:spcPct val="118000"/>
              </a:lnSpc>
              <a:buNone/>
              <a:def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Вычислите y = np.sin(t)**2.</a:t>
            </a:r>
            <a:endParaRPr/>
          </a:p>
        </p:txBody>
      </p:sp>
      <p:sp>
        <p:nvSpPr>
          <p:cNvPr id="5" name="s37-text-3"/>
          <p:cNvSpPr>
            <a:spLocks noGrp="1"/>
          </p:cNvSpPr>
          <p:nvPr/>
        </p:nvSpPr>
        <p:spPr bwMode="auto">
          <a:xfrm>
            <a:off x="942380" y="4288129"/>
            <a:ext cx="1413570" cy="94244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95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95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02</a:t>
            </a:r>
            <a:endParaRPr/>
          </a:p>
        </p:txBody>
      </p:sp>
      <p:sp>
        <p:nvSpPr>
          <p:cNvPr id="6" name="s37-text-4"/>
          <p:cNvSpPr>
            <a:spLocks noGrp="1"/>
          </p:cNvSpPr>
          <p:nvPr/>
        </p:nvSpPr>
        <p:spPr bwMode="auto">
          <a:xfrm>
            <a:off x="2591544" y="4288129"/>
            <a:ext cx="16334581" cy="138225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Красная штрихпунктирная линия и 20 синих маркеров.</a:t>
            </a:r>
            <a:endParaRPr/>
          </a:p>
          <a:p>
            <a:pPr algn="l">
              <a:lnSpc>
                <a:spcPct val="118000"/>
              </a:lnSpc>
              <a:buNone/>
              <a:def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Включите маркеры в обеих крайних точках.</a:t>
            </a:r>
            <a:endParaRPr/>
          </a:p>
        </p:txBody>
      </p:sp>
      <p:sp>
        <p:nvSpPr>
          <p:cNvPr id="7" name="s37-text-5"/>
          <p:cNvSpPr>
            <a:spLocks noGrp="1"/>
          </p:cNvSpPr>
          <p:nvPr/>
        </p:nvSpPr>
        <p:spPr bwMode="auto">
          <a:xfrm>
            <a:off x="942380" y="5968824"/>
            <a:ext cx="1413570" cy="94244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95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95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03</a:t>
            </a:r>
            <a:endParaRPr/>
          </a:p>
        </p:txBody>
      </p:sp>
      <p:sp>
        <p:nvSpPr>
          <p:cNvPr id="8" name="s37-text-6"/>
          <p:cNvSpPr>
            <a:spLocks noGrp="1"/>
          </p:cNvSpPr>
          <p:nvPr/>
        </p:nvSpPr>
        <p:spPr bwMode="auto">
          <a:xfrm>
            <a:off x="2591544" y="5968824"/>
            <a:ext cx="16334581" cy="138225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Подписи осей, деления 0, π, 2π и аннотация максимума.</a:t>
            </a:r>
            <a:endParaRPr/>
          </a:p>
        </p:txBody>
      </p:sp>
      <p:sp>
        <p:nvSpPr>
          <p:cNvPr id="9" name="s37-text-7"/>
          <p:cNvSpPr>
            <a:spLocks noGrp="1"/>
          </p:cNvSpPr>
          <p:nvPr/>
        </p:nvSpPr>
        <p:spPr bwMode="auto">
          <a:xfrm>
            <a:off x="942380" y="7649519"/>
            <a:ext cx="1413570" cy="94244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95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95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04</a:t>
            </a:r>
            <a:endParaRPr/>
          </a:p>
        </p:txBody>
      </p:sp>
      <p:sp>
        <p:nvSpPr>
          <p:cNvPr id="10" name="s37-text-8"/>
          <p:cNvSpPr>
            <a:spLocks noGrp="1"/>
          </p:cNvSpPr>
          <p:nvPr/>
        </p:nvSpPr>
        <p:spPr bwMode="auto">
          <a:xfrm>
            <a:off x="2591544" y="7649519"/>
            <a:ext cx="16334581" cy="1382254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Сохраните PNG размером 900 × 600 px и файл SVG.</a:t>
            </a:r>
            <a:endParaRPr/>
          </a:p>
        </p:txBody>
      </p:sp>
      <p:sp>
        <p:nvSpPr>
          <p:cNvPr id="11" name="s37-text-9"/>
          <p:cNvSpPr>
            <a:spLocks noGrp="1"/>
          </p:cNvSpPr>
          <p:nvPr/>
        </p:nvSpPr>
        <p:spPr bwMode="auto">
          <a:xfrm>
            <a:off x="942380" y="9691485"/>
            <a:ext cx="3690987" cy="62829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85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2850" b="1">
                <a:solidFill>
                  <a:srgbClr val="7DDD9D"/>
                </a:solidFill>
                <a:latin typeface="DejaVu Sans"/>
                <a:ea typeface="DejaVu Sans"/>
                <a:cs typeface="DejaVu Sans"/>
              </a:rPr>
              <a:t>Дополнительно</a:t>
            </a:r>
            <a:endParaRPr/>
          </a:p>
        </p:txBody>
      </p:sp>
      <p:sp>
        <p:nvSpPr>
          <p:cNvPr id="12" name="s37-text-10"/>
          <p:cNvSpPr>
            <a:spLocks noGrp="1"/>
          </p:cNvSpPr>
          <p:nvPr/>
        </p:nvSpPr>
        <p:spPr bwMode="auto">
          <a:xfrm>
            <a:off x="4868962" y="9691485"/>
            <a:ext cx="14135695" cy="94244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85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285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Сравните две группы измерений с помощью Seaborn.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solidFill>
          <a:srgbClr val="000000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" name="slide-title"/>
          <p:cNvSpPr>
            <a:spLocks noGrp="1"/>
          </p:cNvSpPr>
          <p:nvPr/>
        </p:nvSpPr>
        <p:spPr bwMode="auto">
          <a:xfrm>
            <a:off x="942380" y="706834"/>
            <a:ext cx="18376404" cy="119376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52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Документация и примеры</a:t>
            </a:r>
            <a:endParaRPr/>
          </a:p>
        </p:txBody>
      </p:sp>
      <p:sp>
        <p:nvSpPr>
          <p:cNvPr id="2" name="slide-number"/>
          <p:cNvSpPr>
            <a:spLocks noGrp="1"/>
          </p:cNvSpPr>
          <p:nvPr/>
        </p:nvSpPr>
        <p:spPr bwMode="auto">
          <a:xfrm>
            <a:off x="18690530" y="10728175"/>
            <a:ext cx="706785" cy="392686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185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38</a:t>
            </a:r>
            <a:endParaRPr/>
          </a:p>
        </p:txBody>
      </p:sp>
      <p:sp>
        <p:nvSpPr>
          <p:cNvPr id="3" name="s38-text-1"/>
          <p:cNvSpPr>
            <a:spLocks noGrp="1"/>
          </p:cNvSpPr>
          <p:nvPr/>
        </p:nvSpPr>
        <p:spPr bwMode="auto">
          <a:xfrm>
            <a:off x="942380" y="2670263"/>
            <a:ext cx="17434024" cy="7539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70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700" b="1" u="sng">
                <a:solidFill>
                  <a:srgbClr val="7DDD9D"/>
                </a:solidFill>
                <a:latin typeface="DejaVu Sans"/>
                <a:ea typeface="DejaVu Sans"/>
                <a:cs typeface="DejaVu Sans"/>
                <a:hlinkClick r:id="rId3" tooltip="https://numpy.org/doc/stable/user/absolute_beginners.html"/>
              </a:rPr>
              <a:t>NumPy: основы массивов</a:t>
            </a:r>
            <a:endParaRPr/>
          </a:p>
        </p:txBody>
      </p:sp>
      <p:sp>
        <p:nvSpPr>
          <p:cNvPr id="4" name="s38-text-2"/>
          <p:cNvSpPr>
            <a:spLocks noGrp="1"/>
          </p:cNvSpPr>
          <p:nvPr/>
        </p:nvSpPr>
        <p:spPr bwMode="auto">
          <a:xfrm>
            <a:off x="942380" y="3565587"/>
            <a:ext cx="17434024" cy="9110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Форма, типы данных, индексирование и вычисления</a:t>
            </a:r>
            <a:endParaRPr/>
          </a:p>
        </p:txBody>
      </p:sp>
      <p:sp>
        <p:nvSpPr>
          <p:cNvPr id="5" name="s38-text-3"/>
          <p:cNvSpPr>
            <a:spLocks noGrp="1"/>
          </p:cNvSpPr>
          <p:nvPr/>
        </p:nvSpPr>
        <p:spPr bwMode="auto">
          <a:xfrm>
            <a:off x="942380" y="4555155"/>
            <a:ext cx="17434024" cy="7539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70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700" b="1" u="sng">
                <a:solidFill>
                  <a:srgbClr val="7DDD9D"/>
                </a:solidFill>
                <a:latin typeface="DejaVu Sans"/>
                <a:ea typeface="DejaVu Sans"/>
                <a:cs typeface="DejaVu Sans"/>
                <a:hlinkClick r:id="rId4" tooltip="https://matplotlib.org/stable/users/explain/quick_start.html"/>
              </a:rPr>
              <a:t>Matplotlib: Quick start guide</a:t>
            </a:r>
            <a:endParaRPr/>
          </a:p>
        </p:txBody>
      </p:sp>
      <p:sp>
        <p:nvSpPr>
          <p:cNvPr id="6" name="s38-text-4"/>
          <p:cNvSpPr>
            <a:spLocks noGrp="1"/>
          </p:cNvSpPr>
          <p:nvPr/>
        </p:nvSpPr>
        <p:spPr bwMode="auto">
          <a:xfrm>
            <a:off x="942380" y="5450478"/>
            <a:ext cx="17434024" cy="9110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Figure, Axes, оформление и основные виды графиков</a:t>
            </a:r>
            <a:endParaRPr/>
          </a:p>
        </p:txBody>
      </p:sp>
      <p:sp>
        <p:nvSpPr>
          <p:cNvPr id="7" name="s38-text-5"/>
          <p:cNvSpPr>
            <a:spLocks noGrp="1"/>
          </p:cNvSpPr>
          <p:nvPr/>
        </p:nvSpPr>
        <p:spPr bwMode="auto">
          <a:xfrm>
            <a:off x="942380" y="6440047"/>
            <a:ext cx="17434024" cy="7539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700" b="1">
                <a:solidFill>
                  <a:srgbClr val="7DDD9D"/>
                </a:solidFill>
                <a:latin typeface="DejaVu Sans"/>
                <a:ea typeface="DejaVu Sans"/>
                <a:cs typeface="DejaVu Sans"/>
              </a:defRPr>
            </a:pPr>
            <a:r>
              <a:rPr sz="3700" b="1" u="sng">
                <a:solidFill>
                  <a:srgbClr val="7DDD9D"/>
                </a:solidFill>
                <a:latin typeface="DejaVu Sans"/>
                <a:ea typeface="DejaVu Sans"/>
                <a:cs typeface="DejaVu Sans"/>
                <a:hlinkClick r:id="rId5" tooltip="https://seaborn.pydata.org/tutorial.html"/>
              </a:rPr>
              <a:t>Seaborn: руководства</a:t>
            </a:r>
            <a:endParaRPr/>
          </a:p>
        </p:txBody>
      </p:sp>
      <p:sp>
        <p:nvSpPr>
          <p:cNvPr id="8" name="s38-text-6"/>
          <p:cNvSpPr>
            <a:spLocks noGrp="1"/>
          </p:cNvSpPr>
          <p:nvPr/>
        </p:nvSpPr>
        <p:spPr bwMode="auto">
          <a:xfrm>
            <a:off x="942380" y="7335370"/>
            <a:ext cx="17434024" cy="911031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defRPr>
            </a:pPr>
            <a:r>
              <a:rPr sz="3100" b="0">
                <a:solidFill>
                  <a:srgbClr val="F2F4F7"/>
                </a:solidFill>
                <a:latin typeface="DejaVu Sans"/>
                <a:ea typeface="DejaVu Sans"/>
                <a:cs typeface="DejaVu Sans"/>
              </a:rPr>
              <a:t>Длинный формат данных, группы и статистические графики</a:t>
            </a:r>
            <a:endParaRPr/>
          </a:p>
        </p:txBody>
      </p:sp>
      <p:sp>
        <p:nvSpPr>
          <p:cNvPr id="9" name="s38-text-7"/>
          <p:cNvSpPr>
            <a:spLocks noGrp="1"/>
          </p:cNvSpPr>
          <p:nvPr/>
        </p:nvSpPr>
        <p:spPr bwMode="auto">
          <a:xfrm>
            <a:off x="942380" y="9502995"/>
            <a:ext cx="18062277" cy="1178057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/>
          <a:p>
            <a:pPr algn="l">
              <a:lnSpc>
                <a:spcPct val="118000"/>
              </a:lnSpc>
              <a:buNone/>
              <a:defRPr sz="2700" b="0">
                <a:solidFill>
                  <a:srgbClr val="B1BAC7"/>
                </a:solidFill>
                <a:latin typeface="DejaVu Sans"/>
                <a:ea typeface="DejaVu Sans"/>
                <a:cs typeface="DejaVu Sans"/>
              </a:defRPr>
            </a:pPr>
            <a:r>
              <a:rPr sz="2700" b="0">
                <a:solidFill>
                  <a:srgbClr val="B1BAC7"/>
                </a:solidFill>
                <a:latin typeface="DejaVu Sans"/>
                <a:ea typeface="DejaVu Sans"/>
                <a:cs typeface="DejaVu Sans"/>
              </a:rPr>
              <a:t>Локальная справка: help(функция). Примеры Seaborn с errorbar требуют версии 0.12 или новее.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DejaVu Sans"/>
        <a:ea typeface="Arial"/>
        <a:cs typeface="Arial"/>
      </a:majorFont>
      <a:minorFont>
        <a:latin typeface="DejaVu San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DejaVu Sans"/>
        <a:ea typeface="Arial"/>
        <a:cs typeface="Arial"/>
      </a:majorFont>
      <a:minorFont>
        <a:latin typeface="DejaVu San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R7-Office/2024.1.1.375</Application>
  <DocSecurity>0</DocSecurity>
  <PresentationFormat/>
  <Paragraphs>0</Paragraphs>
  <Slides>38</Slides>
  <Notes>38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39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Walnut Exporter</dc:creator>
  <cp:keywords/>
  <dc:description/>
  <dc:identifier/>
  <dc:language/>
  <cp:lastModifiedBy>Александр Шарапаев</cp:lastModifiedBy>
  <cp:revision>1</cp:revision>
  <dcterms:created xsi:type="dcterms:W3CDTF">2026-09-22T21:10:16Z</dcterms:created>
  <dcterms:modified xsi:type="dcterms:W3CDTF">2026-09-25T12:00:13Z</dcterms:modified>
  <cp:category/>
  <cp:contentStatus/>
  <cp:version/>
</cp:coreProperties>
</file>