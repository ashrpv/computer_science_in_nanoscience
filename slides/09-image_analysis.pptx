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3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5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6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7e38133f404a40" /><Relationship Type="http://schemas.openxmlformats.org/officeDocument/2006/relationships/extended-properties" Target="/docProps/app.xml" Id="R57b50a47d1f741e3" /><Relationship Type="http://schemas.openxmlformats.org/officeDocument/2006/relationships/officeDocument" Target="/ppt/presentation.xml" Id="Rd8c94a056271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5622b02f349d1"/>
  </p:sldMasterIdLst>
  <p:notesMasterIdLst>
    <p:notesMasterId xmlns:r="http://schemas.openxmlformats.org/officeDocument/2006/relationships" r:id="R800ab8d5e27d4bf1"/>
  </p:notesMasterIdLst>
  <p:sldIdLst>
    <p:sldId xmlns:r="http://schemas.openxmlformats.org/officeDocument/2006/relationships" id="256" r:id="Rf580cc759f444d37"/>
    <p:sldId xmlns:r="http://schemas.openxmlformats.org/officeDocument/2006/relationships" id="257" r:id="R703b561a29de4274"/>
    <p:sldId xmlns:r="http://schemas.openxmlformats.org/officeDocument/2006/relationships" id="258" r:id="R52ad9f6e217d4645"/>
    <p:sldId xmlns:r="http://schemas.openxmlformats.org/officeDocument/2006/relationships" id="259" r:id="R25d779c3355f407d"/>
    <p:sldId xmlns:r="http://schemas.openxmlformats.org/officeDocument/2006/relationships" id="260" r:id="Rd9e4cf42f5a649b9"/>
    <p:sldId xmlns:r="http://schemas.openxmlformats.org/officeDocument/2006/relationships" id="261" r:id="Rc36cd0bef82747a5"/>
    <p:sldId xmlns:r="http://schemas.openxmlformats.org/officeDocument/2006/relationships" id="262" r:id="Rcaf4456ad53c4bbc"/>
    <p:sldId xmlns:r="http://schemas.openxmlformats.org/officeDocument/2006/relationships" id="263" r:id="R145d21d40b03458a"/>
    <p:sldId xmlns:r="http://schemas.openxmlformats.org/officeDocument/2006/relationships" id="264" r:id="Rda3ba2f637124f2b"/>
    <p:sldId xmlns:r="http://schemas.openxmlformats.org/officeDocument/2006/relationships" id="265" r:id="Rb491077b9af349e6"/>
    <p:sldId xmlns:r="http://schemas.openxmlformats.org/officeDocument/2006/relationships" id="266" r:id="Ra6a3b44f662e45c5"/>
    <p:sldId xmlns:r="http://schemas.openxmlformats.org/officeDocument/2006/relationships" id="267" r:id="R1cfbb5533ab54628"/>
    <p:sldId xmlns:r="http://schemas.openxmlformats.org/officeDocument/2006/relationships" id="268" r:id="R49cf91b6f3e64e11"/>
    <p:sldId xmlns:r="http://schemas.openxmlformats.org/officeDocument/2006/relationships" id="269" r:id="Rde7eb189b7fc40fe"/>
    <p:sldId xmlns:r="http://schemas.openxmlformats.org/officeDocument/2006/relationships" id="270" r:id="R4086e16f07604ab4"/>
    <p:sldId xmlns:r="http://schemas.openxmlformats.org/officeDocument/2006/relationships" id="271" r:id="Rfb2d175b27624be4"/>
    <p:sldId xmlns:r="http://schemas.openxmlformats.org/officeDocument/2006/relationships" id="272" r:id="Re7923119a7324e93"/>
    <p:sldId xmlns:r="http://schemas.openxmlformats.org/officeDocument/2006/relationships" id="273" r:id="R663b64cd271348bd"/>
    <p:sldId xmlns:r="http://schemas.openxmlformats.org/officeDocument/2006/relationships" id="274" r:id="Rb478c8134de242fb"/>
    <p:sldId xmlns:r="http://schemas.openxmlformats.org/officeDocument/2006/relationships" id="275" r:id="R90d07a387eb14536"/>
    <p:sldId xmlns:r="http://schemas.openxmlformats.org/officeDocument/2006/relationships" id="276" r:id="Rd0dff83c26f94754"/>
    <p:sldId xmlns:r="http://schemas.openxmlformats.org/officeDocument/2006/relationships" id="277" r:id="R79dd05eddae54b78"/>
    <p:sldId xmlns:r="http://schemas.openxmlformats.org/officeDocument/2006/relationships" id="278" r:id="R4e74b1fde1c1437e"/>
    <p:sldId xmlns:r="http://schemas.openxmlformats.org/officeDocument/2006/relationships" id="279" r:id="Rcd23101c1c1d4a95"/>
    <p:sldId xmlns:r="http://schemas.openxmlformats.org/officeDocument/2006/relationships" id="280" r:id="R3b9887cc523149f6"/>
    <p:sldId xmlns:r="http://schemas.openxmlformats.org/officeDocument/2006/relationships" id="281" r:id="R7df36692418544d2"/>
    <p:sldId xmlns:r="http://schemas.openxmlformats.org/officeDocument/2006/relationships" id="282" r:id="Reb5ccfb5202746ab"/>
    <p:sldId xmlns:r="http://schemas.openxmlformats.org/officeDocument/2006/relationships" id="283" r:id="Ra11936cf36164d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471595e1c949b6" /><Relationship Type="http://schemas.openxmlformats.org/officeDocument/2006/relationships/slideMaster" Target="/ppt/slideMasters/slideMaster1.xml" Id="R7b25622b02f349d1" /><Relationship Type="http://schemas.openxmlformats.org/officeDocument/2006/relationships/notesMaster" Target="/ppt/notesMasters/notesMaster1.xml" Id="R800ab8d5e27d4bf1" /><Relationship Type="http://schemas.openxmlformats.org/officeDocument/2006/relationships/presProps" Target="/ppt/presProps.xml" Id="R4384975394dd422a" /><Relationship Type="http://schemas.openxmlformats.org/officeDocument/2006/relationships/tableStyles" Target="/ppt/tableStyles.xml" Id="Rb3e299d22d594371" /><Relationship Type="http://schemas.openxmlformats.org/officeDocument/2006/relationships/slide" Target="/ppt/slides/slide1.xml" Id="Rf580cc759f444d37" /><Relationship Type="http://schemas.openxmlformats.org/officeDocument/2006/relationships/slide" Target="/ppt/slides/slide2.xml" Id="R703b561a29de4274" /><Relationship Type="http://schemas.openxmlformats.org/officeDocument/2006/relationships/slide" Target="/ppt/slides/slide3.xml" Id="R52ad9f6e217d4645" /><Relationship Type="http://schemas.openxmlformats.org/officeDocument/2006/relationships/slide" Target="/ppt/slides/slide4.xml" Id="R25d779c3355f407d" /><Relationship Type="http://schemas.openxmlformats.org/officeDocument/2006/relationships/slide" Target="/ppt/slides/slide5.xml" Id="Rd9e4cf42f5a649b9" /><Relationship Type="http://schemas.openxmlformats.org/officeDocument/2006/relationships/slide" Target="/ppt/slides/slide6.xml" Id="Rc36cd0bef82747a5" /><Relationship Type="http://schemas.openxmlformats.org/officeDocument/2006/relationships/slide" Target="/ppt/slides/slide7.xml" Id="Rcaf4456ad53c4bbc" /><Relationship Type="http://schemas.openxmlformats.org/officeDocument/2006/relationships/slide" Target="/ppt/slides/slide8.xml" Id="R145d21d40b03458a" /><Relationship Type="http://schemas.openxmlformats.org/officeDocument/2006/relationships/slide" Target="/ppt/slides/slide9.xml" Id="Rda3ba2f637124f2b" /><Relationship Type="http://schemas.openxmlformats.org/officeDocument/2006/relationships/slide" Target="/ppt/slides/slide10.xml" Id="Rb491077b9af349e6" /><Relationship Type="http://schemas.openxmlformats.org/officeDocument/2006/relationships/slide" Target="/ppt/slides/slide11.xml" Id="Ra6a3b44f662e45c5" /><Relationship Type="http://schemas.openxmlformats.org/officeDocument/2006/relationships/slide" Target="/ppt/slides/slide12.xml" Id="R1cfbb5533ab54628" /><Relationship Type="http://schemas.openxmlformats.org/officeDocument/2006/relationships/slide" Target="/ppt/slides/slide13.xml" Id="R49cf91b6f3e64e11" /><Relationship Type="http://schemas.openxmlformats.org/officeDocument/2006/relationships/slide" Target="/ppt/slides/slide14.xml" Id="Rde7eb189b7fc40fe" /><Relationship Type="http://schemas.openxmlformats.org/officeDocument/2006/relationships/slide" Target="/ppt/slides/slide15.xml" Id="R4086e16f07604ab4" /><Relationship Type="http://schemas.openxmlformats.org/officeDocument/2006/relationships/slide" Target="/ppt/slides/slide16.xml" Id="Rfb2d175b27624be4" /><Relationship Type="http://schemas.openxmlformats.org/officeDocument/2006/relationships/slide" Target="/ppt/slides/slide17.xml" Id="Re7923119a7324e93" /><Relationship Type="http://schemas.openxmlformats.org/officeDocument/2006/relationships/slide" Target="/ppt/slides/slide18.xml" Id="R663b64cd271348bd" /><Relationship Type="http://schemas.openxmlformats.org/officeDocument/2006/relationships/slide" Target="/ppt/slides/slide19.xml" Id="Rb478c8134de242fb" /><Relationship Type="http://schemas.openxmlformats.org/officeDocument/2006/relationships/slide" Target="/ppt/slides/slide20.xml" Id="R90d07a387eb14536" /><Relationship Type="http://schemas.openxmlformats.org/officeDocument/2006/relationships/slide" Target="/ppt/slides/slide21.xml" Id="Rd0dff83c26f94754" /><Relationship Type="http://schemas.openxmlformats.org/officeDocument/2006/relationships/slide" Target="/ppt/slides/slide22.xml" Id="R79dd05eddae54b78" /><Relationship Type="http://schemas.openxmlformats.org/officeDocument/2006/relationships/slide" Target="/ppt/slides/slide23.xml" Id="R4e74b1fde1c1437e" /><Relationship Type="http://schemas.openxmlformats.org/officeDocument/2006/relationships/slide" Target="/ppt/slides/slide24.xml" Id="Rcd23101c1c1d4a95" /><Relationship Type="http://schemas.openxmlformats.org/officeDocument/2006/relationships/slide" Target="/ppt/slides/slide25.xml" Id="R3b9887cc523149f6" /><Relationship Type="http://schemas.openxmlformats.org/officeDocument/2006/relationships/slide" Target="/ppt/slides/slide26.xml" Id="R7df36692418544d2" /><Relationship Type="http://schemas.openxmlformats.org/officeDocument/2006/relationships/slide" Target="/ppt/slides/slide27.xml" Id="Reb5ccfb5202746ab" /><Relationship Type="http://schemas.openxmlformats.org/officeDocument/2006/relationships/slide" Target="/ppt/slides/slide28.xml" Id="Ra11936cf3616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9f52ec66f6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7a7ab5d28e475f" /><Relationship Type="http://schemas.openxmlformats.org/officeDocument/2006/relationships/notesMaster" Target="/ppt/notesMasters/notesMaster1.xml" Id="R7315237bacf641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ccb63ac75498f" /><Relationship Type="http://schemas.openxmlformats.org/officeDocument/2006/relationships/notesMaster" Target="/ppt/notesMasters/notesMaster1.xml" Id="R7e1180b1b1b34c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1d72a10f904c18" /><Relationship Type="http://schemas.openxmlformats.org/officeDocument/2006/relationships/notesMaster" Target="/ppt/notesMasters/notesMaster1.xml" Id="R80edb9b657514f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e160fd89549a6" /><Relationship Type="http://schemas.openxmlformats.org/officeDocument/2006/relationships/notesMaster" Target="/ppt/notesMasters/notesMaster1.xml" Id="Rf20347426fca46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2b725128b3434d" /><Relationship Type="http://schemas.openxmlformats.org/officeDocument/2006/relationships/notesMaster" Target="/ppt/notesMasters/notesMaster1.xml" Id="R32d4879ebc634d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d25d2b4c0640dc" /><Relationship Type="http://schemas.openxmlformats.org/officeDocument/2006/relationships/notesMaster" Target="/ppt/notesMasters/notesMaster1.xml" Id="R67cf41da342744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ef6722dcbf41e0" /><Relationship Type="http://schemas.openxmlformats.org/officeDocument/2006/relationships/notesMaster" Target="/ppt/notesMasters/notesMaster1.xml" Id="Re970498879f444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167012d0f94c3c" /><Relationship Type="http://schemas.openxmlformats.org/officeDocument/2006/relationships/notesMaster" Target="/ppt/notesMasters/notesMaster1.xml" Id="Rfb212990408c45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ffd62844df4118" /><Relationship Type="http://schemas.openxmlformats.org/officeDocument/2006/relationships/notesMaster" Target="/ppt/notesMasters/notesMaster1.xml" Id="R3f1dcd0350b649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6a0f0cfd38486b" /><Relationship Type="http://schemas.openxmlformats.org/officeDocument/2006/relationships/notesMaster" Target="/ppt/notesMasters/notesMaster1.xml" Id="R1dda4f5eec4540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c913a44edd4d74" /><Relationship Type="http://schemas.openxmlformats.org/officeDocument/2006/relationships/notesMaster" Target="/ppt/notesMasters/notesMaster1.xml" Id="Rb86a1fa2ec5c4c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96b3ca5be4425d" /><Relationship Type="http://schemas.openxmlformats.org/officeDocument/2006/relationships/notesMaster" Target="/ppt/notesMasters/notesMaster1.xml" Id="R82fff4b0346944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588882bf4c469b" /><Relationship Type="http://schemas.openxmlformats.org/officeDocument/2006/relationships/notesMaster" Target="/ppt/notesMasters/notesMaster1.xml" Id="Re63a5591889f4e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b901b3bb1e4bd9" /><Relationship Type="http://schemas.openxmlformats.org/officeDocument/2006/relationships/notesMaster" Target="/ppt/notesMasters/notesMaster1.xml" Id="Rc1aebc3e315f48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1de34896744a05" /><Relationship Type="http://schemas.openxmlformats.org/officeDocument/2006/relationships/notesMaster" Target="/ppt/notesMasters/notesMaster1.xml" Id="R73792e97f0f748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968099aea14e09" /><Relationship Type="http://schemas.openxmlformats.org/officeDocument/2006/relationships/notesMaster" Target="/ppt/notesMasters/notesMaster1.xml" Id="R04e996a27c3241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3fda3f9cd44af7" /><Relationship Type="http://schemas.openxmlformats.org/officeDocument/2006/relationships/notesMaster" Target="/ppt/notesMasters/notesMaster1.xml" Id="R3ec911fac52d41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24cd4aac494f81" /><Relationship Type="http://schemas.openxmlformats.org/officeDocument/2006/relationships/notesMaster" Target="/ppt/notesMasters/notesMaster1.xml" Id="Rd34601be3aa143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da3817366642e3" /><Relationship Type="http://schemas.openxmlformats.org/officeDocument/2006/relationships/notesMaster" Target="/ppt/notesMasters/notesMaster1.xml" Id="R73f77b3380104b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3d66f795304ae9" /><Relationship Type="http://schemas.openxmlformats.org/officeDocument/2006/relationships/notesMaster" Target="/ppt/notesMasters/notesMaster1.xml" Id="Rd6c1f29a09e347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54feeb6a1a4978" /><Relationship Type="http://schemas.openxmlformats.org/officeDocument/2006/relationships/notesMaster" Target="/ppt/notesMasters/notesMaster1.xml" Id="R4373741472d245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93bc7ba49ac41d5" /><Relationship Type="http://schemas.openxmlformats.org/officeDocument/2006/relationships/notesMaster" Target="/ppt/notesMasters/notesMaster1.xml" Id="Rd48626ec2ac242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36fdfe46094f14" /><Relationship Type="http://schemas.openxmlformats.org/officeDocument/2006/relationships/notesMaster" Target="/ppt/notesMasters/notesMaster1.xml" Id="R9654ddb3243042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97d19d54c44b82" /><Relationship Type="http://schemas.openxmlformats.org/officeDocument/2006/relationships/notesMaster" Target="/ppt/notesMasters/notesMaster1.xml" Id="R4e2b2c9ad7ee47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5570e3d65454054" /><Relationship Type="http://schemas.openxmlformats.org/officeDocument/2006/relationships/notesMaster" Target="/ppt/notesMasters/notesMaster1.xml" Id="R48d772aaacad489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66708770b44ceb" /><Relationship Type="http://schemas.openxmlformats.org/officeDocument/2006/relationships/notesMaster" Target="/ppt/notesMasters/notesMaster1.xml" Id="R75b2feaa8bde4a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83dcc6cd43434d" /><Relationship Type="http://schemas.openxmlformats.org/officeDocument/2006/relationships/notesMaster" Target="/ppt/notesMasters/notesMaster1.xml" Id="Raa1c7d33e4cc47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79bf3f49424ccf" /><Relationship Type="http://schemas.openxmlformats.org/officeDocument/2006/relationships/notesMaster" Target="/ppt/notesMasters/notesMaster1.xml" Id="R3187b0f80eb6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 «Обработка изображений - презентация», исходный слайд 37, image57.jpg.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презентация, исходный слайд 23/26, image33.png. Формулы показывают пересчёт длины и площади из пикселей.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Линейное приближение распространения относительной ошибки масштаба: для величины s^k вклад масштаба приблизительно умножается на k при малой ошибке.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презентация, исходный слайд 35, image55.jpg.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презентация, исходный слайд 24, image35.png. Иллюстративная гистограмма. scikit-image thresholding guide: https://scikit-image.org/docs/stable/auto_examples/applications/plot_thresholding_guide.html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Изображения: приложенная презентация, исходный слайд 38, image59.jpg и image60.jpg. Сравнение принципов локального и глобального порога: https://scikit-image.org/docs/stable/auto_examples/applications/plot_rank_filters.html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презентация, исходный слайд 24, image36.png. scikit-image morphology API and connectivity: https://scikit-image.org/docs/stable/api/skimage.morphology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Изображения: приложенная презентация, исходный слайд 28/29, image47.png и image48.png.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презентация, исходный слайд 23, image34.png. scikit-image watershed documentation and overlapping-object example: https://scikit-image.org/docs/stable/api/skimage.segmentation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scikit-image label image example and region workflow: https://scikit-image.org/docs/stable/auto_examples/segmentation/plot_label.html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scikit-image segmentation API and watershed example for overlapping objects: https://scikit-image.org/docs/stable/api/skimage.segmentation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scikit-image regionprops and spacing parameter: https://scikit-image.org/docs/stable/api/skimage.measure.html ; worked example: https://scikit-image.org/docs/stable/auto_examples/segmentation/plot_regionprops.html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scikit-image region properties: https://scikit-image.org/docs/stable/api/skimage.measure.html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презентация, исходный слайд 28, image46.png. scikit-image perimeter and shape properties: https://scikit-image.org/docs/stable/api/skimage.measure.html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Площадная доля рассчитана как доля пикселей выбранной фазы; её зависимость от порога показана специально.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приложенная презентация, исходный слайд 37, image58.jpg.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Поля зрения рассматриваются как повторные выборки внутри образца.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Иллюстративное разложение дисперсии. Компоненты оценивают по дизайну с несколькими объектами, полями и независимыми образцами.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Sensitivity analysis показывает, как итоговые признаки меняются при допустимом диапазоне параметров.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Изображения: приложенная презентация, исходные слайды 29/30, image49.png и image50.png. Таблица содержит иллюстративные результаты перебора параметров.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scikit-image regionprops_table: https://scikit-image.org/docs/stable/api/skimage.measure.html ; pathlib glob: https://docs.python.org/3.13/library/pathlib.html ; pandas.read_csv and tabular workflow: https://pandas.pydata.org/pandas-docs/stable/reference/api/pandas.read_csv.html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2e0055a5c45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7e4a5f7451475d" /><Relationship Type="http://schemas.openxmlformats.org/officeDocument/2006/relationships/slideLayout" Target="/ppt/slideLayouts/slideLayout1.xml" Id="R314d341da27b41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4d341da27b41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a916e768641e6" /><Relationship Type="http://schemas.openxmlformats.org/officeDocument/2006/relationships/image" Target="/ppt/media/image.jpeg" Id="Rf3815f3ee0af4ed3" /><Relationship Type="http://schemas.openxmlformats.org/officeDocument/2006/relationships/notesSlide" Target="/ppt/notesSlides/notesSlide1.xml" Id="R797292f2a100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79bb6abca4874" /><Relationship Type="http://schemas.openxmlformats.org/officeDocument/2006/relationships/notesSlide" Target="/ppt/notesSlides/notesSlide2.xml" Id="Rb35038eef90a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158989cd842d9" /><Relationship Type="http://schemas.openxmlformats.org/officeDocument/2006/relationships/image" Target="/ppt/media/image.png" Id="R6e313ed1187541a8" /><Relationship Type="http://schemas.openxmlformats.org/officeDocument/2006/relationships/notesSlide" Target="/ppt/notesSlides/notesSlide3.xml" Id="R73e64dd1437b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d3f565b5a4f26" /><Relationship Type="http://schemas.openxmlformats.org/officeDocument/2006/relationships/notesSlide" Target="/ppt/notesSlides/notesSlide4.xml" Id="R83c7332196e54a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96957b5d84f5a" /><Relationship Type="http://schemas.openxmlformats.org/officeDocument/2006/relationships/notesSlide" Target="/ppt/notesSlides/notesSlide5.xml" Id="R1fba93271ada4b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db4fd3b5e455a" /><Relationship Type="http://schemas.openxmlformats.org/officeDocument/2006/relationships/notesSlide" Target="/ppt/notesSlides/notesSlide6.xml" Id="Re5e382b7d50b4c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edd1953d1460e" /><Relationship Type="http://schemas.openxmlformats.org/officeDocument/2006/relationships/notesSlide" Target="/ppt/notesSlides/notesSlide7.xml" Id="R95e62b4394f242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2912b86784b00" /><Relationship Type="http://schemas.openxmlformats.org/officeDocument/2006/relationships/image" Target="/ppt/media/image2.jpeg" Id="R2aebd22713eb4e96" /><Relationship Type="http://schemas.openxmlformats.org/officeDocument/2006/relationships/notesSlide" Target="/ppt/notesSlides/notesSlide8.xml" Id="R851929d2a01248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369160f814489" /><Relationship Type="http://schemas.openxmlformats.org/officeDocument/2006/relationships/image" Target="/ppt/media/image2.png" Id="R905ea59cc7444c91" /><Relationship Type="http://schemas.openxmlformats.org/officeDocument/2006/relationships/chart" Target="/ppt/slides/charts/chart1.xml" Id="Rbd49109748a5402e" /><Relationship Type="http://schemas.openxmlformats.org/officeDocument/2006/relationships/notesSlide" Target="/ppt/notesSlides/notesSlide9.xml" Id="R0f02f334aa2743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1414d3ab4faf" /><Relationship Type="http://schemas.openxmlformats.org/officeDocument/2006/relationships/image" Target="/ppt/media/image3.jpeg" Id="R85cb04aaca6849a3" /><Relationship Type="http://schemas.openxmlformats.org/officeDocument/2006/relationships/image" Target="/ppt/media/image4.jpeg" Id="R9757e2182a1a4c46" /><Relationship Type="http://schemas.openxmlformats.org/officeDocument/2006/relationships/notesSlide" Target="/ppt/notesSlides/notesSlide10.xml" Id="R648c43670abb44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0ec59a3d84319" /><Relationship Type="http://schemas.openxmlformats.org/officeDocument/2006/relationships/image" Target="/ppt/media/image3.png" Id="R2b119855e8c943c7" /><Relationship Type="http://schemas.openxmlformats.org/officeDocument/2006/relationships/notesSlide" Target="/ppt/notesSlides/notesSlide11.xml" Id="Rfb8deddd628b47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66370756d485d" /><Relationship Type="http://schemas.openxmlformats.org/officeDocument/2006/relationships/image" Target="/ppt/media/image4.png" Id="Rfbdce994437a42c8" /><Relationship Type="http://schemas.openxmlformats.org/officeDocument/2006/relationships/image" Target="/ppt/media/image5.png" Id="R430114daece6451a" /><Relationship Type="http://schemas.openxmlformats.org/officeDocument/2006/relationships/notesSlide" Target="/ppt/notesSlides/notesSlide12.xml" Id="Rc0260232dde946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6be65947a464b" /><Relationship Type="http://schemas.openxmlformats.org/officeDocument/2006/relationships/image" Target="/ppt/media/image6.png" Id="R36cd5696ffad4044" /><Relationship Type="http://schemas.openxmlformats.org/officeDocument/2006/relationships/notesSlide" Target="/ppt/notesSlides/notesSlide13.xml" Id="R740739f4c0ad41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aa653c519479f" /><Relationship Type="http://schemas.openxmlformats.org/officeDocument/2006/relationships/notesSlide" Target="/ppt/notesSlides/notesSlide14.xml" Id="R2207a3d785864e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a5748d4a74cfe" /><Relationship Type="http://schemas.openxmlformats.org/officeDocument/2006/relationships/notesSlide" Target="/ppt/notesSlides/notesSlide15.xml" Id="Re83950f4d2cc40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970799de4450" /><Relationship Type="http://schemas.openxmlformats.org/officeDocument/2006/relationships/notesSlide" Target="/ppt/notesSlides/notesSlide16.xml" Id="R46eee6aa32ca49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60d583b8f4081" /><Relationship Type="http://schemas.openxmlformats.org/officeDocument/2006/relationships/notesSlide" Target="/ppt/notesSlides/notesSlide17.xml" Id="Re285f30d36a148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cf270d54b4f43" /><Relationship Type="http://schemas.openxmlformats.org/officeDocument/2006/relationships/chart" Target="/ppt/slides/charts/chart2.xml" Id="Rdb0811f9b0d04ae7" /><Relationship Type="http://schemas.openxmlformats.org/officeDocument/2006/relationships/notesSlide" Target="/ppt/notesSlides/notesSlide18.xml" Id="Re85180662e4e45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200f58aec430e" /><Relationship Type="http://schemas.openxmlformats.org/officeDocument/2006/relationships/image" Target="/ppt/media/image7.png" Id="R9d5e875f0c354bd3" /><Relationship Type="http://schemas.openxmlformats.org/officeDocument/2006/relationships/notesSlide" Target="/ppt/notesSlides/notesSlide19.xml" Id="Ra2272c9e4c4640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2662e28a74244" /><Relationship Type="http://schemas.openxmlformats.org/officeDocument/2006/relationships/chart" Target="/ppt/slides/charts/chart3.xml" Id="Rc7e6eece4cb1445c" /><Relationship Type="http://schemas.openxmlformats.org/officeDocument/2006/relationships/notesSlide" Target="/ppt/notesSlides/notesSlide20.xml" Id="R2ae83f8d15c243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2e41d3c6a4037" /><Relationship Type="http://schemas.openxmlformats.org/officeDocument/2006/relationships/image" Target="/ppt/media/image5.jpeg" Id="R9c2d11b67eff481f" /><Relationship Type="http://schemas.openxmlformats.org/officeDocument/2006/relationships/notesSlide" Target="/ppt/notesSlides/notesSlide21.xml" Id="Rc08059386dc24f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38d2512484e57" /><Relationship Type="http://schemas.openxmlformats.org/officeDocument/2006/relationships/chart" Target="/ppt/slides/charts/chart4.xml" Id="R6a5516a7508e401c" /><Relationship Type="http://schemas.openxmlformats.org/officeDocument/2006/relationships/notesSlide" Target="/ppt/notesSlides/notesSlide22.xml" Id="R2b1857b35df846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43a4e35714c68" /><Relationship Type="http://schemas.openxmlformats.org/officeDocument/2006/relationships/chart" Target="/ppt/slides/charts/chart5.xml" Id="R1094dda09a474ba5" /><Relationship Type="http://schemas.openxmlformats.org/officeDocument/2006/relationships/notesSlide" Target="/ppt/notesSlides/notesSlide23.xml" Id="R26db9ef2854045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b4fcf4cb24a4b" /><Relationship Type="http://schemas.openxmlformats.org/officeDocument/2006/relationships/notesSlide" Target="/ppt/notesSlides/notesSlide24.xml" Id="Ra62a60181532420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4f4f3f21941b5" /><Relationship Type="http://schemas.openxmlformats.org/officeDocument/2006/relationships/chart" Target="/ppt/slides/charts/chart6.xml" Id="R3b2d27989e2a4972" /><Relationship Type="http://schemas.openxmlformats.org/officeDocument/2006/relationships/notesSlide" Target="/ppt/notesSlides/notesSlide25.xml" Id="Re019633484d8481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c4337decd4c7a" /><Relationship Type="http://schemas.openxmlformats.org/officeDocument/2006/relationships/image" Target="/ppt/media/image8.png" Id="Rabd137e10bfe4074" /><Relationship Type="http://schemas.openxmlformats.org/officeDocument/2006/relationships/image" Target="/ppt/media/image9.png" Id="R700cbf10271b4440" /><Relationship Type="http://schemas.openxmlformats.org/officeDocument/2006/relationships/notesSlide" Target="/ppt/notesSlides/notesSlide26.xml" Id="R3aca316ae3e646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44442f7bb498f" /><Relationship Type="http://schemas.openxmlformats.org/officeDocument/2006/relationships/notesSlide" Target="/ppt/notesSlides/notesSlide27.xml" Id="Rde8baf28be5349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f717727664dea" /><Relationship Type="http://schemas.openxmlformats.org/officeDocument/2006/relationships/notesSlide" Target="/ppt/notesSlides/notesSlide28.xml" Id="Re01c612caecd4a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гистограмма</c:v>
          </c:tx>
          <c:spPr>
            <a:ln xmlns:a="http://schemas.openxmlformats.org/drawingml/2006/main" w="28575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Data'!$A$2:$A$33</c:f>
              <c:numCache>
                <c:formatCode>General</c:formatCode>
                <c:ptCount val="32"/>
                <c:pt idx="0">
                  <c:v>0</c:v>
                </c:pt>
                <c:pt idx="1">
                  <c:v>8.2</c:v>
                </c:pt>
                <c:pt idx="2">
                  <c:v>16.5</c:v>
                </c:pt>
                <c:pt idx="3">
                  <c:v>24.7</c:v>
                </c:pt>
                <c:pt idx="4">
                  <c:v>32.9</c:v>
                </c:pt>
                <c:pt idx="5">
                  <c:v>41.1</c:v>
                </c:pt>
                <c:pt idx="6">
                  <c:v>49.4</c:v>
                </c:pt>
                <c:pt idx="7">
                  <c:v>57.6</c:v>
                </c:pt>
                <c:pt idx="8">
                  <c:v>65.8</c:v>
                </c:pt>
                <c:pt idx="9">
                  <c:v>74</c:v>
                </c:pt>
                <c:pt idx="10">
                  <c:v>82.3</c:v>
                </c:pt>
                <c:pt idx="11">
                  <c:v>90.5</c:v>
                </c:pt>
                <c:pt idx="12">
                  <c:v>98.7</c:v>
                </c:pt>
                <c:pt idx="13">
                  <c:v>106.9</c:v>
                </c:pt>
                <c:pt idx="14">
                  <c:v>115.2</c:v>
                </c:pt>
                <c:pt idx="15">
                  <c:v>123.4</c:v>
                </c:pt>
                <c:pt idx="16">
                  <c:v>131.6</c:v>
                </c:pt>
                <c:pt idx="17">
                  <c:v>139.8</c:v>
                </c:pt>
                <c:pt idx="18">
                  <c:v>148.1</c:v>
                </c:pt>
                <c:pt idx="19">
                  <c:v>156.3</c:v>
                </c:pt>
                <c:pt idx="20">
                  <c:v>164.5</c:v>
                </c:pt>
                <c:pt idx="21">
                  <c:v>172.7</c:v>
                </c:pt>
                <c:pt idx="22">
                  <c:v>181</c:v>
                </c:pt>
                <c:pt idx="23">
                  <c:v>189.2</c:v>
                </c:pt>
                <c:pt idx="24">
                  <c:v>197.4</c:v>
                </c:pt>
                <c:pt idx="25">
                  <c:v>205.6</c:v>
                </c:pt>
                <c:pt idx="26">
                  <c:v>213.9</c:v>
                </c:pt>
                <c:pt idx="27">
                  <c:v>222.1</c:v>
                </c:pt>
                <c:pt idx="28">
                  <c:v>230.3</c:v>
                </c:pt>
                <c:pt idx="29">
                  <c:v>238.5</c:v>
                </c:pt>
                <c:pt idx="30">
                  <c:v>246.8</c:v>
                </c:pt>
                <c:pt idx="31">
                  <c:v>255</c:v>
                </c:pt>
              </c:numCache>
            </c:numRef>
          </c:xVal>
          <c:yVal>
            <c:numRef>
              <c:f>'Chart Data'!$B$2:$B$33</c:f>
              <c:numCache>
                <c:formatCode>General</c:formatCode>
                <c:ptCount val="32"/>
                <c:pt idx="0">
                  <c:v>1.4</c:v>
                </c:pt>
                <c:pt idx="1">
                  <c:v>3.8</c:v>
                </c:pt>
                <c:pt idx="2">
                  <c:v>9</c:v>
                </c:pt>
                <c:pt idx="3">
                  <c:v>18.6</c:v>
                </c:pt>
                <c:pt idx="4">
                  <c:v>34.5</c:v>
                </c:pt>
                <c:pt idx="5">
                  <c:v>56.8</c:v>
                </c:pt>
                <c:pt idx="6">
                  <c:v>83.5</c:v>
                </c:pt>
                <c:pt idx="7">
                  <c:v>108.6</c:v>
                </c:pt>
                <c:pt idx="8">
                  <c:v>125.8</c:v>
                </c:pt>
                <c:pt idx="9">
                  <c:v>129.8</c:v>
                </c:pt>
                <c:pt idx="10">
                  <c:v>119.1</c:v>
                </c:pt>
                <c:pt idx="11">
                  <c:v>97.9</c:v>
                </c:pt>
                <c:pt idx="12">
                  <c:v>72.7</c:v>
                </c:pt>
                <c:pt idx="13">
                  <c:v>50.6</c:v>
                </c:pt>
                <c:pt idx="14">
                  <c:v>35.8</c:v>
                </c:pt>
                <c:pt idx="15">
                  <c:v>30.3</c:v>
                </c:pt>
                <c:pt idx="16">
                  <c:v>33.2</c:v>
                </c:pt>
                <c:pt idx="17">
                  <c:v>42.4</c:v>
                </c:pt>
                <c:pt idx="18">
                  <c:v>55.6</c:v>
                </c:pt>
                <c:pt idx="19">
                  <c:v>69.6</c:v>
                </c:pt>
                <c:pt idx="20">
                  <c:v>81.4</c:v>
                </c:pt>
                <c:pt idx="21">
                  <c:v>88.6</c:v>
                </c:pt>
                <c:pt idx="22">
                  <c:v>89.6</c:v>
                </c:pt>
                <c:pt idx="23">
                  <c:v>83.9</c:v>
                </c:pt>
                <c:pt idx="24">
                  <c:v>73</c:v>
                </c:pt>
                <c:pt idx="25">
                  <c:v>58.9</c:v>
                </c:pt>
                <c:pt idx="26">
                  <c:v>44</c:v>
                </c:pt>
                <c:pt idx="27">
                  <c:v>30.5</c:v>
                </c:pt>
                <c:pt idx="28">
                  <c:v>19.7</c:v>
                </c:pt>
                <c:pt idx="29">
                  <c:v>11.8</c:v>
                </c:pt>
                <c:pt idx="30">
                  <c:v>6.5</c:v>
                </c:pt>
                <c:pt idx="31">
                  <c:v>3.3</c:v>
                </c:pt>
              </c:numCache>
            </c:numRef>
          </c:yVal>
        </c:ser>
        <c:ser>
          <c:idx val="1"/>
          <c:order val="1"/>
          <c:tx>
            <c:v>порог</c:v>
          </c:tx>
          <c:spPr>
            <a:ln xmlns:a="http://schemas.openxmlformats.org/drawingml/2006/main" w="28575">
              <a:solidFill>
                <a:srgbClr val="F9C74F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126</c:v>
                </c:pt>
                <c:pt idx="1">
                  <c:v>126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130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частота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30"/>
      </c:valAx>
      <c:valAx>
        <c:axId val="48650112"/>
        <c:scaling>
          <c:orientation val="minMax"/>
          <c:max val="25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яркость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число объектов</c:v>
          </c:tx>
          <c:spPr>
            <a:solidFill xmlns:a="http://schemas.openxmlformats.org/drawingml/2006/main">
              <a:srgbClr val="80ED99"/>
            </a:solidFill>
          </c:spPr>
          <c:cat>
            <c:strRef>
              <c:f>'Chart Data'!$A$2:$A$8</c:f>
              <c:strCache>
                <c:ptCount val="7"/>
                <c:pt idx="0">
                  <c:v>40–50</c:v>
                </c:pt>
                <c:pt idx="1">
                  <c:v>50–60</c:v>
                </c:pt>
                <c:pt idx="2">
                  <c:v>60–70</c:v>
                </c:pt>
                <c:pt idx="3">
                  <c:v>70–80</c:v>
                </c:pt>
                <c:pt idx="4">
                  <c:v>80–90</c:v>
                </c:pt>
                <c:pt idx="5">
                  <c:v>90–100</c:v>
                </c:pt>
                <c:pt idx="6">
                  <c:v>100–110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5</c:v>
                </c:pt>
                <c:pt idx="1">
                  <c:v>14</c:v>
                </c:pt>
                <c:pt idx="2">
                  <c:v>27</c:v>
                </c:pt>
                <c:pt idx="3">
                  <c:v>35</c:v>
                </c:pt>
                <c:pt idx="4">
                  <c:v>24</c:v>
                </c:pt>
                <c:pt idx="5">
                  <c:v>11</c:v>
                </c:pt>
                <c:pt idx="6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F4F7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число объектов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пористость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80ED99"/>
              </a:solidFill>
            </c:spPr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82</c:v>
                </c:pt>
                <c:pt idx="1">
                  <c:v>88</c:v>
                </c:pt>
                <c:pt idx="2">
                  <c:v>94</c:v>
                </c:pt>
                <c:pt idx="3">
                  <c:v>100</c:v>
                </c:pt>
                <c:pt idx="4">
                  <c:v>106</c:v>
                </c:pt>
                <c:pt idx="5">
                  <c:v>112</c:v>
                </c:pt>
                <c:pt idx="6">
                  <c:v>118</c:v>
                </c:pt>
                <c:pt idx="7">
                  <c:v>124</c:v>
                </c:pt>
                <c:pt idx="8">
                  <c:v>130</c:v>
                </c:pt>
              </c:numCache>
            </c:numRef>
          </c:xVal>
          <c:yVal>
            <c:numRef>
              <c:f>'Chart Data'!$B$2:$B$10</c:f>
              <c:numCache>
                <c:formatCode>0.00</c:formatCode>
                <c:ptCount val="9"/>
                <c:pt idx="0">
                  <c:v>0.29</c:v>
                </c:pt>
                <c:pt idx="1">
                  <c:v>0.27</c:v>
                </c:pt>
                <c:pt idx="2">
                  <c:v>0.255</c:v>
                </c:pt>
                <c:pt idx="3">
                  <c:v>0.244</c:v>
                </c:pt>
                <c:pt idx="4">
                  <c:v>0.236</c:v>
                </c:pt>
                <c:pt idx="5">
                  <c:v>0.231</c:v>
                </c:pt>
                <c:pt idx="6">
                  <c:v>0.225</c:v>
                </c:pt>
                <c:pt idx="7">
                  <c:v>0.218</c:v>
                </c:pt>
                <c:pt idx="8">
                  <c:v>0.205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1"/>
          <c:min val="0.18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площадная доля пор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3"/>
      </c:valAx>
      <c:valAx>
        <c:axId val="48650112"/>
        <c:scaling>
          <c:orientation val="minMax"/>
          <c:max val="132"/>
          <c:min val="8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порог яркости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пористость</c:v>
          </c:tx>
          <c:spPr>
            <a:solidFill xmlns:a="http://schemas.openxmlformats.org/drawingml/2006/main">
              <a:srgbClr val="4EA8DE"/>
            </a:solidFill>
          </c:spPr>
          <c:cat>
            <c:strRef>
              <c:f>'Chart Data'!$A$2:$A$9</c:f>
              <c:strCache>
                <c:ptCount val="8"/>
                <c:pt idx="0">
                  <c:v>FOV 1</c:v>
                </c:pt>
                <c:pt idx="1">
                  <c:v>FOV 2</c:v>
                </c:pt>
                <c:pt idx="2">
                  <c:v>FOV 3</c:v>
                </c:pt>
                <c:pt idx="3">
                  <c:v>FOV 4</c:v>
                </c:pt>
                <c:pt idx="4">
                  <c:v>FOV 5</c:v>
                </c:pt>
                <c:pt idx="5">
                  <c:v>FOV 6</c:v>
                </c:pt>
                <c:pt idx="6">
                  <c:v>FOV 7</c:v>
                </c:pt>
                <c:pt idx="7">
                  <c:v>FOV 8</c:v>
                </c:pt>
              </c:strCache>
            </c:str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0.18</c:v>
                </c:pt>
                <c:pt idx="1">
                  <c:v>0.23</c:v>
                </c:pt>
                <c:pt idx="2">
                  <c:v>0.21</c:v>
                </c:pt>
                <c:pt idx="3">
                  <c:v>0.27</c:v>
                </c:pt>
                <c:pt idx="4">
                  <c:v>0.19</c:v>
                </c:pt>
                <c:pt idx="5">
                  <c:v>0.25</c:v>
                </c:pt>
                <c:pt idx="6">
                  <c:v>0.22</c:v>
                </c:pt>
                <c:pt idx="7">
                  <c:v>0.29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F4F7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пористость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8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 дисперсии</c:v>
          </c:tx>
          <c:spPr>
            <a:solidFill xmlns:a="http://schemas.openxmlformats.org/drawingml/2006/main">
              <a:srgbClr val="C4A7FF"/>
            </a:solidFill>
          </c:spPr>
          <c:cat>
            <c:strRef>
              <c:f>'Chart Data'!$A$2:$A$5</c:f>
              <c:strCache>
                <c:ptCount val="4"/>
                <c:pt idx="0">
                  <c:v>между объектами</c:v>
                </c:pt>
                <c:pt idx="1">
                  <c:v>между FOV</c:v>
                </c:pt>
                <c:pt idx="2">
                  <c:v>между образцами</c:v>
                </c:pt>
                <c:pt idx="3">
                  <c:v>повтор обработки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0.36</c:v>
                </c:pt>
                <c:pt idx="1">
                  <c:v>0.28</c:v>
                </c:pt>
                <c:pt idx="2">
                  <c:v>0.3</c:v>
                </c:pt>
                <c:pt idx="3">
                  <c:v>0.06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F4F7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доля дисперсии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медианный диаметр</c:v>
          </c:tx>
          <c:spPr>
            <a:ln xmlns:a="http://schemas.openxmlformats.org/drawingml/2006/main" w="38100">
              <a:solidFill>
                <a:srgbClr val="4EA8D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90</c:v>
                </c:pt>
                <c:pt idx="1">
                  <c:v>94</c:v>
                </c:pt>
                <c:pt idx="2">
                  <c:v>98</c:v>
                </c:pt>
                <c:pt idx="3">
                  <c:v>102</c:v>
                </c:pt>
                <c:pt idx="4">
                  <c:v>106</c:v>
                </c:pt>
                <c:pt idx="5">
                  <c:v>110</c:v>
                </c:pt>
                <c:pt idx="6">
                  <c:v>114</c:v>
                </c:pt>
                <c:pt idx="7">
                  <c:v>118</c:v>
                </c:pt>
                <c:pt idx="8">
                  <c:v>122</c:v>
                </c:pt>
                <c:pt idx="9">
                  <c:v>126</c:v>
                </c:pt>
              </c:numCache>
            </c:numRef>
          </c:xVal>
          <c:yVal>
            <c:numRef>
              <c:f>'Chart Data'!$B$2:$B$11</c:f>
              <c:numCache>
                <c:formatCode>General</c:formatCode>
                <c:ptCount val="10"/>
                <c:pt idx="0">
                  <c:v>82</c:v>
                </c:pt>
                <c:pt idx="1">
                  <c:v>81</c:v>
                </c:pt>
                <c:pt idx="2">
                  <c:v>80</c:v>
                </c:pt>
                <c:pt idx="3">
                  <c:v>79</c:v>
                </c:pt>
                <c:pt idx="4">
                  <c:v>78.5</c:v>
                </c:pt>
                <c:pt idx="5">
                  <c:v>78</c:v>
                </c:pt>
                <c:pt idx="6">
                  <c:v>77.6</c:v>
                </c:pt>
                <c:pt idx="7">
                  <c:v>76.8</c:v>
                </c:pt>
                <c:pt idx="8">
                  <c:v>75.5</c:v>
                </c:pt>
                <c:pt idx="9">
                  <c:v>73</c:v>
                </c:pt>
              </c:numCache>
            </c:numRef>
          </c:yVal>
        </c:ser>
        <c:ser>
          <c:idx val="1"/>
          <c:order val="1"/>
          <c:tx>
            <c:v>число объектов / 5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FF7B7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90</c:v>
                </c:pt>
                <c:pt idx="1">
                  <c:v>94</c:v>
                </c:pt>
                <c:pt idx="2">
                  <c:v>98</c:v>
                </c:pt>
                <c:pt idx="3">
                  <c:v>102</c:v>
                </c:pt>
                <c:pt idx="4">
                  <c:v>106</c:v>
                </c:pt>
                <c:pt idx="5">
                  <c:v>110</c:v>
                </c:pt>
                <c:pt idx="6">
                  <c:v>114</c:v>
                </c:pt>
                <c:pt idx="7">
                  <c:v>118</c:v>
                </c:pt>
                <c:pt idx="8">
                  <c:v>122</c:v>
                </c:pt>
                <c:pt idx="9">
                  <c:v>126</c:v>
                </c:pt>
              </c:numCache>
            </c:numRef>
          </c:xVal>
          <c:yVal>
            <c:numRef>
              <c:f>'Chart Data'!$D$2:$D$11</c:f>
              <c:numCache>
                <c:formatCode>General</c:formatCode>
                <c:ptCount val="10"/>
                <c:pt idx="0">
                  <c:v>68</c:v>
                </c:pt>
                <c:pt idx="1">
                  <c:v>70</c:v>
                </c:pt>
                <c:pt idx="2">
                  <c:v>73</c:v>
                </c:pt>
                <c:pt idx="3">
                  <c:v>76</c:v>
                </c:pt>
                <c:pt idx="4">
                  <c:v>78</c:v>
                </c:pt>
                <c:pt idx="5">
                  <c:v>79</c:v>
                </c:pt>
                <c:pt idx="6">
                  <c:v>80</c:v>
                </c:pt>
                <c:pt idx="7">
                  <c:v>81</c:v>
                </c:pt>
                <c:pt idx="8">
                  <c:v>84</c:v>
                </c:pt>
                <c:pt idx="9">
                  <c:v>88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0"/>
          <c:min val="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масштабированный результат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128"/>
          <c:min val="88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порог яркости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8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54CA-B460-4C35-B61D-B117663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8A323-F1B5-47C5-A1DE-E767F6BB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E7FFC-10CF-4DA6-8509-17DD685E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ИЗОБРАЖЕНИЯ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E4D46-9EB2-4E61-AF6E-ABD9DC97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Количественный</a:t>
            </a:r>
          </a:p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анализ</a:t>
            </a:r>
          </a:p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58029-52D5-4C50-9C30-A07A3AE8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От масштабной калибровки до устойчивых измерений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61221-E207-4CEF-A27C-0EFB32DF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57250"/>
            <a:ext cx="4438650" cy="4438650"/>
          </a:xfrm>
          <a:prstGeom xmlns:a="http://schemas.openxmlformats.org/drawingml/2006/main" prst="roundRect">
            <a:avLst>
              <a:gd name="adj" fmla="val 214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15f3ee0af4ed3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914400"/>
            <a:ext cx="4324350" cy="4324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B73CF-B6F3-41FB-95E5-E53A74F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Лекция · 28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520670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EBFF6-0003-413E-9C28-DF5C35A5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3035B-047B-425C-9490-BD965AA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261CE-5613-4916-8647-309DF277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ОБЩИЙ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2BCFC-C14D-4861-91C7-621B8920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ПЯТЬ СТАДИЙ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B3E27-29DE-4A4F-8344-93D98167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Единый workflow количественного анализа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FE31B-16AB-4958-9927-4F60693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A9F85-E16F-4C02-9E41-16EA8040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Калибровка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60921-63F4-41C5-81D4-750454AF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B3ED2-A146-4341-99D1-05F44076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98A12-5F03-4F9E-A847-43F2F747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E41F6-5E5B-4F72-8D68-59F538E0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Предобработка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DFD54-A2CF-4D2C-8BF2-076D3DBC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18E35-A5EC-4453-88D0-21FBEE06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E3FD7-470B-4846-9C6F-CCD4DC51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B3F5E-F734-4235-B7C1-2E1A570B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2635D-E202-4322-AC3D-9DBDC918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F8B53-6926-4715-8D14-CCB3068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99D26-3AC2-46C7-859A-5698D17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31235-1BA3-40C0-A5B4-313F4DBE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58D5C-2FCB-48B7-A191-83C9BEBF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2612C-3CE4-48E0-A5AC-B46B2BD9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D7AEA-A3A7-4C3C-A540-4FBA2BCE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C9266-7B5A-42AD-81AA-4190F3D1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EE48D-A74E-4F8A-9DA2-013A8C31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D5ACB-4AEB-45AA-B47F-D9A0650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925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Измерение начинается с физического масштаба и заканчивается интервалом неопределённости, а не бинарной маской.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CF10F-8566-4E7F-A9C0-54F7B80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42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A82E4-9AB0-4047-B2D3-39AB7D57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Параметры сегментации входят в измерительную процедуру</a:t>
            </a:r>
          </a:p>
        </p:txBody>
      </p:sp>
    </p:spTree>
    <p:extLst>
      <p:ext uri="{BB962C8B-B14F-4D97-AF65-F5344CB8AC3E}">
        <p14:creationId xmlns:p14="http://schemas.microsoft.com/office/powerpoint/2010/main" val="1721625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D9290-F3D8-4B5B-8FF9-F015059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DF4E7-654F-4D31-82FE-CA3B9EE2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3D912-D92C-4560-8747-1C7F1C04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МАСШТАБНАЯ КАЛИБРОВКА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32D8F-C7F8-4902-AD27-AC8E6D5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МАСШТАБ ИЗОБРАЖЕНИЯ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2229E-135F-4495-9CA4-FFF3247F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Пиксели переводятся в физические единицы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F589E-EF21-4331-81E8-3756EC7D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829300" cy="4210050"/>
          </a:xfrm>
          <a:prstGeom xmlns:a="http://schemas.openxmlformats.org/drawingml/2006/main" prst="roundRect">
            <a:avLst>
              <a:gd name="adj" fmla="val 22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13ed1187541a8"/>
          <a:stretch xmlns:a="http://schemas.openxmlformats.org/drawingml/2006/main"/>
        </p:blipFill>
        <p:spPr>
          <a:xfrm xmlns:a="http://schemas.openxmlformats.org/drawingml/2006/main">
            <a:off x="1123950" y="1466850"/>
            <a:ext cx="49149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2CFA4-B5FC-4673-919B-9DF1E2E7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37719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F8FD6-F1FA-410E-93CC-0F5D059A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s = Lscale / Nscale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AF867-52FD-4B81-815B-D959807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BD843-E583-46DD-9B1F-A5211E0F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размер пикселя, например нм/px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F5EE1-1F37-4BF0-9D3C-08C75469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Площадь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9B145-C518-49D5-989E-1C82E0BB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243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Aphys = Apix · s²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AD590-370B-4BE9-853F-11F8A317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Периметр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335B7-BBAE-4AD6-914E-C1403FA2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101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Pphys = Ppix ·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3649D-1D69-4BBB-854E-A71C807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76850"/>
            <a:ext cx="4000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F1BDC-056D-46A2-8218-308E64D9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768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После изменения размера изображения масштаб пересчитывают</a:t>
            </a:r>
          </a:p>
        </p:txBody>
      </p:sp>
    </p:spTree>
    <p:extLst>
      <p:ext uri="{BB962C8B-B14F-4D97-AF65-F5344CB8AC3E}">
        <p14:creationId xmlns:p14="http://schemas.microsoft.com/office/powerpoint/2010/main" val="567854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EA53D-91D9-4EF4-9D4B-33C8E8F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9CAB1-E2C1-4E60-92B2-2A95F78E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D8BE9-D495-49A1-878F-7255BB06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МАСШТАБНАЯ КАЛИБРОВКА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EDD17-8889-4B28-9644-F0DC3257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РАСПРОСТРАНЕНИЕ НЕОПРЕДЕЛЁННОСТИ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F03B6-DAB9-476A-AC97-D8981AEA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 масштаба усиливается в площадях и объёмах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F1D82-8FE4-4725-9241-07BA9067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2762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9C940-FFB3-4535-AC35-CFD64A0A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L = N ·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33CBA-1627-4C1C-AF64-E718928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762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02218-A0E4-4CC6-9E09-C63E600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A = N · s²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A060C-4EF9-4DED-8B2B-B3954C96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2762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FA993-FE84-4133-A89D-F319B19D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V = N · s³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27150-5B64-430E-925E-7E4B6762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 относительной ошибке масштаба 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67A61-8F88-4633-A253-37822717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длина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6C476-C33D-4C1E-ADF2-2EC92D8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≈ 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F459D-CF6B-4C71-84B4-1D38411A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площадь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76A63-6764-43CE-B173-7675740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≈ 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98730-9922-4EB7-A14D-B60591D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объём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9BE27-7D4A-4561-95CE-70E68E45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62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≈ 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33F7A-6C40-4D5C-8100-2A0DB1D2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742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85CB3-2551-4223-B974-933F4FE6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Масштаб проверяют для каждого режима увеличения и камеры</a:t>
            </a:r>
          </a:p>
        </p:txBody>
      </p:sp>
    </p:spTree>
    <p:extLst>
      <p:ext uri="{BB962C8B-B14F-4D97-AF65-F5344CB8AC3E}">
        <p14:creationId xmlns:p14="http://schemas.microsoft.com/office/powerpoint/2010/main" val="711388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8301A-6358-4110-A4D3-9A7B9B97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8A2AC-0F1B-4012-9D56-8E49EA4A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70AF9-6C06-40B1-AE3B-0E8A6B6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ПОЛУЧЕНИЕ ИЗОБРАЖЕНИЙ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0A584-DF5D-49B3-8829-D95464F9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МЕТАДАННЫЕ И КОНТРОЛЬ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484A-D833-4027-9080-11E88108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Качество сегментации начинается при съёмке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9728F-81D6-4851-9BFA-1D9458CF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962A-4BDA-4130-9B7C-AE055AED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Фокус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78B00-FC70-4067-B4A4-C900FC10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47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одинаковый критерий резкости для серии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33E3B-4A20-4534-8EAC-104A2B72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A219C-D44E-48A4-9853-7A771FAD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A0662-CFA3-44FF-A2C9-659E8AA3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без насыщения и провала теней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12744-0A59-493E-81D4-C357801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EF018-A745-4575-B16C-E3D838F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04E1F-5D45-47BA-B1A0-D31A8076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контроль виньетирования и градиента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067AA-CB11-4C2F-AC82-454F0B8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681CE-6A21-4F9E-88C9-2EE55394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57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Геометрия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63ECD-2835-4C1A-A92F-5BB27E8E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фиксированные увеличение, ориентация и дистанция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DB5BB-D1FF-4054-A0F7-A18662D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009DC-9BC2-498E-986E-6769C67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Формат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421F8-6189-4857-B0D0-827AC7D2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битность, цветовой профиль, отсутствие скрытого сжатия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F108A-FDDF-4C87-997A-A3914C5A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29300"/>
            <a:ext cx="82677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E8709-03B0-42FC-9B62-06D73016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29300"/>
            <a:ext cx="826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Сегментация не восстанавливает информацию, потерянную при съёмке</a:t>
            </a:r>
          </a:p>
        </p:txBody>
      </p:sp>
    </p:spTree>
    <p:extLst>
      <p:ext uri="{BB962C8B-B14F-4D97-AF65-F5344CB8AC3E}">
        <p14:creationId xmlns:p14="http://schemas.microsoft.com/office/powerpoint/2010/main" val="1415489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7EA20-C6BF-4846-95F6-677A17B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46190-B3A9-4F1D-81F3-6865E2EF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9B69D-EB38-43AA-BBC4-FC3E640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ВЫБОР ПОЛЯ ЗРЕНИЯ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F4864-6A0D-4AB1-B1A8-1CD373C9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ИЕРАРХИЯ ИЗМЕРЕНИЙ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322D4-6437-44CE-9EA0-C3623CF2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Поле зрения является единицей выборки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A82EC-722F-46ED-887F-02621D3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857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A448E-69D0-48D7-8F37-76A7F6F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Материал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1457B-BFA2-4FD8-9746-011756E6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3240D-6764-4AC5-B3DA-31D411FE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81840-341A-4B7F-BD35-DD37C57B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57350"/>
            <a:ext cx="2095500" cy="2857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80ED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ED1B8-FD38-4DAC-B1A3-7709FC02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24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Образцы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1C3DD-5512-4609-BD7D-43B2D645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621F8-A4DF-443E-AC33-4A0A72AD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670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9164C-EB73-4D57-93B1-26478E5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2095500" cy="2857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F9C7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D7335-90FE-4002-91B5-F1836EA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Поля зрения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9F045-9976-4345-8CEA-553B9FAC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49B23-3837-475F-8E59-095F4B0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AD87D-353B-4051-B668-FAC642CF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095500" cy="2857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C4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27BC3-A2A1-4F60-BC51-027EF7DD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240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Объекты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0BEB4-9C33-44BA-8383-05005FB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11FCD-8F33-42ED-8825-715E9E6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498C5-480A-4F0E-A6AE-220EA9E4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Тысячи частиц в одном кадре не заменяют несколько независимых полей</a:t>
            </a:r>
          </a:p>
        </p:txBody>
      </p:sp>
    </p:spTree>
    <p:extLst>
      <p:ext uri="{BB962C8B-B14F-4D97-AF65-F5344CB8AC3E}">
        <p14:creationId xmlns:p14="http://schemas.microsoft.com/office/powerpoint/2010/main" val="816804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67C52-0CE7-4B26-B7B0-505B880D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13636-A650-4723-9742-C2C217EA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B2425-B216-4053-B6EB-FC767A61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E4A60-698C-4B89-BE45-2A15EA36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1134B-CEE7-43F9-9BD5-3325C663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Сегментация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AC51F-B404-4771-BBA2-355C0045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Порог, связность и разделение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8566D-63C6-4A91-A759-FAAE43A2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52094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ADBA1-9871-4941-949F-BAC43586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8485F-0477-4EF4-A444-AD8C562A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5ECDF-B921-41F0-B084-00FA1965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ПРЕДОБРАБОТКА ИЗОБРАЖЕНИЯ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94E6D-46E0-4A79-81D8-5E6E59B2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КОРРЕКЦИЯ ФОНА ИЗОБРАЖЕНИЯ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53951-B127-42EB-8B83-7FA6E06B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Неравномерное освещение смещает локальный порог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2C0A4-2D0D-4559-848B-B3826BB3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6591300" cy="4362450"/>
          </a:xfrm>
          <a:prstGeom xmlns:a="http://schemas.openxmlformats.org/drawingml/2006/main" prst="roundRect">
            <a:avLst>
              <a:gd name="adj" fmla="val 218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bd22713eb4e96"/>
          <a:stretch xmlns:a="http://schemas.openxmlformats.org/drawingml/2006/main"/>
        </p:blipFill>
        <p:spPr>
          <a:xfrm xmlns:a="http://schemas.openxmlformats.org/drawingml/2006/main">
            <a:off x="709541" y="1428750"/>
            <a:ext cx="6467618" cy="424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6C22A-DA65-4C2B-AAF8-99125CD5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Перед сегментацией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72FB6-7888-44CC-A741-1E3F6EA1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952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проверить градиент фона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оценить шум и резкость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выбрать канал или преобразование цвета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сохранить исходную битность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F16F0-BB4E-4429-AFA3-8E38961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3333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F5AA8-4D15-4EF3-BFC2-52920518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Коррекция фона не должна стирать крупные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1353136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676ED-9112-4FBD-ADEA-5507A81A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91E1C-3F1C-4804-A6B8-70D1F89C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412ED-A7B4-4FC3-B3F1-1722CD2C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ПОРОГОВАЯ СЕГМЕНТАЦИЯ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EB61A-2BE8-4417-85BA-379A722D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DF304-86F3-4009-9A4F-E833E76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Глобальный порог работает при разделимых распределениях яркости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99BBC-75C2-4CBE-9606-1E68621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48768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ea59cc7444c91"/>
          <a:stretch xmlns:a="http://schemas.openxmlformats.org/drawingml/2006/main"/>
        </p:blipFill>
        <p:spPr>
          <a:xfrm xmlns:a="http://schemas.openxmlformats.org/drawingml/2006/main">
            <a:off x="735330" y="1524000"/>
            <a:ext cx="4663440" cy="3886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810250" y="1524000"/>
          <a:ext xmlns:a="http://schemas.openxmlformats.org/drawingml/2006/main" cx="546735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49109748a5402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AD29B-2DAC-4AD1-9C3A-EC71F1E2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48250"/>
            <a:ext cx="546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Метод Otsu выбирает один порог по гистограмме. При градиенте освещения или разных классах объектов нужен локальный или модельный подход.</a:t>
            </a:r>
          </a:p>
        </p:txBody>
      </p:sp>
    </p:spTree>
    <p:extLst>
      <p:ext uri="{BB962C8B-B14F-4D97-AF65-F5344CB8AC3E}">
        <p14:creationId xmlns:p14="http://schemas.microsoft.com/office/powerpoint/2010/main" val="16388617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69918-BE1B-4766-A3A1-94CEAD8B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EF8C2-47D5-416D-B68F-2B6B672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BFB48-F484-4CA0-AF19-E9B5F967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ПОРОГОВАЯ СЕГМЕНТАЦИЯ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45FE5-A855-4B66-ADB1-F2C0EE51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СРАВНЕНИЕ ПОДХОДОВ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C75CD-37FF-4B25-BE5B-403DB22C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Локальный порог учитывает изменение фона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ED553-FDE3-433D-A4F9-0A61CDA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067300" cy="3829050"/>
          </a:xfrm>
          <a:prstGeom xmlns:a="http://schemas.openxmlformats.org/drawingml/2006/main" prst="roundRect">
            <a:avLst>
              <a:gd name="adj" fmla="val 24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b04aaca6849a3"/>
          <a:stretch xmlns:a="http://schemas.openxmlformats.org/drawingml/2006/main"/>
        </p:blipFill>
        <p:spPr>
          <a:xfrm xmlns:a="http://schemas.openxmlformats.org/drawingml/2006/main">
            <a:off x="666750" y="146685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8AACB-D4B5-4F64-89F6-0A48791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5067300" cy="3829050"/>
          </a:xfrm>
          <a:prstGeom xmlns:a="http://schemas.openxmlformats.org/drawingml/2006/main" prst="roundRect">
            <a:avLst>
              <a:gd name="adj" fmla="val 24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7e2182a1a4c46"/>
          <a:stretch xmlns:a="http://schemas.openxmlformats.org/drawingml/2006/main"/>
        </p:blipFill>
        <p:spPr>
          <a:xfrm xmlns:a="http://schemas.openxmlformats.org/drawingml/2006/main">
            <a:off x="6572250" y="146685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7A686-BD17-45F7-9B58-DD15344E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Глобальный порог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417F4-617B-4222-B055-4372630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67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Локальный порог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DA882-6B6D-440B-8F66-3C6163CE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Один уровень для всего кадра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A7585-C0FC-4645-8295-5D44B5FB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05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Порог вычисляется в окрестности</a:t>
            </a:r>
          </a:p>
        </p:txBody>
      </p:sp>
    </p:spTree>
    <p:extLst>
      <p:ext uri="{BB962C8B-B14F-4D97-AF65-F5344CB8AC3E}">
        <p14:creationId xmlns:p14="http://schemas.microsoft.com/office/powerpoint/2010/main" val="1210322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5AD02-CF4D-4397-BE7D-178820B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35B06-EDA8-4346-955C-13FDB41A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F2D3B-59D0-49AB-A75A-D7D81D92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ОЧИСТКА МАСКИ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37C11-37FE-41AF-AFBE-A5A26AAE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ПОСЛЕ ПОРОГА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316FF-50B6-4E83-BF91-0D6F8B00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Морфология исправляет локальные дефекты маски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39C08-C5A3-453A-85C6-E754F6CC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6019800" cy="4305300"/>
          </a:xfrm>
          <a:prstGeom xmlns:a="http://schemas.openxmlformats.org/drawingml/2006/main" prst="roundRect">
            <a:avLst>
              <a:gd name="adj" fmla="val 221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19855e8c943c7"/>
          <a:stretch xmlns:a="http://schemas.openxmlformats.org/drawingml/2006/main"/>
        </p:blipFill>
        <p:spPr>
          <a:xfrm xmlns:a="http://schemas.openxmlformats.org/drawingml/2006/main">
            <a:off x="1143000" y="1447800"/>
            <a:ext cx="50292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56C31-3A97-4A87-9D20-4A5DE9BE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Операции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79B25-D960-4456-8F9E-D4FCFA0C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52700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remove_small_objects удаляет мелкие компоненты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remove_small_holes заполняет небольшие отверстия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opening убирает тонкие выступы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closing соединяет близкие разрывы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4AD04-0BA9-4127-8682-1A29094C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05400"/>
            <a:ext cx="36385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1723B-107B-49FF-8BBF-00573093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05400"/>
            <a:ext cx="3638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Размер структурного элемента задаётся в физических единицах</a:t>
            </a:r>
          </a:p>
        </p:txBody>
      </p:sp>
    </p:spTree>
    <p:extLst>
      <p:ext uri="{BB962C8B-B14F-4D97-AF65-F5344CB8AC3E}">
        <p14:creationId xmlns:p14="http://schemas.microsoft.com/office/powerpoint/2010/main" val="18171106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6F37-E012-4421-AA37-E4CE9DB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F3EF2-A84F-4DE4-A65E-2A2E7F07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389CB-1741-4326-B507-1195E72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ГРАНИЦЫ И ОБЪЕКТЫ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02FFC-7107-4B55-8CF1-B676D674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РАЗНЫЕ ВЫХОДЫ АЛГОРИТМА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4F80C-B891-4AE6-B777-82489DE9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Карта границ не является сегментацией объектов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C3E3A-E5AA-49A1-9141-3A659C5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067300" cy="3829050"/>
          </a:xfrm>
          <a:prstGeom xmlns:a="http://schemas.openxmlformats.org/drawingml/2006/main" prst="roundRect">
            <a:avLst>
              <a:gd name="adj" fmla="val 24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ce994437a42c8"/>
          <a:stretch xmlns:a="http://schemas.openxmlformats.org/drawingml/2006/main"/>
        </p:blipFill>
        <p:spPr>
          <a:xfrm xmlns:a="http://schemas.openxmlformats.org/drawingml/2006/main">
            <a:off x="685800" y="150495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25DE1-5245-431F-AE04-4B403F8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47800"/>
            <a:ext cx="5067300" cy="3829050"/>
          </a:xfrm>
          <a:prstGeom xmlns:a="http://schemas.openxmlformats.org/drawingml/2006/main" prst="roundRect">
            <a:avLst>
              <a:gd name="adj" fmla="val 24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114daece6451a"/>
          <a:stretch xmlns:a="http://schemas.openxmlformats.org/drawingml/2006/main"/>
        </p:blipFill>
        <p:spPr>
          <a:xfrm xmlns:a="http://schemas.openxmlformats.org/drawingml/2006/main">
            <a:off x="6553200" y="150495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BDF17-0492-498C-B777-595C322D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2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Градиент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B087C-9C7D-40DF-AB89-7DE03180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436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подчёркивает переход яркости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A369E-4804-4730-B019-94AC9FA5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Маска объекта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FB607-B6DD-46E5-B901-3D08D1C4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436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задаёт заполненную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4041445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9D77C-C75C-49F3-A1BC-D8CC768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86A10-5F5A-4A7A-B071-C0F0B8D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BF99D-28A6-4A5F-BE45-FA885E84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ПЕРЕКРЫВАЮЩИЕСЯ ОБЪЕКТЫ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AE976-E589-4276-B223-F45F4A91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КАСАНИЕ И ПЕРЕКРЫТИЕ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B44C9-EEE6-458A-BF77-29EE0E37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Watershed разделяет объекты по маркерам расстояния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A67E8-DC2D-4DC2-8A08-8ACA0FB0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6019800" cy="4362450"/>
          </a:xfrm>
          <a:prstGeom xmlns:a="http://schemas.openxmlformats.org/drawingml/2006/main" prst="roundRect">
            <a:avLst>
              <a:gd name="adj" fmla="val 218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d5696ffad4044"/>
          <a:stretch xmlns:a="http://schemas.openxmlformats.org/drawingml/2006/main"/>
        </p:blipFill>
        <p:spPr>
          <a:xfrm xmlns:a="http://schemas.openxmlformats.org/drawingml/2006/main">
            <a:off x="1108710" y="1428750"/>
            <a:ext cx="5097780" cy="424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78BAB-DDDF-437F-8D75-9AD3D5E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621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F35C3-3578-4617-8131-0114399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Бинарная маска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9770A-7510-4B7B-91DE-C1244A56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9AC1C-ED76-46BF-9537-D73BE390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0D498-45FD-44E0-951C-58B0936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Distance transform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522B6-AE30-49E5-BA58-2660DB2C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48CA7-AB71-4B71-9F6D-182B29F1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3D6BE-1186-403C-9A07-1905871C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Маркеры максимумов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B7BCB-9F23-4E9A-A00B-2D7B2110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195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BD0AE-78FD-4118-A02C-F2333A7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66E0A-624E-4769-8FD1-283775D8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81C6E-49D9-4B78-8F51-501CB55B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3905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BFF44-9838-46EC-8352-66D3B01B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Слишком много маркеров приводит к пере-сегментации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9645633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8EF7C-525A-46AD-B13A-51D7EEEA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33254-540D-4A08-A178-AC6B4601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E3982-A632-418D-BDE1-F82245D5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СЕГМЕНТАЦИЯ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A5440-A08B-4143-AB09-573C6A5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SCIKIT-IMAGE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539B7-73B9-449C-BA31-7ABD8B7D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порог, очистка и маркировка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9DC45-ABF0-44B8-AE69-9628516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62000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skimage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ski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image = ski.io.imread(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'field.tif'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threshold = ski.filters.threshold_otsu(image)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mask = image &gt; threshold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mask = ski.morphology.remove_small_objects(mask, min_size=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49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mask = ski.morphology.remove_small_holes(mask, area_threshold=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49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labels = ski.measure.label(mask, connectivity=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EB2F-A715-4921-B687-42DE936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Перед запуском серии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C343D-3C74-458D-A17D-17A90FC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7622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зафиксировать полярность объектов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перевести min_size из физических единиц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проверить связность 4 или 8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сохранить маску и labels</a:t>
            </a:r>
          </a:p>
        </p:txBody>
      </p:sp>
    </p:spTree>
    <p:extLst>
      <p:ext uri="{BB962C8B-B14F-4D97-AF65-F5344CB8AC3E}">
        <p14:creationId xmlns:p14="http://schemas.microsoft.com/office/powerpoint/2010/main" val="868868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1F92F-5EC7-41A8-BB5C-52ADC5F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BEC98-A621-42D8-AA95-8AFB7339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50E51-DA93-42B4-9E05-D190591D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ПЕРЕКРЫТИЯ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6CC9C-13BF-4D4D-8B6A-398900A0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DISTANCE TRANSFORM + WATERSHED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68C9A-FB98-44D0-BE56-815A43B7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разделение соприкасающихся объектов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540D3-BE65-442C-ABB4-DDF907AA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48600" cy="4667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numpy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np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scipy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ndimage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ndi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skimage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ski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distance = ndi.distance_transform_edt(mask)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coords = ski.feature.peak_local_max(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distance, labels=mask, min_distance=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8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markers = np.zeros(mask.shape, dtype=int)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markers[tuple(coords.T)] = np.arange(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len(coords) +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labels = ski.segmentation.watershed(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-distance, markers, mask=mask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C04EE-2019-4A8B-B909-FB956D58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954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Чувствительные параметры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4A965-55A9-425A-A4D9-D87B9C2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min_distance между маркерами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предварительная очистка маски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обработка объектов у края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минимальный размер сегмента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377EB-8013-4FAB-AC96-C1C64FA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57800"/>
            <a:ext cx="30289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34751-A460-49FF-B714-7DF33C87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57800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Маркеры проверяют на вручную размеченной подвыборке</a:t>
            </a:r>
          </a:p>
        </p:txBody>
      </p:sp>
    </p:spTree>
    <p:extLst>
      <p:ext uri="{BB962C8B-B14F-4D97-AF65-F5344CB8AC3E}">
        <p14:creationId xmlns:p14="http://schemas.microsoft.com/office/powerpoint/2010/main" val="13991159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5CAF7-1115-4605-AEFA-D2747EA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13CD6-8DF4-4E32-A84C-BDB1B9F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70902-6FFE-4C35-865A-B1F90459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4A1A0-A6F2-4B76-BEFE-9B7285F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42336-7370-4D3D-AAD7-6B5F3CC2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Измерения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43A98-209A-4819-91C1-92FA93CF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Размер, форма, пористость и дефектность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F580F-C3B4-4035-992B-8EC6C4FF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6876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CF004-94D4-4123-A153-D04F814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162D6-FFA9-4695-A6D1-BD2129D6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7FAD4-C17C-4C4F-8EA6-F064A5B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ИЗМЕРЕНИЯ ОБЪЕКТОВ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F25DF-488B-4A2B-8338-96BC68B8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ОДНА СТРОКА НА ОБЪЕКТ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332C5-8D1C-4952-9AB7-8BD0D8E7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Region properties превращают labels в таблицу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23900" y="1466850"/>
          <a:ext xmlns:a="http://schemas.openxmlformats.org/drawingml/2006/main" cx="107442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2686050"/>
                <a:gridCol w="2686050"/>
                <a:gridCol w="2686050"/>
              </a:tblGrid>
              <a:tr h="63500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Смысл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Единицы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Чувствительность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63500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площадь объекта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µm²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порог и отверстия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3500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equivalent_diameter_area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диаметр равновеликого круга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µm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слияние объектов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3500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axis_major_length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длина главной оси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µm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ориентация и контур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3500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eccentricity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вытянутость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безразм.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шум границы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3500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solidity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отношение к выпуклой оболочке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безразм.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вогнутости и дефекты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6ED97-9A42-44AE-80CE-9B2A50C4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19750"/>
            <a:ext cx="85344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06ED8-C0FC-4790-BDEA-BFCC55C1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19750"/>
            <a:ext cx="853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spacing передаёт физический размер пикселя непосредственно в regionprops</a:t>
            </a:r>
          </a:p>
        </p:txBody>
      </p:sp>
    </p:spTree>
    <p:extLst>
      <p:ext uri="{BB962C8B-B14F-4D97-AF65-F5344CB8AC3E}">
        <p14:creationId xmlns:p14="http://schemas.microsoft.com/office/powerpoint/2010/main" val="15260119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E2B55-DFB3-4357-860A-6FEB0474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1FC0F-B318-402D-8E50-5888607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DCF39-C8C1-496A-BFF0-A0B65396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РАЗМЕРЫ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0925-365A-4D90-B71C-726BA6C1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ЭКВИВАЛЕНТНЫЙ ДИАМЕТР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3D9E6-0BD2-4132-9188-003E36F3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Размеры описывают распределением, а не одним средним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14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0811f9b0d04ae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7FA52-3C54-496F-B635-8C96FFD1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Что указывать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7F8D9-06BD-42DB-9240-49E86D1A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число объектов и полей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медиана и квантили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правило отсечения мелких объектов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обработка объектов у края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CE301-D1B6-4C7E-B8FD-F85E69FA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81600"/>
            <a:ext cx="33718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1E83B-5617-4FDC-AD32-0BD8790D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81600"/>
            <a:ext cx="3371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Среднее по объектам не отражает вариацию между полями</a:t>
            </a:r>
          </a:p>
        </p:txBody>
      </p:sp>
    </p:spTree>
    <p:extLst>
      <p:ext uri="{BB962C8B-B14F-4D97-AF65-F5344CB8AC3E}">
        <p14:creationId xmlns:p14="http://schemas.microsoft.com/office/powerpoint/2010/main" val="13533837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55C83-6109-4660-82FF-CBFBE13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84513-5F49-4241-8FB8-37D0AEE7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4FDB8-ECF8-47BC-B463-712EA8BE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ФОРМА ОБЪЕКТОВ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961FF-C111-45BC-A41F-61B6B284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КРУГЛОСТЬ И ВЫТЯНУТОСТЬ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B9A80-2CE9-4838-9CE9-DD4DD031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Форма чувствительна к качеству контура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56638-481E-44BB-8A5F-142AA67A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6019800" cy="4343400"/>
          </a:xfrm>
          <a:prstGeom xmlns:a="http://schemas.openxmlformats.org/drawingml/2006/main" prst="roundRect">
            <a:avLst>
              <a:gd name="adj" fmla="val 219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e875f0c354bd3"/>
          <a:stretch xmlns:a="http://schemas.openxmlformats.org/drawingml/2006/main"/>
        </p:blipFill>
        <p:spPr>
          <a:xfrm xmlns:a="http://schemas.openxmlformats.org/drawingml/2006/main">
            <a:off x="1120140" y="1447800"/>
            <a:ext cx="5074920" cy="4229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8CC35-54D4-407F-8314-9B263E4C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7147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99462-F72F-4741-AEAB-C29BFD5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circularity = 4πA / P²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21EC1-EE31-4ECF-9CBC-D897C5E6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37147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41C05-CB59-4648-8247-F43993DD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aspect ratio = major / minor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A909A-A7F4-4988-B6B5-C8E62B8E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3371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Пиксельный контур завышает периметр. Сравнение требует одинакового масштаба, сглаживания и метода вычисления P.</a:t>
            </a:r>
          </a:p>
        </p:txBody>
      </p:sp>
    </p:spTree>
    <p:extLst>
      <p:ext uri="{BB962C8B-B14F-4D97-AF65-F5344CB8AC3E}">
        <p14:creationId xmlns:p14="http://schemas.microsoft.com/office/powerpoint/2010/main" val="14103085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9F78F-A00E-416C-8434-017EC1C4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B9C92-2CEF-4F61-97F1-0BC39636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9E9E9-CD6D-4081-B945-404AF85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ПОРИСТОСТЬ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5252-C542-49EE-BA56-8BF7A3CE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ПЛОЩАДНАЯ ДОЛЯ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64615-5863-4A92-897E-BD522C5F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Пористость зависит от определения фазы и порога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04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e6eece4cb1445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4ABC1-0998-4BEB-AAD8-7D6DB31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238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169E9-EAA9-4149-8279-F53E04F8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φA = Apore / Atotal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3ED30-307B-4A31-8FD4-69CAF7F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Оговорки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99BCC-F5D4-4E6C-833A-E187D8E1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38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2D-доля не всегда равна объёмной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открытые и закрытые поры различаются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края и артефакты исключают по правилам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порог включают в оценку устойчивости</a:t>
            </a:r>
          </a:p>
        </p:txBody>
      </p:sp>
    </p:spTree>
    <p:extLst>
      <p:ext uri="{BB962C8B-B14F-4D97-AF65-F5344CB8AC3E}">
        <p14:creationId xmlns:p14="http://schemas.microsoft.com/office/powerpoint/2010/main" val="1408832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25562-E3DB-4CF5-B655-2A62D6D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68E84-CDE6-4E87-899D-3B0DF508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08E3-856F-4D79-8A0E-A32E57ED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ДЕФЕКТНОСТЬ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BC06E-1989-43D8-9431-08DC493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НЕСКОЛЬКО МЕТРИК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B7292-F2EF-43C1-B1E2-8FB1C6F5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Дефектность описывают частотой, площадью и размером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E5ED7-BE7F-41C9-B8F0-84AD3357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6591300" cy="4362450"/>
          </a:xfrm>
          <a:prstGeom xmlns:a="http://schemas.openxmlformats.org/drawingml/2006/main" prst="roundRect">
            <a:avLst>
              <a:gd name="adj" fmla="val 218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d11b67eff481f"/>
          <a:stretch xmlns:a="http://schemas.openxmlformats.org/drawingml/2006/main"/>
        </p:blipFill>
        <p:spPr>
          <a:xfrm xmlns:a="http://schemas.openxmlformats.org/drawingml/2006/main">
            <a:off x="1092200" y="1428750"/>
            <a:ext cx="5664200" cy="424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FAF1D-06E5-44A1-B4B1-196D4259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Пример набора метрик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3D371-8A05-4E6E-A002-7BB7C11A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дефекты на единицу площади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доля площади дефектов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распределение размера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расстояние между дефектами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доля объектов, касающихся края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85FF8-2B53-4FFF-BF9F-51A2156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5814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A302E-6116-43D5-92F3-38EDB28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58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Тип дефекта задают до подсчёта и проверяют вручную</a:t>
            </a:r>
          </a:p>
        </p:txBody>
      </p:sp>
    </p:spTree>
    <p:extLst>
      <p:ext uri="{BB962C8B-B14F-4D97-AF65-F5344CB8AC3E}">
        <p14:creationId xmlns:p14="http://schemas.microsoft.com/office/powerpoint/2010/main" val="10362129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5B906-C386-4D3A-8BBD-F747B64E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43C60-0776-4214-8726-454B2553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65DCB-D812-4296-9EAB-AA52C0A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ВЫБОР ПОЛЯ ЗРЕНИЯ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0274B-DB2A-48FD-82EE-0ADE661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ВНУТРИ ОДНОГО ОБРАЗЦА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62C63-9378-4DB6-9FD6-016B1395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Разные поля зрения дают разные оценки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5516a7508e401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B9C46-8648-4884-B19D-052A1A26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Схема выбора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8F828-45B1-42E2-9FCF-7CB2D4AF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3200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случайные или систематические координаты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одинаковая площадь поля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несколько полей на образец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несколько независимых образцов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609C3-BAF0-4266-A724-AB2A1D2B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19700"/>
            <a:ext cx="33909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C6143-B854-4A2A-9C19-05B4FDE5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19700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Красивый кадр не является случайной выборкой</a:t>
            </a:r>
          </a:p>
        </p:txBody>
      </p:sp>
    </p:spTree>
    <p:extLst>
      <p:ext uri="{BB962C8B-B14F-4D97-AF65-F5344CB8AC3E}">
        <p14:creationId xmlns:p14="http://schemas.microsoft.com/office/powerpoint/2010/main" val="3870695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2B708-8406-4591-BFA6-419C6F0F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6B186-3DBB-4F8F-BF87-940D17FD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B020C-BA9B-4A3E-BA5B-15F66F3A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3C1AB-B540-4864-9D6B-DCE718C7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ИЕРАРХИЧЕСКАЯ ВЫБОРКА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C3106-447B-4527-B8CA-C535A94B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Вариация разделяется между объектами, полями и образцами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04850" y="1466850"/>
          <a:ext xmlns:a="http://schemas.openxmlformats.org/drawingml/2006/main" cx="6762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94dda09a474ba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9BA4-393D-44A3-AC24-F7984E9B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36766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951F9-EDD1-4177-81AD-EB740E6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3676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yijk = μ + sampleᵢ + FOVⱼ(i) + εijk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2F9A4-DCFF-4405-9C68-D6769273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Единица независимости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ADFA3-FD12-43A6-B1D5-6EB5F6F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3219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Статистический вывод о материале опирается на независимые образцы, а не на число сегментированных пикселей.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960A6-131A-4009-AEE2-870FA55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53050"/>
            <a:ext cx="360045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61688-2CB1-4780-B2A8-017F6A9E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530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Повторный запуск pipeline оценивает только алгоритмическую часть</a:t>
            </a:r>
          </a:p>
        </p:txBody>
      </p:sp>
    </p:spTree>
    <p:extLst>
      <p:ext uri="{BB962C8B-B14F-4D97-AF65-F5344CB8AC3E}">
        <p14:creationId xmlns:p14="http://schemas.microsoft.com/office/powerpoint/2010/main" val="15121855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4D999-8CA7-4F62-8E3D-0A0133F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F50CF-0A7C-4284-A0AB-DC98E409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F3377-2A4D-4CD4-9B86-E327554A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29A05-7934-4AB0-9C3B-AD653AA5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7448E-AE79-488D-81A8-F2A0AE42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Устойчивость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55329-2E3A-437D-A8FF-5C7989A4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Порог, параметры и пакетный контроль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61C4F-9697-4B90-9A5E-D5D3537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883072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6F38-507F-496F-94FC-AF96E42B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5CC15-90D8-49FC-9492-67247425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9360A-E776-4C8C-95FA-96A9BEFB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УСТОЙЧИВОСТЬ РЕЗУЛЬТАТА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6026E-0546-4C5F-BCE2-D1755580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SENSITIVITY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6EACB-0FD5-4402-9732-81942810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Результат проверяют на диапазоне допустимых порогов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2d27989e2a497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0247E-5A78-475C-8861-7340184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33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Ищут плато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E7F15-3438-412C-93C1-549C645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Рабочий диапазон параметров должен давать близкие выводы, а не единственную удобную точку.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BEF3F-257D-4AA5-9841-53A986E4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порог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размер очистки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min_distance маркеров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правила границы кадра</a:t>
            </a:r>
          </a:p>
        </p:txBody>
      </p:sp>
    </p:spTree>
    <p:extLst>
      <p:ext uri="{BB962C8B-B14F-4D97-AF65-F5344CB8AC3E}">
        <p14:creationId xmlns:p14="http://schemas.microsoft.com/office/powerpoint/2010/main" val="16715322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7ED68-EE52-452F-88BC-AF7DB0DB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64FD2-96A5-4C96-A476-F8A6D69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D248C-E12C-4683-B30D-56AED34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УСТОЙЧИВОСТЬ РЕЗУЛЬТАТА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54C04-D655-497B-80E1-A8F2E488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ПОРОГ И РАЗМЕР ОЧИСТКИ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63BBC-73E2-470B-8105-5B10FE21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Карта параметров показывает устойчивую область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F94A0-1423-4472-99C2-5508281E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57550" cy="278130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137e10bfe4074"/>
          <a:stretch xmlns:a="http://schemas.openxmlformats.org/drawingml/2006/main"/>
        </p:blipFill>
        <p:spPr>
          <a:xfrm xmlns:a="http://schemas.openxmlformats.org/drawingml/2006/main">
            <a:off x="666750" y="1604963"/>
            <a:ext cx="3143250" cy="2619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16AAB-7E1D-4577-94F5-7FED187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24000"/>
            <a:ext cx="3257550" cy="278130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cbf10271b4440"/>
          <a:stretch xmlns:a="http://schemas.openxmlformats.org/drawingml/2006/main"/>
        </p:blipFill>
        <p:spPr>
          <a:xfrm xmlns:a="http://schemas.openxmlformats.org/drawingml/2006/main">
            <a:off x="4095750" y="1604963"/>
            <a:ext cx="3143250" cy="2619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397EF-0D55-4A76-9482-49F69D48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5730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Число принятых объектов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600950" y="1524000"/>
          <a:ext xmlns:a="http://schemas.openxmlformats.org/drawingml/2006/main" cx="3905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781050"/>
                <a:gridCol w="781050"/>
                <a:gridCol w="781050"/>
                <a:gridCol w="781050"/>
              </a:tblGrid>
              <a:tr h="5905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min size \ threshold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98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104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116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5905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20 px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91440" marR="91440" marT="45720" marB="45720" anchor="ctr">
                    <a:solidFill>
                      <a:srgbClr val="234A3C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2B654B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73</a:t>
                      </a:r>
                    </a:p>
                  </a:txBody>
                  <a:tcPr marL="91440" marR="91440" marT="45720" marB="45720" anchor="ctr">
                    <a:solidFill>
                      <a:srgbClr val="36503E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4C3238"/>
                    </a:solidFill>
                  </a:tcPr>
                </a:tc>
              </a:tr>
              <a:tr h="5905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40 px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74</a:t>
                      </a:r>
                    </a:p>
                  </a:txBody>
                  <a:tcPr marL="91440" marR="91440" marT="45720" marB="45720" anchor="ctr">
                    <a:solidFill>
                      <a:srgbClr val="2B654B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74</a:t>
                      </a:r>
                    </a:p>
                  </a:txBody>
                  <a:tcPr marL="91440" marR="91440" marT="45720" marB="45720" anchor="ctr">
                    <a:solidFill>
                      <a:srgbClr val="3C7A5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marL="91440" marR="91440" marT="45720" marB="45720" anchor="ctr">
                    <a:solidFill>
                      <a:srgbClr val="356846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67</a:t>
                      </a:r>
                    </a:p>
                  </a:txBody>
                  <a:tcPr marL="91440" marR="91440" marT="45720" marB="45720" anchor="ctr">
                    <a:solidFill>
                      <a:srgbClr val="4C3238"/>
                    </a:solidFill>
                  </a:tcPr>
                </a:tc>
              </a:tr>
              <a:tr h="5905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60 px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36503E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356846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2B654B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65</a:t>
                      </a:r>
                    </a:p>
                  </a:txBody>
                  <a:tcPr marL="91440" marR="91440" marT="45720" marB="45720" anchor="ctr">
                    <a:solidFill>
                      <a:srgbClr val="553036"/>
                    </a:solidFill>
                  </a:tcPr>
                </a:tc>
              </a:tr>
              <a:tr h="5905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80 px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91440" marR="91440" marT="45720" marB="45720" anchor="ctr">
                    <a:solidFill>
                      <a:srgbClr val="4C3238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91440" marR="91440" marT="45720" marB="45720" anchor="ctr">
                    <a:solidFill>
                      <a:srgbClr val="553036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91440" marR="91440" marT="45720" marB="45720" anchor="ctr">
                    <a:solidFill>
                      <a:srgbClr val="4C3238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91440" marR="91440" marT="45720" marB="45720" anchor="ctr">
                    <a:solidFill>
                      <a:srgbClr val="612C33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F31D1-056F-425F-94B0-2CE0227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81600"/>
            <a:ext cx="7924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Зелёная область даёт близкие результаты. Красные углы требуют пересмотра параметров или качества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3770207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1930E-2513-4B12-93EC-DE63E0FB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7B9A-9F2B-452E-AE1B-5C8F554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0601F-0962-488D-94A5-6BA76E40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ПАКЕТНАЯ ОБРАБОТКА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A3DFC-4915-4897-A467-C629EEE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SCIKIT-IMAGE + PANDAS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0A501-380F-40C1-B0C4-A3EABF21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один pipeline для всех полей зрения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7AFA1-FD03-4B12-BA67-A77033EA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324850" cy="4781550"/>
          </a:xfrm>
          <a:prstGeom xmlns:a="http://schemas.openxmlformats.org/drawingml/2006/main" prst="roundRect">
            <a:avLst>
              <a:gd name="adj" fmla="val 278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pathlib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Path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pandas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pd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skimage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ski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rows = []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file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sorted(Path(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'fields'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glob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'*.tif'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)):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image = ski.io.imread(file)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labels, qc = segment(image, params)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props = ski.measure.regionprops_table(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    labels, spacing=(um_per_px, um_per_px),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    properties=(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'label'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'area'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'eccentricity'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rows.append(pd.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DataFrame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(props).assign(file=file.name, qc=qc))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pd.concat(rows).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to_csv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'objects.csv'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index=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False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73CC2-EE63-495D-8B20-218E9266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76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Сохраняют вместе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2A1AD-696F-42D8-AF95-B17428C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133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исходное изображение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маску и labels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таблицу объектов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QC по полю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версию параметров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63C2E-7207-47AD-AD98-B59500EA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95900"/>
            <a:ext cx="23431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BD3A8-5EC5-4603-8B89-429B003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95900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Одна строка объекта должна содержать ID поля и образца</a:t>
            </a:r>
          </a:p>
        </p:txBody>
      </p:sp>
    </p:spTree>
    <p:extLst>
      <p:ext uri="{BB962C8B-B14F-4D97-AF65-F5344CB8AC3E}">
        <p14:creationId xmlns:p14="http://schemas.microsoft.com/office/powerpoint/2010/main" val="14853709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97C04-275D-47E9-B82E-99B478A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03F5F-5C4C-4387-AB46-9768BB6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305D6-63F8-4DD0-AEB4-8AF5474E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ИТОГИ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0737E-F297-4F8D-AE3A-CA0FC199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ПРОВЕРЯЕМЫЙ 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734D9-942A-4F73-8130-BD81D4FA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Минимальный отчёт об анализе изображения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FBA86-071B-4BD5-B575-07AA5601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A24F9-86F3-4947-A28E-7C268F1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66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Калибровка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5F1D0-B655-4973-A5D6-D83D213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размер пикселя, эталон и режим увеличения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19B00-57C5-40B9-9148-CF019E64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C486C-BBEA-4D32-8704-C1C89FCC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Сегментация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AEBFB-0816-43A7-86A6-CBDA2C52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метод порога, морфология, связность и watershed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DEC00-2980-41BF-B80D-51B13C01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7FA43-B0D3-4E8A-9066-A1286508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Измерения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13CB4-D793-43A8-A6CC-A913155E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формулы размера, формы, пористости и дефектов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E14D6-331F-4074-94ED-33961AA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5B4D9-875D-4EC2-ABEA-814E7AFB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Выборка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552C5-A376-47A7-B8A6-EEB7640D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число образцов, полей и объектов, схема координат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7C8DD-567E-4B8F-ABC1-E611D1CE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3D4FB-9F5A-450D-B8AD-B7CAEF2B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72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Устойчивость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A1EE4-4532-4030-8820-78712BE4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911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перебор параметров, QC-маски и интервалы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14E10-CD1E-40C5-B570-D62F0C25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57850"/>
            <a:ext cx="84963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B0887-C799-4BCD-85D2-0F47FA64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57850"/>
            <a:ext cx="849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Вывод относится к исследованной выборке полей и диапазону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1364231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2026-09-22T21:59:54.8530000Z</dcterms:created>
  <dcterms:modified xsi:type="dcterms:W3CDTF">2026-09-22T21:59:54.8530000Z</dcterms:modified>
</coreProperties>
</file>