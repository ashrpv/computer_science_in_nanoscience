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cae6ff1f34e11" /><Relationship Type="http://schemas.openxmlformats.org/officeDocument/2006/relationships/extended-properties" Target="/docProps/app.xml" Id="R3b169629c5984ed1" /><Relationship Type="http://schemas.openxmlformats.org/officeDocument/2006/relationships/officeDocument" Target="/ppt/presentation.xml" Id="R4c421ceef2ea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9573bfe6f467d"/>
  </p:sldMasterIdLst>
  <p:notesMasterIdLst>
    <p:notesMasterId xmlns:r="http://schemas.openxmlformats.org/officeDocument/2006/relationships" r:id="R46784b63b78f4dad"/>
  </p:notesMasterIdLst>
  <p:sldIdLst>
    <p:sldId xmlns:r="http://schemas.openxmlformats.org/officeDocument/2006/relationships" id="256" r:id="R6faec699be244ca7"/>
    <p:sldId xmlns:r="http://schemas.openxmlformats.org/officeDocument/2006/relationships" id="257" r:id="R9afce850a23e4099"/>
    <p:sldId xmlns:r="http://schemas.openxmlformats.org/officeDocument/2006/relationships" id="258" r:id="R9cb608b21e604a04"/>
    <p:sldId xmlns:r="http://schemas.openxmlformats.org/officeDocument/2006/relationships" id="259" r:id="R3f9942b06de1438c"/>
    <p:sldId xmlns:r="http://schemas.openxmlformats.org/officeDocument/2006/relationships" id="260" r:id="R6eca473828fe4782"/>
    <p:sldId xmlns:r="http://schemas.openxmlformats.org/officeDocument/2006/relationships" id="261" r:id="Rb9cefd18f0ed4be7"/>
    <p:sldId xmlns:r="http://schemas.openxmlformats.org/officeDocument/2006/relationships" id="262" r:id="Rc79713f55dd74c14"/>
    <p:sldId xmlns:r="http://schemas.openxmlformats.org/officeDocument/2006/relationships" id="263" r:id="Re624f0f45fb9406d"/>
    <p:sldId xmlns:r="http://schemas.openxmlformats.org/officeDocument/2006/relationships" id="264" r:id="Ref2269805a184648"/>
    <p:sldId xmlns:r="http://schemas.openxmlformats.org/officeDocument/2006/relationships" id="265" r:id="R9d27749344574c76"/>
    <p:sldId xmlns:r="http://schemas.openxmlformats.org/officeDocument/2006/relationships" id="266" r:id="R0645472bd0244f25"/>
    <p:sldId xmlns:r="http://schemas.openxmlformats.org/officeDocument/2006/relationships" id="267" r:id="Rfc06a648bec04103"/>
    <p:sldId xmlns:r="http://schemas.openxmlformats.org/officeDocument/2006/relationships" id="268" r:id="R6e9e7c6662b34246"/>
    <p:sldId xmlns:r="http://schemas.openxmlformats.org/officeDocument/2006/relationships" id="269" r:id="R112239f61a244599"/>
    <p:sldId xmlns:r="http://schemas.openxmlformats.org/officeDocument/2006/relationships" id="270" r:id="R288d5cc52dba4a41"/>
    <p:sldId xmlns:r="http://schemas.openxmlformats.org/officeDocument/2006/relationships" id="271" r:id="R435be8e5d23c461a"/>
    <p:sldId xmlns:r="http://schemas.openxmlformats.org/officeDocument/2006/relationships" id="272" r:id="R02b56f904f464f20"/>
    <p:sldId xmlns:r="http://schemas.openxmlformats.org/officeDocument/2006/relationships" id="273" r:id="R7930017ecf3f4878"/>
    <p:sldId xmlns:r="http://schemas.openxmlformats.org/officeDocument/2006/relationships" id="274" r:id="Rdb50985793fa4130"/>
    <p:sldId xmlns:r="http://schemas.openxmlformats.org/officeDocument/2006/relationships" id="275" r:id="R1566b39aaaff404e"/>
    <p:sldId xmlns:r="http://schemas.openxmlformats.org/officeDocument/2006/relationships" id="276" r:id="R5f2664255f694ef8"/>
    <p:sldId xmlns:r="http://schemas.openxmlformats.org/officeDocument/2006/relationships" id="277" r:id="Rcb0a117374ae4323"/>
    <p:sldId xmlns:r="http://schemas.openxmlformats.org/officeDocument/2006/relationships" id="278" r:id="R1b268cf3d5c443d0"/>
    <p:sldId xmlns:r="http://schemas.openxmlformats.org/officeDocument/2006/relationships" id="279" r:id="R619193d519074299"/>
    <p:sldId xmlns:r="http://schemas.openxmlformats.org/officeDocument/2006/relationships" id="280" r:id="R73cff3f053e44cc3"/>
    <p:sldId xmlns:r="http://schemas.openxmlformats.org/officeDocument/2006/relationships" id="281" r:id="Rbee724eb0bb34897"/>
    <p:sldId xmlns:r="http://schemas.openxmlformats.org/officeDocument/2006/relationships" id="282" r:id="Ra523a0eaa44a4fc2"/>
    <p:sldId xmlns:r="http://schemas.openxmlformats.org/officeDocument/2006/relationships" id="283" r:id="R0271f59849a44eee"/>
    <p:sldId xmlns:r="http://schemas.openxmlformats.org/officeDocument/2006/relationships" id="284" r:id="R660d81fd586f4fb2"/>
    <p:sldId xmlns:r="http://schemas.openxmlformats.org/officeDocument/2006/relationships" id="285" r:id="R87a9406711ef4024"/>
    <p:sldId xmlns:r="http://schemas.openxmlformats.org/officeDocument/2006/relationships" id="286" r:id="Rdea0743b6cdb4bc0"/>
    <p:sldId xmlns:r="http://schemas.openxmlformats.org/officeDocument/2006/relationships" id="287" r:id="Rc17175d346a24283"/>
    <p:sldId xmlns:r="http://schemas.openxmlformats.org/officeDocument/2006/relationships" id="288" r:id="R2db9cff7ea904b1c"/>
    <p:sldId xmlns:r="http://schemas.openxmlformats.org/officeDocument/2006/relationships" id="289" r:id="Rda5515270e96401f"/>
    <p:sldId xmlns:r="http://schemas.openxmlformats.org/officeDocument/2006/relationships" id="290" r:id="R9e396876f81b4f84"/>
    <p:sldId xmlns:r="http://schemas.openxmlformats.org/officeDocument/2006/relationships" id="291" r:id="Raf41777033564134"/>
    <p:sldId xmlns:r="http://schemas.openxmlformats.org/officeDocument/2006/relationships" id="292" r:id="R8754919320de454c"/>
    <p:sldId xmlns:r="http://schemas.openxmlformats.org/officeDocument/2006/relationships" id="293" r:id="R8587680a26924d74"/>
    <p:sldId xmlns:r="http://schemas.openxmlformats.org/officeDocument/2006/relationships" id="294" r:id="R26f550ebefc9406a"/>
    <p:sldId xmlns:r="http://schemas.openxmlformats.org/officeDocument/2006/relationships" id="295" r:id="R132c170957b94c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800e9329e9445a" /><Relationship Type="http://schemas.openxmlformats.org/officeDocument/2006/relationships/slideMaster" Target="/ppt/slideMasters/slideMaster1.xml" Id="R2c49573bfe6f467d" /><Relationship Type="http://schemas.openxmlformats.org/officeDocument/2006/relationships/notesMaster" Target="/ppt/notesMasters/notesMaster1.xml" Id="R46784b63b78f4dad" /><Relationship Type="http://schemas.openxmlformats.org/officeDocument/2006/relationships/presProps" Target="/ppt/presProps.xml" Id="R73e6c4fa67514037" /><Relationship Type="http://schemas.openxmlformats.org/officeDocument/2006/relationships/tableStyles" Target="/ppt/tableStyles.xml" Id="R2196ea6ef6b74f01" /><Relationship Type="http://schemas.openxmlformats.org/officeDocument/2006/relationships/slide" Target="/ppt/slides/slide1.xml" Id="R6faec699be244ca7" /><Relationship Type="http://schemas.openxmlformats.org/officeDocument/2006/relationships/slide" Target="/ppt/slides/slide2.xml" Id="R9afce850a23e4099" /><Relationship Type="http://schemas.openxmlformats.org/officeDocument/2006/relationships/slide" Target="/ppt/slides/slide3.xml" Id="R9cb608b21e604a04" /><Relationship Type="http://schemas.openxmlformats.org/officeDocument/2006/relationships/slide" Target="/ppt/slides/slide4.xml" Id="R3f9942b06de1438c" /><Relationship Type="http://schemas.openxmlformats.org/officeDocument/2006/relationships/slide" Target="/ppt/slides/slide5.xml" Id="R6eca473828fe4782" /><Relationship Type="http://schemas.openxmlformats.org/officeDocument/2006/relationships/slide" Target="/ppt/slides/slide6.xml" Id="Rb9cefd18f0ed4be7" /><Relationship Type="http://schemas.openxmlformats.org/officeDocument/2006/relationships/slide" Target="/ppt/slides/slide7.xml" Id="Rc79713f55dd74c14" /><Relationship Type="http://schemas.openxmlformats.org/officeDocument/2006/relationships/slide" Target="/ppt/slides/slide8.xml" Id="Re624f0f45fb9406d" /><Relationship Type="http://schemas.openxmlformats.org/officeDocument/2006/relationships/slide" Target="/ppt/slides/slide9.xml" Id="Ref2269805a184648" /><Relationship Type="http://schemas.openxmlformats.org/officeDocument/2006/relationships/slide" Target="/ppt/slides/slide10.xml" Id="R9d27749344574c76" /><Relationship Type="http://schemas.openxmlformats.org/officeDocument/2006/relationships/slide" Target="/ppt/slides/slide11.xml" Id="R0645472bd0244f25" /><Relationship Type="http://schemas.openxmlformats.org/officeDocument/2006/relationships/slide" Target="/ppt/slides/slide12.xml" Id="Rfc06a648bec04103" /><Relationship Type="http://schemas.openxmlformats.org/officeDocument/2006/relationships/slide" Target="/ppt/slides/slide13.xml" Id="R6e9e7c6662b34246" /><Relationship Type="http://schemas.openxmlformats.org/officeDocument/2006/relationships/slide" Target="/ppt/slides/slide14.xml" Id="R112239f61a244599" /><Relationship Type="http://schemas.openxmlformats.org/officeDocument/2006/relationships/slide" Target="/ppt/slides/slide15.xml" Id="R288d5cc52dba4a41" /><Relationship Type="http://schemas.openxmlformats.org/officeDocument/2006/relationships/slide" Target="/ppt/slides/slide16.xml" Id="R435be8e5d23c461a" /><Relationship Type="http://schemas.openxmlformats.org/officeDocument/2006/relationships/slide" Target="/ppt/slides/slide17.xml" Id="R02b56f904f464f20" /><Relationship Type="http://schemas.openxmlformats.org/officeDocument/2006/relationships/slide" Target="/ppt/slides/slide18.xml" Id="R7930017ecf3f4878" /><Relationship Type="http://schemas.openxmlformats.org/officeDocument/2006/relationships/slide" Target="/ppt/slides/slide19.xml" Id="Rdb50985793fa4130" /><Relationship Type="http://schemas.openxmlformats.org/officeDocument/2006/relationships/slide" Target="/ppt/slides/slide20.xml" Id="R1566b39aaaff404e" /><Relationship Type="http://schemas.openxmlformats.org/officeDocument/2006/relationships/slide" Target="/ppt/slides/slide21.xml" Id="R5f2664255f694ef8" /><Relationship Type="http://schemas.openxmlformats.org/officeDocument/2006/relationships/slide" Target="/ppt/slides/slide22.xml" Id="Rcb0a117374ae4323" /><Relationship Type="http://schemas.openxmlformats.org/officeDocument/2006/relationships/slide" Target="/ppt/slides/slide23.xml" Id="R1b268cf3d5c443d0" /><Relationship Type="http://schemas.openxmlformats.org/officeDocument/2006/relationships/slide" Target="/ppt/slides/slide24.xml" Id="R619193d519074299" /><Relationship Type="http://schemas.openxmlformats.org/officeDocument/2006/relationships/slide" Target="/ppt/slides/slide25.xml" Id="R73cff3f053e44cc3" /><Relationship Type="http://schemas.openxmlformats.org/officeDocument/2006/relationships/slide" Target="/ppt/slides/slide26.xml" Id="Rbee724eb0bb34897" /><Relationship Type="http://schemas.openxmlformats.org/officeDocument/2006/relationships/slide" Target="/ppt/slides/slide27.xml" Id="Ra523a0eaa44a4fc2" /><Relationship Type="http://schemas.openxmlformats.org/officeDocument/2006/relationships/slide" Target="/ppt/slides/slide28.xml" Id="R0271f59849a44eee" /><Relationship Type="http://schemas.openxmlformats.org/officeDocument/2006/relationships/slide" Target="/ppt/slides/slide29.xml" Id="R660d81fd586f4fb2" /><Relationship Type="http://schemas.openxmlformats.org/officeDocument/2006/relationships/slide" Target="/ppt/slides/slide30.xml" Id="R87a9406711ef4024" /><Relationship Type="http://schemas.openxmlformats.org/officeDocument/2006/relationships/slide" Target="/ppt/slides/slide31.xml" Id="Rdea0743b6cdb4bc0" /><Relationship Type="http://schemas.openxmlformats.org/officeDocument/2006/relationships/slide" Target="/ppt/slides/slide32.xml" Id="Rc17175d346a24283" /><Relationship Type="http://schemas.openxmlformats.org/officeDocument/2006/relationships/slide" Target="/ppt/slides/slide33.xml" Id="R2db9cff7ea904b1c" /><Relationship Type="http://schemas.openxmlformats.org/officeDocument/2006/relationships/slide" Target="/ppt/slides/slide34.xml" Id="Rda5515270e96401f" /><Relationship Type="http://schemas.openxmlformats.org/officeDocument/2006/relationships/slide" Target="/ppt/slides/slide35.xml" Id="R9e396876f81b4f84" /><Relationship Type="http://schemas.openxmlformats.org/officeDocument/2006/relationships/slide" Target="/ppt/slides/slide36.xml" Id="Raf41777033564134" /><Relationship Type="http://schemas.openxmlformats.org/officeDocument/2006/relationships/slide" Target="/ppt/slides/slide37.xml" Id="R8754919320de454c" /><Relationship Type="http://schemas.openxmlformats.org/officeDocument/2006/relationships/slide" Target="/ppt/slides/slide38.xml" Id="R8587680a26924d74" /><Relationship Type="http://schemas.openxmlformats.org/officeDocument/2006/relationships/slide" Target="/ppt/slides/slide39.xml" Id="R26f550ebefc9406a" /><Relationship Type="http://schemas.openxmlformats.org/officeDocument/2006/relationships/slide" Target="/ppt/slides/slide40.xml" Id="R132c170957b9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4bc5bf43d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e73084df44607" /><Relationship Type="http://schemas.openxmlformats.org/officeDocument/2006/relationships/notesMaster" Target="/ppt/notesMasters/notesMaster1.xml" Id="R918b5c9fd9ec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6d9164e3814db2" /><Relationship Type="http://schemas.openxmlformats.org/officeDocument/2006/relationships/notesMaster" Target="/ppt/notesMasters/notesMaster1.xml" Id="R9780a7f05c25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51723470ec49c4" /><Relationship Type="http://schemas.openxmlformats.org/officeDocument/2006/relationships/notesMaster" Target="/ppt/notesMasters/notesMaster1.xml" Id="R4aafe1aad125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95bc0a55e4b3a" /><Relationship Type="http://schemas.openxmlformats.org/officeDocument/2006/relationships/notesMaster" Target="/ppt/notesMasters/notesMaster1.xml" Id="Rb3d22ee2a4ea40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19836445a04fd2" /><Relationship Type="http://schemas.openxmlformats.org/officeDocument/2006/relationships/notesMaster" Target="/ppt/notesMasters/notesMaster1.xml" Id="Reacda14a8eaa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e213e55d3246e0" /><Relationship Type="http://schemas.openxmlformats.org/officeDocument/2006/relationships/notesMaster" Target="/ppt/notesMasters/notesMaster1.xml" Id="R2e2efeb174234f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6600d3b5d04f87" /><Relationship Type="http://schemas.openxmlformats.org/officeDocument/2006/relationships/notesMaster" Target="/ppt/notesMasters/notesMaster1.xml" Id="Rd3ce0e7635f7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29a9d78224e66" /><Relationship Type="http://schemas.openxmlformats.org/officeDocument/2006/relationships/notesMaster" Target="/ppt/notesMasters/notesMaster1.xml" Id="R2dbbed45ee88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f214363b054ba3" /><Relationship Type="http://schemas.openxmlformats.org/officeDocument/2006/relationships/notesMaster" Target="/ppt/notesMasters/notesMaster1.xml" Id="R8f2c46cf890649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6c11fae8b47ae" /><Relationship Type="http://schemas.openxmlformats.org/officeDocument/2006/relationships/notesMaster" Target="/ppt/notesMasters/notesMaster1.xml" Id="Ra3be1c33ea7c43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d9d929e31b4118" /><Relationship Type="http://schemas.openxmlformats.org/officeDocument/2006/relationships/notesMaster" Target="/ppt/notesMasters/notesMaster1.xml" Id="Ra0cc361cda1a47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777c7e6c384435" /><Relationship Type="http://schemas.openxmlformats.org/officeDocument/2006/relationships/notesMaster" Target="/ppt/notesMasters/notesMaster1.xml" Id="R682c0464305949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55c887b26e41fe" /><Relationship Type="http://schemas.openxmlformats.org/officeDocument/2006/relationships/notesMaster" Target="/ppt/notesMasters/notesMaster1.xml" Id="R39e19af1b8f940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8f53e9252b4702" /><Relationship Type="http://schemas.openxmlformats.org/officeDocument/2006/relationships/notesMaster" Target="/ppt/notesMasters/notesMaster1.xml" Id="R078a36f1d2eb4f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d15bf23a134731" /><Relationship Type="http://schemas.openxmlformats.org/officeDocument/2006/relationships/notesMaster" Target="/ppt/notesMasters/notesMaster1.xml" Id="R003a7ab63d5149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bdfc49262d414f" /><Relationship Type="http://schemas.openxmlformats.org/officeDocument/2006/relationships/notesMaster" Target="/ppt/notesMasters/notesMaster1.xml" Id="R85abce86355e43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ddc0f7f6884800" /><Relationship Type="http://schemas.openxmlformats.org/officeDocument/2006/relationships/notesMaster" Target="/ppt/notesMasters/notesMaster1.xml" Id="R3a120b6545ca40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10850e1fce437e" /><Relationship Type="http://schemas.openxmlformats.org/officeDocument/2006/relationships/notesMaster" Target="/ppt/notesMasters/notesMaster1.xml" Id="R3be82e60210f47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e6a05c293447c6" /><Relationship Type="http://schemas.openxmlformats.org/officeDocument/2006/relationships/notesMaster" Target="/ppt/notesMasters/notesMaster1.xml" Id="Ra487d9ffa9734d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98ecb52c1a4db6" /><Relationship Type="http://schemas.openxmlformats.org/officeDocument/2006/relationships/notesMaster" Target="/ppt/notesMasters/notesMaster1.xml" Id="Ra265df0fd7014a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167781bb1c45a6" /><Relationship Type="http://schemas.openxmlformats.org/officeDocument/2006/relationships/notesMaster" Target="/ppt/notesMasters/notesMaster1.xml" Id="R9d188f02b64742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8eca3a48e1459d" /><Relationship Type="http://schemas.openxmlformats.org/officeDocument/2006/relationships/notesMaster" Target="/ppt/notesMasters/notesMaster1.xml" Id="Rf995c0b2445d4d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808e8a9c3c44c9" /><Relationship Type="http://schemas.openxmlformats.org/officeDocument/2006/relationships/notesMaster" Target="/ppt/notesMasters/notesMaster1.xml" Id="R8f9878938ec741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48089265e34d45" /><Relationship Type="http://schemas.openxmlformats.org/officeDocument/2006/relationships/notesMaster" Target="/ppt/notesMasters/notesMaster1.xml" Id="R4754debf67e34a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8b463cfbe14ec4" /><Relationship Type="http://schemas.openxmlformats.org/officeDocument/2006/relationships/notesMaster" Target="/ppt/notesMasters/notesMaster1.xml" Id="R0b20102038a440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9770932a434b68" /><Relationship Type="http://schemas.openxmlformats.org/officeDocument/2006/relationships/notesMaster" Target="/ppt/notesMasters/notesMaster1.xml" Id="R7a81d5f76e4f4a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e44861cb604b5a" /><Relationship Type="http://schemas.openxmlformats.org/officeDocument/2006/relationships/notesMaster" Target="/ppt/notesMasters/notesMaster1.xml" Id="R552ef890971c47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df14c0edb14c8e" /><Relationship Type="http://schemas.openxmlformats.org/officeDocument/2006/relationships/notesMaster" Target="/ppt/notesMasters/notesMaster1.xml" Id="Rde9de00600ae48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500e2603ae24978" /><Relationship Type="http://schemas.openxmlformats.org/officeDocument/2006/relationships/notesMaster" Target="/ppt/notesMasters/notesMaster1.xml" Id="Raa2952e2712947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0781b146f345f4" /><Relationship Type="http://schemas.openxmlformats.org/officeDocument/2006/relationships/notesMaster" Target="/ppt/notesMasters/notesMaster1.xml" Id="R8a098a6fa05d43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39fdcb2f944155" /><Relationship Type="http://schemas.openxmlformats.org/officeDocument/2006/relationships/notesMaster" Target="/ppt/notesMasters/notesMaster1.xml" Id="R2c3a9611138945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df22466e1242d9" /><Relationship Type="http://schemas.openxmlformats.org/officeDocument/2006/relationships/notesMaster" Target="/ppt/notesMasters/notesMaster1.xml" Id="R7698e72d05a640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916e33ed704b2f" /><Relationship Type="http://schemas.openxmlformats.org/officeDocument/2006/relationships/notesMaster" Target="/ppt/notesMasters/notesMaster1.xml" Id="Rbfd615e1462546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fe416b31264148" /><Relationship Type="http://schemas.openxmlformats.org/officeDocument/2006/relationships/notesMaster" Target="/ppt/notesMasters/notesMaster1.xml" Id="R43b128a2f2984f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fe07502d87346e7" /><Relationship Type="http://schemas.openxmlformats.org/officeDocument/2006/relationships/notesMaster" Target="/ppt/notesMasters/notesMaster1.xml" Id="R1f71e6b4bff04f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689406cb7440ac" /><Relationship Type="http://schemas.openxmlformats.org/officeDocument/2006/relationships/notesMaster" Target="/ppt/notesMasters/notesMaster1.xml" Id="R492c32fe44de48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da8ae4f6804829" /><Relationship Type="http://schemas.openxmlformats.org/officeDocument/2006/relationships/notesMaster" Target="/ppt/notesMasters/notesMaster1.xml" Id="Rc3daedddafb844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648ffc2620458c" /><Relationship Type="http://schemas.openxmlformats.org/officeDocument/2006/relationships/notesMaster" Target="/ppt/notesMasters/notesMaster1.xml" Id="Rc88c637fdaf145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01a88d43b264c52" /><Relationship Type="http://schemas.openxmlformats.org/officeDocument/2006/relationships/notesMaster" Target="/ppt/notesMasters/notesMaster1.xml" Id="Re04c692f2555473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b3ba97e566a41b1" /><Relationship Type="http://schemas.openxmlformats.org/officeDocument/2006/relationships/notesMaster" Target="/ppt/notesMasters/notesMaster1.xml" Id="R12d1aad737d947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Продолжение лекции 13. Числа и допуск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отдельный синтетический ряд, не продолжение B01–B08 из лекции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e-Handbook: https://www.itl.nist.gov/div898/handbook/pmc/section3/pmc32.htm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Точки из production/data/14-pilot_batches.csv; пределы ±3s учебные. NIST: https://www.itl.nist.gov/div898/handbook/pmc/section3/pmc32.htm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Phase I/II: https://www.itl.nist.gov/div898/handbook/pmc/section1/pmc12.htm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настоящей I–MR-карты NIST рассматривает скользящий размах: https://www.itl.nist.gov/div898/handbook/pmc/section3/pmc322.htm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EWMA: https://www.itl.nist.gov/div898/handbook/pmc/section3/pmc324.htm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EWMA: https://www.itl.nist.gov/div898/handbook/pmc/section3/pmc324.htm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из production/examples/lecture14.py; λ=0,25, L=3.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Учебные временные пределы при λ=0,25 и L=3; NIST EWMA: https://www.itl.nist.gov/div898/handbook/pmc/section3/pmc324.htm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Частоты ложных сигналов обоих правил в учебном ряду не калиброваны.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Наблюдательная последовательность смешивает лот и время.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credibility of twins: https://www.nist.gov/publications/credibility-consideration-digital-twins-manufacturing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Синтетические точки: seed=140, шум σ=0,025; после 10 мин смещение +0,08. Пример не связан с реальным датчиком.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VVUQ: https://www.nist.gov/publications/credibility-consideration-digital-twins-manufacturing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iterative experimentation: https://www.itl.nist.gov/div898/handbook/pri/section2/pri223.htm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ссылки приведены в конспекте лекции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f6ea0a66940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9655fe93ee4a1e" /><Relationship Type="http://schemas.openxmlformats.org/officeDocument/2006/relationships/slideLayout" Target="/ppt/slideLayouts/slideLayout1.xml" Id="R410d9e6a6a71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d9e6a6a71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1cb9aba934382" /><Relationship Type="http://schemas.openxmlformats.org/officeDocument/2006/relationships/notesSlide" Target="/ppt/notesSlides/notesSlide1.xml" Id="R33e160d5b5ff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0be448e664ac2" /><Relationship Type="http://schemas.openxmlformats.org/officeDocument/2006/relationships/notesSlide" Target="/ppt/notesSlides/notesSlide2.xml" Id="R5ea139ccb524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a3119a3b4976" /><Relationship Type="http://schemas.openxmlformats.org/officeDocument/2006/relationships/notesSlide" Target="/ppt/notesSlides/notesSlide3.xml" Id="R56e0c29348a84b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6a1ef2ef4733" /><Relationship Type="http://schemas.openxmlformats.org/officeDocument/2006/relationships/notesSlide" Target="/ppt/notesSlides/notesSlide4.xml" Id="R4627f25cfd6040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a6e44fb004b72" /><Relationship Type="http://schemas.openxmlformats.org/officeDocument/2006/relationships/notesSlide" Target="/ppt/notesSlides/notesSlide5.xml" Id="Ra84ef2354e9047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0a8661a7245b9" /><Relationship Type="http://schemas.openxmlformats.org/officeDocument/2006/relationships/notesSlide" Target="/ppt/notesSlides/notesSlide6.xml" Id="R55344abf86ac4a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d64f3f869455b" /><Relationship Type="http://schemas.openxmlformats.org/officeDocument/2006/relationships/chart" Target="/ppt/slides/charts/chart1.xml" Id="R687c12b6a7b7471c" /><Relationship Type="http://schemas.openxmlformats.org/officeDocument/2006/relationships/notesSlide" Target="/ppt/notesSlides/notesSlide7.xml" Id="R1d4a1a9cc3e5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5458720d54bbd" /><Relationship Type="http://schemas.openxmlformats.org/officeDocument/2006/relationships/notesSlide" Target="/ppt/notesSlides/notesSlide8.xml" Id="Ra9017186dea2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07536b7b442fe" /><Relationship Type="http://schemas.openxmlformats.org/officeDocument/2006/relationships/notesSlide" Target="/ppt/notesSlides/notesSlide9.xml" Id="R6b152a759bdc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5eb4a529402b" /><Relationship Type="http://schemas.openxmlformats.org/officeDocument/2006/relationships/notesSlide" Target="/ppt/notesSlides/notesSlide10.xml" Id="Re1cc41a1159e4c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67a8ea3114da3" /><Relationship Type="http://schemas.openxmlformats.org/officeDocument/2006/relationships/notesSlide" Target="/ppt/notesSlides/notesSlide11.xml" Id="R1244280c355841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5da4b72a24719" /><Relationship Type="http://schemas.openxmlformats.org/officeDocument/2006/relationships/notesSlide" Target="/ppt/notesSlides/notesSlide12.xml" Id="R9866af57d8374f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0ca9bedc54910" /><Relationship Type="http://schemas.openxmlformats.org/officeDocument/2006/relationships/notesSlide" Target="/ppt/notesSlides/notesSlide13.xml" Id="Rb8c8669685db4a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e998d6c044721" /><Relationship Type="http://schemas.openxmlformats.org/officeDocument/2006/relationships/chart" Target="/ppt/slides/charts/chart2.xml" Id="R84707600925246ab" /><Relationship Type="http://schemas.openxmlformats.org/officeDocument/2006/relationships/notesSlide" Target="/ppt/notesSlides/notesSlide14.xml" Id="R7200f15ad64d46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d703e91914470" /><Relationship Type="http://schemas.openxmlformats.org/officeDocument/2006/relationships/notesSlide" Target="/ppt/notesSlides/notesSlide15.xml" Id="R4e4d2477c6b044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06da206d4a96" /><Relationship Type="http://schemas.openxmlformats.org/officeDocument/2006/relationships/notesSlide" Target="/ppt/notesSlides/notesSlide16.xml" Id="R17b515df1ac845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10f4886514d18" /><Relationship Type="http://schemas.openxmlformats.org/officeDocument/2006/relationships/notesSlide" Target="/ppt/notesSlides/notesSlide17.xml" Id="Rdc7ac6332a5b4c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9594a5df0421f" /><Relationship Type="http://schemas.openxmlformats.org/officeDocument/2006/relationships/notesSlide" Target="/ppt/notesSlides/notesSlide18.xml" Id="R97418be2a64344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be461f5a2421f" /><Relationship Type="http://schemas.openxmlformats.org/officeDocument/2006/relationships/notesSlide" Target="/ppt/notesSlides/notesSlide19.xml" Id="R917ac54efc96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9438fc784184" /><Relationship Type="http://schemas.openxmlformats.org/officeDocument/2006/relationships/notesSlide" Target="/ppt/notesSlides/notesSlide20.xml" Id="R317276b971b24e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0a3a004248bb" /><Relationship Type="http://schemas.openxmlformats.org/officeDocument/2006/relationships/notesSlide" Target="/ppt/notesSlides/notesSlide21.xml" Id="Rfc23151000ae46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196b6ca4d453b" /><Relationship Type="http://schemas.openxmlformats.org/officeDocument/2006/relationships/notesSlide" Target="/ppt/notesSlides/notesSlide22.xml" Id="Rcbfa2e78c78a41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729c555e44f70" /><Relationship Type="http://schemas.openxmlformats.org/officeDocument/2006/relationships/notesSlide" Target="/ppt/notesSlides/notesSlide23.xml" Id="Rd48499488f064b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bbc68365c4642" /><Relationship Type="http://schemas.openxmlformats.org/officeDocument/2006/relationships/notesSlide" Target="/ppt/notesSlides/notesSlide24.xml" Id="R551cc024b08b4f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a48fa3ed44bf8" /><Relationship Type="http://schemas.openxmlformats.org/officeDocument/2006/relationships/chart" Target="/ppt/slides/charts/chart3.xml" Id="R91eed34bea8442cf" /><Relationship Type="http://schemas.openxmlformats.org/officeDocument/2006/relationships/notesSlide" Target="/ppt/notesSlides/notesSlide25.xml" Id="Rf1de2b0900884a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76a3335b4340" /><Relationship Type="http://schemas.openxmlformats.org/officeDocument/2006/relationships/notesSlide" Target="/ppt/notesSlides/notesSlide26.xml" Id="Rbf8f6670f7ae464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1491ea0984c31" /><Relationship Type="http://schemas.openxmlformats.org/officeDocument/2006/relationships/notesSlide" Target="/ppt/notesSlides/notesSlide27.xml" Id="R6ccf36b76a184f5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45a6d667e43a9" /><Relationship Type="http://schemas.openxmlformats.org/officeDocument/2006/relationships/notesSlide" Target="/ppt/notesSlides/notesSlide28.xml" Id="Rf0d366fb77604df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d1fb67ae4b99" /><Relationship Type="http://schemas.openxmlformats.org/officeDocument/2006/relationships/notesSlide" Target="/ppt/notesSlides/notesSlide29.xml" Id="Rf43f206cac1c492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cf652df84171" /><Relationship Type="http://schemas.openxmlformats.org/officeDocument/2006/relationships/notesSlide" Target="/ppt/notesSlides/notesSlide30.xml" Id="Ra32b43acd4b548d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e8fb41df54775" /><Relationship Type="http://schemas.openxmlformats.org/officeDocument/2006/relationships/notesSlide" Target="/ppt/notesSlides/notesSlide31.xml" Id="R1e2fb3774ff240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9f8296b5d4d02" /><Relationship Type="http://schemas.openxmlformats.org/officeDocument/2006/relationships/notesSlide" Target="/ppt/notesSlides/notesSlide32.xml" Id="R80f3657d652c43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e9b89e934fad" /><Relationship Type="http://schemas.openxmlformats.org/officeDocument/2006/relationships/notesSlide" Target="/ppt/notesSlides/notesSlide33.xml" Id="Rd0167d376146401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91235b1e4df6" /><Relationship Type="http://schemas.openxmlformats.org/officeDocument/2006/relationships/notesSlide" Target="/ppt/notesSlides/notesSlide34.xml" Id="R095d3ab45ab649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0d4f44016473d" /><Relationship Type="http://schemas.openxmlformats.org/officeDocument/2006/relationships/notesSlide" Target="/ppt/notesSlides/notesSlide35.xml" Id="R4deb77a89564457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31d49a4bd4b06" /><Relationship Type="http://schemas.openxmlformats.org/officeDocument/2006/relationships/notesSlide" Target="/ppt/notesSlides/notesSlide36.xml" Id="R5f53a658854f49f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e844b7c6438f" /><Relationship Type="http://schemas.openxmlformats.org/officeDocument/2006/relationships/notesSlide" Target="/ppt/notesSlides/notesSlide37.xml" Id="R2d0d51cab8444f1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73e6d2d4049ca" /><Relationship Type="http://schemas.openxmlformats.org/officeDocument/2006/relationships/notesSlide" Target="/ppt/notesSlides/notesSlide38.xml" Id="R23b0e2727d6841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1bca82bf2445f" /><Relationship Type="http://schemas.openxmlformats.org/officeDocument/2006/relationships/notesSlide" Target="/ppt/notesSlides/notesSlide39.xml" Id="R34fd0b5ce76f4e3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210fa005b4307" /><Relationship Type="http://schemas.openxmlformats.org/officeDocument/2006/relationships/notesSlide" Target="/ppt/notesSlides/notesSlide40.xml" Id="R2fb51c21d15641b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DLS партии</c:v>
          </c:tx>
          <c:spPr>
            <a:ln xmlns:a="http://schemas.openxmlformats.org/drawingml/2006/main" w="32385">
              <a:solidFill>
                <a:srgbClr val="A0E6DC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Data'!$A$2:$A$31</c:f>
              <c:strCache>
                <c:ptCount val="30"/>
                <c:pt idx="0">
                  <c:v>B101</c:v>
                </c:pt>
                <c:pt idx="1">
                  <c:v>B102</c:v>
                </c:pt>
                <c:pt idx="2">
                  <c:v>B103</c:v>
                </c:pt>
                <c:pt idx="3">
                  <c:v>B104</c:v>
                </c:pt>
                <c:pt idx="4">
                  <c:v>B105</c:v>
                </c:pt>
                <c:pt idx="5">
                  <c:v>B106</c:v>
                </c:pt>
                <c:pt idx="6">
                  <c:v>B107</c:v>
                </c:pt>
                <c:pt idx="7">
                  <c:v>B108</c:v>
                </c:pt>
                <c:pt idx="8">
                  <c:v>B109</c:v>
                </c:pt>
                <c:pt idx="9">
                  <c:v>B110</c:v>
                </c:pt>
                <c:pt idx="10">
                  <c:v>B111</c:v>
                </c:pt>
                <c:pt idx="11">
                  <c:v>B112</c:v>
                </c:pt>
                <c:pt idx="12">
                  <c:v>B113</c:v>
                </c:pt>
                <c:pt idx="13">
                  <c:v>B114</c:v>
                </c:pt>
                <c:pt idx="14">
                  <c:v>B115</c:v>
                </c:pt>
                <c:pt idx="15">
                  <c:v>B116</c:v>
                </c:pt>
                <c:pt idx="16">
                  <c:v>B117</c:v>
                </c:pt>
                <c:pt idx="17">
                  <c:v>B118</c:v>
                </c:pt>
                <c:pt idx="18">
                  <c:v>B119</c:v>
                </c:pt>
                <c:pt idx="19">
                  <c:v>B120</c:v>
                </c:pt>
                <c:pt idx="20">
                  <c:v>B121</c:v>
                </c:pt>
                <c:pt idx="21">
                  <c:v>B122</c:v>
                </c:pt>
                <c:pt idx="22">
                  <c:v>B123</c:v>
                </c:pt>
                <c:pt idx="23">
                  <c:v>B124</c:v>
                </c:pt>
                <c:pt idx="24">
                  <c:v>B125</c:v>
                </c:pt>
                <c:pt idx="25">
                  <c:v>B126</c:v>
                </c:pt>
                <c:pt idx="26">
                  <c:v>B127</c:v>
                </c:pt>
                <c:pt idx="27">
                  <c:v>B128</c:v>
                </c:pt>
                <c:pt idx="28">
                  <c:v>B129</c:v>
                </c:pt>
                <c:pt idx="29">
                  <c:v>B130</c:v>
                </c:pt>
              </c:strCache>
            </c:strRef>
          </c:cat>
          <c:val>
            <c:numRef>
              <c:f>'Chart Data'!$B$2:$B$31</c:f>
              <c:numCache>
                <c:formatCode>General</c:formatCode>
                <c:ptCount val="30"/>
                <c:pt idx="0">
                  <c:v>115.5</c:v>
                </c:pt>
                <c:pt idx="1">
                  <c:v>116.4</c:v>
                </c:pt>
                <c:pt idx="2">
                  <c:v>114.7</c:v>
                </c:pt>
                <c:pt idx="3">
                  <c:v>116.8</c:v>
                </c:pt>
                <c:pt idx="4">
                  <c:v>117.1</c:v>
                </c:pt>
                <c:pt idx="5">
                  <c:v>115.2</c:v>
                </c:pt>
                <c:pt idx="6">
                  <c:v>116.2</c:v>
                </c:pt>
                <c:pt idx="7">
                  <c:v>114.9</c:v>
                </c:pt>
                <c:pt idx="8">
                  <c:v>117.3</c:v>
                </c:pt>
                <c:pt idx="9">
                  <c:v>116.5</c:v>
                </c:pt>
                <c:pt idx="10">
                  <c:v>115.8</c:v>
                </c:pt>
                <c:pt idx="11">
                  <c:v>116</c:v>
                </c:pt>
                <c:pt idx="12">
                  <c:v>115.3</c:v>
                </c:pt>
                <c:pt idx="13">
                  <c:v>117.4</c:v>
                </c:pt>
                <c:pt idx="14">
                  <c:v>116.7</c:v>
                </c:pt>
                <c:pt idx="15">
                  <c:v>114.8</c:v>
                </c:pt>
                <c:pt idx="16">
                  <c:v>116.3</c:v>
                </c:pt>
                <c:pt idx="17">
                  <c:v>115.6</c:v>
                </c:pt>
                <c:pt idx="18">
                  <c:v>117</c:v>
                </c:pt>
                <c:pt idx="19">
                  <c:v>115.7</c:v>
                </c:pt>
                <c:pt idx="20">
                  <c:v>116.8</c:v>
                </c:pt>
                <c:pt idx="21">
                  <c:v>117.4</c:v>
                </c:pt>
                <c:pt idx="22">
                  <c:v>118.2</c:v>
                </c:pt>
                <c:pt idx="23">
                  <c:v>118.4</c:v>
                </c:pt>
                <c:pt idx="24">
                  <c:v>119</c:v>
                </c:pt>
                <c:pt idx="25">
                  <c:v>119.6</c:v>
                </c:pt>
                <c:pt idx="26">
                  <c:v>120.5</c:v>
                </c:pt>
                <c:pt idx="27">
                  <c:v>121.4</c:v>
                </c:pt>
                <c:pt idx="28">
                  <c:v>122.3</c:v>
                </c:pt>
                <c:pt idx="29">
                  <c:v>123.1</c:v>
                </c:pt>
              </c:numCache>
            </c:numRef>
          </c:val>
          <c:smooth val="0"/>
        </c:ser>
        <c:ser>
          <c:idx val="1"/>
          <c:order val="1"/>
          <c:tx>
            <c:v>Верхний I-предел</c:v>
          </c:tx>
          <c:spPr>
            <a:ln xmlns:a="http://schemas.openxmlformats.org/drawingml/2006/main" w="16193">
              <a:solidFill>
                <a:srgbClr val="F1B766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Data'!$C$2:$C$31</c:f>
              <c:strCache>
                <c:ptCount val="30"/>
                <c:pt idx="0">
                  <c:v>B101</c:v>
                </c:pt>
                <c:pt idx="1">
                  <c:v>B102</c:v>
                </c:pt>
                <c:pt idx="2">
                  <c:v>B103</c:v>
                </c:pt>
                <c:pt idx="3">
                  <c:v>B104</c:v>
                </c:pt>
                <c:pt idx="4">
                  <c:v>B105</c:v>
                </c:pt>
                <c:pt idx="5">
                  <c:v>B106</c:v>
                </c:pt>
                <c:pt idx="6">
                  <c:v>B107</c:v>
                </c:pt>
                <c:pt idx="7">
                  <c:v>B108</c:v>
                </c:pt>
                <c:pt idx="8">
                  <c:v>B109</c:v>
                </c:pt>
                <c:pt idx="9">
                  <c:v>B110</c:v>
                </c:pt>
                <c:pt idx="10">
                  <c:v>B111</c:v>
                </c:pt>
                <c:pt idx="11">
                  <c:v>B112</c:v>
                </c:pt>
                <c:pt idx="12">
                  <c:v>B113</c:v>
                </c:pt>
                <c:pt idx="13">
                  <c:v>B114</c:v>
                </c:pt>
                <c:pt idx="14">
                  <c:v>B115</c:v>
                </c:pt>
                <c:pt idx="15">
                  <c:v>B116</c:v>
                </c:pt>
                <c:pt idx="16">
                  <c:v>B117</c:v>
                </c:pt>
                <c:pt idx="17">
                  <c:v>B118</c:v>
                </c:pt>
                <c:pt idx="18">
                  <c:v>B119</c:v>
                </c:pt>
                <c:pt idx="19">
                  <c:v>B120</c:v>
                </c:pt>
                <c:pt idx="20">
                  <c:v>B121</c:v>
                </c:pt>
                <c:pt idx="21">
                  <c:v>B122</c:v>
                </c:pt>
                <c:pt idx="22">
                  <c:v>B123</c:v>
                </c:pt>
                <c:pt idx="23">
                  <c:v>B124</c:v>
                </c:pt>
                <c:pt idx="24">
                  <c:v>B125</c:v>
                </c:pt>
                <c:pt idx="25">
                  <c:v>B126</c:v>
                </c:pt>
                <c:pt idx="26">
                  <c:v>B127</c:v>
                </c:pt>
                <c:pt idx="27">
                  <c:v>B128</c:v>
                </c:pt>
                <c:pt idx="28">
                  <c:v>B129</c:v>
                </c:pt>
                <c:pt idx="29">
                  <c:v>B130</c:v>
                </c:pt>
              </c:strCache>
            </c:strRef>
          </c:cat>
          <c:val>
            <c:numRef>
              <c:f>'Chart Data'!$D$2:$D$31</c:f>
              <c:numCache>
                <c:formatCode>General</c:formatCode>
                <c:ptCount val="30"/>
                <c:pt idx="0">
                  <c:v>118.585783</c:v>
                </c:pt>
                <c:pt idx="1">
                  <c:v>118.585783</c:v>
                </c:pt>
                <c:pt idx="2">
                  <c:v>118.585783</c:v>
                </c:pt>
                <c:pt idx="3">
                  <c:v>118.585783</c:v>
                </c:pt>
                <c:pt idx="4">
                  <c:v>118.585783</c:v>
                </c:pt>
                <c:pt idx="5">
                  <c:v>118.585783</c:v>
                </c:pt>
                <c:pt idx="6">
                  <c:v>118.585783</c:v>
                </c:pt>
                <c:pt idx="7">
                  <c:v>118.585783</c:v>
                </c:pt>
                <c:pt idx="8">
                  <c:v>118.585783</c:v>
                </c:pt>
                <c:pt idx="9">
                  <c:v>118.585783</c:v>
                </c:pt>
                <c:pt idx="10">
                  <c:v>118.585783</c:v>
                </c:pt>
                <c:pt idx="11">
                  <c:v>118.585783</c:v>
                </c:pt>
                <c:pt idx="12">
                  <c:v>118.585783</c:v>
                </c:pt>
                <c:pt idx="13">
                  <c:v>118.585783</c:v>
                </c:pt>
                <c:pt idx="14">
                  <c:v>118.585783</c:v>
                </c:pt>
                <c:pt idx="15">
                  <c:v>118.585783</c:v>
                </c:pt>
                <c:pt idx="16">
                  <c:v>118.585783</c:v>
                </c:pt>
                <c:pt idx="17">
                  <c:v>118.585783</c:v>
                </c:pt>
                <c:pt idx="18">
                  <c:v>118.585783</c:v>
                </c:pt>
                <c:pt idx="19">
                  <c:v>118.585783</c:v>
                </c:pt>
                <c:pt idx="20">
                  <c:v>118.585783</c:v>
                </c:pt>
                <c:pt idx="21">
                  <c:v>118.585783</c:v>
                </c:pt>
                <c:pt idx="22">
                  <c:v>118.585783</c:v>
                </c:pt>
                <c:pt idx="23">
                  <c:v>118.585783</c:v>
                </c:pt>
                <c:pt idx="24">
                  <c:v>118.585783</c:v>
                </c:pt>
                <c:pt idx="25">
                  <c:v>118.585783</c:v>
                </c:pt>
                <c:pt idx="26">
                  <c:v>118.585783</c:v>
                </c:pt>
                <c:pt idx="27">
                  <c:v>118.585783</c:v>
                </c:pt>
                <c:pt idx="28">
                  <c:v>118.585783</c:v>
                </c:pt>
                <c:pt idx="29">
                  <c:v>118.585783</c:v>
                </c:pt>
              </c:numCache>
            </c:numRef>
          </c:val>
          <c:smooth val="0"/>
        </c:ser>
        <c:ser>
          <c:idx val="2"/>
          <c:order val="2"/>
          <c:tx>
            <c:v>Нижний I-предел</c:v>
          </c:tx>
          <c:spPr>
            <a:ln xmlns:a="http://schemas.openxmlformats.org/drawingml/2006/main" w="16193">
              <a:solidFill>
                <a:srgbClr val="F1B766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Data'!$E$2:$E$31</c:f>
              <c:strCache>
                <c:ptCount val="30"/>
                <c:pt idx="0">
                  <c:v>B101</c:v>
                </c:pt>
                <c:pt idx="1">
                  <c:v>B102</c:v>
                </c:pt>
                <c:pt idx="2">
                  <c:v>B103</c:v>
                </c:pt>
                <c:pt idx="3">
                  <c:v>B104</c:v>
                </c:pt>
                <c:pt idx="4">
                  <c:v>B105</c:v>
                </c:pt>
                <c:pt idx="5">
                  <c:v>B106</c:v>
                </c:pt>
                <c:pt idx="6">
                  <c:v>B107</c:v>
                </c:pt>
                <c:pt idx="7">
                  <c:v>B108</c:v>
                </c:pt>
                <c:pt idx="8">
                  <c:v>B109</c:v>
                </c:pt>
                <c:pt idx="9">
                  <c:v>B110</c:v>
                </c:pt>
                <c:pt idx="10">
                  <c:v>B111</c:v>
                </c:pt>
                <c:pt idx="11">
                  <c:v>B112</c:v>
                </c:pt>
                <c:pt idx="12">
                  <c:v>B113</c:v>
                </c:pt>
                <c:pt idx="13">
                  <c:v>B114</c:v>
                </c:pt>
                <c:pt idx="14">
                  <c:v>B115</c:v>
                </c:pt>
                <c:pt idx="15">
                  <c:v>B116</c:v>
                </c:pt>
                <c:pt idx="16">
                  <c:v>B117</c:v>
                </c:pt>
                <c:pt idx="17">
                  <c:v>B118</c:v>
                </c:pt>
                <c:pt idx="18">
                  <c:v>B119</c:v>
                </c:pt>
                <c:pt idx="19">
                  <c:v>B120</c:v>
                </c:pt>
                <c:pt idx="20">
                  <c:v>B121</c:v>
                </c:pt>
                <c:pt idx="21">
                  <c:v>B122</c:v>
                </c:pt>
                <c:pt idx="22">
                  <c:v>B123</c:v>
                </c:pt>
                <c:pt idx="23">
                  <c:v>B124</c:v>
                </c:pt>
                <c:pt idx="24">
                  <c:v>B125</c:v>
                </c:pt>
                <c:pt idx="25">
                  <c:v>B126</c:v>
                </c:pt>
                <c:pt idx="26">
                  <c:v>B127</c:v>
                </c:pt>
                <c:pt idx="27">
                  <c:v>B128</c:v>
                </c:pt>
                <c:pt idx="28">
                  <c:v>B129</c:v>
                </c:pt>
                <c:pt idx="29">
                  <c:v>B130</c:v>
                </c:pt>
              </c:strCache>
            </c:strRef>
          </c:cat>
          <c:val>
            <c:numRef>
              <c:f>'Chart Data'!$F$2:$F$31</c:f>
              <c:numCache>
                <c:formatCode>General</c:formatCode>
                <c:ptCount val="30"/>
                <c:pt idx="0">
                  <c:v>113.534217</c:v>
                </c:pt>
                <c:pt idx="1">
                  <c:v>113.534217</c:v>
                </c:pt>
                <c:pt idx="2">
                  <c:v>113.534217</c:v>
                </c:pt>
                <c:pt idx="3">
                  <c:v>113.534217</c:v>
                </c:pt>
                <c:pt idx="4">
                  <c:v>113.534217</c:v>
                </c:pt>
                <c:pt idx="5">
                  <c:v>113.534217</c:v>
                </c:pt>
                <c:pt idx="6">
                  <c:v>113.534217</c:v>
                </c:pt>
                <c:pt idx="7">
                  <c:v>113.534217</c:v>
                </c:pt>
                <c:pt idx="8">
                  <c:v>113.534217</c:v>
                </c:pt>
                <c:pt idx="9">
                  <c:v>113.534217</c:v>
                </c:pt>
                <c:pt idx="10">
                  <c:v>113.534217</c:v>
                </c:pt>
                <c:pt idx="11">
                  <c:v>113.534217</c:v>
                </c:pt>
                <c:pt idx="12">
                  <c:v>113.534217</c:v>
                </c:pt>
                <c:pt idx="13">
                  <c:v>113.534217</c:v>
                </c:pt>
                <c:pt idx="14">
                  <c:v>113.534217</c:v>
                </c:pt>
                <c:pt idx="15">
                  <c:v>113.534217</c:v>
                </c:pt>
                <c:pt idx="16">
                  <c:v>113.534217</c:v>
                </c:pt>
                <c:pt idx="17">
                  <c:v>113.534217</c:v>
                </c:pt>
                <c:pt idx="18">
                  <c:v>113.534217</c:v>
                </c:pt>
                <c:pt idx="19">
                  <c:v>113.534217</c:v>
                </c:pt>
                <c:pt idx="20">
                  <c:v>113.534217</c:v>
                </c:pt>
                <c:pt idx="21">
                  <c:v>113.534217</c:v>
                </c:pt>
                <c:pt idx="22">
                  <c:v>113.534217</c:v>
                </c:pt>
                <c:pt idx="23">
                  <c:v>113.534217</c:v>
                </c:pt>
                <c:pt idx="24">
                  <c:v>113.534217</c:v>
                </c:pt>
                <c:pt idx="25">
                  <c:v>113.534217</c:v>
                </c:pt>
                <c:pt idx="26">
                  <c:v>113.534217</c:v>
                </c:pt>
                <c:pt idx="27">
                  <c:v>113.534217</c:v>
                </c:pt>
                <c:pt idx="28">
                  <c:v>113.534217</c:v>
                </c:pt>
                <c:pt idx="29">
                  <c:v>113.534217</c:v>
                </c:pt>
              </c:numCache>
            </c:numRef>
          </c:val>
          <c:smooth val="0"/>
        </c:ser>
        <c:ser>
          <c:idx val="3"/>
          <c:order val="3"/>
          <c:tx>
            <c:v>Допуск 125 нм</c:v>
          </c:tx>
          <c:spPr>
            <a:ln xmlns:a="http://schemas.openxmlformats.org/drawingml/2006/main" w="11430">
              <a:solidFill>
                <a:srgbClr val="B6C3D0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Data'!$G$2:$G$31</c:f>
              <c:strCache>
                <c:ptCount val="30"/>
                <c:pt idx="0">
                  <c:v>B101</c:v>
                </c:pt>
                <c:pt idx="1">
                  <c:v>B102</c:v>
                </c:pt>
                <c:pt idx="2">
                  <c:v>B103</c:v>
                </c:pt>
                <c:pt idx="3">
                  <c:v>B104</c:v>
                </c:pt>
                <c:pt idx="4">
                  <c:v>B105</c:v>
                </c:pt>
                <c:pt idx="5">
                  <c:v>B106</c:v>
                </c:pt>
                <c:pt idx="6">
                  <c:v>B107</c:v>
                </c:pt>
                <c:pt idx="7">
                  <c:v>B108</c:v>
                </c:pt>
                <c:pt idx="8">
                  <c:v>B109</c:v>
                </c:pt>
                <c:pt idx="9">
                  <c:v>B110</c:v>
                </c:pt>
                <c:pt idx="10">
                  <c:v>B111</c:v>
                </c:pt>
                <c:pt idx="11">
                  <c:v>B112</c:v>
                </c:pt>
                <c:pt idx="12">
                  <c:v>B113</c:v>
                </c:pt>
                <c:pt idx="13">
                  <c:v>B114</c:v>
                </c:pt>
                <c:pt idx="14">
                  <c:v>B115</c:v>
                </c:pt>
                <c:pt idx="15">
                  <c:v>B116</c:v>
                </c:pt>
                <c:pt idx="16">
                  <c:v>B117</c:v>
                </c:pt>
                <c:pt idx="17">
                  <c:v>B118</c:v>
                </c:pt>
                <c:pt idx="18">
                  <c:v>B119</c:v>
                </c:pt>
                <c:pt idx="19">
                  <c:v>B120</c:v>
                </c:pt>
                <c:pt idx="20">
                  <c:v>B121</c:v>
                </c:pt>
                <c:pt idx="21">
                  <c:v>B122</c:v>
                </c:pt>
                <c:pt idx="22">
                  <c:v>B123</c:v>
                </c:pt>
                <c:pt idx="23">
                  <c:v>B124</c:v>
                </c:pt>
                <c:pt idx="24">
                  <c:v>B125</c:v>
                </c:pt>
                <c:pt idx="25">
                  <c:v>B126</c:v>
                </c:pt>
                <c:pt idx="26">
                  <c:v>B127</c:v>
                </c:pt>
                <c:pt idx="27">
                  <c:v>B128</c:v>
                </c:pt>
                <c:pt idx="28">
                  <c:v>B129</c:v>
                </c:pt>
                <c:pt idx="29">
                  <c:v>B130</c:v>
                </c:pt>
              </c:strCache>
            </c:strRef>
          </c:cat>
          <c:val>
            <c:numRef>
              <c:f>'Chart Data'!$H$2:$H$31</c:f>
              <c:numCache>
                <c:formatCode>General</c:formatCode>
                <c:ptCount val="30"/>
                <c:pt idx="0">
                  <c:v>125</c:v>
                </c:pt>
                <c:pt idx="1">
                  <c:v>125</c:v>
                </c:pt>
                <c:pt idx="2">
                  <c:v>125</c:v>
                </c:pt>
                <c:pt idx="3">
                  <c:v>125</c:v>
                </c:pt>
                <c:pt idx="4">
                  <c:v>125</c:v>
                </c:pt>
                <c:pt idx="5">
                  <c:v>125</c:v>
                </c:pt>
                <c:pt idx="6">
                  <c:v>125</c:v>
                </c:pt>
                <c:pt idx="7">
                  <c:v>125</c:v>
                </c:pt>
                <c:pt idx="8">
                  <c:v>125</c:v>
                </c:pt>
                <c:pt idx="9">
                  <c:v>125</c:v>
                </c:pt>
                <c:pt idx="10">
                  <c:v>125</c:v>
                </c:pt>
                <c:pt idx="11">
                  <c:v>125</c:v>
                </c:pt>
                <c:pt idx="12">
                  <c:v>125</c:v>
                </c:pt>
                <c:pt idx="13">
                  <c:v>125</c:v>
                </c:pt>
                <c:pt idx="14">
                  <c:v>125</c:v>
                </c:pt>
                <c:pt idx="15">
                  <c:v>125</c:v>
                </c:pt>
                <c:pt idx="16">
                  <c:v>125</c:v>
                </c:pt>
                <c:pt idx="17">
                  <c:v>125</c:v>
                </c:pt>
                <c:pt idx="18">
                  <c:v>125</c:v>
                </c:pt>
                <c:pt idx="19">
                  <c:v>125</c:v>
                </c:pt>
                <c:pt idx="20">
                  <c:v>125</c:v>
                </c:pt>
                <c:pt idx="21">
                  <c:v>125</c:v>
                </c:pt>
                <c:pt idx="22">
                  <c:v>125</c:v>
                </c:pt>
                <c:pt idx="23">
                  <c:v>125</c:v>
                </c:pt>
                <c:pt idx="24">
                  <c:v>125</c:v>
                </c:pt>
                <c:pt idx="25">
                  <c:v>125</c:v>
                </c:pt>
                <c:pt idx="26">
                  <c:v>125</c:v>
                </c:pt>
                <c:pt idx="27">
                  <c:v>125</c:v>
                </c:pt>
                <c:pt idx="28">
                  <c:v>125</c:v>
                </c:pt>
                <c:pt idx="29">
                  <c:v>125</c:v>
                </c:pt>
              </c:numCache>
            </c:numRef>
          </c:val>
          <c:smooth val="0"/>
        </c:ser>
        <c:ser>
          <c:idx val="4"/>
          <c:order val="4"/>
          <c:tx>
            <c:v>Допуск 108 нм</c:v>
          </c:tx>
          <c:spPr>
            <a:ln xmlns:a="http://schemas.openxmlformats.org/drawingml/2006/main" w="11430">
              <a:solidFill>
                <a:srgbClr val="B6C3D0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Data'!$I$2:$I$31</c:f>
              <c:strCache>
                <c:ptCount val="30"/>
                <c:pt idx="0">
                  <c:v>B101</c:v>
                </c:pt>
                <c:pt idx="1">
                  <c:v>B102</c:v>
                </c:pt>
                <c:pt idx="2">
                  <c:v>B103</c:v>
                </c:pt>
                <c:pt idx="3">
                  <c:v>B104</c:v>
                </c:pt>
                <c:pt idx="4">
                  <c:v>B105</c:v>
                </c:pt>
                <c:pt idx="5">
                  <c:v>B106</c:v>
                </c:pt>
                <c:pt idx="6">
                  <c:v>B107</c:v>
                </c:pt>
                <c:pt idx="7">
                  <c:v>B108</c:v>
                </c:pt>
                <c:pt idx="8">
                  <c:v>B109</c:v>
                </c:pt>
                <c:pt idx="9">
                  <c:v>B110</c:v>
                </c:pt>
                <c:pt idx="10">
                  <c:v>B111</c:v>
                </c:pt>
                <c:pt idx="11">
                  <c:v>B112</c:v>
                </c:pt>
                <c:pt idx="12">
                  <c:v>B113</c:v>
                </c:pt>
                <c:pt idx="13">
                  <c:v>B114</c:v>
                </c:pt>
                <c:pt idx="14">
                  <c:v>B115</c:v>
                </c:pt>
                <c:pt idx="15">
                  <c:v>B116</c:v>
                </c:pt>
                <c:pt idx="16">
                  <c:v>B117</c:v>
                </c:pt>
                <c:pt idx="17">
                  <c:v>B118</c:v>
                </c:pt>
                <c:pt idx="18">
                  <c:v>B119</c:v>
                </c:pt>
                <c:pt idx="19">
                  <c:v>B120</c:v>
                </c:pt>
                <c:pt idx="20">
                  <c:v>B121</c:v>
                </c:pt>
                <c:pt idx="21">
                  <c:v>B122</c:v>
                </c:pt>
                <c:pt idx="22">
                  <c:v>B123</c:v>
                </c:pt>
                <c:pt idx="23">
                  <c:v>B124</c:v>
                </c:pt>
                <c:pt idx="24">
                  <c:v>B125</c:v>
                </c:pt>
                <c:pt idx="25">
                  <c:v>B126</c:v>
                </c:pt>
                <c:pt idx="26">
                  <c:v>B127</c:v>
                </c:pt>
                <c:pt idx="27">
                  <c:v>B128</c:v>
                </c:pt>
                <c:pt idx="28">
                  <c:v>B129</c:v>
                </c:pt>
                <c:pt idx="29">
                  <c:v>B130</c:v>
                </c:pt>
              </c:strCache>
            </c:strRef>
          </c:cat>
          <c:val>
            <c:numRef>
              <c:f>'Chart Data'!$J$2:$J$31</c:f>
              <c:numCache>
                <c:formatCode>General</c:formatCode>
                <c:ptCount val="30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108</c:v>
                </c:pt>
                <c:pt idx="5">
                  <c:v>108</c:v>
                </c:pt>
                <c:pt idx="6">
                  <c:v>108</c:v>
                </c:pt>
                <c:pt idx="7">
                  <c:v>108</c:v>
                </c:pt>
                <c:pt idx="8">
                  <c:v>108</c:v>
                </c:pt>
                <c:pt idx="9">
                  <c:v>108</c:v>
                </c:pt>
                <c:pt idx="10">
                  <c:v>108</c:v>
                </c:pt>
                <c:pt idx="11">
                  <c:v>108</c:v>
                </c:pt>
                <c:pt idx="12">
                  <c:v>108</c:v>
                </c:pt>
                <c:pt idx="13">
                  <c:v>108</c:v>
                </c:pt>
                <c:pt idx="14">
                  <c:v>108</c:v>
                </c:pt>
                <c:pt idx="15">
                  <c:v>108</c:v>
                </c:pt>
                <c:pt idx="16">
                  <c:v>108</c:v>
                </c:pt>
                <c:pt idx="17">
                  <c:v>108</c:v>
                </c:pt>
                <c:pt idx="18">
                  <c:v>108</c:v>
                </c:pt>
                <c:pt idx="19">
                  <c:v>108</c:v>
                </c:pt>
                <c:pt idx="20">
                  <c:v>108</c:v>
                </c:pt>
                <c:pt idx="21">
                  <c:v>108</c:v>
                </c:pt>
                <c:pt idx="22">
                  <c:v>108</c:v>
                </c:pt>
                <c:pt idx="23">
                  <c:v>108</c:v>
                </c:pt>
                <c:pt idx="24">
                  <c:v>108</c:v>
                </c:pt>
                <c:pt idx="25">
                  <c:v>108</c:v>
                </c:pt>
                <c:pt idx="26">
                  <c:v>108</c:v>
                </c:pt>
                <c:pt idx="27">
                  <c:v>108</c:v>
                </c:pt>
                <c:pt idx="28">
                  <c:v>108</c:v>
                </c:pt>
                <c:pt idx="29">
                  <c:v>108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6"/>
          <c:min val="107"/>
        </c:scaling>
        <c:delete val="0"/>
        <c:axPos val="l"/>
        <c:majorGridlines>
          <c:spPr>
            <a:ln xmlns:a="http://schemas.openxmlformats.org/drawingml/2006/main" w="6668">
              <a:solidFill>
                <a:srgbClr val="43525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2F1E9"/>
                    </a:solidFill>
                    <a:latin typeface="DejaVu Sans"/>
                    <a:ea typeface="DejaVu Sans"/>
                    <a:cs typeface="DejaVu Sans"/>
                  </a:rPr>
                  <a:t>Размер DLS, нм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2F1E9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1F2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F2F1E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151F2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EWMA</c:v>
          </c:tx>
          <c:spPr>
            <a:ln xmlns:a="http://schemas.openxmlformats.org/drawingml/2006/main" w="30480">
              <a:solidFill>
                <a:srgbClr val="A0E6DC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Data'!$A$2:$A$11</c:f>
              <c:strCache>
                <c:ptCount val="10"/>
                <c:pt idx="0">
                  <c:v>B121</c:v>
                </c:pt>
                <c:pt idx="1">
                  <c:v>B122</c:v>
                </c:pt>
                <c:pt idx="2">
                  <c:v>B123</c:v>
                </c:pt>
                <c:pt idx="3">
                  <c:v>B124</c:v>
                </c:pt>
                <c:pt idx="4">
                  <c:v>B125</c:v>
                </c:pt>
                <c:pt idx="5">
                  <c:v>B126</c:v>
                </c:pt>
                <c:pt idx="6">
                  <c:v>B127</c:v>
                </c:pt>
                <c:pt idx="7">
                  <c:v>B128</c:v>
                </c:pt>
                <c:pt idx="8">
                  <c:v>B129</c:v>
                </c:pt>
                <c:pt idx="9">
                  <c:v>B130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116.245</c:v>
                </c:pt>
                <c:pt idx="1">
                  <c:v>116.53375</c:v>
                </c:pt>
                <c:pt idx="2">
                  <c:v>116.950312</c:v>
                </c:pt>
                <c:pt idx="3">
                  <c:v>117.312734</c:v>
                </c:pt>
                <c:pt idx="4">
                  <c:v>117.734551</c:v>
                </c:pt>
                <c:pt idx="5">
                  <c:v>118.200913</c:v>
                </c:pt>
                <c:pt idx="6">
                  <c:v>118.775685</c:v>
                </c:pt>
                <c:pt idx="7">
                  <c:v>119.431764</c:v>
                </c:pt>
                <c:pt idx="8">
                  <c:v>120.148823</c:v>
                </c:pt>
                <c:pt idx="9">
                  <c:v>120.886617</c:v>
                </c:pt>
              </c:numCache>
            </c:numRef>
          </c:val>
          <c:smooth val="0"/>
        </c:ser>
        <c:ser>
          <c:idx val="1"/>
          <c:order val="1"/>
          <c:tx>
            <c:v>Верхний EWMA-предел</c:v>
          </c:tx>
          <c:spPr>
            <a:ln xmlns:a="http://schemas.openxmlformats.org/drawingml/2006/main" w="17145">
              <a:solidFill>
                <a:srgbClr val="F1B766"/>
              </a:solidFill>
              <a:prstDash val="solid"/>
            </a:ln>
          </c:spPr>
          <c:marker>
            <c:symbol val="none"/>
            <c:size val="2"/>
          </c:marker>
          <c:cat>
            <c:strRef>
              <c:f>'Chart Data'!$C$2:$C$11</c:f>
              <c:strCache>
                <c:ptCount val="10"/>
                <c:pt idx="0">
                  <c:v>B121</c:v>
                </c:pt>
                <c:pt idx="1">
                  <c:v>B122</c:v>
                </c:pt>
                <c:pt idx="2">
                  <c:v>B123</c:v>
                </c:pt>
                <c:pt idx="3">
                  <c:v>B124</c:v>
                </c:pt>
                <c:pt idx="4">
                  <c:v>B125</c:v>
                </c:pt>
                <c:pt idx="5">
                  <c:v>B126</c:v>
                </c:pt>
                <c:pt idx="6">
                  <c:v>B127</c:v>
                </c:pt>
                <c:pt idx="7">
                  <c:v>B128</c:v>
                </c:pt>
                <c:pt idx="8">
                  <c:v>B129</c:v>
                </c:pt>
                <c:pt idx="9">
                  <c:v>B130</c:v>
                </c:pt>
              </c:strCache>
            </c:str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116.691446</c:v>
                </c:pt>
                <c:pt idx="1">
                  <c:v>116.849307</c:v>
                </c:pt>
                <c:pt idx="2">
                  <c:v>116.925543</c:v>
                </c:pt>
                <c:pt idx="3">
                  <c:v>116.96561</c:v>
                </c:pt>
                <c:pt idx="4">
                  <c:v>116.987387</c:v>
                </c:pt>
                <c:pt idx="5">
                  <c:v>116.999414</c:v>
                </c:pt>
                <c:pt idx="6">
                  <c:v>117.006113</c:v>
                </c:pt>
                <c:pt idx="7">
                  <c:v>117.00986</c:v>
                </c:pt>
                <c:pt idx="8">
                  <c:v>117.011961</c:v>
                </c:pt>
                <c:pt idx="9">
                  <c:v>117.013141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2"/>
          <c:min val="115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43525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2F1E9"/>
                    </a:solidFill>
                    <a:latin typeface="DejaVu Sans"/>
                    <a:ea typeface="DejaVu Sans"/>
                    <a:cs typeface="DejaVu Sans"/>
                  </a:rPr>
                  <a:t>EWMA, нм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2F1E9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1F2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F2F1E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151F2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Баланс C(t)</c:v>
          </c:tx>
          <c:spPr>
            <a:ln xmlns:a="http://schemas.openxmlformats.org/drawingml/2006/main" w="28575">
              <a:solidFill>
                <a:srgbClr val="A0E6DC"/>
              </a:solidFill>
              <a:prstDash val="solid"/>
            </a:ln>
          </c:spPr>
          <c:marker>
            <c:symbol val="none"/>
            <c:size val="2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0.2</c:v>
                </c:pt>
                <c:pt idx="1">
                  <c:v>0.615801</c:v>
                </c:pt>
                <c:pt idx="2">
                  <c:v>0.830708</c:v>
                </c:pt>
                <c:pt idx="3">
                  <c:v>0.941783</c:v>
                </c:pt>
                <c:pt idx="4">
                  <c:v>0.999192</c:v>
                </c:pt>
                <c:pt idx="5">
                  <c:v>1.028864</c:v>
                </c:pt>
                <c:pt idx="6">
                  <c:v>1.0442</c:v>
                </c:pt>
                <c:pt idx="7">
                  <c:v>1.052127</c:v>
                </c:pt>
                <c:pt idx="8">
                  <c:v>1.056223</c:v>
                </c:pt>
                <c:pt idx="9">
                  <c:v>1.058341</c:v>
                </c:pt>
                <c:pt idx="10">
                  <c:v>1.059435</c:v>
                </c:pt>
              </c:numCache>
            </c:numRef>
          </c:val>
          <c:smooth val="0"/>
        </c:ser>
        <c:ser>
          <c:idx val="1"/>
          <c:order val="1"/>
          <c:tx>
            <c:v>Показания датчика</c:v>
          </c:tx>
          <c:spPr>
            <a:ln xmlns:a="http://schemas.openxmlformats.org/drawingml/2006/main" w="19050">
              <a:solidFill>
                <a:srgbClr val="F1B766"/>
              </a:solidFill>
              <a:prstDash val="solid"/>
            </a:ln>
          </c:spPr>
          <c:marker>
            <c:symbol val="none"/>
            <c:size val="2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cat>
          <c:val>
            <c:numRef>
              <c:f>'Chart Data'!$D$2:$D$12</c:f>
              <c:numCache>
                <c:formatCode>General</c:formatCode>
                <c:ptCount val="11"/>
                <c:pt idx="0">
                  <c:v>0.170598</c:v>
                </c:pt>
                <c:pt idx="1">
                  <c:v>0.660798</c:v>
                </c:pt>
                <c:pt idx="2">
                  <c:v>0.801169</c:v>
                </c:pt>
                <c:pt idx="3">
                  <c:v>1.003599</c:v>
                </c:pt>
                <c:pt idx="4">
                  <c:v>0.957468</c:v>
                </c:pt>
                <c:pt idx="5">
                  <c:v>1.119657</c:v>
                </c:pt>
                <c:pt idx="6">
                  <c:v>1.102833</c:v>
                </c:pt>
                <c:pt idx="7">
                  <c:v>1.097378</c:v>
                </c:pt>
                <c:pt idx="8">
                  <c:v>1.115133</c:v>
                </c:pt>
                <c:pt idx="9">
                  <c:v>1.068692</c:v>
                </c:pt>
                <c:pt idx="10">
                  <c:v>1.169269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.22"/>
          <c:min val="0.1"/>
        </c:scaling>
        <c:delete val="0"/>
        <c:axPos val="l"/>
        <c:majorGridlines>
          <c:spPr>
            <a:ln xmlns:a="http://schemas.openxmlformats.org/drawingml/2006/main" w="6668">
              <a:solidFill>
                <a:srgbClr val="43525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2F1E9"/>
                    </a:solidFill>
                    <a:latin typeface="DejaVu Sans"/>
                    <a:ea typeface="DejaVu Sans"/>
                    <a:cs typeface="DejaVu Sans"/>
                  </a:rPr>
                  <a:t>Условные единицы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2F1E9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1F2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F2F1E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151F2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4B878-1493-4C92-A762-9EB15897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01 / 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94392-42E8-4FC0-86AE-10490E96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 лаборатории</a:t>
            </a:r>
          </a:p>
          <a:p xmlns:a="http://schemas.openxmlformats.org/drawingml/2006/main">
            <a:pPr>
              <a:defRPr sz="420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 производству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0723D-9258-4F88-8CE2-FCB73CC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Часть 2. Мониторинг, цифровой двойник и следующий пилот</a:t>
            </a:r>
          </a:p>
        </p:txBody>
      </p:sp>
    </p:spTree>
    <p:extLst>
      <p:ext uri="{BB962C8B-B14F-4D97-AF65-F5344CB8AC3E}">
        <p14:creationId xmlns:p14="http://schemas.microsoft.com/office/powerpoint/2010/main" val="2040943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A5A0-E0D2-42CD-B133-B4EC7A6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Что студент сделает на занятии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75AC0-A3D0-4946-B18C-790B69F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DA99-B6DC-4C5D-B1DA-13CFEC4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Мониторинг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EA2CD-4AE5-47D0-83AB-C51A3841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Рассчитает сигнал по последовательности независимых партий.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79C95-7714-494F-81E7-70A9A720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40B13-1BBF-47FF-B2EC-5C567A30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Обновит оценку физического состояния по датчику и проверит прогноз.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7EEC-7EF7-47AE-9641-76A48B8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Опыт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2E16D-E11C-4049-890A-A91A4CFD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Выберет допустимый пилот с заранее записанным критерием.</a:t>
            </a:r>
          </a:p>
        </p:txBody>
      </p:sp>
    </p:spTree>
    <p:extLst>
      <p:ext uri="{BB962C8B-B14F-4D97-AF65-F5344CB8AC3E}">
        <p14:creationId xmlns:p14="http://schemas.microsoft.com/office/powerpoint/2010/main" val="2083723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BBD09-565E-4F25-A1FB-E2E0BC5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Новый ряд после факторного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BAF72-688A-4F46-983C-942FDFEB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EF910-7F3F-4304-B99F-6B94858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B101–B120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F5496-0EBD-4114-999D-D3D9A84C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20 л, R2: предполагаемая стабильная база для упражнения.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B5371-F7D0-4319-AE60-0BE0A2B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B121–B130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C9664-4D75-4362-AC16-11A0E553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Тот же масштаб и рецепт; партии идут позже по времени.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1D4FD-FDE1-4689-AA5E-A4283F7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События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B969D-A560-4B5B-B844-D3888F92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B122: новый лот; B125: пропуск температуры; B127: замена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1751872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687A8-0CFA-4669-AFA8-BB7AFEF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Три момента принятия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9BDE0-C4F6-43C2-98C5-3D156F4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6C83B-78FC-44A7-A7AC-B982ED13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запуска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D2BAA-1EC0-4FFD-8B96-24A86C1A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Известны сырьё, рецепт и допустимые уставки.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73E1F-20EC-401D-A3A9-3F77117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 35 минут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ABAD3-AB19-4707-97C0-C7CAA82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Только прошедшие контроль показания и события не позже отбора.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A87B8-48DA-403C-A91A-02D22BD0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 50 минут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14272-FC03-446C-A9A4-190A2775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Приходит лабораторный DLS-размер; проверяем сохранённый прогноз.</a:t>
            </a:r>
          </a:p>
        </p:txBody>
      </p:sp>
    </p:spTree>
    <p:extLst>
      <p:ext uri="{BB962C8B-B14F-4D97-AF65-F5344CB8AC3E}">
        <p14:creationId xmlns:p14="http://schemas.microsoft.com/office/powerpoint/2010/main" val="1272469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C359D-6ACD-40AA-94F8-5BC85E19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Единица мониторинга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E16EB-5393-460D-82FE-E701B598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8BC3C-D66C-43AC-BC26-38F3964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Партия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741C6-319F-47DA-872B-719CC5E0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Один независимый запуск: одна точка на карте размера.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E2674-E618-41F4-B9EF-D00E90B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Пробы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54313-357B-4B05-AEE6-EF5F06D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Показывают неоднородность внутри партии.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4DB61-8D27-47AD-B6B6-4361A966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Повторы DLS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6C1FA-D00B-4638-9E0D-80F7B474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Проверяют воспроизводимость измерения, но не множат партии.</a:t>
            </a:r>
          </a:p>
        </p:txBody>
      </p:sp>
    </p:spTree>
    <p:extLst>
      <p:ext uri="{BB962C8B-B14F-4D97-AF65-F5344CB8AC3E}">
        <p14:creationId xmlns:p14="http://schemas.microsoft.com/office/powerpoint/2010/main" val="2093014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98684-742A-4D3F-947E-1FEA3AF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Два вида границ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F84C3-D362-4421-97F1-5415571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2DE85-0FB9-4128-B509-5AF6A6D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Спецификация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5249A-8358-47C6-81F9-0589C30A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Условное требование к размеру по согласованной методике DLS: 108–125 нм.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Решение о конкретной партии идёт по процедуре QC.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C439-A2CD-4D8E-88B2-0EF4AB7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Контрольные пределы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13EA-2CFD-49D8-83EE-365F32AA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Ориентир обычной вариации ранее стабильного процесса.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Выход за предел вызывает расследование, а не автоматический брак.</a:t>
            </a:r>
          </a:p>
        </p:txBody>
      </p:sp>
    </p:spTree>
    <p:extLst>
      <p:ext uri="{BB962C8B-B14F-4D97-AF65-F5344CB8AC3E}">
        <p14:creationId xmlns:p14="http://schemas.microsoft.com/office/powerpoint/2010/main" val="1936896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E5F8B-AA6C-42DA-BDE9-5237339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Все 30 в допуске, но процесс меняется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75FCA-E31B-46C5-BD91-ED05C1E9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07 / 40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1600200"/>
          <a:ext xmlns:a="http://schemas.openxmlformats.org/drawingml/2006/main" cx="809625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7c12b6a7b7471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6443-DABB-44AE-B289-CE7501A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622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B125 = 119,0 нм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0686E-7126-49BC-A2C3-747F190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57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Выше учебного I-предела 118,586 нм; ниже допуска 125 нм.</a:t>
            </a:r>
          </a:p>
        </p:txBody>
      </p:sp>
    </p:spTree>
    <p:extLst>
      <p:ext uri="{BB962C8B-B14F-4D97-AF65-F5344CB8AC3E}">
        <p14:creationId xmlns:p14="http://schemas.microsoft.com/office/powerpoint/2010/main" val="3468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BE7C3-E4D7-46E3-B7D4-4887BC80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 настройки карты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C3C11-7832-433D-B6A4-F16580C9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154BF-9648-431F-86BF-E7C22488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F135B-4953-4D66-AF1F-831CD93C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метод DLS, режим и последовательность партий.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06EF2-DB74-4BD2-B8B9-327FC4A3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A99D9-DB82-42C9-8D68-CEAE6A1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Разобрать известные особые причины и полноту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D1FE7-1649-47C1-8D63-3F54A2A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4D672-EDD2-41F9-B0CE-77095BE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Зафиксировать базу, правило сигнала, ответственного и версию границ.</a:t>
            </a:r>
          </a:p>
        </p:txBody>
      </p:sp>
    </p:spTree>
    <p:extLst>
      <p:ext uri="{BB962C8B-B14F-4D97-AF65-F5344CB8AC3E}">
        <p14:creationId xmlns:p14="http://schemas.microsoft.com/office/powerpoint/2010/main" val="1331049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9D025-D62B-4E4F-9F94-05E0A25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Учебные границы по 20 партиям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7FDEA-8D2D-44D5-9B5A-9FF6362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B534E-3492-42E8-921E-2839806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116,060 ± 3 × 0,842 нм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418F-08D3-4FDD-A30D-17AA8EA2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Снизу 113,534 нм; сверху 118,586 нм. Первое индивидуальное превышение: B125 = 119,0 нм.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EA772-BA29-4EE3-9354-31E3162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20 партий дают неточную оценку вариации. Это иллюстрация, а не настроенная I–MR-карта.</a:t>
            </a:r>
          </a:p>
        </p:txBody>
      </p:sp>
    </p:spTree>
    <p:extLst>
      <p:ext uri="{BB962C8B-B14F-4D97-AF65-F5344CB8AC3E}">
        <p14:creationId xmlns:p14="http://schemas.microsoft.com/office/powerpoint/2010/main" val="2057550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C601-FB04-4EAA-9205-5D739243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EWMA на новых партиях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54F74-BBA2-4D04-A26A-2EDDCC7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BB5A4-D587-4C82-8AA0-EFD2957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zₜ = 0,25xₜ + 0,75zₜ₋₁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80CB6-B9AE-4E40-8A9B-96AF2A5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Перед B121 устанавливаем z₀ = 116,060 нм. Недавняя последовательность получает больший вес.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5942E-F94F-45DC-BDA1-7A1A30E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Правило использует отдельные пределы для EWMA, а не границы исходных точек.</a:t>
            </a:r>
          </a:p>
        </p:txBody>
      </p:sp>
    </p:spTree>
    <p:extLst>
      <p:ext uri="{BB962C8B-B14F-4D97-AF65-F5344CB8AC3E}">
        <p14:creationId xmlns:p14="http://schemas.microsoft.com/office/powerpoint/2010/main" val="30133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25D87-C6EB-4D7C-A113-186678F9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Память EWMA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4FF65-2534-4710-B9F5-76E7373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7B875-42B8-4652-B6A6-9CEF88EF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B121 в z₁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98BF1-EF0B-4048-A0B4-943FBC8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Вес 0,25.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201A2-7CEA-433F-B1D3-C831836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B121 в z₂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D1D22-727C-42A0-8074-5ADF4317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Вес 0,25 × 0,75 = 0,1875.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7827-CB60-4BF3-B6B0-61CA4C2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B121 в z₃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31E0E-92B6-4923-9DB2-DE19068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Вес 0,25 × 0,75² = 0,1406.</a:t>
            </a:r>
          </a:p>
        </p:txBody>
      </p:sp>
    </p:spTree>
    <p:extLst>
      <p:ext uri="{BB962C8B-B14F-4D97-AF65-F5344CB8AC3E}">
        <p14:creationId xmlns:p14="http://schemas.microsoft.com/office/powerpoint/2010/main" val="464905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59CF9-3763-4A6A-B2BB-C2208209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Пределы EWMA меняются в начале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45FE0-AE0A-48BB-9DB4-5D2D31B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738D4-0188-4D82-82F0-670F5EE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σ(zₜ) = σ√{λ/(2−λ) · [1−(1−λ)²ᵗ]}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4F8AB-9792-46F8-83DA-A4EE4AB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 z₀, фиксированном на базовой средней, берём UCLₜ = μ₀ + 3σ(zₜ). Для B123 он равен 116,926 нм.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2DF9-FB0A-43B7-BFE8-34C19AD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Формула предполагает независимые наблюдения и не учитывает ошибку оценки μ₀ и σ.</a:t>
            </a:r>
          </a:p>
        </p:txBody>
      </p:sp>
    </p:spTree>
    <p:extLst>
      <p:ext uri="{BB962C8B-B14F-4D97-AF65-F5344CB8AC3E}">
        <p14:creationId xmlns:p14="http://schemas.microsoft.com/office/powerpoint/2010/main" val="18405982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08F27-CA2C-4CCF-9DB4-42C7BB9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Первые шаги EWMA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BFF03-E01F-4BA3-89C1-4F1E71F8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13 / 40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90675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905000"/>
                <a:gridCol w="2190750"/>
                <a:gridCol w="2609850"/>
                <a:gridCol w="21717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Партия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DLS, нм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EWMA, нм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Верхний предел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Сигнал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B121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116,8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116,245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116,691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B122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117,4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116,534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116,849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B123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118,2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116,950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116,926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B124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118,4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117,313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116,966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B125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119,0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117,735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116,987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F936E-5239-4C97-BF0D-562FB5D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У B123 индивидуальная точка ещё ниже 118,586 нм.</a:t>
            </a:r>
          </a:p>
        </p:txBody>
      </p:sp>
    </p:spTree>
    <p:extLst>
      <p:ext uri="{BB962C8B-B14F-4D97-AF65-F5344CB8AC3E}">
        <p14:creationId xmlns:p14="http://schemas.microsoft.com/office/powerpoint/2010/main" val="126588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2CBA-815A-4EBF-A7F4-AF7E28D0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Сигнал EWMA появляется на B123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DC9DA-909D-4581-B0EE-4E8927B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14 / 40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62000" y="1581150"/>
          <a:ext xmlns:a="http://schemas.openxmlformats.org/drawingml/2006/main" cx="80391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707600925246a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BFBE3-A28F-41A0-B2DF-14006E4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B123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53113-6622-4ECA-A004-E4AC484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2333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116,950 &gt; 116,926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Первый учебный сигнал при фиксированном правиле.</a:t>
            </a:r>
          </a:p>
        </p:txBody>
      </p:sp>
    </p:spTree>
    <p:extLst>
      <p:ext uri="{BB962C8B-B14F-4D97-AF65-F5344CB8AC3E}">
        <p14:creationId xmlns:p14="http://schemas.microsoft.com/office/powerpoint/2010/main" val="192615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1ACB8-1D9A-4BDD-8F1B-6039B62A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Два правила, два вопроса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C82F3-25F7-4000-86FA-3617B601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4F62-3DA3-4A53-9F15-22F7E83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Индивидуальные точки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A442E-C4FE-447B-A51E-43BB1FD5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B125 впервые превышает 118,586 нм.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Правило хорошо видно на крупном разовом изменении.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C0E42-FD75-4A4B-B75B-17CE62AD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EWMA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B9FDE-4E78-441C-A760-992E89F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B123 впервые превышает свой предел.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Несколько умеренных изменений накапливаются.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2376783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E1F7D-5292-4E4B-84DA-E8E5A0FE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События вокруг первого сигнала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B3AB8-ECBA-4B2F-8ADE-9C9434E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6B0D-098F-4448-964B-A5837E0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505BF-DE55-46F5-AE52-B54767A6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Смена лота сырья L1 → L2 предшествует сигналу.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32257-658D-4A29-92B5-0385668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BDBBC-E4EA-4D80-93C5-7A900C22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Первое превышение предела EWMA.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46D29-7BBB-40CA-9794-F85C977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B125 / B127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9E058-1C32-41E4-A013-451A388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Позднее: пропуск температуры и замена температурного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1016006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38324-3BDC-4F2C-9AA9-F52B3DC3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Первый разбор B123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655F5-BD63-4115-892F-1894DEE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E7F2-19FC-4F42-A88F-313F2008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2623E-97C3-4443-ACA1-E3D055E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Поднять сырой QC, метод DLS, пробоотбор и контрольный образец.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4CDB8-7E26-44C4-9129-11F8221B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75C86-4D9D-47FA-A5C0-8E8EF6D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Сопоставить лот сырья с временем и журналом процесса.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A568-66DE-409A-AE06-B728206D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E3D9A-BD38-483B-B8EC-78A1D07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Записать проверку причины и решение по партии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7150888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AAFA3-2488-407B-9B0D-16771E0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Две конкурирующие причины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8577B-E376-4E07-BA9D-6E826A46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A457E-5E8A-4D8B-A9A9-34A01B4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Свойство сырья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EE690-4000-4D70-B7AA-BBC44B1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Лот L2 появился до роста размера.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Проверка требует сопоставимых независимых партий L1 и L2.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06EB-25F1-445C-BAE1-9AC09D2F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Дрейф процесса или QC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F25D6-6A3B-425A-87D2-E10766C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Меняются смешение, теплоотвод или метод DLS.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Нужны временные профили и контрольный образец.</a:t>
            </a:r>
          </a:p>
        </p:txBody>
      </p:sp>
    </p:spTree>
    <p:extLst>
      <p:ext uri="{BB962C8B-B14F-4D97-AF65-F5344CB8AC3E}">
        <p14:creationId xmlns:p14="http://schemas.microsoft.com/office/powerpoint/2010/main" val="12190625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45806-BF73-4295-959C-32CE51DF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Данные датчиков не следует чинить молча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D3A58-D186-42B7-BC14-E27D60CC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06F16-76B0-4089-B0F2-5161782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0244C-9C87-418D-9E00-26E9D7D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Пропуск температуры: сохранить окно, долю покрытия и причину.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DB6E9-DE5C-4923-9230-6970C2A0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B127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78B19-87E5-4726-9EA4-2DF0DF7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Новая версия калибровки после замены датчика.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1736D-C143-4143-8F5A-32102CCC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DLS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6B31-2E77-423E-B389-E843AA2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Размер партии остаётся отдельным результатом QC.</a:t>
            </a:r>
          </a:p>
        </p:txBody>
      </p:sp>
    </p:spTree>
    <p:extLst>
      <p:ext uri="{BB962C8B-B14F-4D97-AF65-F5344CB8AC3E}">
        <p14:creationId xmlns:p14="http://schemas.microsoft.com/office/powerpoint/2010/main" val="1648428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D9906-83EE-41DE-AD56-30314027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Мониторинг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F398-31C8-4087-9AE6-9BC8550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55E70-CFA7-4F74-BEFF-837F9F3F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11BA2-1241-4687-9376-CCE15B9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диапазон входов, время, полноту и калибровку датчиков.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759BB-9119-42D7-ACA1-BF868930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 QC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05E0-5A9A-4BD8-92A1-0F19478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Сравнить сохранённый прогноз с независимым DLS-результатом.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17322-3130-44E5-87CB-2FEDC40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Новый режим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2BC90-2A2C-43F2-B663-585DF3B5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ошибку на поздних партиях при другом лоте и датчике.</a:t>
            </a:r>
          </a:p>
        </p:txBody>
      </p:sp>
    </p:spTree>
    <p:extLst>
      <p:ext uri="{BB962C8B-B14F-4D97-AF65-F5344CB8AC3E}">
        <p14:creationId xmlns:p14="http://schemas.microsoft.com/office/powerpoint/2010/main" val="7922825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B067-DE57-4180-817C-156199B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Что известно в каждый момент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2BF2-1F89-4CD2-AFD5-81133BF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21 / 40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90675"/>
          <a:ext xmlns:a="http://schemas.openxmlformats.org/drawingml/2006/main" cx="109347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9325"/>
                <a:gridCol w="4333875"/>
                <a:gridCol w="43815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Когда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Доступно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Ещё недоступно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запуска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Рецептура, лот, план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Датчики и QC новой партии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35-я минута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Показания до отбора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37-я минута; QC в 50 мин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50-я минута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Журнал и лабораторный QC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Нельзя назвать это прогнозом в 35 мин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F7070-1CD4-41AA-A510-F92FA5B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 файл прогноза записывают время выпуска и версию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9395357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C4418-535A-4FF6-BE92-834EC6B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Цифровой двойник для одной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914DE-792B-4805-AFA1-11D37C6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9BD63-12C9-4FA9-9574-FE1DFB3B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Объект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D6093-E4FB-4B7A-B31E-7BDFDB0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Конкретный аппарат и разрешённая область режимов.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DAC2C-B4A4-4A73-A46D-C84A8D7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Связь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56226-E8F5-45A7-A6F4-06DE3E85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Датированные показания уточняют оценку состояния.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772F-A21C-447C-A84D-E769B30D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68DCF-276C-4CDF-94BF-4CBAF57E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Прогноз и его неопределённость сверяют на новых партиях.</a:t>
            </a:r>
          </a:p>
        </p:txBody>
      </p:sp>
    </p:spTree>
    <p:extLst>
      <p:ext uri="{BB962C8B-B14F-4D97-AF65-F5344CB8AC3E}">
        <p14:creationId xmlns:p14="http://schemas.microsoft.com/office/powerpoint/2010/main" val="19778199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FB778-BE06-484C-AF80-1A79E5C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Идеализированный баланс концентрации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51151-98D5-4C31-866B-25D6BF6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B0442-D4E9-4BBF-B74E-67D3D48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dC/dt = (F/V)(Cᵢₙ − C) − kC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F7CB9-C4E0-47C0-8667-CC61993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a = F/V = 0,25 мин⁻¹; k = 0,08 мин⁻¹; Cᵢₙ = 1,4; C(0) = 0,2.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8EEC6-D600-4B6D-86F9-AC6FD38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C — усреднённая концентрация. Баланс не предсказывает локальный pH и распределение размеров.</a:t>
            </a:r>
          </a:p>
        </p:txBody>
      </p:sp>
    </p:spTree>
    <p:extLst>
      <p:ext uri="{BB962C8B-B14F-4D97-AF65-F5344CB8AC3E}">
        <p14:creationId xmlns:p14="http://schemas.microsoft.com/office/powerpoint/2010/main" val="19826910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7AB8-EC79-46A5-81AE-1B1FBD2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Аналитическое решение баланса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528F0-827B-4943-8BBE-8F75BC6F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0F71C-F2AB-45CB-98FA-609263C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C(t) = C* + [C(0) − C*]e⁻⁽ᵃ⁺ᵏ⁾ᵗ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307D5-5565-4004-BF9B-C6907E02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C* = aCᵢₙ/(a+k) = 1,060606; время релаксации τ = 1/(a+k) = 3,03 мин.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506B0-DEAB-470B-9368-E44DDC3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При t = 20 мин аналитическое значение C = 1,059435 условных единиц.</a:t>
            </a:r>
          </a:p>
        </p:txBody>
      </p:sp>
    </p:spTree>
    <p:extLst>
      <p:ext uri="{BB962C8B-B14F-4D97-AF65-F5344CB8AC3E}">
        <p14:creationId xmlns:p14="http://schemas.microsoft.com/office/powerpoint/2010/main" val="18939225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BA51C-7F58-4060-8727-9E7A15E5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Состояние и показания датчика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0B868-7A09-4862-B4FE-A237C73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25 / 40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581150"/>
          <a:ext xmlns:a="http://schemas.openxmlformats.org/drawingml/2006/main" cx="812482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eed34bea8442c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A2291-D2CB-4925-87AF-1EF9A669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98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После 10 мин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D2D21-1D74-479E-AD1E-CA611FC8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2476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Показания выше баланса.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эталон, вход и параметры перед обновлением.</a:t>
            </a:r>
          </a:p>
        </p:txBody>
      </p:sp>
    </p:spTree>
    <p:extLst>
      <p:ext uri="{BB962C8B-B14F-4D97-AF65-F5344CB8AC3E}">
        <p14:creationId xmlns:p14="http://schemas.microsoft.com/office/powerpoint/2010/main" val="10199617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7D60-02CB-4A73-9E3E-FDEB5A9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Проверка численного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050C-EE8F-4C02-9D13-FD33757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26 / 40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90675"/>
          <a:ext xmlns:a="http://schemas.openxmlformats.org/drawingml/2006/main" cx="109347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667000"/>
                <a:gridCol w="57912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Шаг Эйлера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Ошибка C(20)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проверили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 мин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0,000239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Численная реализация уравнения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 мин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0,000123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Ошибка уменьшается с шагом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6E295-B223-4740-8ACE-10E3D7C0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Это не валидация физики синтеза SiO₂.</a:t>
            </a:r>
          </a:p>
        </p:txBody>
      </p:sp>
    </p:spTree>
    <p:extLst>
      <p:ext uri="{BB962C8B-B14F-4D97-AF65-F5344CB8AC3E}">
        <p14:creationId xmlns:p14="http://schemas.microsoft.com/office/powerpoint/2010/main" val="20646296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7C2AE-D90B-4005-9F09-26E6045C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Модель наблюдения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8753B-C2B8-4349-8209-17799C8A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729B1-C7A5-4F35-9448-E2AB2DC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yₜ = h(Cₜ,Tₜ,…) + bₜ + εₜ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158C7-9E5B-458D-A9B1-66C67722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Если датчик измеряет C непосредственно, h(C)=C. Для pH нужна отдельная калибровка функции 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0DC0-46AA-483D-864B-16E771B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Инновация rₜ = yₜ − h(C⁻ₜ) вычисляется ДО включения текущего показания.</a:t>
            </a:r>
          </a:p>
        </p:txBody>
      </p:sp>
    </p:spTree>
    <p:extLst>
      <p:ext uri="{BB962C8B-B14F-4D97-AF65-F5344CB8AC3E}">
        <p14:creationId xmlns:p14="http://schemas.microsoft.com/office/powerpoint/2010/main" val="1782570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31914-29EC-4A36-9BF5-44EEEA0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Один шаг обновления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AAC7B-27A0-4650-8804-238C8E32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E6B6D-2476-497F-BCC5-C3ADBC1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K = 0,06² / (0,06² + 0,04²) = 0,6923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CF98C-5A6C-4ADC-BE14-F4E11B4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 прогнозе 0,80 и показании 0,90 получаем C⁺ = 0,8692; σ⁺ = 0,0333.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9840C-8099-42AF-9182-688DD03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Предпосылка: независимые случайные ошибки и отсутствие неучтённого смещения.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9176782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65D5F-832C-4AEC-A8FB-3010B0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 замены датчика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A740F-54B4-41F9-B7AD-353B027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C0E25-64A2-4395-8B0D-64710A29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Смещение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40895-4C8A-4D63-8DFC-0D95307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Если b = +0,08, оценка C⁺ сместится примерно на +0,055.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811FE-B8AF-4BCF-85E8-442785E7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Формальная σ⁺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BC66C-D4E5-46E5-A337-0E4DE815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Число 0,0333 не учитывает эту систематическую ошибку.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F32C5-D778-45BA-9030-292C191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B4C77-17E3-4291-8C37-B1FF6D1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эталон и версию калибровки, при необходимости пропустить обновление.</a:t>
            </a:r>
          </a:p>
        </p:txBody>
      </p:sp>
    </p:spTree>
    <p:extLst>
      <p:ext uri="{BB962C8B-B14F-4D97-AF65-F5344CB8AC3E}">
        <p14:creationId xmlns:p14="http://schemas.microsoft.com/office/powerpoint/2010/main" val="4025531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51B37-F45C-446B-896F-783524F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Что модель не может утверждать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9CF4-2856-419D-8F2F-6B7F8D9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34C9-99DB-47E8-BBF9-C7FB6ED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Идентифицируемость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99317-5E99-46EE-B643-F335695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Одно плато C* даёт отношение a/(a+k).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Переходная кривая добавляет масштаб времени a+k.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6B8FA-FA4E-47F8-A664-75E2EE2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Размер DLS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71626-3AB5-4157-BBD6-DCEF9C4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Баланс C не содержит механизма зарождения и агрегации.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Нужна проверенная связь истории процесса с измеренным качеством.</a:t>
            </a:r>
          </a:p>
        </p:txBody>
      </p:sp>
    </p:spTree>
    <p:extLst>
      <p:ext uri="{BB962C8B-B14F-4D97-AF65-F5344CB8AC3E}">
        <p14:creationId xmlns:p14="http://schemas.microsoft.com/office/powerpoint/2010/main" val="7638276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02F09-33CE-403E-BC14-B512D8B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Достоверность двойника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9FEF7-159C-4C2F-8C66-50BD7E6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B5EFD-A230-405D-B08A-08958F9F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Верификация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6787-4427-4517-9C7D-7C3EBA9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Совпадение численного и аналитического решения заданного баланса.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A6EC5-AA3C-4C77-8177-8BB0411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Калибровка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B0367-0BB1-4AA7-8BEF-4CE371F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Параметры, датчик и связь с QC оцениваются по указанным партиям.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53D13-53A3-4195-89F9-2FB1100A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Валидация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6769-4FD6-4FF4-929E-01F08CBD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Заранее сохранённый прогноз проверяется на поздних независимых партиях.</a:t>
            </a:r>
          </a:p>
        </p:txBody>
      </p:sp>
    </p:spTree>
    <p:extLst>
      <p:ext uri="{BB962C8B-B14F-4D97-AF65-F5344CB8AC3E}">
        <p14:creationId xmlns:p14="http://schemas.microsoft.com/office/powerpoint/2010/main" val="8584501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C5C0F-3EAD-45C2-A922-AFBF3B5C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Прогноз для будущей партии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27401-F9D3-491F-81D5-5283771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23310-C163-46DA-87A5-0AA332AB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Случайный разброс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96DBA-5FCE-4435-80E7-8E51BEA9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Партии различаются даже при неизменном режиме.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FD0CC-8854-4ED8-8C59-6F62697C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41447-369D-45EA-8B56-F87C3BBD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Параметры, физика и новое сырьё могут изменить прогноз.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0FFC0-BBDD-4003-A7C0-83D6F11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8B313-D639-4811-B1A7-ECBD909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Прогностическое SD нельзя подменять ошибкой среднего прошлого набора.</a:t>
            </a:r>
          </a:p>
        </p:txBody>
      </p:sp>
    </p:spTree>
    <p:extLst>
      <p:ext uri="{BB962C8B-B14F-4D97-AF65-F5344CB8AC3E}">
        <p14:creationId xmlns:p14="http://schemas.microsoft.com/office/powerpoint/2010/main" val="16702374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37665-F36F-40B6-A80B-39DCF48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Три условных кандидата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05580-A137-448E-9C48-D6F8485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33 / 40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90675"/>
          <a:ext xmlns:a="http://schemas.openxmlformats.org/drawingml/2006/main" cx="109347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867025"/>
                <a:gridCol w="3143250"/>
                <a:gridCol w="264795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Режим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Прогноз DLS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SD будущей партии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Аппарат</a:t>
                      </a:r>
                    </a:p>
                  </a:txBody>
                  <a:tcPr marL="91440" marR="91440" marT="45720" marB="45720">
                    <a:solidFill>
                      <a:srgbClr val="2136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117 нм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нм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113 нм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нм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</a:t>
                      </a:r>
                    </a:p>
                  </a:txBody>
                  <a:tcPr marL="91440" marR="91440" marT="45720" marB="45720">
                    <a:solidFill>
                      <a:srgbClr val="151F2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110 нм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нм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запрещён</a:t>
                      </a:r>
                    </a:p>
                  </a:txBody>
                  <a:tcPr marL="91440" marR="91440" marT="45720" marB="45720">
                    <a:solidFill>
                      <a:srgbClr val="1B2B3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428FB-A469-4A93-9E9C-B80EEEED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Все числа синтетические; C исключают до ранжирования.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0598034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69A49-44AC-4287-856D-036A2CC7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Вероятность учебного допуска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31F8F-CB22-4373-9BF6-CB4178C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5DF55-771D-4B00-BD9F-E31F88AF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P = Φ[(125−μ̂)/s] − Φ[(108−μ̂)/s]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62AA-D98A-41B8-ACF4-991A018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A ≈ 1,000; B ≈ 0,893; у C ≈ 0,841, но его нельзя проводить из-за оборудования.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C68AC-A6FB-4CC4-8ADE-88DE89CC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Формула требует проверенной нормальной прогностической модели будущей независимой партии.</a:t>
            </a:r>
          </a:p>
        </p:txBody>
      </p:sp>
    </p:spTree>
    <p:extLst>
      <p:ext uri="{BB962C8B-B14F-4D97-AF65-F5344CB8AC3E}">
        <p14:creationId xmlns:p14="http://schemas.microsoft.com/office/powerpoint/2010/main" val="20110020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5ACA9-D177-410F-ACA5-BBBF50D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Выбор после ограничений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8E2FC-4E0E-46E4-8DE3-E867B59D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44531-34CC-4201-B9B5-739D92A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A: подтверждение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37B42-C6B0-4587-840F-14D30AFD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Ближе к изученному режиму, высокая расчётная вероятность выполнения учебного допуска.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CA9A5-1571-491F-9B29-9BA54B2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B: новая информация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8C697-A03A-4D28-B4A1-E87DB6D9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Возможен после проверки границ; больше риск и выше ценность проверки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Результат не гарантирован.</a:t>
            </a:r>
          </a:p>
        </p:txBody>
      </p:sp>
    </p:spTree>
    <p:extLst>
      <p:ext uri="{BB962C8B-B14F-4D97-AF65-F5344CB8AC3E}">
        <p14:creationId xmlns:p14="http://schemas.microsoft.com/office/powerpoint/2010/main" val="17166809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DA595-62E6-4029-B505-C4F2C2C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План проверяющего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38D9E-9479-49AB-8F18-64F724D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FD915-B6CD-4F3E-9831-FC5DE7E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5D8B6-114E-4459-9F8A-4CC7C1A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Оба режима и, если возможно, оба лота в допустимой области.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3E9E-8514-4DE6-A312-EC906D9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DF521-DA95-44AD-8388-B85ABFD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Независимые партии; порядок рандомизирован внутри доступных блоков.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7DF46-0DD4-478C-9D5B-F0894E1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1FF5F-CAE2-4218-B40D-AD7E0F18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Протокол DLS, число повторов и правило остановки записаны до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0887579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5F116-FDE4-49D6-9297-FC58638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Запись нового опыта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2A3D-E63D-463C-B30F-DDCD8E2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D166D-3A22-44EA-BB14-7BB8859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запуска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A3687-C50E-4308-852C-0E6C066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Версия модели v1, время прогноза, интервал и разрешённый режим.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0161B-DB38-40AD-9309-2FC62B93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 QC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B7779-1055-4D2C-AE87-7D313CC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Сохранённый прогноз сравнивают с измерением новой партии.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D196A-EB8D-4D58-A8B9-C724D4C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73ED2-C7AB-4583-A5E7-65F3D45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 необходимости обновляют модель; сохраняют и отрицательный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356399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5E4E1-3DE8-4402-85FF-BD3AE3C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мониторинг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2CD25-3E0F-4080-A24D-52DCCB10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23FE-A041-4C15-B6FF-DFEC3FAA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A24FB-01B8-4204-BB6D-0E23FA04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Прочитать CSV и проверить одну строку на независимую партию.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982C4-1202-4500-A10C-11ECB2F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F48CA-9DBA-4D91-9C65-4657C43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Построить исходный QC и EWMA с разными пределами.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7EB8A-F7A5-48B7-9F73-77E7239B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FF7B-1942-4932-9C85-07EB963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Назвать первый сигнал и отделить его от причины и решения о качестве.</a:t>
            </a:r>
          </a:p>
        </p:txBody>
      </p:sp>
    </p:spTree>
    <p:extLst>
      <p:ext uri="{BB962C8B-B14F-4D97-AF65-F5344CB8AC3E}">
        <p14:creationId xmlns:p14="http://schemas.microsoft.com/office/powerpoint/2010/main" val="15583659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7264D-19F1-4C47-A95E-839A491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модель и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26694-BED3-4E98-866C-B442BB2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0348A-B08D-4B83-ABB2-B0A720AC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4C2DD-079F-41C4-B45E-88DC9078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Сверить аналитическое решение с шагами Эйлера.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5DE97-D1C4-4B56-9165-5639E2A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74AC7-CBAF-43D8-AB86-343D6B7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Обновить состояние по калиброванному наблюдению и оценить смещение.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E35F2-A626-4270-9A52-742D4D6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1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53E6D-B5E3-44CC-9CE0-EB5608A1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976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Выбрать допустимый пилот и заранее записать способ его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0634314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F6B9C-2098-436C-ABB5-939E083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Материалы и продолжение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7E931-C7E5-4FCC-B223-C4DFEDE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72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40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CD852-A02B-49E1-9ED9-8F351597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7A00D-CC6F-4F60-B19C-7FD3191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CSV, Python-скрипт и задания в production/.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96E45-7862-42D7-8C57-C5FC77C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9F2DC-5467-4238-B1CF-CC9566E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NIST e-Handbook (SPC, DOE); NIST Digital Twins (VVUQ).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45AC0-95E6-4590-B9A1-43535991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016E0-E9C9-4AB4-AA63-28A54FFA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286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Применить схему к своему научному процессу и его ограничениям.</a:t>
            </a:r>
          </a:p>
        </p:txBody>
      </p:sp>
    </p:spTree>
    <p:extLst>
      <p:ext uri="{BB962C8B-B14F-4D97-AF65-F5344CB8AC3E}">
        <p14:creationId xmlns:p14="http://schemas.microsoft.com/office/powerpoint/2010/main" val="72794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2026-09-25T16:11:57.4720000Z</dcterms:created>
  <dcterms:modified xsi:type="dcterms:W3CDTF">2026-09-25T16:11:57.4720000Z</dcterms:modified>
</coreProperties>
</file>