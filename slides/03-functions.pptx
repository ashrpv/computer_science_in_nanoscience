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45.xml" ContentType="application/vnd.openxmlformats-officedocument.presentationml.slide+xml"/>
  <Override PartName="/ppt/slides/slide43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10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44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slides/slide39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18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16" d="112"/>
          <a:sy n="105" d="108"/>
        </p:scale>
        <p:origin x="114" y="101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presProps" Target="presProps.xml" /><Relationship Id="rId49" Type="http://schemas.openxmlformats.org/officeDocument/2006/relationships/tableStyles" Target="tableStyles.xml" /><Relationship Id="rId5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Master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172450" y="595083"/>
            <a:ext cx="3067050" cy="867235"/>
          </a:xfrm>
          <a:prstGeom prst="rect">
            <a:avLst/>
          </a:prstGeom>
        </p:spPr>
      </p:pic>
      <p:sp>
        <p:nvSpPr>
          <p:cNvPr id="2" name=""/>
          <p:cNvSpPr>
            <a:spLocks noGrp="1"/>
          </p:cNvSpPr>
          <p:nvPr/>
        </p:nvSpPr>
        <p:spPr bwMode="auto">
          <a:xfrm>
            <a:off x="723900" y="1504950"/>
            <a:ext cx="63817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5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762000" y="2647949"/>
            <a:ext cx="8572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Функции и функциональный стиль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762000" y="38290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Лекция 3. Аргументы, итераторы, генераторы и декораторы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762000" y="4857750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Примеры актуализированы для Python 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ВВЕДЕНИЕ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Парадигмы программирования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85800" y="1657350"/>
            <a:ext cx="2247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Процедурная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685800" y="2324100"/>
            <a:ext cx="22479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Программа описывает последовательность команд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685800" y="3962400"/>
            <a:ext cx="22479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7" name=""/>
          <p:cNvSpPr>
            <a:spLocks noGrp="1"/>
          </p:cNvSpPr>
          <p:nvPr/>
        </p:nvSpPr>
        <p:spPr bwMode="auto">
          <a:xfrm>
            <a:off x="685800" y="4210050"/>
            <a:ext cx="22479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C, Pascal, shell</a:t>
            </a:r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 bwMode="auto">
          <a:xfrm>
            <a:off x="3429000" y="1657350"/>
            <a:ext cx="2247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Объектная</a:t>
            </a:r>
            <a:endParaRPr/>
          </a:p>
        </p:txBody>
      </p:sp>
      <p:sp>
        <p:nvSpPr>
          <p:cNvPr id="9" name=""/>
          <p:cNvSpPr>
            <a:spLocks noGrp="1"/>
          </p:cNvSpPr>
          <p:nvPr/>
        </p:nvSpPr>
        <p:spPr bwMode="auto">
          <a:xfrm>
            <a:off x="3429000" y="2324100"/>
            <a:ext cx="22479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Данные и поведение объединены в объектах</a:t>
            </a:r>
            <a:endParaRPr/>
          </a:p>
        </p:txBody>
      </p:sp>
      <p:sp>
        <p:nvSpPr>
          <p:cNvPr id="10" name=""/>
          <p:cNvSpPr>
            <a:spLocks noGrp="1"/>
          </p:cNvSpPr>
          <p:nvPr/>
        </p:nvSpPr>
        <p:spPr bwMode="auto">
          <a:xfrm>
            <a:off x="3429000" y="3962400"/>
            <a:ext cx="22479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11" name=""/>
          <p:cNvSpPr>
            <a:spLocks noGrp="1"/>
          </p:cNvSpPr>
          <p:nvPr/>
        </p:nvSpPr>
        <p:spPr bwMode="auto">
          <a:xfrm>
            <a:off x="3429000" y="4210050"/>
            <a:ext cx="22479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Java, Smalltalk</a:t>
            </a:r>
            <a:endParaRPr/>
          </a:p>
        </p:txBody>
      </p:sp>
      <p:sp>
        <p:nvSpPr>
          <p:cNvPr id="12" name=""/>
          <p:cNvSpPr>
            <a:spLocks noGrp="1"/>
          </p:cNvSpPr>
          <p:nvPr/>
        </p:nvSpPr>
        <p:spPr bwMode="auto">
          <a:xfrm>
            <a:off x="6172200" y="1657350"/>
            <a:ext cx="2247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Функциональная</a:t>
            </a:r>
            <a:endParaRPr/>
          </a:p>
        </p:txBody>
      </p:sp>
      <p:sp>
        <p:nvSpPr>
          <p:cNvPr id="13" name=""/>
          <p:cNvSpPr>
            <a:spLocks noGrp="1"/>
          </p:cNvSpPr>
          <p:nvPr/>
        </p:nvSpPr>
        <p:spPr bwMode="auto">
          <a:xfrm>
            <a:off x="6172200" y="2324100"/>
            <a:ext cx="22479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Вычисления строятся как композиция функций</a:t>
            </a:r>
            <a:endParaRPr/>
          </a:p>
        </p:txBody>
      </p:sp>
      <p:sp>
        <p:nvSpPr>
          <p:cNvPr id="14" name=""/>
          <p:cNvSpPr>
            <a:spLocks noGrp="1"/>
          </p:cNvSpPr>
          <p:nvPr/>
        </p:nvSpPr>
        <p:spPr bwMode="auto">
          <a:xfrm>
            <a:off x="6172200" y="3962400"/>
            <a:ext cx="22479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15" name=""/>
          <p:cNvSpPr>
            <a:spLocks noGrp="1"/>
          </p:cNvSpPr>
          <p:nvPr/>
        </p:nvSpPr>
        <p:spPr bwMode="auto">
          <a:xfrm>
            <a:off x="6172200" y="4210050"/>
            <a:ext cx="22479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Haskell, OCaml</a:t>
            </a:r>
            <a:endParaRPr/>
          </a:p>
        </p:txBody>
      </p:sp>
      <p:sp>
        <p:nvSpPr>
          <p:cNvPr id="16" name=""/>
          <p:cNvSpPr>
            <a:spLocks noGrp="1"/>
          </p:cNvSpPr>
          <p:nvPr/>
        </p:nvSpPr>
        <p:spPr bwMode="auto">
          <a:xfrm>
            <a:off x="8915400" y="1657350"/>
            <a:ext cx="2247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 i="0">
                <a:solidFill>
                  <a:srgbClr val="FF9A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9A8B"/>
                </a:solidFill>
                <a:latin typeface="Arial"/>
                <a:ea typeface="Arial"/>
                <a:cs typeface="Arial"/>
              </a:rPr>
              <a:t>Декларативная</a:t>
            </a:r>
            <a:endParaRPr/>
          </a:p>
        </p:txBody>
      </p:sp>
      <p:sp>
        <p:nvSpPr>
          <p:cNvPr id="17" name=""/>
          <p:cNvSpPr>
            <a:spLocks noGrp="1"/>
          </p:cNvSpPr>
          <p:nvPr/>
        </p:nvSpPr>
        <p:spPr bwMode="auto">
          <a:xfrm>
            <a:off x="8915400" y="2324100"/>
            <a:ext cx="22479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Код описывает желаемый результат</a:t>
            </a:r>
            <a:endParaRPr/>
          </a:p>
        </p:txBody>
      </p:sp>
      <p:sp>
        <p:nvSpPr>
          <p:cNvPr id="18" name=""/>
          <p:cNvSpPr>
            <a:spLocks noGrp="1"/>
          </p:cNvSpPr>
          <p:nvPr/>
        </p:nvSpPr>
        <p:spPr bwMode="auto">
          <a:xfrm>
            <a:off x="8915400" y="3962400"/>
            <a:ext cx="22479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19" name=""/>
          <p:cNvSpPr>
            <a:spLocks noGrp="1"/>
          </p:cNvSpPr>
          <p:nvPr/>
        </p:nvSpPr>
        <p:spPr bwMode="auto">
          <a:xfrm>
            <a:off x="8915400" y="4210050"/>
            <a:ext cx="22479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SQL, Prolog</a:t>
            </a:r>
            <a:endParaRPr/>
          </a:p>
        </p:txBody>
      </p:sp>
      <p:sp>
        <p:nvSpPr>
          <p:cNvPr id="20" name=""/>
          <p:cNvSpPr>
            <a:spLocks noGrp="1"/>
          </p:cNvSpPr>
          <p:nvPr/>
        </p:nvSpPr>
        <p:spPr bwMode="auto">
          <a:xfrm>
            <a:off x="1276350" y="5391150"/>
            <a:ext cx="9639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Python поддерживает несколько парадигм и позволяет сочетать их в одной программе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66750" y="1123950"/>
            <a:ext cx="2095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01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2724150" y="1790700"/>
            <a:ext cx="8096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Функции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2781300" y="31051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Именованные блоки кода с параметрами и возвращаемым результатом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ФУНКЦИИ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Структура функции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990600" y="1714500"/>
            <a:ext cx="10210800" cy="2190750"/>
          </a:xfrm>
          <a:prstGeom prst="roundRect">
            <a:avLst>
              <a:gd name="adj" fmla="val 7826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323850" tIns="323850" rIns="266700" bIns="209550" anchor="t">
            <a:noAutofit/>
          </a:bodyPr>
          <a:lstStyle/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function_name(param1, param2):</a:t>
            </a:r>
            <a:endParaRPr/>
          </a:p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result = do_something(param1, param2)</a:t>
            </a:r>
            <a:endParaRPr/>
          </a:p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result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200150" y="4476750"/>
            <a:ext cx="146684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50" b="1" i="0">
                <a:solidFill>
                  <a:srgbClr val="C7A0FF"/>
                </a:solidFill>
                <a:latin typeface="Arial"/>
                <a:ea typeface="Arial"/>
                <a:cs typeface="Arial"/>
              </a:defRPr>
            </a:pPr>
            <a:r>
              <a:rPr sz="2050" b="1" i="0">
                <a:solidFill>
                  <a:srgbClr val="C7A0FF"/>
                </a:solidFill>
                <a:latin typeface="Arial"/>
                <a:ea typeface="Arial"/>
                <a:cs typeface="Arial"/>
              </a:rPr>
              <a:t>def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4305300" y="44767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5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05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параметры</a:t>
            </a:r>
            <a:endParaRPr/>
          </a:p>
        </p:txBody>
      </p:sp>
      <p:sp>
        <p:nvSpPr>
          <p:cNvPr id="7" name=""/>
          <p:cNvSpPr>
            <a:spLocks noGrp="1"/>
          </p:cNvSpPr>
          <p:nvPr/>
        </p:nvSpPr>
        <p:spPr bwMode="auto">
          <a:xfrm>
            <a:off x="8115300" y="4476750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return</a:t>
            </a:r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 bwMode="auto">
          <a:xfrm>
            <a:off x="1200150" y="4953000"/>
            <a:ext cx="1466849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объявление</a:t>
            </a:r>
            <a:endParaRPr/>
          </a:p>
        </p:txBody>
      </p:sp>
      <p:sp>
        <p:nvSpPr>
          <p:cNvPr id="9" name=""/>
          <p:cNvSpPr>
            <a:spLocks noGrp="1"/>
          </p:cNvSpPr>
          <p:nvPr/>
        </p:nvSpPr>
        <p:spPr bwMode="auto">
          <a:xfrm>
            <a:off x="4305300" y="495300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входные данные</a:t>
            </a:r>
            <a:endParaRPr/>
          </a:p>
        </p:txBody>
      </p:sp>
      <p:sp>
        <p:nvSpPr>
          <p:cNvPr id="10" name=""/>
          <p:cNvSpPr>
            <a:spLocks noGrp="1"/>
          </p:cNvSpPr>
          <p:nvPr/>
        </p:nvSpPr>
        <p:spPr bwMode="auto">
          <a:xfrm>
            <a:off x="8115300" y="49530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результат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ФУНКЦИИ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Возвращаемое значение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85800" y="1524000"/>
            <a:ext cx="6572250" cy="3143250"/>
          </a:xfrm>
          <a:prstGeom prst="roundRect">
            <a:avLst>
              <a:gd name="adj" fmla="val 5455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coordinates():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55.75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37.62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lat, lon = coordinates()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функция вернула кортеж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8020050" y="1657350"/>
            <a:ext cx="3333750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39700">
              <a:spcAft>
                <a:spcPts val="18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Любая функция возвращает значение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Без return результат равен None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Несколько значений упаковываются в кортеж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2343150" y="5219700"/>
            <a:ext cx="7505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return без выражения также возвращает None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ОБЛАСТИ ВИДИМОСТИ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Поиск имён: правило LEGB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876299" y="1466849"/>
            <a:ext cx="685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L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981200" y="1495425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Local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4514850" y="15430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локальная область текущей функции</a:t>
            </a:r>
            <a:endParaRPr/>
          </a:p>
        </p:txBody>
      </p:sp>
      <p:sp>
        <p:nvSpPr>
          <p:cNvPr id="7" name=""/>
          <p:cNvSpPr>
            <a:spLocks noGrp="1"/>
          </p:cNvSpPr>
          <p:nvPr/>
        </p:nvSpPr>
        <p:spPr bwMode="auto">
          <a:xfrm>
            <a:off x="1981200" y="2190750"/>
            <a:ext cx="87249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8" name=""/>
          <p:cNvSpPr>
            <a:spLocks noGrp="1"/>
          </p:cNvSpPr>
          <p:nvPr/>
        </p:nvSpPr>
        <p:spPr bwMode="auto">
          <a:xfrm>
            <a:off x="876299" y="2457450"/>
            <a:ext cx="685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E</a:t>
            </a:r>
            <a:endParaRPr/>
          </a:p>
        </p:txBody>
      </p:sp>
      <p:sp>
        <p:nvSpPr>
          <p:cNvPr id="9" name=""/>
          <p:cNvSpPr>
            <a:spLocks noGrp="1"/>
          </p:cNvSpPr>
          <p:nvPr/>
        </p:nvSpPr>
        <p:spPr bwMode="auto">
          <a:xfrm>
            <a:off x="1981200" y="2486025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Enclosing</a:t>
            </a:r>
            <a:endParaRPr/>
          </a:p>
        </p:txBody>
      </p:sp>
      <p:sp>
        <p:nvSpPr>
          <p:cNvPr id="10" name=""/>
          <p:cNvSpPr>
            <a:spLocks noGrp="1"/>
          </p:cNvSpPr>
          <p:nvPr/>
        </p:nvSpPr>
        <p:spPr bwMode="auto">
          <a:xfrm>
            <a:off x="4514850" y="25336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области внешних функций</a:t>
            </a:r>
            <a:endParaRPr/>
          </a:p>
        </p:txBody>
      </p:sp>
      <p:sp>
        <p:nvSpPr>
          <p:cNvPr id="11" name=""/>
          <p:cNvSpPr>
            <a:spLocks noGrp="1"/>
          </p:cNvSpPr>
          <p:nvPr/>
        </p:nvSpPr>
        <p:spPr bwMode="auto">
          <a:xfrm>
            <a:off x="1981200" y="3181350"/>
            <a:ext cx="87249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12" name=""/>
          <p:cNvSpPr>
            <a:spLocks noGrp="1"/>
          </p:cNvSpPr>
          <p:nvPr/>
        </p:nvSpPr>
        <p:spPr bwMode="auto">
          <a:xfrm>
            <a:off x="876299" y="3448050"/>
            <a:ext cx="685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G</a:t>
            </a:r>
            <a:endParaRPr/>
          </a:p>
        </p:txBody>
      </p:sp>
      <p:sp>
        <p:nvSpPr>
          <p:cNvPr id="13" name=""/>
          <p:cNvSpPr>
            <a:spLocks noGrp="1"/>
          </p:cNvSpPr>
          <p:nvPr/>
        </p:nvSpPr>
        <p:spPr bwMode="auto">
          <a:xfrm>
            <a:off x="1981200" y="3476625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Global</a:t>
            </a:r>
            <a:endParaRPr/>
          </a:p>
        </p:txBody>
      </p:sp>
      <p:sp>
        <p:nvSpPr>
          <p:cNvPr id="14" name=""/>
          <p:cNvSpPr>
            <a:spLocks noGrp="1"/>
          </p:cNvSpPr>
          <p:nvPr/>
        </p:nvSpPr>
        <p:spPr bwMode="auto">
          <a:xfrm>
            <a:off x="4514850" y="35242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пространство имён модуля</a:t>
            </a:r>
            <a:endParaRPr/>
          </a:p>
        </p:txBody>
      </p:sp>
      <p:sp>
        <p:nvSpPr>
          <p:cNvPr id="15" name=""/>
          <p:cNvSpPr>
            <a:spLocks noGrp="1"/>
          </p:cNvSpPr>
          <p:nvPr/>
        </p:nvSpPr>
        <p:spPr bwMode="auto">
          <a:xfrm>
            <a:off x="1981200" y="4171950"/>
            <a:ext cx="87249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16" name=""/>
          <p:cNvSpPr>
            <a:spLocks noGrp="1"/>
          </p:cNvSpPr>
          <p:nvPr/>
        </p:nvSpPr>
        <p:spPr bwMode="auto">
          <a:xfrm>
            <a:off x="876299" y="4438650"/>
            <a:ext cx="685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 i="0">
                <a:solidFill>
                  <a:srgbClr val="FF9A8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9A8B"/>
                </a:solidFill>
                <a:latin typeface="Arial"/>
                <a:ea typeface="Arial"/>
                <a:cs typeface="Arial"/>
              </a:rPr>
              <a:t>B</a:t>
            </a:r>
            <a:endParaRPr/>
          </a:p>
        </p:txBody>
      </p:sp>
      <p:sp>
        <p:nvSpPr>
          <p:cNvPr id="17" name=""/>
          <p:cNvSpPr>
            <a:spLocks noGrp="1"/>
          </p:cNvSpPr>
          <p:nvPr/>
        </p:nvSpPr>
        <p:spPr bwMode="auto">
          <a:xfrm>
            <a:off x="1981200" y="4467225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Built-ins</a:t>
            </a:r>
            <a:endParaRPr/>
          </a:p>
        </p:txBody>
      </p:sp>
      <p:sp>
        <p:nvSpPr>
          <p:cNvPr id="18" name=""/>
          <p:cNvSpPr>
            <a:spLocks noGrp="1"/>
          </p:cNvSpPr>
          <p:nvPr/>
        </p:nvSpPr>
        <p:spPr bwMode="auto">
          <a:xfrm>
            <a:off x="4514850" y="45148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встроенные имена: print, len, range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ОБЛАСТИ ВИДИМОСТИ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Блоки управления не создают область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85800" y="1428750"/>
            <a:ext cx="6743700" cy="4095750"/>
          </a:xfrm>
          <a:prstGeom prst="roundRect">
            <a:avLst>
              <a:gd name="adj" fmla="val 4186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success =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True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success: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description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"Победа"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else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description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"Поражение"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(description)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Победа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8020050" y="1600200"/>
            <a:ext cx="342900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39700">
              <a:spcAft>
                <a:spcPts val="1800"/>
              </a:spcAft>
              <a:buChar char="•"/>
              <a:defRPr sz="17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>
                <a:solidFill>
                  <a:srgbClr val="F5F7FA"/>
                </a:solidFill>
                <a:latin typeface="Arial"/>
                <a:ea typeface="Arial"/>
                <a:cs typeface="Arial"/>
              </a:rPr>
              <a:t>if, for, while, with не создают отдельную область имён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7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Функции, классы и модули создают новые области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7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>
                <a:solidFill>
                  <a:srgbClr val="F5F7FA"/>
                </a:solidFill>
                <a:latin typeface="Arial"/>
                <a:ea typeface="Arial"/>
                <a:cs typeface="Arial"/>
              </a:rPr>
              <a:t>В Python 3 включения имеют собственную внутреннюю область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АРГУМЕНТЫ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Значения по умолчанию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85800" y="1428750"/>
            <a:ext cx="7239000" cy="3448050"/>
          </a:xfrm>
          <a:prstGeom prst="roundRect">
            <a:avLst>
              <a:gd name="adj" fmla="val 4972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greet(name, greeting=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"Привет"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):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"{greeting}, {name}!"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greet(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"Анна"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greet(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"Анна"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"Добрый вечер"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8496300" y="1600200"/>
            <a:ext cx="2952750" cy="300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39700">
              <a:spcAft>
                <a:spcPts val="18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Обязательные параметры идут первыми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Аргумент можно передать позиционно или по имени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Выражение по умолчанию вычисляется один раз при def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1809750" y="533400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Изменяемые значения по умолчанию обычно заменяют на None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АРГУМЕНТЫ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Именованные аргументы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590549" y="1352550"/>
            <a:ext cx="11010900" cy="4762500"/>
          </a:xfrm>
          <a:prstGeom prst="roundRect">
            <a:avLst>
              <a:gd name="adj" fmla="val 3600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ask_yes_no(prompt, retries=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error_message=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"Введите y или n"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):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_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(retries):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answer = input(prompt).strip().lower()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answer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{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"y"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"yes"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}: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True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answer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{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"n"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"no"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}: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False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(error_message)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False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АРГУМЕНТЫ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Ошибки при вызове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914400" y="1257300"/>
            <a:ext cx="10363200" cy="5048250"/>
          </a:xfrm>
          <a:prstGeom prst="roundRect">
            <a:avLst>
              <a:gd name="adj" fmla="val 3396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parrot()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TypeError: нет обязательного voltage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parrot(voltage=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5.0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"dead"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SyntaxError: позиционный аргумент после именованного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parrot(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voltage=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220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TypeError: voltage получил два значения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parrot(actor=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"Александр Петров"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TypeError: неизвестный именованный аргумент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*ARGS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Вариадические позиционные аргументы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85800" y="1562100"/>
            <a:ext cx="6762750" cy="3048000"/>
          </a:xfrm>
          <a:prstGeom prst="roundRect">
            <a:avLst>
              <a:gd name="adj" fmla="val 5625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function(required, *args):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(args)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function(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(20, 30)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8191500" y="1752599"/>
            <a:ext cx="3143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39700">
              <a:spcAft>
                <a:spcPts val="1800"/>
              </a:spcAft>
              <a:buChar char="•"/>
              <a:defRPr sz="17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>
                <a:solidFill>
                  <a:srgbClr val="F5F7FA"/>
                </a:solidFill>
                <a:latin typeface="Arial"/>
                <a:ea typeface="Arial"/>
                <a:cs typeface="Arial"/>
              </a:rPr>
              <a:t>args всегда является кортежем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7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>
                <a:solidFill>
                  <a:srgbClr val="F5F7FA"/>
                </a:solidFill>
                <a:latin typeface="Arial"/>
                <a:ea typeface="Arial"/>
                <a:cs typeface="Arial"/>
              </a:rPr>
              <a:t>Имя args принято по соглашению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7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После *args параметры становятся именованными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1257300" y="5238750"/>
            <a:ext cx="9677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Пример из стандартной библиотеки: print(*objects, sep=" ", end="\n")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*ARGS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Произвольное число множителей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143000" y="1428750"/>
            <a:ext cx="9906000" cy="4095750"/>
          </a:xfrm>
          <a:prstGeom prst="roundRect">
            <a:avLst>
              <a:gd name="adj" fmla="val 4186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product(*numbers):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result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number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numbers: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result *= number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result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product(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210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428750" y="579120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Для вызова без аргументов функция возвращает нейтральный элемент умножения: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*ARGS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Распаковка последовательности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066800" y="1714500"/>
            <a:ext cx="10058400" cy="2571750"/>
          </a:xfrm>
          <a:prstGeom prst="roundRect">
            <a:avLst>
              <a:gd name="adj" fmla="val 6667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primes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product(*primes)</a:t>
            </a: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то же самое, что product(2, 3, 5, 7, 11)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809750" y="4857750"/>
            <a:ext cx="857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*sequence раскрывает элементы как отдельные позиционные аргументы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**KWARGS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Обработка именованных аргументов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85800" y="1504950"/>
            <a:ext cx="6953250" cy="3181350"/>
          </a:xfrm>
          <a:prstGeom prst="roundRect">
            <a:avLst>
              <a:gd name="adj" fmla="val 5389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authorize(quote, **speaker_info):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"&gt;"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quote)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"-"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* 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(quote) +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key, value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speaker_info.items():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(key, value, sep=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": 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8020050" y="1504950"/>
            <a:ext cx="3409950" cy="3181350"/>
          </a:xfrm>
          <a:prstGeom prst="roundRect">
            <a:avLst>
              <a:gd name="adj" fmla="val 5389"/>
            </a:avLst>
          </a:prstGeom>
          <a:solidFill>
            <a:srgbClr val="101726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4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speaker_info = {</a:t>
            </a:r>
            <a:endParaRPr/>
          </a:p>
          <a:p>
            <a:pPr>
              <a:defRPr sz="14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"act"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</a:t>
            </a:r>
            <a:endParaRPr/>
          </a:p>
          <a:p>
            <a:pPr>
              <a:defRPr sz="14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"scene"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</a:t>
            </a:r>
            <a:endParaRPr/>
          </a:p>
          <a:p>
            <a:pPr>
              <a:defRPr sz="14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"speaker"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"Duke Orsino"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</a:t>
            </a:r>
            <a:endParaRPr/>
          </a:p>
          <a:p>
            <a:pPr>
              <a:defRPr sz="14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"playwright"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"Shakespeare"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</a:t>
            </a:r>
            <a:endParaRPr/>
          </a:p>
          <a:p>
            <a:pPr>
              <a:defRPr sz="14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1619250" y="520065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Порядок обхода kwargs совпадает с порядком переданных аргументов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**KWARGS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Распаковка словаря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990600" y="1333500"/>
            <a:ext cx="10210800" cy="4857750"/>
          </a:xfrm>
          <a:prstGeom prst="roundRect">
            <a:avLst>
              <a:gd name="adj" fmla="val 3529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info = {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"sonnet"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18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"line"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"author"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"Shakespeare"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authorize(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"Shall I compare thee to a summer's day?"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**info,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АРГУМЕНТЫ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Полная форма сигнатуры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476250" y="1524000"/>
            <a:ext cx="11239500" cy="285750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5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function(pos_only, /, positional, default=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*, keyword_only, **kwargs):</a:t>
            </a:r>
            <a:endParaRPr/>
          </a:p>
          <a:p>
            <a:pPr>
              <a:defRPr sz="15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...</a:t>
            </a:r>
            <a:endParaRPr/>
          </a:p>
          <a:p>
            <a:pPr>
              <a:defRPr sz="15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5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flexible(a, b=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*args, option=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True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**kwargs):</a:t>
            </a:r>
            <a:endParaRPr/>
          </a:p>
          <a:p>
            <a:pPr>
              <a:defRPr sz="15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...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981200" y="4819650"/>
            <a:ext cx="857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/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1028700" y="52578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слева только позиционные</a:t>
            </a:r>
            <a:endParaRPr/>
          </a:p>
        </p:txBody>
      </p:sp>
      <p:sp>
        <p:nvSpPr>
          <p:cNvPr id="7" name=""/>
          <p:cNvSpPr>
            <a:spLocks noGrp="1"/>
          </p:cNvSpPr>
          <p:nvPr/>
        </p:nvSpPr>
        <p:spPr bwMode="auto">
          <a:xfrm>
            <a:off x="5619750" y="4819650"/>
            <a:ext cx="857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*</a:t>
            </a:r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 bwMode="auto">
          <a:xfrm>
            <a:off x="4572000" y="525780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справа только именованные</a:t>
            </a:r>
            <a:endParaRPr/>
          </a:p>
        </p:txBody>
      </p:sp>
      <p:sp>
        <p:nvSpPr>
          <p:cNvPr id="9" name=""/>
          <p:cNvSpPr>
            <a:spLocks noGrp="1"/>
          </p:cNvSpPr>
          <p:nvPr/>
        </p:nvSpPr>
        <p:spPr bwMode="auto">
          <a:xfrm>
            <a:off x="9029700" y="4819650"/>
            <a:ext cx="171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**kwargs</a:t>
            </a:r>
            <a:endParaRPr/>
          </a:p>
        </p:txBody>
      </p:sp>
      <p:sp>
        <p:nvSpPr>
          <p:cNvPr id="10" name=""/>
          <p:cNvSpPr>
            <a:spLocks noGrp="1"/>
          </p:cNvSpPr>
          <p:nvPr/>
        </p:nvSpPr>
        <p:spPr bwMode="auto">
          <a:xfrm>
            <a:off x="8420100" y="525780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остальные именованные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66750" y="1123950"/>
            <a:ext cx="2095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02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2724150" y="1790700"/>
            <a:ext cx="8096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Функциональный стиль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2781300" y="31051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Функции как значения, композиция и минимум изменяемого состояния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ФУНКЦИОНАЛЬНЫЙ СТИЛЬ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Функциональный подход в Python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857250" y="1409700"/>
            <a:ext cx="104775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Функция может храниться в переменной, передаваться как аргумент и возвращаться как результат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847850" y="3448050"/>
            <a:ext cx="8496300" cy="28575"/>
          </a:xfrm>
          <a:prstGeom prst="rect">
            <a:avLst/>
          </a:prstGeom>
          <a:solidFill>
            <a:srgbClr val="4B9CD3"/>
          </a:solidFill>
          <a:ln w="0">
            <a:noFill/>
          </a:ln>
        </p:spPr>
      </p:sp>
      <p:sp>
        <p:nvSpPr>
          <p:cNvPr id="6" name=""/>
          <p:cNvSpPr>
            <a:spLocks noGrp="1"/>
          </p:cNvSpPr>
          <p:nvPr/>
        </p:nvSpPr>
        <p:spPr bwMode="auto">
          <a:xfrm>
            <a:off x="1104900" y="38862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Чистая функция</a:t>
            </a:r>
            <a:endParaRPr/>
          </a:p>
        </p:txBody>
      </p:sp>
      <p:sp>
        <p:nvSpPr>
          <p:cNvPr id="7" name=""/>
          <p:cNvSpPr>
            <a:spLocks noGrp="1"/>
          </p:cNvSpPr>
          <p:nvPr/>
        </p:nvSpPr>
        <p:spPr bwMode="auto">
          <a:xfrm>
            <a:off x="800100" y="4476750"/>
            <a:ext cx="34671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Для одинакового ввода возвращает одинаковый результат и не меняет внешнее состояние</a:t>
            </a:r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 bwMode="auto">
          <a:xfrm>
            <a:off x="4857750" y="3886200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Python</a:t>
            </a:r>
            <a:endParaRPr/>
          </a:p>
        </p:txBody>
      </p:sp>
      <p:sp>
        <p:nvSpPr>
          <p:cNvPr id="9" name=""/>
          <p:cNvSpPr>
            <a:spLocks noGrp="1"/>
          </p:cNvSpPr>
          <p:nvPr/>
        </p:nvSpPr>
        <p:spPr bwMode="auto">
          <a:xfrm>
            <a:off x="4381500" y="4476750"/>
            <a:ext cx="342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Мультипарадигменный язык: функциональные приёмы соседствуют с обычными циклами и объектами</a:t>
            </a:r>
            <a:endParaRPr/>
          </a:p>
        </p:txBody>
      </p:sp>
      <p:sp>
        <p:nvSpPr>
          <p:cNvPr id="10" name=""/>
          <p:cNvSpPr>
            <a:spLocks noGrp="1"/>
          </p:cNvSpPr>
          <p:nvPr/>
        </p:nvSpPr>
        <p:spPr bwMode="auto">
          <a:xfrm>
            <a:off x="8248650" y="38862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 i="0">
                <a:solidFill>
                  <a:srgbClr val="FF9A8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9A8B"/>
                </a:solidFill>
                <a:latin typeface="Arial"/>
                <a:ea typeface="Arial"/>
                <a:cs typeface="Arial"/>
              </a:rPr>
              <a:t>Побочный эффект</a:t>
            </a:r>
            <a:endParaRPr/>
          </a:p>
        </p:txBody>
      </p:sp>
      <p:sp>
        <p:nvSpPr>
          <p:cNvPr id="11" name=""/>
          <p:cNvSpPr>
            <a:spLocks noGrp="1"/>
          </p:cNvSpPr>
          <p:nvPr/>
        </p:nvSpPr>
        <p:spPr bwMode="auto">
          <a:xfrm>
            <a:off x="8248650" y="4476750"/>
            <a:ext cx="29527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Например, печать, запись в файл или изменение внешнего объекта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66750" y="1123950"/>
            <a:ext cx="2095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03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2724150" y="1790700"/>
            <a:ext cx="8096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map и filter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2781300" y="31051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Два ленивых инструмента для преобразования и отбора элементов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20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MAP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Преобразование каждого элемента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85800" y="1504950"/>
            <a:ext cx="5048250" cy="2381250"/>
          </a:xfrm>
          <a:prstGeom prst="roundRect">
            <a:avLst>
              <a:gd name="adj" fmla="val 7200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result = []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element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iterable: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result.append(function(element))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6457950" y="1504950"/>
            <a:ext cx="5048250" cy="2381250"/>
          </a:xfrm>
          <a:prstGeom prst="roundRect">
            <a:avLst>
              <a:gd name="adj" fmla="val 7200"/>
            </a:avLst>
          </a:prstGeom>
          <a:solidFill>
            <a:srgbClr val="101726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result = [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function(element)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element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iterable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1409700" y="4495800"/>
            <a:ext cx="9372600" cy="28575"/>
          </a:xfrm>
          <a:prstGeom prst="rect">
            <a:avLst/>
          </a:prstGeom>
          <a:solidFill>
            <a:srgbClr val="4B9CD3"/>
          </a:solidFill>
          <a:ln w="0">
            <a:noFill/>
          </a:ln>
        </p:spPr>
      </p:sp>
      <p:sp>
        <p:nvSpPr>
          <p:cNvPr id="7" name=""/>
          <p:cNvSpPr>
            <a:spLocks noGrp="1"/>
          </p:cNvSpPr>
          <p:nvPr/>
        </p:nvSpPr>
        <p:spPr bwMode="auto">
          <a:xfrm>
            <a:off x="2381250" y="4914900"/>
            <a:ext cx="7429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80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map(function, iterable)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21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MAP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map() возвращает итератор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857250" y="1485900"/>
            <a:ext cx="6477000" cy="3429000"/>
          </a:xfrm>
          <a:prstGeom prst="roundRect">
            <a:avLst>
              <a:gd name="adj" fmla="val 5000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map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(function, iterable)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languages = 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"python"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"perl"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"java"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"c++"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lengths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map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languages)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(lengths)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6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(lengths)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4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8001000" y="1828800"/>
            <a:ext cx="33147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Результаты вычисляются по запросу, а не заранее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8039100" y="4400550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Порядок элементов сохраняется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22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FILTER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Отбор элементов по условию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85800" y="1466849"/>
            <a:ext cx="5048250" cy="2781300"/>
          </a:xfrm>
          <a:prstGeom prst="roundRect">
            <a:avLst>
              <a:gd name="adj" fmla="val 6164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result = []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element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iterable: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predicate(element):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result.append(element)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6457950" y="1466849"/>
            <a:ext cx="5048250" cy="2781300"/>
          </a:xfrm>
          <a:prstGeom prst="roundRect">
            <a:avLst>
              <a:gd name="adj" fmla="val 6164"/>
            </a:avLst>
          </a:prstGeom>
          <a:solidFill>
            <a:srgbClr val="101726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result = [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element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element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iterable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predicate(element)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2381250" y="4972050"/>
            <a:ext cx="7429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80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filter(predicate, iterable)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23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FILTER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filter() возвращает итератор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104900" y="1428750"/>
            <a:ext cx="9982200" cy="4000500"/>
          </a:xfrm>
          <a:prstGeom prst="roundRect">
            <a:avLst>
              <a:gd name="adj" fmla="val 4286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is_even(number):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number %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==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evens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filter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(is_even,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list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(evens)</a:t>
            </a:r>
            <a:endParaRPr/>
          </a:p>
          <a:p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[0, 2, 4, 6, 8]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543050" y="5772150"/>
            <a:ext cx="910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Предикат вычисляется по одному разу для каждого запрошенного элемента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24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MAP И FILTER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Включения или map() и filter()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066800" y="148590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Включения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104900" y="2305050"/>
            <a:ext cx="400050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39700">
              <a:spcAft>
                <a:spcPts val="18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Обычно легче читать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Сразу создают коллекцию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Удобны для простых выражений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6096000" y="1524000"/>
            <a:ext cx="19050" cy="37147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7" name=""/>
          <p:cNvSpPr>
            <a:spLocks noGrp="1"/>
          </p:cNvSpPr>
          <p:nvPr/>
        </p:nvSpPr>
        <p:spPr bwMode="auto">
          <a:xfrm>
            <a:off x="7010399" y="148590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0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map() и filter()</a:t>
            </a:r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 bwMode="auto">
          <a:xfrm>
            <a:off x="7048500" y="2305050"/>
            <a:ext cx="400050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39700">
              <a:spcAft>
                <a:spcPts val="18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Вычисляют значения лениво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Хорошо работают с готовыми функциями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Подходят для цепочек итераторов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25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ЛЯМБДА-ФУНКЦИИ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Синтаксис lambda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524000" y="1676400"/>
            <a:ext cx="9144000" cy="2571750"/>
          </a:xfrm>
          <a:prstGeom prst="roundRect">
            <a:avLst>
              <a:gd name="adj" fmla="val 6667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3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lambda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parameters: expression</a:t>
            </a:r>
            <a:endParaRPr/>
          </a:p>
          <a:p>
            <a:pPr>
              <a:defRPr sz="23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23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square =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lambda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x: x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endParaRPr/>
          </a:p>
          <a:p>
            <a:pPr>
              <a:defRPr sz="23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square(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25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2190750" y="4724399"/>
            <a:ext cx="7810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lambda автоматически возвращает результат выражения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1714500" y="541020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Тело не может содержать обычные инструкции: присваивание, цикл или try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26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ЛЯМБДА-ФУНКЦИИ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Использование lambda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66750" y="1200150"/>
            <a:ext cx="10858500" cy="5048250"/>
          </a:xfrm>
          <a:prstGeom prst="roundRect">
            <a:avLst>
              <a:gd name="adj" fmla="val 3396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squares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map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lambda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value: value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positive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filter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lambda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pair: pair[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&gt;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[(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), 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), 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8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)],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ordered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sorted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[(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), 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), 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8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)],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key=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lambda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pair: pair[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],</a:t>
            </a:r>
            <a:endParaRPr/>
          </a:p>
          <a:p>
            <a:pPr>
              <a:defRPr sz="16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27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ЛЯМБДА-ФУНКЦИИ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Когда использовать lambda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219200" y="156210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00" b="1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Подходит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200150" y="2381250"/>
            <a:ext cx="4095750" cy="2609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39700">
              <a:spcAft>
                <a:spcPts val="1800"/>
              </a:spcAft>
              <a:buChar char="•"/>
              <a:defRPr sz="19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00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Короткое выражение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9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0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Функция нужна в одном месте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9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00">
                <a:solidFill>
                  <a:srgbClr val="F5F7FA"/>
                </a:solidFill>
                <a:latin typeface="Arial"/>
                <a:ea typeface="Arial"/>
                <a:cs typeface="Arial"/>
              </a:rPr>
              <a:t>Роль понятна из контекста вызова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6096000" y="1600200"/>
            <a:ext cx="19050" cy="35242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7" name=""/>
          <p:cNvSpPr>
            <a:spLocks noGrp="1"/>
          </p:cNvSpPr>
          <p:nvPr/>
        </p:nvSpPr>
        <p:spPr bwMode="auto">
          <a:xfrm>
            <a:off x="6934200" y="156210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00" b="1" i="0">
                <a:solidFill>
                  <a:srgbClr val="FF9A8B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FF9A8B"/>
                </a:solidFill>
                <a:latin typeface="Arial"/>
                <a:ea typeface="Arial"/>
                <a:cs typeface="Arial"/>
              </a:rPr>
              <a:t>Лучше def</a:t>
            </a:r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 bwMode="auto">
          <a:xfrm>
            <a:off x="6915150" y="2381250"/>
            <a:ext cx="4095750" cy="2609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39700">
              <a:spcAft>
                <a:spcPts val="1800"/>
              </a:spcAft>
              <a:buChar char="•"/>
              <a:defRPr sz="19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00">
                <a:solidFill>
                  <a:srgbClr val="F5F7FA"/>
                </a:solidFill>
                <a:latin typeface="Arial"/>
                <a:ea typeface="Arial"/>
                <a:cs typeface="Arial"/>
              </a:rPr>
              <a:t>Логика занимает больше одного выражения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9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0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Функция используется повторно</a:t>
            </a:r>
            <a:endParaRPr/>
          </a:p>
          <a:p>
            <a:pPr marL="279400" indent="-139700">
              <a:spcAft>
                <a:spcPts val="1800"/>
              </a:spcAft>
              <a:buChar char="•"/>
              <a:defRPr sz="19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00">
                <a:solidFill>
                  <a:srgbClr val="F5F7FA"/>
                </a:solidFill>
                <a:latin typeface="Arial"/>
                <a:ea typeface="Arial"/>
                <a:cs typeface="Arial"/>
              </a:rPr>
              <a:t>Нужно понятное имя, типы или документация</a:t>
            </a:r>
            <a:endParaRPr/>
          </a:p>
        </p:txBody>
      </p:sp>
      <p:sp>
        <p:nvSpPr>
          <p:cNvPr id="9" name=""/>
          <p:cNvSpPr>
            <a:spLocks noGrp="1"/>
          </p:cNvSpPr>
          <p:nvPr/>
        </p:nvSpPr>
        <p:spPr bwMode="auto">
          <a:xfrm>
            <a:off x="2057400" y="5619750"/>
            <a:ext cx="8077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PEP 8 рекомендует def вместо присваивания lambda имени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28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66750" y="1123950"/>
            <a:ext cx="2095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04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2724150" y="1790700"/>
            <a:ext cx="8096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Итераторы и генераторы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2781300" y="31051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Последовательная и ленивая обработка данных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29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ИТЕРАТОРЫ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Поток значений по одному элементу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857250" y="1409700"/>
            <a:ext cx="1047750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Итератор хранит позицию обхода и выдаёт следующий элемент только по запросу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2571750" y="4095750"/>
            <a:ext cx="7048500" cy="1428750"/>
          </a:xfrm>
          <a:prstGeom prst="roundRect">
            <a:avLst>
              <a:gd name="adj" fmla="val 12000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85750" tIns="228600" rIns="247650" bIns="171450" anchor="t">
            <a:noAutofit/>
          </a:bodyPr>
          <a:lstStyle/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iterator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iter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(data)</a:t>
            </a:r>
            <a:endParaRPr/>
          </a:p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value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(iterator)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30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ИТЕРАТОРЫ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Протокол итератора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990600" y="1466849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1" i="0">
                <a:solidFill>
                  <a:srgbClr val="4B9CD3"/>
                </a:solidFill>
                <a:latin typeface="Menlo"/>
                <a:ea typeface="Menlo"/>
                <a:cs typeface="Menlo"/>
              </a:defRPr>
            </a:pPr>
            <a:r>
              <a:rPr sz="2050" b="1" i="0">
                <a:solidFill>
                  <a:srgbClr val="4B9CD3"/>
                </a:solidFill>
                <a:latin typeface="Menlo"/>
                <a:ea typeface="Menlo"/>
                <a:cs typeface="Menlo"/>
              </a:rPr>
              <a:t>iter(iterable)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4648200" y="1524000"/>
            <a:ext cx="6191250" cy="4381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создаёт итератор или возвращает его же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990600" y="2209800"/>
            <a:ext cx="984885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7" name=""/>
          <p:cNvSpPr>
            <a:spLocks noGrp="1"/>
          </p:cNvSpPr>
          <p:nvPr/>
        </p:nvSpPr>
        <p:spPr bwMode="auto">
          <a:xfrm>
            <a:off x="990600" y="2533650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1" i="0">
                <a:solidFill>
                  <a:srgbClr val="FFD43B"/>
                </a:solidFill>
                <a:latin typeface="Menlo"/>
                <a:ea typeface="Menlo"/>
                <a:cs typeface="Menlo"/>
              </a:defRPr>
            </a:pPr>
            <a:r>
              <a:rPr sz="2050" b="1" i="0">
                <a:solidFill>
                  <a:srgbClr val="FFD43B"/>
                </a:solidFill>
                <a:latin typeface="Menlo"/>
                <a:ea typeface="Menlo"/>
                <a:cs typeface="Menlo"/>
              </a:rPr>
              <a:t>next(iterator)</a:t>
            </a:r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 bwMode="auto">
          <a:xfrm>
            <a:off x="4648200" y="2590800"/>
            <a:ext cx="6191250" cy="4381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запрашивает следующее значение</a:t>
            </a:r>
            <a:endParaRPr/>
          </a:p>
        </p:txBody>
      </p:sp>
      <p:sp>
        <p:nvSpPr>
          <p:cNvPr id="9" name=""/>
          <p:cNvSpPr>
            <a:spLocks noGrp="1"/>
          </p:cNvSpPr>
          <p:nvPr/>
        </p:nvSpPr>
        <p:spPr bwMode="auto">
          <a:xfrm>
            <a:off x="990600" y="3276600"/>
            <a:ext cx="984885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10" name=""/>
          <p:cNvSpPr>
            <a:spLocks noGrp="1"/>
          </p:cNvSpPr>
          <p:nvPr/>
        </p:nvSpPr>
        <p:spPr bwMode="auto">
          <a:xfrm>
            <a:off x="990600" y="3600450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1" i="0">
                <a:solidFill>
                  <a:srgbClr val="FF9A8B"/>
                </a:solidFill>
                <a:latin typeface="Menlo"/>
                <a:ea typeface="Menlo"/>
                <a:cs typeface="Menlo"/>
              </a:defRPr>
            </a:pPr>
            <a:r>
              <a:rPr sz="2050" b="1" i="0">
                <a:solidFill>
                  <a:srgbClr val="FF9A8B"/>
                </a:solidFill>
                <a:latin typeface="Menlo"/>
                <a:ea typeface="Menlo"/>
                <a:cs typeface="Menlo"/>
              </a:rPr>
              <a:t>StopIteration</a:t>
            </a:r>
            <a:endParaRPr/>
          </a:p>
        </p:txBody>
      </p:sp>
      <p:sp>
        <p:nvSpPr>
          <p:cNvPr id="11" name=""/>
          <p:cNvSpPr>
            <a:spLocks noGrp="1"/>
          </p:cNvSpPr>
          <p:nvPr/>
        </p:nvSpPr>
        <p:spPr bwMode="auto">
          <a:xfrm>
            <a:off x="4648200" y="3657600"/>
            <a:ext cx="6191250" cy="4381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сигнализирует об окончании данных</a:t>
            </a:r>
            <a:endParaRPr/>
          </a:p>
        </p:txBody>
      </p:sp>
      <p:sp>
        <p:nvSpPr>
          <p:cNvPr id="12" name=""/>
          <p:cNvSpPr>
            <a:spLocks noGrp="1"/>
          </p:cNvSpPr>
          <p:nvPr/>
        </p:nvSpPr>
        <p:spPr bwMode="auto">
          <a:xfrm>
            <a:off x="990600" y="4343400"/>
            <a:ext cx="984885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13" name=""/>
          <p:cNvSpPr>
            <a:spLocks noGrp="1"/>
          </p:cNvSpPr>
          <p:nvPr/>
        </p:nvSpPr>
        <p:spPr bwMode="auto">
          <a:xfrm>
            <a:off x="990600" y="4667250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1" i="0">
                <a:solidFill>
                  <a:srgbClr val="7FD88C"/>
                </a:solidFill>
                <a:latin typeface="Menlo"/>
                <a:ea typeface="Menlo"/>
                <a:cs typeface="Menlo"/>
              </a:defRPr>
            </a:pPr>
            <a:r>
              <a:rPr sz="2050" b="1" i="0">
                <a:solidFill>
                  <a:srgbClr val="7FD88C"/>
                </a:solidFill>
                <a:latin typeface="Menlo"/>
                <a:ea typeface="Menlo"/>
                <a:cs typeface="Menlo"/>
              </a:rPr>
              <a:t>for</a:t>
            </a:r>
            <a:endParaRPr/>
          </a:p>
        </p:txBody>
      </p:sp>
      <p:sp>
        <p:nvSpPr>
          <p:cNvPr id="14" name=""/>
          <p:cNvSpPr>
            <a:spLocks noGrp="1"/>
          </p:cNvSpPr>
          <p:nvPr/>
        </p:nvSpPr>
        <p:spPr bwMode="auto">
          <a:xfrm>
            <a:off x="4648200" y="4724399"/>
            <a:ext cx="6191250" cy="4381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сам вызывает iter() и next()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31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ИТЕРАТОРЫ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iter() и next()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543050" y="1428750"/>
            <a:ext cx="9105900" cy="3905250"/>
          </a:xfrm>
          <a:prstGeom prst="roundRect">
            <a:avLst>
              <a:gd name="adj" fmla="val 4390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iterator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iter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])</a:t>
            </a: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(iterator)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</a:t>
            </a: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(iterator)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</a:t>
            </a: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(iterator)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3</a:t>
            </a: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(iterator)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StopIteration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866900" y="5753100"/>
            <a:ext cx="8458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Итератор одноразовый: пройденные элементы не появляются снова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32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ИТЕРАТОРЫ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Функции, работающие с iterable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895350" y="1466849"/>
            <a:ext cx="4667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50" b="1" i="0">
                <a:solidFill>
                  <a:srgbClr val="FF9A8B"/>
                </a:solidFill>
                <a:latin typeface="Arial"/>
                <a:ea typeface="Arial"/>
                <a:cs typeface="Arial"/>
              </a:defRPr>
            </a:pPr>
            <a:r>
              <a:rPr sz="2350" b="1" i="0">
                <a:solidFill>
                  <a:srgbClr val="FF9A8B"/>
                </a:solidFill>
                <a:latin typeface="Arial"/>
                <a:ea typeface="Arial"/>
                <a:cs typeface="Arial"/>
              </a:rPr>
              <a:t>Потребляют элементы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028700" y="2247900"/>
            <a:ext cx="4400550" cy="3048000"/>
          </a:xfrm>
          <a:prstGeom prst="roundRect">
            <a:avLst>
              <a:gd name="adj" fmla="val 5625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min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(iterable)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max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(iterable)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sum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(iterable)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all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(iterable)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any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(iterable)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value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iterable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6629400" y="1466849"/>
            <a:ext cx="4667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50" b="1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2350" b="1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Возвращают итератор</a:t>
            </a:r>
            <a:endParaRPr/>
          </a:p>
        </p:txBody>
      </p:sp>
      <p:sp>
        <p:nvSpPr>
          <p:cNvPr id="7" name=""/>
          <p:cNvSpPr>
            <a:spLocks noGrp="1"/>
          </p:cNvSpPr>
          <p:nvPr/>
        </p:nvSpPr>
        <p:spPr bwMode="auto">
          <a:xfrm>
            <a:off x="6762750" y="2247900"/>
            <a:ext cx="4400550" cy="3048000"/>
          </a:xfrm>
          <a:prstGeom prst="roundRect">
            <a:avLst>
              <a:gd name="adj" fmla="val 5625"/>
            </a:avLst>
          </a:prstGeom>
          <a:solidFill>
            <a:srgbClr val="101726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enumerate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(iterable)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map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(function, iterable)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filter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(predicate, iterable)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zip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(*iterables)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reversed(sequence)</a:t>
            </a:r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 bwMode="auto">
          <a:xfrm>
            <a:off x="1524000" y="5715000"/>
            <a:ext cx="9144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Для бесконечного источника min(), max(), sum() и list() могут не завершиться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33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ГЕНЕРАТОРЫ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Генераторное выражение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238250" y="1619250"/>
            <a:ext cx="9715500" cy="3333750"/>
          </a:xfrm>
          <a:prstGeom prst="roundRect">
            <a:avLst>
              <a:gd name="adj" fmla="val 5143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squares = (x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</a:t>
            </a: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(squares)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0</a:t>
            </a: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(squares)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</a:t>
            </a:r>
            <a:endParaRPr/>
          </a:p>
          <a:p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(squares)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4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447800" y="5410200"/>
            <a:ext cx="9296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Круглые скобки создают ленивый поток, квадратные скобки создают список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34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ГЕНЕРАТОРЫ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Генератор или список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685800" y="1619250"/>
            <a:ext cx="4953000" cy="285750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needle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(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expensive_fn(item)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item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haystack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6553200" y="1619250"/>
            <a:ext cx="4953000" cy="2857500"/>
          </a:xfrm>
          <a:prstGeom prst="roundRect">
            <a:avLst>
              <a:gd name="adj" fmla="val 6000"/>
            </a:avLst>
          </a:prstGeom>
          <a:solidFill>
            <a:srgbClr val="101726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needle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[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expensive_fn(item)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item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haystack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876299" y="4914900"/>
            <a:ext cx="4572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Генератор может остановиться после первого совпадения</a:t>
            </a:r>
            <a:endParaRPr/>
          </a:p>
        </p:txBody>
      </p:sp>
      <p:sp>
        <p:nvSpPr>
          <p:cNvPr id="7" name=""/>
          <p:cNvSpPr>
            <a:spLocks noGrp="1"/>
          </p:cNvSpPr>
          <p:nvPr/>
        </p:nvSpPr>
        <p:spPr bwMode="auto">
          <a:xfrm>
            <a:off x="6762750" y="4914900"/>
            <a:ext cx="45339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F9A8B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9A8B"/>
                </a:solidFill>
                <a:latin typeface="Arial"/>
                <a:ea typeface="Arial"/>
                <a:cs typeface="Arial"/>
              </a:rPr>
              <a:t>Список сначала вычисляет и сохраняет все значения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35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ГЕНЕРАТОРЫ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Генераторная функция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714500" y="1790700"/>
            <a:ext cx="8763000" cy="2286000"/>
          </a:xfrm>
          <a:prstGeom prst="roundRect">
            <a:avLst>
              <a:gd name="adj" fmla="val 7500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4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generate_values():</a:t>
            </a:r>
            <a:endParaRPr/>
          </a:p>
          <a:p>
            <a:pPr>
              <a:defRPr sz="24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yield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first_value</a:t>
            </a:r>
            <a:endParaRPr/>
          </a:p>
          <a:p>
            <a:pPr>
              <a:defRPr sz="24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yield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second_value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714500" y="4572000"/>
            <a:ext cx="8763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Наличие yield превращает функцию в генераторную</a:t>
            </a:r>
            <a:endParaRPr/>
          </a:p>
          <a:p>
            <a:pPr marL="279400" indent="-139700">
              <a:spcAft>
                <a:spcPts val="12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Вызов создаёт объект-генератор, но не выполняет тело</a:t>
            </a:r>
            <a:endParaRPr/>
          </a:p>
          <a:p>
            <a:pPr marL="279400" indent="-139700">
              <a:spcAft>
                <a:spcPts val="12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Код запускается при next() или в цикле for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36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ГЕНЕРАТОРЫ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Простой генератор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819150" y="1257300"/>
            <a:ext cx="10553700" cy="5029200"/>
          </a:xfrm>
          <a:prstGeom prst="roundRect">
            <a:avLst>
              <a:gd name="adj" fmla="val 3409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generate_ints(n):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value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(n):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yield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value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generator = generate_ints(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(generator)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&lt;class 'generator'&gt;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(generator)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0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(generator)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(generator)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</a:t>
            </a:r>
            <a:endParaRPr/>
          </a:p>
          <a:p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next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(generator)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StopIteration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37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ГЕНЕРАТОРЫ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Бесконечный генератор Фибоначчи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619250" y="1619250"/>
            <a:ext cx="8953500" cy="3048000"/>
          </a:xfrm>
          <a:prstGeom prst="roundRect">
            <a:avLst>
              <a:gd name="adj" fmla="val 5625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generate_fibs():</a:t>
            </a:r>
            <a:endParaRPr/>
          </a:p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a, b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endParaRPr/>
          </a:p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while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True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  <a:endParaRPr/>
          </a:p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yield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a</a:t>
            </a:r>
            <a:endParaRPr/>
          </a:p>
          <a:p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a, b = b, a + b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2266950" y="5162550"/>
            <a:ext cx="7658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0, 1, 1, 2, 3, 5, 8, 13, ...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38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ГЕНЕРАТОРЫ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Ограничение бесконечного потока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914400" y="1657350"/>
            <a:ext cx="10363200" cy="3238500"/>
          </a:xfrm>
          <a:prstGeom prst="roundRect">
            <a:avLst>
              <a:gd name="adj" fmla="val 5294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itertools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islice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first_ten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list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(islice(generate_fibs(),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first_ten</a:t>
            </a:r>
            <a:endParaRPr/>
          </a:p>
          <a:p>
            <a:pPr>
              <a:defRPr sz="19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[0, 1, 1, 2, 3, 5, 8, 13, 21, 34]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447800" y="5372100"/>
            <a:ext cx="9296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islice() берёт нужное число элементов, не материализуя бесконечную последовательность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39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ГЕНЕРАТОРЫ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Зачем нужны итераторы и генераторы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876299" y="14287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Экономия памяти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4572000" y="1457325"/>
            <a:ext cx="6477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в памяти находится текущий элемент, а не весь поток</a:t>
            </a:r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 bwMode="auto">
          <a:xfrm>
            <a:off x="876299" y="2190750"/>
            <a:ext cx="101727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7" name=""/>
          <p:cNvSpPr>
            <a:spLocks noGrp="1"/>
          </p:cNvSpPr>
          <p:nvPr/>
        </p:nvSpPr>
        <p:spPr bwMode="auto">
          <a:xfrm>
            <a:off x="876299" y="25336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Раннее завершение</a:t>
            </a:r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 bwMode="auto">
          <a:xfrm>
            <a:off x="4572000" y="2562225"/>
            <a:ext cx="6477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поиск может остановиться сразу после совпадения</a:t>
            </a:r>
            <a:endParaRPr/>
          </a:p>
        </p:txBody>
      </p:sp>
      <p:sp>
        <p:nvSpPr>
          <p:cNvPr id="9" name=""/>
          <p:cNvSpPr>
            <a:spLocks noGrp="1"/>
          </p:cNvSpPr>
          <p:nvPr/>
        </p:nvSpPr>
        <p:spPr bwMode="auto">
          <a:xfrm>
            <a:off x="876299" y="3295650"/>
            <a:ext cx="101727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10" name=""/>
          <p:cNvSpPr>
            <a:spLocks noGrp="1"/>
          </p:cNvSpPr>
          <p:nvPr/>
        </p:nvSpPr>
        <p:spPr bwMode="auto">
          <a:xfrm>
            <a:off x="876299" y="36385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Конвейеры данных</a:t>
            </a:r>
            <a:endParaRPr/>
          </a:p>
        </p:txBody>
      </p:sp>
      <p:sp>
        <p:nvSpPr>
          <p:cNvPr id="11" name=""/>
          <p:cNvSpPr>
            <a:spLocks noGrp="1"/>
          </p:cNvSpPr>
          <p:nvPr/>
        </p:nvSpPr>
        <p:spPr bwMode="auto">
          <a:xfrm>
            <a:off x="4572000" y="3667125"/>
            <a:ext cx="6477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map, filter, zip и генераторы соединяются без промежуточных списков</a:t>
            </a:r>
            <a:endParaRPr/>
          </a:p>
        </p:txBody>
      </p:sp>
      <p:sp>
        <p:nvSpPr>
          <p:cNvPr id="12" name=""/>
          <p:cNvSpPr>
            <a:spLocks noGrp="1"/>
          </p:cNvSpPr>
          <p:nvPr/>
        </p:nvSpPr>
        <p:spPr bwMode="auto">
          <a:xfrm>
            <a:off x="876299" y="4400550"/>
            <a:ext cx="10172700" cy="19050"/>
          </a:xfrm>
          <a:prstGeom prst="rect">
            <a:avLst/>
          </a:prstGeom>
          <a:solidFill>
            <a:srgbClr val="2A3650"/>
          </a:solidFill>
          <a:ln w="0">
            <a:noFill/>
          </a:ln>
        </p:spPr>
      </p:sp>
      <p:sp>
        <p:nvSpPr>
          <p:cNvPr id="13" name=""/>
          <p:cNvSpPr>
            <a:spLocks noGrp="1"/>
          </p:cNvSpPr>
          <p:nvPr/>
        </p:nvSpPr>
        <p:spPr bwMode="auto">
          <a:xfrm>
            <a:off x="876299" y="47434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 i="0">
                <a:solidFill>
                  <a:srgbClr val="C7A0FF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C7A0FF"/>
                </a:solidFill>
                <a:latin typeface="Arial"/>
                <a:ea typeface="Arial"/>
                <a:cs typeface="Arial"/>
              </a:rPr>
              <a:t>Большие и бесконечные потоки</a:t>
            </a:r>
            <a:endParaRPr/>
          </a:p>
        </p:txBody>
      </p:sp>
      <p:sp>
        <p:nvSpPr>
          <p:cNvPr id="14" name=""/>
          <p:cNvSpPr>
            <a:spLocks noGrp="1"/>
          </p:cNvSpPr>
          <p:nvPr/>
        </p:nvSpPr>
        <p:spPr bwMode="auto">
          <a:xfrm>
            <a:off x="4572000" y="4772025"/>
            <a:ext cx="6477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50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обрабатываются порциями или по одному элементу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40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66750" y="1123950"/>
            <a:ext cx="2095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05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2724150" y="1790700"/>
            <a:ext cx="8096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Декораторы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2781300" y="31051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Функции, которые добавляют поведение другим функциям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41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ДЕКОРАТОРЫ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Функция как аргумент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800100" y="1485900"/>
            <a:ext cx="10591799" cy="3714750"/>
          </a:xfrm>
          <a:prstGeom prst="roundRect">
            <a:avLst>
              <a:gd name="adj" fmla="val 4615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perform_twice(function, *args, **kwargs):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function(*args, **kwargs)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function(*args, **kwargs)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perform_twice(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sep=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"&amp;"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end=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"..."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5&amp;10...5&amp;10...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2476500" y="5657850"/>
            <a:ext cx="723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Имя функции передают без круглых скобок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42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ДЕКОРАТОРЫ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Функция как результат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742950" y="1352550"/>
            <a:ext cx="10706100" cy="4667250"/>
          </a:xfrm>
          <a:prstGeom prst="roundRect">
            <a:avLst>
              <a:gd name="adj" fmla="val 3673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make_divisibility_test(divisor):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is_divisible(number):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number % divisor ==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is_divisible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divisible_by_3 = make_divisibility_test(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list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filter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(divisible_by_3,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)))</a:t>
            </a:r>
            <a:endParaRPr/>
          </a:p>
          <a:p>
            <a:pPr>
              <a:defRPr sz="17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[0, 3, 6, 9]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2476500" y="6153149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Внутренняя функция запоминает divisor: это замыкание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43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ДЕКОРАТОРЫ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Что такое декоратор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838200" y="1562100"/>
            <a:ext cx="105156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Декоратор принимает функцию и возвращает функцию с дополнительным поведением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2476500" y="4210050"/>
            <a:ext cx="7239000" cy="1143000"/>
          </a:xfrm>
          <a:prstGeom prst="roundRect">
            <a:avLst>
              <a:gd name="adj" fmla="val 15000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323850" tIns="266700" rIns="266700" bIns="190500" anchor="t">
            <a:noAutofit/>
          </a:bodyPr>
          <a:lstStyle/>
          <a:p>
            <a:pPr>
              <a:defRPr sz="24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decorated = decorator(original)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44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ДЕКОРАТОРЫ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Пример декоратора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123950" y="1333500"/>
            <a:ext cx="9944100" cy="4667250"/>
          </a:xfrm>
          <a:prstGeom prst="roundRect">
            <a:avLst>
              <a:gd name="adj" fmla="val 3673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functools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wraps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debug(function):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@wraps(function)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wrapper(*args, **kwargs):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"Arguments:"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args, kwargs)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function(*args, **kwargs)</a:t>
            </a:r>
            <a:endParaRPr/>
          </a:p>
          <a:p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wrapper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2476500" y="6153149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wraps сохраняет имя и документацию исходной функции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 bwMode="auto">
          <a:xfrm>
            <a:off x="11277600" y="64008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45</a:t>
            </a:r>
            <a:endParaRPr/>
          </a:p>
        </p:txBody>
      </p:sp>
      <p:sp>
        <p:nvSpPr>
          <p:cNvPr id="2" name=""/>
          <p:cNvSpPr>
            <a:spLocks noGrp="1"/>
          </p:cNvSpPr>
          <p:nvPr/>
        </p:nvSpPr>
        <p:spPr bwMode="auto">
          <a:xfrm>
            <a:off x="685800" y="6400800"/>
            <a:ext cx="628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ДЕКОРАТОРЫ</a:t>
            </a:r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 bwMode="auto">
          <a:xfrm>
            <a:off x="685800" y="4000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Синтаксис @decorator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 bwMode="auto">
          <a:xfrm>
            <a:off x="1143000" y="1428750"/>
            <a:ext cx="9906000" cy="4000500"/>
          </a:xfrm>
          <a:prstGeom prst="roundRect">
            <a:avLst>
              <a:gd name="adj" fmla="val 4286"/>
            </a:avLst>
          </a:prstGeom>
          <a:solidFill>
            <a:srgbClr val="141B2D"/>
          </a:solidFill>
          <a:ln w="9525">
            <a:solidFill>
              <a:srgbClr val="2A3650"/>
            </a:solidFill>
            <a:prstDash val="solid"/>
          </a:ln>
        </p:spPr>
        <p:txBody>
          <a:bodyPr wrap="none" lIns="209550" tIns="171450" rIns="209550" bIns="152400" anchor="t">
            <a:noAutofit/>
          </a:bodyPr>
          <a:lstStyle/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@debug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add(a, b, scale=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):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(a + b) * scale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add(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scale=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Arguments: (5, 3) {'scale': 2}</a:t>
            </a:r>
            <a:endParaRPr/>
          </a:p>
          <a:p>
            <a:pPr>
              <a:defRPr sz="20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16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 bwMode="auto">
          <a:xfrm>
            <a:off x="1447800" y="5829300"/>
            <a:ext cx="929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@debug над def эквивалентно add = debug(add) после объявления функции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/>
  <Paragraphs>0</Paragraphs>
  <Slides>45</Slides>
  <Notes>45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cp:keywords/>
  <dc:description/>
  <dc:identifier/>
  <dc:language/>
  <cp:lastModifiedBy>Александр Шарапаев</cp:lastModifiedBy>
  <cp:revision>1</cp:revision>
  <dcterms:created xsi:type="dcterms:W3CDTF">2026-09-22T20:54:44Z</dcterms:created>
  <dcterms:modified xsi:type="dcterms:W3CDTF">2026-09-25T11:50:29Z</dcterms:modified>
  <cp:category/>
  <cp:contentStatus/>
  <cp:version/>
</cp:coreProperties>
</file>