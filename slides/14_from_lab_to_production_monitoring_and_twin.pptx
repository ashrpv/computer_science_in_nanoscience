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62b8095e284044" /><Relationship Type="http://schemas.openxmlformats.org/officeDocument/2006/relationships/extended-properties" Target="/docProps/app.xml" Id="R380e1c99ee924588" /><Relationship Type="http://schemas.openxmlformats.org/officeDocument/2006/relationships/officeDocument" Target="/ppt/presentation.xml" Id="R1468d1d237b34b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e92e5d68ab4747"/>
  </p:sldMasterIdLst>
  <p:notesMasterIdLst>
    <p:notesMasterId xmlns:r="http://schemas.openxmlformats.org/officeDocument/2006/relationships" r:id="R6d68540c41114413"/>
  </p:notesMasterIdLst>
  <p:sldIdLst>
    <p:sldId xmlns:r="http://schemas.openxmlformats.org/officeDocument/2006/relationships" id="256" r:id="R2766d359053743e3"/>
    <p:sldId xmlns:r="http://schemas.openxmlformats.org/officeDocument/2006/relationships" id="257" r:id="R571b0a54d4cc470d"/>
    <p:sldId xmlns:r="http://schemas.openxmlformats.org/officeDocument/2006/relationships" id="258" r:id="R2a766ee1e38b40fa"/>
    <p:sldId xmlns:r="http://schemas.openxmlformats.org/officeDocument/2006/relationships" id="259" r:id="R63249d71b10a4663"/>
    <p:sldId xmlns:r="http://schemas.openxmlformats.org/officeDocument/2006/relationships" id="260" r:id="R8161d16ad8db488a"/>
    <p:sldId xmlns:r="http://schemas.openxmlformats.org/officeDocument/2006/relationships" id="261" r:id="R28e70e5139ef426a"/>
    <p:sldId xmlns:r="http://schemas.openxmlformats.org/officeDocument/2006/relationships" id="262" r:id="R906c8ba295ca498e"/>
    <p:sldId xmlns:r="http://schemas.openxmlformats.org/officeDocument/2006/relationships" id="263" r:id="R21e7c2c111a74b10"/>
    <p:sldId xmlns:r="http://schemas.openxmlformats.org/officeDocument/2006/relationships" id="264" r:id="Rcd7ec50f24f745bb"/>
    <p:sldId xmlns:r="http://schemas.openxmlformats.org/officeDocument/2006/relationships" id="265" r:id="R58a9bc46f5e74836"/>
    <p:sldId xmlns:r="http://schemas.openxmlformats.org/officeDocument/2006/relationships" id="266" r:id="Rb65b9547b8a34337"/>
    <p:sldId xmlns:r="http://schemas.openxmlformats.org/officeDocument/2006/relationships" id="267" r:id="R12f24747c40246e1"/>
    <p:sldId xmlns:r="http://schemas.openxmlformats.org/officeDocument/2006/relationships" id="268" r:id="Rceb56afe77374c77"/>
    <p:sldId xmlns:r="http://schemas.openxmlformats.org/officeDocument/2006/relationships" id="269" r:id="Re3ed4e9349ca41e3"/>
    <p:sldId xmlns:r="http://schemas.openxmlformats.org/officeDocument/2006/relationships" id="270" r:id="R79a5435f45294352"/>
    <p:sldId xmlns:r="http://schemas.openxmlformats.org/officeDocument/2006/relationships" id="271" r:id="R96d9fdbdeec1410a"/>
    <p:sldId xmlns:r="http://schemas.openxmlformats.org/officeDocument/2006/relationships" id="272" r:id="R9cafa52ed8b4430b"/>
    <p:sldId xmlns:r="http://schemas.openxmlformats.org/officeDocument/2006/relationships" id="273" r:id="R76cfceffd7f94705"/>
    <p:sldId xmlns:r="http://schemas.openxmlformats.org/officeDocument/2006/relationships" id="274" r:id="R166dc4aced30474e"/>
    <p:sldId xmlns:r="http://schemas.openxmlformats.org/officeDocument/2006/relationships" id="275" r:id="R994dfec67e7b42b8"/>
    <p:sldId xmlns:r="http://schemas.openxmlformats.org/officeDocument/2006/relationships" id="276" r:id="R1859758bdca64e6b"/>
    <p:sldId xmlns:r="http://schemas.openxmlformats.org/officeDocument/2006/relationships" id="277" r:id="Rdfe212ab613f4ff9"/>
    <p:sldId xmlns:r="http://schemas.openxmlformats.org/officeDocument/2006/relationships" id="278" r:id="Rd7463adee90c4de9"/>
    <p:sldId xmlns:r="http://schemas.openxmlformats.org/officeDocument/2006/relationships" id="279" r:id="Rd7d53d83f7414772"/>
    <p:sldId xmlns:r="http://schemas.openxmlformats.org/officeDocument/2006/relationships" id="280" r:id="R10314fe5933e460f"/>
    <p:sldId xmlns:r="http://schemas.openxmlformats.org/officeDocument/2006/relationships" id="281" r:id="R1c0af77a57bf4c1c"/>
    <p:sldId xmlns:r="http://schemas.openxmlformats.org/officeDocument/2006/relationships" id="282" r:id="Rbbcfe73e0e8742d3"/>
    <p:sldId xmlns:r="http://schemas.openxmlformats.org/officeDocument/2006/relationships" id="283" r:id="Rfb445151d9cf4cc5"/>
    <p:sldId xmlns:r="http://schemas.openxmlformats.org/officeDocument/2006/relationships" id="284" r:id="R457d2566b52b4770"/>
    <p:sldId xmlns:r="http://schemas.openxmlformats.org/officeDocument/2006/relationships" id="285" r:id="R801dd38fc32a4510"/>
    <p:sldId xmlns:r="http://schemas.openxmlformats.org/officeDocument/2006/relationships" id="286" r:id="R799d040df3db4161"/>
    <p:sldId xmlns:r="http://schemas.openxmlformats.org/officeDocument/2006/relationships" id="287" r:id="R50420c8cacd1477f"/>
    <p:sldId xmlns:r="http://schemas.openxmlformats.org/officeDocument/2006/relationships" id="288" r:id="R5bc4070cbfad4b7f"/>
    <p:sldId xmlns:r="http://schemas.openxmlformats.org/officeDocument/2006/relationships" id="289" r:id="Rfdbdc4d63c4245e4"/>
    <p:sldId xmlns:r="http://schemas.openxmlformats.org/officeDocument/2006/relationships" id="290" r:id="R42b95876fe614d7a"/>
    <p:sldId xmlns:r="http://schemas.openxmlformats.org/officeDocument/2006/relationships" id="291" r:id="R168398becceb4a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d6640e6d354046" /><Relationship Type="http://schemas.openxmlformats.org/officeDocument/2006/relationships/slideMaster" Target="/ppt/slideMasters/slideMaster1.xml" Id="R60e92e5d68ab4747" /><Relationship Type="http://schemas.openxmlformats.org/officeDocument/2006/relationships/notesMaster" Target="/ppt/notesMasters/notesMaster1.xml" Id="R6d68540c41114413" /><Relationship Type="http://schemas.openxmlformats.org/officeDocument/2006/relationships/presProps" Target="/ppt/presProps.xml" Id="Rab1b8d78b2da45b4" /><Relationship Type="http://schemas.openxmlformats.org/officeDocument/2006/relationships/tableStyles" Target="/ppt/tableStyles.xml" Id="R59fac25ff19b45c1" /><Relationship Type="http://schemas.openxmlformats.org/officeDocument/2006/relationships/slide" Target="/ppt/slides/slide1.xml" Id="R2766d359053743e3" /><Relationship Type="http://schemas.openxmlformats.org/officeDocument/2006/relationships/slide" Target="/ppt/slides/slide2.xml" Id="R571b0a54d4cc470d" /><Relationship Type="http://schemas.openxmlformats.org/officeDocument/2006/relationships/slide" Target="/ppt/slides/slide3.xml" Id="R2a766ee1e38b40fa" /><Relationship Type="http://schemas.openxmlformats.org/officeDocument/2006/relationships/slide" Target="/ppt/slides/slide4.xml" Id="R63249d71b10a4663" /><Relationship Type="http://schemas.openxmlformats.org/officeDocument/2006/relationships/slide" Target="/ppt/slides/slide5.xml" Id="R8161d16ad8db488a" /><Relationship Type="http://schemas.openxmlformats.org/officeDocument/2006/relationships/slide" Target="/ppt/slides/slide6.xml" Id="R28e70e5139ef426a" /><Relationship Type="http://schemas.openxmlformats.org/officeDocument/2006/relationships/slide" Target="/ppt/slides/slide7.xml" Id="R906c8ba295ca498e" /><Relationship Type="http://schemas.openxmlformats.org/officeDocument/2006/relationships/slide" Target="/ppt/slides/slide8.xml" Id="R21e7c2c111a74b10" /><Relationship Type="http://schemas.openxmlformats.org/officeDocument/2006/relationships/slide" Target="/ppt/slides/slide9.xml" Id="Rcd7ec50f24f745bb" /><Relationship Type="http://schemas.openxmlformats.org/officeDocument/2006/relationships/slide" Target="/ppt/slides/slide10.xml" Id="R58a9bc46f5e74836" /><Relationship Type="http://schemas.openxmlformats.org/officeDocument/2006/relationships/slide" Target="/ppt/slides/slide11.xml" Id="Rb65b9547b8a34337" /><Relationship Type="http://schemas.openxmlformats.org/officeDocument/2006/relationships/slide" Target="/ppt/slides/slide12.xml" Id="R12f24747c40246e1" /><Relationship Type="http://schemas.openxmlformats.org/officeDocument/2006/relationships/slide" Target="/ppt/slides/slide13.xml" Id="Rceb56afe77374c77" /><Relationship Type="http://schemas.openxmlformats.org/officeDocument/2006/relationships/slide" Target="/ppt/slides/slide14.xml" Id="Re3ed4e9349ca41e3" /><Relationship Type="http://schemas.openxmlformats.org/officeDocument/2006/relationships/slide" Target="/ppt/slides/slide15.xml" Id="R79a5435f45294352" /><Relationship Type="http://schemas.openxmlformats.org/officeDocument/2006/relationships/slide" Target="/ppt/slides/slide16.xml" Id="R96d9fdbdeec1410a" /><Relationship Type="http://schemas.openxmlformats.org/officeDocument/2006/relationships/slide" Target="/ppt/slides/slide17.xml" Id="R9cafa52ed8b4430b" /><Relationship Type="http://schemas.openxmlformats.org/officeDocument/2006/relationships/slide" Target="/ppt/slides/slide18.xml" Id="R76cfceffd7f94705" /><Relationship Type="http://schemas.openxmlformats.org/officeDocument/2006/relationships/slide" Target="/ppt/slides/slide19.xml" Id="R166dc4aced30474e" /><Relationship Type="http://schemas.openxmlformats.org/officeDocument/2006/relationships/slide" Target="/ppt/slides/slide20.xml" Id="R994dfec67e7b42b8" /><Relationship Type="http://schemas.openxmlformats.org/officeDocument/2006/relationships/slide" Target="/ppt/slides/slide21.xml" Id="R1859758bdca64e6b" /><Relationship Type="http://schemas.openxmlformats.org/officeDocument/2006/relationships/slide" Target="/ppt/slides/slide22.xml" Id="Rdfe212ab613f4ff9" /><Relationship Type="http://schemas.openxmlformats.org/officeDocument/2006/relationships/slide" Target="/ppt/slides/slide23.xml" Id="Rd7463adee90c4de9" /><Relationship Type="http://schemas.openxmlformats.org/officeDocument/2006/relationships/slide" Target="/ppt/slides/slide24.xml" Id="Rd7d53d83f7414772" /><Relationship Type="http://schemas.openxmlformats.org/officeDocument/2006/relationships/slide" Target="/ppt/slides/slide25.xml" Id="R10314fe5933e460f" /><Relationship Type="http://schemas.openxmlformats.org/officeDocument/2006/relationships/slide" Target="/ppt/slides/slide26.xml" Id="R1c0af77a57bf4c1c" /><Relationship Type="http://schemas.openxmlformats.org/officeDocument/2006/relationships/slide" Target="/ppt/slides/slide27.xml" Id="Rbbcfe73e0e8742d3" /><Relationship Type="http://schemas.openxmlformats.org/officeDocument/2006/relationships/slide" Target="/ppt/slides/slide28.xml" Id="Rfb445151d9cf4cc5" /><Relationship Type="http://schemas.openxmlformats.org/officeDocument/2006/relationships/slide" Target="/ppt/slides/slide29.xml" Id="R457d2566b52b4770" /><Relationship Type="http://schemas.openxmlformats.org/officeDocument/2006/relationships/slide" Target="/ppt/slides/slide30.xml" Id="R801dd38fc32a4510" /><Relationship Type="http://schemas.openxmlformats.org/officeDocument/2006/relationships/slide" Target="/ppt/slides/slide31.xml" Id="R799d040df3db4161" /><Relationship Type="http://schemas.openxmlformats.org/officeDocument/2006/relationships/slide" Target="/ppt/slides/slide32.xml" Id="R50420c8cacd1477f" /><Relationship Type="http://schemas.openxmlformats.org/officeDocument/2006/relationships/slide" Target="/ppt/slides/slide33.xml" Id="R5bc4070cbfad4b7f" /><Relationship Type="http://schemas.openxmlformats.org/officeDocument/2006/relationships/slide" Target="/ppt/slides/slide34.xml" Id="Rfdbdc4d63c4245e4" /><Relationship Type="http://schemas.openxmlformats.org/officeDocument/2006/relationships/slide" Target="/ppt/slides/slide35.xml" Id="R42b95876fe614d7a" /><Relationship Type="http://schemas.openxmlformats.org/officeDocument/2006/relationships/slide" Target="/ppt/slides/slide36.xml" Id="R168398becceb4a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c4000e13e444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5a4dc74c7d412b" /><Relationship Type="http://schemas.openxmlformats.org/officeDocument/2006/relationships/notesMaster" Target="/ppt/notesMasters/notesMaster1.xml" Id="R4568ed49284b41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db8bb43bfa4947" /><Relationship Type="http://schemas.openxmlformats.org/officeDocument/2006/relationships/notesMaster" Target="/ppt/notesMasters/notesMaster1.xml" Id="R853f19030c7a4c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024cd5adb04136" /><Relationship Type="http://schemas.openxmlformats.org/officeDocument/2006/relationships/notesMaster" Target="/ppt/notesMasters/notesMaster1.xml" Id="R3e6b3c6af19348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43bbc60d7f45e8" /><Relationship Type="http://schemas.openxmlformats.org/officeDocument/2006/relationships/notesMaster" Target="/ppt/notesMasters/notesMaster1.xml" Id="R5162f34dbf9b43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03bb470a6c4dbc" /><Relationship Type="http://schemas.openxmlformats.org/officeDocument/2006/relationships/notesMaster" Target="/ppt/notesMasters/notesMaster1.xml" Id="R6703c40029b142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8c856320a34ce9" /><Relationship Type="http://schemas.openxmlformats.org/officeDocument/2006/relationships/notesMaster" Target="/ppt/notesMasters/notesMaster1.xml" Id="R215aed090f334e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3c9b7f90f145d4" /><Relationship Type="http://schemas.openxmlformats.org/officeDocument/2006/relationships/notesMaster" Target="/ppt/notesMasters/notesMaster1.xml" Id="R116bcd18d49841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a791ee794049f8" /><Relationship Type="http://schemas.openxmlformats.org/officeDocument/2006/relationships/notesMaster" Target="/ppt/notesMasters/notesMaster1.xml" Id="R924c797dff9b4b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477a0ad7914443" /><Relationship Type="http://schemas.openxmlformats.org/officeDocument/2006/relationships/notesMaster" Target="/ppt/notesMasters/notesMaster1.xml" Id="R5e2615a6641e41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3460cb27e5422c" /><Relationship Type="http://schemas.openxmlformats.org/officeDocument/2006/relationships/notesMaster" Target="/ppt/notesMasters/notesMaster1.xml" Id="R6e411b3911d640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0968954fe441ab" /><Relationship Type="http://schemas.openxmlformats.org/officeDocument/2006/relationships/notesMaster" Target="/ppt/notesMasters/notesMaster1.xml" Id="R8c6fb478fce644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bc0c6216ec4485" /><Relationship Type="http://schemas.openxmlformats.org/officeDocument/2006/relationships/notesMaster" Target="/ppt/notesMasters/notesMaster1.xml" Id="Rb4b441d7530c4f5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c4ea6306344293" /><Relationship Type="http://schemas.openxmlformats.org/officeDocument/2006/relationships/notesMaster" Target="/ppt/notesMasters/notesMaster1.xml" Id="R17e8478a1bc24b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5b15d053de415a" /><Relationship Type="http://schemas.openxmlformats.org/officeDocument/2006/relationships/notesMaster" Target="/ppt/notesMasters/notesMaster1.xml" Id="Rcd885a0dc36342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351206901b4560" /><Relationship Type="http://schemas.openxmlformats.org/officeDocument/2006/relationships/notesMaster" Target="/ppt/notesMasters/notesMaster1.xml" Id="R9e7804facd7845b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189a5153044f22" /><Relationship Type="http://schemas.openxmlformats.org/officeDocument/2006/relationships/notesMaster" Target="/ppt/notesMasters/notesMaster1.xml" Id="Rbb98c4d1674a43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5bc4dac8ba14499" /><Relationship Type="http://schemas.openxmlformats.org/officeDocument/2006/relationships/notesMaster" Target="/ppt/notesMasters/notesMaster1.xml" Id="R511e1765fb984e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9e4c5babb6d493b" /><Relationship Type="http://schemas.openxmlformats.org/officeDocument/2006/relationships/notesMaster" Target="/ppt/notesMasters/notesMaster1.xml" Id="Refcca40728fe46c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c72fded71b54433" /><Relationship Type="http://schemas.openxmlformats.org/officeDocument/2006/relationships/notesMaster" Target="/ppt/notesMasters/notesMaster1.xml" Id="Rbfb09cca866545c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1825d59bf84203" /><Relationship Type="http://schemas.openxmlformats.org/officeDocument/2006/relationships/notesMaster" Target="/ppt/notesMasters/notesMaster1.xml" Id="R8a84c06ce6df4ef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39bfb92db194c95" /><Relationship Type="http://schemas.openxmlformats.org/officeDocument/2006/relationships/notesMaster" Target="/ppt/notesMasters/notesMaster1.xml" Id="Ra65901912d744fa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7460c1635cd4661" /><Relationship Type="http://schemas.openxmlformats.org/officeDocument/2006/relationships/notesMaster" Target="/ppt/notesMasters/notesMaster1.xml" Id="R06d5775dab52440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859483e47804e02" /><Relationship Type="http://schemas.openxmlformats.org/officeDocument/2006/relationships/notesMaster" Target="/ppt/notesMasters/notesMaster1.xml" Id="Re9b3c512496c4ea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f64cadb413f4f7f" /><Relationship Type="http://schemas.openxmlformats.org/officeDocument/2006/relationships/notesMaster" Target="/ppt/notesMasters/notesMaster1.xml" Id="Rab6c679a62cf439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8e0a57d14674568" /><Relationship Type="http://schemas.openxmlformats.org/officeDocument/2006/relationships/notesMaster" Target="/ppt/notesMasters/notesMaster1.xml" Id="Ra51756c2a6af46e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41488fc9bc14a7f" /><Relationship Type="http://schemas.openxmlformats.org/officeDocument/2006/relationships/notesMaster" Target="/ppt/notesMasters/notesMaster1.xml" Id="R347276c584f948c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16845a6a52e440d" /><Relationship Type="http://schemas.openxmlformats.org/officeDocument/2006/relationships/notesMaster" Target="/ppt/notesMasters/notesMaster1.xml" Id="R41961a678a034ed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1ba541bd65e4caf" /><Relationship Type="http://schemas.openxmlformats.org/officeDocument/2006/relationships/notesMaster" Target="/ppt/notesMasters/notesMaster1.xml" Id="R9e682cc6b72a430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9fe990fe05347e5" /><Relationship Type="http://schemas.openxmlformats.org/officeDocument/2006/relationships/notesMaster" Target="/ppt/notesMasters/notesMaster1.xml" Id="R36a8b5d8e54646a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5454ebdd3a44b83" /><Relationship Type="http://schemas.openxmlformats.org/officeDocument/2006/relationships/notesMaster" Target="/ppt/notesMasters/notesMaster1.xml" Id="Rd1cbdbe318af467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a12edd06a2e4b7b" /><Relationship Type="http://schemas.openxmlformats.org/officeDocument/2006/relationships/notesMaster" Target="/ppt/notesMasters/notesMaster1.xml" Id="R7d948f5ef92a424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8393759037346f4" /><Relationship Type="http://schemas.openxmlformats.org/officeDocument/2006/relationships/notesMaster" Target="/ppt/notesMasters/notesMaster1.xml" Id="R13984c31517b4a8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552f39e226e49ae" /><Relationship Type="http://schemas.openxmlformats.org/officeDocument/2006/relationships/notesMaster" Target="/ppt/notesMasters/notesMaster1.xml" Id="R44df92f42dff484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d4cc9148fa74080" /><Relationship Type="http://schemas.openxmlformats.org/officeDocument/2006/relationships/notesMaster" Target="/ppt/notesMasters/notesMaster1.xml" Id="R9c7ba761b86342a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9adf9d5f9bd41ab" /><Relationship Type="http://schemas.openxmlformats.org/officeDocument/2006/relationships/notesMaster" Target="/ppt/notesMasters/notesMaster1.xml" Id="R5d0ca1d3d0504a9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35d0f9d18464189" /><Relationship Type="http://schemas.openxmlformats.org/officeDocument/2006/relationships/notesMaster" Target="/ppt/notesMasters/notesMaster1.xml" Id="Rbbd77fd046fe40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NIST/SEMATECH e-Handbook, Process or Product Monitoring and Control: https://www.itl.nist.gov/div898/handbook/pmc/pmc.htm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NIST/SEMATECH e-Handbook, Process or Product Monitoring and Control: https://www.itl.nist.gov/div898/handbook/pmc/pmc.htm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NIST/SEMATECH e-Handbook, Process or Product Monitoring and Control: https://www.itl.nist.gov/div898/handbook/pmc/pmc.htm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glossary: https://www.itl.nist.gov/div898/handbook/glossary.htm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NIST/SEMATECH e-Handbook, Process or Product Monitoring and Control: https://www.itl.nist.gov/div898/handbook/pmc/pmc.htm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Digital Twins for Advanced Manufacturing: https://www.nist.gov/programs-projects/digital-twins-advanced-manufacturing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Digital Twins for Advanced Manufacturing: https://www.nist.gov/programs-projects/digital-twins-advanced-manufacturing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 Digital Twins for Advanced Manufacturing: https://www.nist.gov/programs-projects/digital-twins-advanced-manufacturing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NIST/SEMATECH e-Handbook, Iterative nature: https://www.itl.nist.gov/div898/handbook/pri/section2/pri223.htm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NIST/SEMATECH e-Handbook, Iterative nature: https://www.itl.nist.gov/div898/handbook/pri/section2/pri223.htm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синтеза SiO₂. Все численные значения условны.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NIST/SEMATECH e-Handbook, Process or Product Monitoring and Control: https://www.itl.nist.gov/div898/handbook/pmc/pmc.htm</a:t>
            </a:r>
          </a:p>
          <a:p xmlns:a="http://schemas.openxmlformats.org/drawingml/2006/main">
            <a:r>
              <a:t>NIST/SEMATECH e-Handbook, Iterative nature: https://www.itl.nist.gov/div898/handbook/pri/section2/pri223.htm</a:t>
            </a:r>
          </a:p>
          <a:p xmlns:a="http://schemas.openxmlformats.org/drawingml/2006/main">
            <a:r>
              <a:t>NIST Digital Twins for Advanced Manufacturing: https://www.nist.gov/programs-projects/digital-twins-advanced-manufacturing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3e6fe3454043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0cac3d2324c4b" /><Relationship Type="http://schemas.openxmlformats.org/officeDocument/2006/relationships/slideLayout" Target="/ppt/slideLayouts/slideLayout1.xml" Id="R2d96d90b7ecc46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96d90b7ecc46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9391b4e3c4cf3" /><Relationship Type="http://schemas.openxmlformats.org/officeDocument/2006/relationships/notesSlide" Target="/ppt/notesSlides/notesSlide1.xml" Id="R1e2971761db642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cc842474a49d9" /><Relationship Type="http://schemas.openxmlformats.org/officeDocument/2006/relationships/notesSlide" Target="/ppt/notesSlides/notesSlide2.xml" Id="Rfaaa8134c7a949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374c431204bfb" /><Relationship Type="http://schemas.openxmlformats.org/officeDocument/2006/relationships/notesSlide" Target="/ppt/notesSlides/notesSlide3.xml" Id="R70204883b26a44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b6e761d4b4639" /><Relationship Type="http://schemas.openxmlformats.org/officeDocument/2006/relationships/notesSlide" Target="/ppt/notesSlides/notesSlide4.xml" Id="R8a2bde82293242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0c533047d4bf3" /><Relationship Type="http://schemas.openxmlformats.org/officeDocument/2006/relationships/notesSlide" Target="/ppt/notesSlides/notesSlide5.xml" Id="R3e872bc9232242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5576e3e7d45d9" /><Relationship Type="http://schemas.openxmlformats.org/officeDocument/2006/relationships/notesSlide" Target="/ppt/notesSlides/notesSlide6.xml" Id="Re8429d968d954e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31dc9fad04d94" /><Relationship Type="http://schemas.openxmlformats.org/officeDocument/2006/relationships/chart" Target="/ppt/slides/charts/chart1.xml" Id="R13d6d41a40424526" /><Relationship Type="http://schemas.openxmlformats.org/officeDocument/2006/relationships/notesSlide" Target="/ppt/notesSlides/notesSlide7.xml" Id="Re93a768036844c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61489661a4ecd" /><Relationship Type="http://schemas.openxmlformats.org/officeDocument/2006/relationships/notesSlide" Target="/ppt/notesSlides/notesSlide8.xml" Id="R0ca3fe7d530b4b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4718e60f74173" /><Relationship Type="http://schemas.openxmlformats.org/officeDocument/2006/relationships/notesSlide" Target="/ppt/notesSlides/notesSlide9.xml" Id="Rfdb80b8632b249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daf67e12b4be4" /><Relationship Type="http://schemas.openxmlformats.org/officeDocument/2006/relationships/notesSlide" Target="/ppt/notesSlides/notesSlide10.xml" Id="Rf75a70056eb84b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a4ad62a44446d" /><Relationship Type="http://schemas.openxmlformats.org/officeDocument/2006/relationships/notesSlide" Target="/ppt/notesSlides/notesSlide11.xml" Id="R4846ee0899e941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bfea56a16442e" /><Relationship Type="http://schemas.openxmlformats.org/officeDocument/2006/relationships/notesSlide" Target="/ppt/notesSlides/notesSlide12.xml" Id="R7c7d32b0b60047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49b6f4afa4b4f" /><Relationship Type="http://schemas.openxmlformats.org/officeDocument/2006/relationships/notesSlide" Target="/ppt/notesSlides/notesSlide13.xml" Id="R5e7da1444c7d4ef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0a7821f554812" /><Relationship Type="http://schemas.openxmlformats.org/officeDocument/2006/relationships/notesSlide" Target="/ppt/notesSlides/notesSlide14.xml" Id="R2cd35e8fcade40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5844bf9eb4b7a" /><Relationship Type="http://schemas.openxmlformats.org/officeDocument/2006/relationships/notesSlide" Target="/ppt/notesSlides/notesSlide15.xml" Id="R4c779c7d57dd42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efa3ad1b842a3" /><Relationship Type="http://schemas.openxmlformats.org/officeDocument/2006/relationships/notesSlide" Target="/ppt/notesSlides/notesSlide16.xml" Id="R3e6ba2d75a364c6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a3a1d212a456e" /><Relationship Type="http://schemas.openxmlformats.org/officeDocument/2006/relationships/notesSlide" Target="/ppt/notesSlides/notesSlide17.xml" Id="Rfec51079270144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83e761510481d" /><Relationship Type="http://schemas.openxmlformats.org/officeDocument/2006/relationships/notesSlide" Target="/ppt/notesSlides/notesSlide18.xml" Id="R6da5cb2bded4462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47dab139e48f5" /><Relationship Type="http://schemas.openxmlformats.org/officeDocument/2006/relationships/notesSlide" Target="/ppt/notesSlides/notesSlide19.xml" Id="Re6c8916c0b2d45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72d66dcf54c40" /><Relationship Type="http://schemas.openxmlformats.org/officeDocument/2006/relationships/notesSlide" Target="/ppt/notesSlides/notesSlide20.xml" Id="Rf51d93ed0e7c47e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4e7dfb46b4ae3" /><Relationship Type="http://schemas.openxmlformats.org/officeDocument/2006/relationships/notesSlide" Target="/ppt/notesSlides/notesSlide21.xml" Id="R02a3856c58bf42b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fde4efd5a4062" /><Relationship Type="http://schemas.openxmlformats.org/officeDocument/2006/relationships/notesSlide" Target="/ppt/notesSlides/notesSlide22.xml" Id="Rcf9d65f23b0a4c9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49eaa913a4f1c" /><Relationship Type="http://schemas.openxmlformats.org/officeDocument/2006/relationships/notesSlide" Target="/ppt/notesSlides/notesSlide23.xml" Id="Rede8fd3c06304f8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ace2c36f445a7" /><Relationship Type="http://schemas.openxmlformats.org/officeDocument/2006/relationships/notesSlide" Target="/ppt/notesSlides/notesSlide24.xml" Id="Ra720a57b61aa40c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8f838fa6640d2" /><Relationship Type="http://schemas.openxmlformats.org/officeDocument/2006/relationships/notesSlide" Target="/ppt/notesSlides/notesSlide25.xml" Id="R5f8c1b96e996470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6346bdf194aa0" /><Relationship Type="http://schemas.openxmlformats.org/officeDocument/2006/relationships/notesSlide" Target="/ppt/notesSlides/notesSlide26.xml" Id="Rd5e0479454c6471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2523f78314ae7" /><Relationship Type="http://schemas.openxmlformats.org/officeDocument/2006/relationships/notesSlide" Target="/ppt/notesSlides/notesSlide27.xml" Id="R56eaccbd5e95487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64d6b4bed4b38" /><Relationship Type="http://schemas.openxmlformats.org/officeDocument/2006/relationships/notesSlide" Target="/ppt/notesSlides/notesSlide28.xml" Id="R3fdc3b6e6bac4c1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9b961d33a5433c" /><Relationship Type="http://schemas.openxmlformats.org/officeDocument/2006/relationships/notesSlide" Target="/ppt/notesSlides/notesSlide29.xml" Id="R16b7cf44c9d44eb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de3ea39b74635" /><Relationship Type="http://schemas.openxmlformats.org/officeDocument/2006/relationships/notesSlide" Target="/ppt/notesSlides/notesSlide30.xml" Id="R22d184a0eff64dd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b4d45cb4c484a" /><Relationship Type="http://schemas.openxmlformats.org/officeDocument/2006/relationships/notesSlide" Target="/ppt/notesSlides/notesSlide31.xml" Id="R3bb708275ce24f2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61057ad484aa0" /><Relationship Type="http://schemas.openxmlformats.org/officeDocument/2006/relationships/notesSlide" Target="/ppt/notesSlides/notesSlide32.xml" Id="Re5e48da2f442492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db186e67e480d" /><Relationship Type="http://schemas.openxmlformats.org/officeDocument/2006/relationships/notesSlide" Target="/ppt/notesSlides/notesSlide33.xml" Id="Rcefcddd93f004c6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6c22ad47f4dc7" /><Relationship Type="http://schemas.openxmlformats.org/officeDocument/2006/relationships/notesSlide" Target="/ppt/notesSlides/notesSlide34.xml" Id="R61c19f6b31144ce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b942f144441d9" /><Relationship Type="http://schemas.openxmlformats.org/officeDocument/2006/relationships/notesSlide" Target="/ppt/notesSlides/notesSlide35.xml" Id="R096320c274e7462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d35c907e44593" /><Relationship Type="http://schemas.openxmlformats.org/officeDocument/2006/relationships/notesSlide" Target="/ppt/notesSlides/notesSlide36.xml" Id="R5ba9df22a64f4cc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Размер, нм</c:v>
          </c:tx>
          <c:spPr>
            <a:ln xmlns:a="http://schemas.openxmlformats.org/drawingml/2006/main" w="28575">
              <a:solidFill>
                <a:srgbClr val="A0E6DC"/>
              </a:solidFill>
              <a:prstDash val="solid"/>
            </a:ln>
          </c:spPr>
          <c:marker>
            <c:symbol val="none"/>
          </c:marker>
          <c:cat>
            <c:strRef>
              <c:f>'Chart Data'!$A$2:$A$11</c:f>
              <c:strCache>
                <c:ptCount val="10"/>
                <c:pt idx="0">
                  <c:v>B01</c:v>
                </c:pt>
                <c:pt idx="1">
                  <c:v>B02</c:v>
                </c:pt>
                <c:pt idx="2">
                  <c:v>B03</c:v>
                </c:pt>
                <c:pt idx="3">
                  <c:v>B04</c:v>
                </c:pt>
                <c:pt idx="4">
                  <c:v>B05</c:v>
                </c:pt>
                <c:pt idx="5">
                  <c:v>B06</c:v>
                </c:pt>
                <c:pt idx="6">
                  <c:v>B07</c:v>
                </c:pt>
                <c:pt idx="7">
                  <c:v>B08</c:v>
                </c:pt>
                <c:pt idx="8">
                  <c:v>B09</c:v>
                </c:pt>
                <c:pt idx="9">
                  <c:v>B10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115</c:v>
                </c:pt>
                <c:pt idx="1">
                  <c:v>117</c:v>
                </c:pt>
                <c:pt idx="2">
                  <c:v>114</c:v>
                </c:pt>
                <c:pt idx="3">
                  <c:v>118</c:v>
                </c:pt>
                <c:pt idx="4">
                  <c:v>116</c:v>
                </c:pt>
                <c:pt idx="5">
                  <c:v>124</c:v>
                </c:pt>
                <c:pt idx="6">
                  <c:v>125</c:v>
                </c:pt>
                <c:pt idx="7">
                  <c:v>127</c:v>
                </c:pt>
                <c:pt idx="8">
                  <c:v>123</c:v>
                </c:pt>
                <c:pt idx="9">
                  <c:v>126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DejaVu Sans"/>
                  <a:ea typeface="DejaVu Sans"/>
                  <a:cs typeface="DejaVu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43505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51F28"/>
        </a:solidFill>
      </c:spPr>
    </c:plotArea>
    <c:plotVisOnly val="1"/>
  </c:chart>
  <c:spPr>
    <a:solidFill xmlns:a="http://schemas.openxmlformats.org/drawingml/2006/main">
      <a:srgbClr val="151F28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396FC-65FB-4F28-83B6-FCA5E3F2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От лаборатории к производству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15F34-E5D1-4E94-9BB0-6B0AE285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Часть 2. Мониторинг, цифровой двойник и следующий опыт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ADA74-0181-493C-88F1-1937CD21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01 / 36</a:t>
            </a:r>
          </a:p>
        </p:txBody>
      </p:sp>
    </p:spTree>
    <p:extLst>
      <p:ext uri="{BB962C8B-B14F-4D97-AF65-F5344CB8AC3E}">
        <p14:creationId xmlns:p14="http://schemas.microsoft.com/office/powerpoint/2010/main" val="13285732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3AE32-3F8A-4B6F-A19B-6F67C6B2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Результат занятия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A3EFE-CF79-4FC7-B59E-08CF0010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Мониторинг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6C257-1C09-4CE2-9085-2813A210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Отличать спецификацию от контрольной границы процесса.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7FE84-6F89-4F61-88C1-C5DFD955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6CE76-7487-4FF4-AEBD-E6093856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Назвать состояние, измерение и обновление цифрового двойника.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8B730-4B53-4F18-A11C-1D467873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Решение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44F87-5A7E-4DE5-8D51-DBA7D6BE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Выбрать следующий опыт с учётом риска и информации.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68D65-2043-4C7D-AABD-15C5B148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02 / 36</a:t>
            </a:r>
          </a:p>
        </p:txBody>
      </p:sp>
    </p:spTree>
    <p:extLst>
      <p:ext uri="{BB962C8B-B14F-4D97-AF65-F5344CB8AC3E}">
        <p14:creationId xmlns:p14="http://schemas.microsoft.com/office/powerpoint/2010/main" val="161602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5ED22-2611-44DC-817D-DE0E7621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Продолжение учебного кейса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09AF9-41F1-43AC-8DE1-2F2E097A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Данные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7061F-72F1-4F06-A681-10979D36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Десять партий SiO₂ и ряды pH, T, подачи.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D3F9B-B82B-4047-B69E-AADB060E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Событие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321883-2E8A-4D12-8607-8F1B3577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После пятой партии вырос средний измеренный размер.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BF32B-4BF4-4BE9-A47A-A637864C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Вопрос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ED53B-2F18-4401-BED2-F4E91F2A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Дрейф процесса, смена сырья или смещение датчика?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F37D4-CF43-4C70-9B66-EE073BBA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Оговорка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BEFD8-D888-4161-BEBC-798D7A4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Числа и сценарий синтетические.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B31A0-E55B-456B-A589-361B5403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03 / 36</a:t>
            </a:r>
          </a:p>
        </p:txBody>
      </p:sp>
    </p:spTree>
    <p:extLst>
      <p:ext uri="{BB962C8B-B14F-4D97-AF65-F5344CB8AC3E}">
        <p14:creationId xmlns:p14="http://schemas.microsoft.com/office/powerpoint/2010/main" val="20513199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4C8E9-F09E-46FC-B927-A14B46C1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Спецификация и контрольные границы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30E68-A781-4038-B485-438C558A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Спецификация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6912C-0179-45B3-B207-6EA26E68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Контрольные границы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A5010-E68F-4B97-9BA4-94D7699A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Внешнее требование к продукту по согласованной методике; пример: 105–130 нм.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B967C-459C-49ED-BECB-5390EBB0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Оценка поведения стабильного процесса. Их получают по историческим данным, не из допуска.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E7BD9-3E24-4C52-BC66-564CD83B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04 / 36</a:t>
            </a:r>
          </a:p>
        </p:txBody>
      </p:sp>
    </p:spTree>
    <p:extLst>
      <p:ext uri="{BB962C8B-B14F-4D97-AF65-F5344CB8AC3E}">
        <p14:creationId xmlns:p14="http://schemas.microsoft.com/office/powerpoint/2010/main" val="12939795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D2B54-B987-49CE-84B5-F4374586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До настройки контрольной карты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1768F-8DDD-42A5-8833-9469F7D2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База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78F91-29DD-4A1E-AEB1-6974BE46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Выбрать период с известным стабильным режимом.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F3E67-14E2-4CBD-9048-15991327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Исключения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3581D-55F6-46FB-BAF5-48E616C2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Расследовать известные причины, не удаляя точки автоматически.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10A41-1160-463E-9A13-05C76E8B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Версии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61635-45DF-4589-BBB7-936E658A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Зафиксировать режим, метод QC и дату действия границ.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F4CFA-B011-4FD7-B7ED-7AF26E4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Оговорка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8BB69-85F1-4AE8-858F-B4637A41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Пять партий дают слишком неопределённую рабочую границу.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310CE-37D2-4F07-853E-4B0CA5ED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05 / 36</a:t>
            </a:r>
          </a:p>
        </p:txBody>
      </p:sp>
    </p:spTree>
    <p:extLst>
      <p:ext uri="{BB962C8B-B14F-4D97-AF65-F5344CB8AC3E}">
        <p14:creationId xmlns:p14="http://schemas.microsoft.com/office/powerpoint/2010/main" val="1670707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5211A-9022-4921-88F4-88F97C9D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Простейший сигнал по партии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148C2-949B-4073-A0C1-157F276E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|xᵢ − μ₀| &gt; 3σ₀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17C5D-1862-475C-A628-B1C2B9B1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μ₀ и σ₀ оценивают в стабильном базовом периоде.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169D9-5DD2-47FA-9E95-78C209C0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Правило показывает возможное изменение процесса, а не доказывает брак.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CEABC-0DEB-449F-9188-8492DB9E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Зависимость и смешение уровней наблюдения меняют свойства сигнала.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CBD69-9E3C-4F7D-B654-776F1472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06 / 36</a:t>
            </a:r>
          </a:p>
        </p:txBody>
      </p:sp>
    </p:spTree>
    <p:extLst>
      <p:ext uri="{BB962C8B-B14F-4D97-AF65-F5344CB8AC3E}">
        <p14:creationId xmlns:p14="http://schemas.microsoft.com/office/powerpoint/2010/main" val="139418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8E679-A558-41F6-A7D6-B5E56AD3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Синтетический сдвиг после B05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647700" y="1524000"/>
          <a:ext xmlns:a="http://schemas.openxmlformats.org/drawingml/2006/main" cx="7429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3d6d41a40424526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A468B-0E13-4DD7-9888-653EB161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6687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 B06 меняется уровень.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764AC-CB4F-41D8-B0B5-50E310A5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718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Пять точек до B06 недостаточны для надёжной границы.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B22C9-85DC-4ADF-B263-C2CA87D8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7672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Расследование начинается с версии режима.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2256C-6E5D-421E-8E5B-64FD2244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07 / 36</a:t>
            </a:r>
          </a:p>
        </p:txBody>
      </p:sp>
    </p:spTree>
    <p:extLst>
      <p:ext uri="{BB962C8B-B14F-4D97-AF65-F5344CB8AC3E}">
        <p14:creationId xmlns:p14="http://schemas.microsoft.com/office/powerpoint/2010/main" val="12211574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D22851-540C-49CB-A50A-CE0ED071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Рациональные подгруппы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0A269B-DA75-4592-BCC5-1EBFC045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Смысл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8B9D4-90DE-45CE-AC8D-48E601B0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Группировать измерения при близких условиях.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B10A6-D87D-4124-81AC-6E296488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Пример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BD510-E054-4983-BB35-128977FC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Несколько проб одной партии отражают кратковременный разброс.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3A09F-DB41-4E32-9745-D1A4B4B7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Граница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E881A-45FC-48D1-956C-5397FE6C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Разброс внутри партии не заменяет вариацию между партиями.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5515D9-EA10-43A7-8701-D594FAA9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08 / 36</a:t>
            </a:r>
          </a:p>
        </p:txBody>
      </p:sp>
    </p:spTree>
    <p:extLst>
      <p:ext uri="{BB962C8B-B14F-4D97-AF65-F5344CB8AC3E}">
        <p14:creationId xmlns:p14="http://schemas.microsoft.com/office/powerpoint/2010/main" val="1601063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DC6B4-95AB-4D82-A1D3-DE4EDFBF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Сглаживание малого сдвига: EWMA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2EA44-7B43-431F-9D6E-FB223B7E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zₜ = λxₜ + (1 − λ)zₜ₋₁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4FECB5-CDDB-4860-BF0E-602F9E3E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При малом λ прошлые наблюдения имеют больший вес.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87430-BBA9-4130-9F97-E01236DF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Контрольные пределы EWMA настраивают отдельно под ложные сигналы.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246EB-9AFE-4423-9BA5-31EC84FC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Автокорреляция и смена рецептуры нарушают простую базовую модель.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4FEA2-49D8-44B6-81E1-123B6684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09 / 36</a:t>
            </a:r>
          </a:p>
        </p:txBody>
      </p:sp>
    </p:spTree>
    <p:extLst>
      <p:ext uri="{BB962C8B-B14F-4D97-AF65-F5344CB8AC3E}">
        <p14:creationId xmlns:p14="http://schemas.microsoft.com/office/powerpoint/2010/main" val="6950913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828703-5B3D-4403-B174-2322EFD2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Дрейф процесса и дрейф измерения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4CA4B-21E0-412B-855F-BCC06053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Процесс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FF432-3725-46E1-B67E-F4AF0297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Измерение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CD43C-79C8-4E7C-9832-FE73EE3A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Изменение качества подтверждается другой пробой или независимым каналом.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8F1CA-0B48-4077-8153-F2FB9DA4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Контрольный стандарт или параллельный датчик смещается вместе с показанием.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D1A8F-3E5B-4EC4-B6E2-3ECD8979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10 / 36</a:t>
            </a:r>
          </a:p>
        </p:txBody>
      </p:sp>
    </p:spTree>
    <p:extLst>
      <p:ext uri="{BB962C8B-B14F-4D97-AF65-F5344CB8AC3E}">
        <p14:creationId xmlns:p14="http://schemas.microsoft.com/office/powerpoint/2010/main" val="1192176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13E95-6F7D-4150-AD60-FAFA05C3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Пропуски и выбросы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9DE6A-F5A2-44A8-B4BE-F16DC9E5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Пропуск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FB374-3678-42FB-AD0E-9D051FC8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Сохраняют причину: обслуживание, связь, отключение.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A92EC-1A43-4006-BFB6-99A6D502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Выброс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FEDE0-382A-447F-81DF-917E1E48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Проверяют первичный файл и журнал событий.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4FFA1-9FC6-4588-97F0-12B20FCC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Отчёт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5F9FC-E384-4E49-9401-598688E6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Показывают результаты с исходными и обработанными данными.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09051-B067-4390-931C-6F9D3ED7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11 / 36</a:t>
            </a:r>
          </a:p>
        </p:txBody>
      </p:sp>
    </p:spTree>
    <p:extLst>
      <p:ext uri="{BB962C8B-B14F-4D97-AF65-F5344CB8AC3E}">
        <p14:creationId xmlns:p14="http://schemas.microsoft.com/office/powerpoint/2010/main" val="2659244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A7DAC1-B899-4059-91F5-7FCC3F88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Мониторинг модели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D5CF7-542D-4304-A5EE-E2C1EAAF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Вход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22946-DE8D-4A92-979A-457558A0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Меняется ли диапазон pH, T, сырья?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6C98E-59E8-44E7-BA67-17BDE0CB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Выход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8FB63-596B-4CB3-B37D-655D7B59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Ошибку прогноза считают после независимого QC.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07F94-0E81-4622-ACDE-1A0ACBC5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Задержка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D9200D-C336-4730-AFB6-16BC7E3E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До получения QC ошибка выхода неизвестна.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8D22F-170C-446B-9EAC-83516E7A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Пересмотр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07544-A3D2-4AE6-BDD5-CD4FF538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Новую версию проверяют на следующих партиях.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2CBCE-5EB7-45F8-8620-E69D3AB6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12 / 36</a:t>
            </a:r>
          </a:p>
        </p:txBody>
      </p:sp>
    </p:spTree>
    <p:extLst>
      <p:ext uri="{BB962C8B-B14F-4D97-AF65-F5344CB8AC3E}">
        <p14:creationId xmlns:p14="http://schemas.microsoft.com/office/powerpoint/2010/main" val="11336162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214EF-D379-4188-8BC7-D17BEB72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Утечка при прогнозе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19D7F1-C69E-42B5-8BFF-4EEB2F9D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Плохой признак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BCBC7-EB2A-4736-94DA-EAD2EC4E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Размер частиц, измеренный после решения.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DF496-00D7-4D41-B892-7487813C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Другой риск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B40127-B525-4D8F-AED7-86DF5B1E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Среднее за всю партию при прогнозе в её середине.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78527-732B-4845-A451-5662B964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Правило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9E103-3991-4F0F-BFA3-74E58008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У признака фиксируют момент доступности.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E19CB-88E0-464A-904B-95EACE70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13 / 36</a:t>
            </a:r>
          </a:p>
        </p:txBody>
      </p:sp>
    </p:spTree>
    <p:extLst>
      <p:ext uri="{BB962C8B-B14F-4D97-AF65-F5344CB8AC3E}">
        <p14:creationId xmlns:p14="http://schemas.microsoft.com/office/powerpoint/2010/main" val="2510647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0DE46-D543-40A1-8EF2-F4DF1AAB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Сигнал и действие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B49C6-AB02-473B-9F11-67B3C29E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Сигнал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F3668-A0ED-4C3D-867C-552D18DB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Действие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2756B-A982-4DC7-9AC5-66C73027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Карта или модель выделяет партию для проверки.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02E78-5A8A-4E7A-9F0F-DFFEC481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Подтверждение измерением, разбор причины, решение и проверка результата.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5344B-7C02-472E-94F6-9A3FF7AA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14 / 36</a:t>
            </a:r>
          </a:p>
        </p:txBody>
      </p:sp>
    </p:spTree>
    <p:extLst>
      <p:ext uri="{BB962C8B-B14F-4D97-AF65-F5344CB8AC3E}">
        <p14:creationId xmlns:p14="http://schemas.microsoft.com/office/powerpoint/2010/main" val="16805609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C8B57-3C6A-406F-9AFB-0835005C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Кому направить тревогу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4E4A1-10F1-4E3A-B8EB-3984405E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Повод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B360B-DB44-418E-B5B2-74CEA10A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Граница, серия сигналов или отказ датчика.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9271A4-DA07-49FB-8064-D0C8869E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Контекст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13AC9-E786-4BB2-B11A-82C7B70E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Партия, версия процедуры, сила сигнала и качество данных.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6F8E25-3DD5-4BA2-A8FA-A937C04B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Ответ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0E5E9-F6B6-4A93-9233-9AEE833F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Ответственный, срок и запись решения.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4FF92-54E2-4CA5-B906-712E81DD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15 / 36</a:t>
            </a:r>
          </a:p>
        </p:txBody>
      </p:sp>
    </p:spTree>
    <p:extLst>
      <p:ext uri="{BB962C8B-B14F-4D97-AF65-F5344CB8AC3E}">
        <p14:creationId xmlns:p14="http://schemas.microsoft.com/office/powerpoint/2010/main" val="11053489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D2769-707A-403A-A724-CA5ADFA0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Цена ошибок мониторинга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A15A0-7261-4D80-BCAF-152C0A82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Ложная тревога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BA464-40AB-4A33-B0EE-87372C22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Повторный анализ, задержка и труд лаборатории.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B3F5E-B884-4379-8599-D3601846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Пропуск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B6B99-9B12-4F6A-BB16-B7984B38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Риск выпуска вне допуска или падения выхода.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314DBA-AE5B-487B-A096-A411257A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Выбор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35BE0-B792-4551-8ACF-95AEFA09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Порог проверяют по обоим последствиям и истории партий.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EE3FA-3060-4D96-AE5E-F43133F0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16 / 36</a:t>
            </a:r>
          </a:p>
        </p:txBody>
      </p:sp>
    </p:spTree>
    <p:extLst>
      <p:ext uri="{BB962C8B-B14F-4D97-AF65-F5344CB8AC3E}">
        <p14:creationId xmlns:p14="http://schemas.microsoft.com/office/powerpoint/2010/main" val="12131931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988E5-D452-4665-8FD7-A37E051D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Постановка цифрового двойника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3554C-8F5F-4EE3-A209-F4B66DEE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Объект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2F5CC-83A2-4EC2-A43A-4241C77B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Физическая система и конкретная задача решения.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C4B21-8CFC-4171-9FF4-D2A6F9AF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Связь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E8B4C-2EF3-465B-A7CB-48DE4F31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Данные регулярно уточняют состояние модели.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C4FA4-1196-4389-9DB4-3215862E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FBEBB-E5E9-4831-A968-7CF94F86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Прогноз сопоставляют с независимым наблюдением.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1A957B-522E-4285-95DF-7D558D49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Граница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EB4C2-262B-4246-876E-392335A8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Статический график модели сам по себе не замыкает цикл.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6EA8A-68F5-4519-97BD-7D804EE4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17 / 36</a:t>
            </a:r>
          </a:p>
        </p:txBody>
      </p:sp>
    </p:spTree>
    <p:extLst>
      <p:ext uri="{BB962C8B-B14F-4D97-AF65-F5344CB8AC3E}">
        <p14:creationId xmlns:p14="http://schemas.microsoft.com/office/powerpoint/2010/main" val="12619495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B599D-9092-4667-9FB1-3379AD3E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Учебный баланс для аппарата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B8B7B-DE9A-494F-87EF-4CF00799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dC/dt = (F/V)(Cᵢₙ − C) − kC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F85526-76FD-40D6-BDFA-29EE4D12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C — усреднённая концентрация в идеализированном объёме.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5BE79-8214-4AA6-B952-DEFD11DB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Уравнение не описывает локальный pH и распределение размеров.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ED39B-DDEE-492C-8E78-5418451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F, V и k требуют физической постановки и оценки по данным.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AB1F1-80EB-47FD-AB27-FA0530AD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18 / 36</a:t>
            </a:r>
          </a:p>
        </p:txBody>
      </p:sp>
    </p:spTree>
    <p:extLst>
      <p:ext uri="{BB962C8B-B14F-4D97-AF65-F5344CB8AC3E}">
        <p14:creationId xmlns:p14="http://schemas.microsoft.com/office/powerpoint/2010/main" val="104878732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18EEA-6F53-4CC3-8932-F84D1CF6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Состояние и наблюдение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346A8-2B4F-457E-9499-D64D4E1E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Состояние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EC17C-6CCA-4F2F-9744-872D7AFD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Наблюдение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6A0D6-75F1-47FD-863F-6A7C1B62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C(t), T(t) и другие внутренние переменные физической модели.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82112-9A8F-4CEE-8D33-22B38BAF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Датчик выдаёт y(t)=h(x(t))+ε(t); смещение и шум оценивают отдельно.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B3703-D75C-4B92-AC61-7AA6CD28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19 / 36</a:t>
            </a:r>
          </a:p>
        </p:txBody>
      </p:sp>
    </p:spTree>
    <p:extLst>
      <p:ext uri="{BB962C8B-B14F-4D97-AF65-F5344CB8AC3E}">
        <p14:creationId xmlns:p14="http://schemas.microsoft.com/office/powerpoint/2010/main" val="8905383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51562-FBB5-450B-BB94-40C8208B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Обновление модели данными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54C62-2A65-4377-B162-FA09FB48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До партии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BBC57-8690-4B0C-B7F1-A182D466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Версия параметров и прогноз для планового режима.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72839-7862-41D4-8591-A8443DFD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Во время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B9485-4E4C-47EA-87E8-22E7622F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Датчики уточняют текущее состояние.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2832B-240C-47F5-A084-7CEDAF7A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После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35971-FC99-434A-8BC6-55D95852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Лабораторный QC проверяет прогноз результата.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A05AF2-DE4F-46C8-AFB2-9675DC7F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След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F3D94-E1A0-4D7E-9579-5AF4DEAB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Сохраняют версию модели и использованные для неё данные.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FD2D2-F5E8-4E79-8CA4-8BC278A6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20 / 36</a:t>
            </a:r>
          </a:p>
        </p:txBody>
      </p:sp>
    </p:spTree>
    <p:extLst>
      <p:ext uri="{BB962C8B-B14F-4D97-AF65-F5344CB8AC3E}">
        <p14:creationId xmlns:p14="http://schemas.microsoft.com/office/powerpoint/2010/main" val="4045297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BB627-CA8D-48BE-B641-67609B74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Калибровка параметров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4E186-2B6B-48ED-8246-C426DA0E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Разделение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1C132-DD6A-45F6-A002-6E607FD5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Ранние партии для настройки, поздние — для проверки.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34FAF-A5C7-4C28-A018-717136CC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Физика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C6A70-6842-4D2B-A29E-53F3E9E8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Параметры ограничены реалистичным диапазоном.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DD9A8-A991-4A1A-83D4-259AA9D2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Ошибка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89F67-699C-4621-A2EB-21E56522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Включают шум датчика и межпартийный разброс.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26A44-25CC-4B55-8FDA-0B88E938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Идентификация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426D8-A3D1-475C-830C-ACD8B502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Хорошая подгонка не доказывает определённость параметров.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55DE2-DA39-4377-957A-DF2E544D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21 / 36</a:t>
            </a:r>
          </a:p>
        </p:txBody>
      </p:sp>
    </p:spTree>
    <p:extLst>
      <p:ext uri="{BB962C8B-B14F-4D97-AF65-F5344CB8AC3E}">
        <p14:creationId xmlns:p14="http://schemas.microsoft.com/office/powerpoint/2010/main" val="12751216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F12D45-3464-4BB7-BC9A-106FDB85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Неопределённость прогноза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7DDBC-92AA-404F-8372-A16582B4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Источники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54C28-2515-4163-97A3-1EAF5C98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Параметры, измерение, начальное состояние и сырьё.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C1022E-F19B-4499-91E9-752E9C03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Результат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B30BE-296D-45FB-8B19-36D84861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Интервал для размера или вероятность выхода в допуск.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2D2A7-07E8-4407-95E6-D3B5C8D0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Решение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C9388-34B9-45C9-9BFD-DAC72A97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Неопределённость влияет на выбор пилотного режима.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8DA97-F369-4D7F-BB81-222A3A20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22 / 36</a:t>
            </a:r>
          </a:p>
        </p:txBody>
      </p:sp>
    </p:spTree>
    <p:extLst>
      <p:ext uri="{BB962C8B-B14F-4D97-AF65-F5344CB8AC3E}">
        <p14:creationId xmlns:p14="http://schemas.microsoft.com/office/powerpoint/2010/main" val="77378507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1FF9E-5DE2-42EA-8EC3-0AC91D8A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Проверка модели на пилоте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59B45-401C-4287-8643-2C84369D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До опыта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01477-5534-46A0-AB8B-260105C0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Указать диапазон применимости и критерий ошибки.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F1738-94B6-40E0-BC9B-E038878D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1E519-7B01-447E-9C5E-D4C62C05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Сопоставить прогноз и новые независимые партии.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75101-4BC7-478F-B45A-49F946CB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Сбой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D560D-88E7-424A-A555-AAC02798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Отдельно проверить смену масштаба, датчика и рецептуры.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B260C-C97B-4862-BFC6-2AF1267D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23 / 36</a:t>
            </a:r>
          </a:p>
        </p:txBody>
      </p:sp>
    </p:spTree>
    <p:extLst>
      <p:ext uri="{BB962C8B-B14F-4D97-AF65-F5344CB8AC3E}">
        <p14:creationId xmlns:p14="http://schemas.microsoft.com/office/powerpoint/2010/main" val="4854927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D9D1C2-4742-4AB7-B8AB-8E9B11AF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Цикл обратной связи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90550" y="1571625"/>
          <a:ext xmlns:a="http://schemas.openxmlformats.org/drawingml/2006/main" cx="10982325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0775"/>
                <a:gridCol w="3660775"/>
                <a:gridCol w="3660775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Этап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Вход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Выход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Оценка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Датчики и события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Состояние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Прогноз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Состояние и режим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Риск качества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Решение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Прогноз и пределы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Проверяемый режим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Проверка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QC новой партии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Обновление модели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261B3-CAF8-4AED-B3FB-811EF2F1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24 / 36</a:t>
            </a:r>
          </a:p>
        </p:txBody>
      </p:sp>
    </p:spTree>
    <p:extLst>
      <p:ext uri="{BB962C8B-B14F-4D97-AF65-F5344CB8AC3E}">
        <p14:creationId xmlns:p14="http://schemas.microsoft.com/office/powerpoint/2010/main" val="10290941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9396D4-19F5-4CCD-A93B-432E7301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Контроль и оптимизация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894922-B026-40CF-AEE0-E947A34F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Контроль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F00EC-D586-410C-97D0-8916633A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1B766"/>
                </a:solidFill>
                <a:latin typeface="DejaVu Sans"/>
                <a:ea typeface="DejaVu Sans"/>
                <a:cs typeface="DejaVu Sans"/>
              </a:rPr>
              <a:t>Оптимизация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82B43-1FD3-4562-A026-867311D7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Поддерживает установленный режим и расследует отклонения.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B0284-FB9F-47BE-86A6-1FE38666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Выбирает следующий безопасный опыт ради результата или знаний.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2DDD0-64EF-4AA4-BB34-B7D85510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25 / 36</a:t>
            </a:r>
          </a:p>
        </p:txBody>
      </p:sp>
    </p:spTree>
    <p:extLst>
      <p:ext uri="{BB962C8B-B14F-4D97-AF65-F5344CB8AC3E}">
        <p14:creationId xmlns:p14="http://schemas.microsoft.com/office/powerpoint/2010/main" val="23826646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B8768-3949-4D92-88F7-3F1E98F0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Последовательное планирование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BB7E2-3C6F-4D35-A3AD-6B7BB5EB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Модель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42B2B-19B4-4D84-8295-D07C989E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Прогноз качества и неопределённость допустимых режимов.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25356-26F4-47FD-A75D-97E8D89F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Кандидаты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FF11D-8485-4BF3-B2D4-69FEECAF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Исключают режимы вне аппаратных и безопасных пределов.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F9AB4-D14A-4DE8-B3B9-BDB45452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Выбор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09A2F-877C-42CE-979E-0005D412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Сравнивают улучшение и ценность новой информации.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A215B-5D84-42D5-A76A-DAD5B196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Повтор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46AC8-537A-458E-B5C5-CB20A78C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После новой партии обновляют модель и проверяют решение.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D9576A-A216-4702-9419-BECF68A9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26 / 36</a:t>
            </a:r>
          </a:p>
        </p:txBody>
      </p:sp>
    </p:spTree>
    <p:extLst>
      <p:ext uri="{BB962C8B-B14F-4D97-AF65-F5344CB8AC3E}">
        <p14:creationId xmlns:p14="http://schemas.microsoft.com/office/powerpoint/2010/main" val="174350532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B12A9-5100-46F3-8C0D-ED790A7F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Учебный критерий нового опыта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1D251-10D8-4FFB-A113-F68EA059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1085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S(x) = E[улучшение(x)] + β·U(x)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F4C8E-BC2F-4354-B2EE-1D4C7CD3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U(x) отражает неопределённость; β задаёт вес изучения.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05BB6-0C34-4706-B079-B49E4EBF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Сначала отфильтровывают опасные и недоступные режимы.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43DE9-B785-47E0-9595-8E4B772D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477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Это схема обсуждения; функция отбора зависит от цели и стоимости.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879D4-1266-4EA1-AA78-5DBCB3E8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27 / 36</a:t>
            </a:r>
          </a:p>
        </p:txBody>
      </p:sp>
    </p:spTree>
    <p:extLst>
      <p:ext uri="{BB962C8B-B14F-4D97-AF65-F5344CB8AC3E}">
        <p14:creationId xmlns:p14="http://schemas.microsoft.com/office/powerpoint/2010/main" val="19168978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58926-FAFF-4548-B01A-C16101D0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Выбор из трёх кандидатов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90550" y="1571625"/>
          <a:ext xmlns:a="http://schemas.openxmlformats.org/drawingml/2006/main" cx="10982325" cy="3009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5581"/>
                <a:gridCol w="2745581"/>
                <a:gridCol w="2745581"/>
                <a:gridCol w="2745581"/>
              </a:tblGrid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Режим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Размер, прогноз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Неопред.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A0E6DC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Допуск</a:t>
                      </a:r>
                    </a:p>
                  </a:txBody>
                  <a:tcPr marL="91440" marR="91440" marT="45720" marB="45720" anchor="ctr">
                    <a:solidFill>
                      <a:srgbClr val="223642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117 нм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±2 нм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Да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113 нм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±8 нм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Да</a:t>
                      </a:r>
                    </a:p>
                  </a:txBody>
                  <a:tcPr marL="91440" marR="91440" marT="45720" marB="45720" anchor="ctr">
                    <a:solidFill>
                      <a:srgbClr val="192630"/>
                    </a:solidFill>
                  </a:tcPr>
                </a:tc>
              </a:tr>
              <a:tr h="7524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108 нм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±5 нм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F2F1E9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Нет</a:t>
                      </a:r>
                    </a:p>
                  </a:txBody>
                  <a:tcPr marL="91440" marR="91440" marT="45720" marB="45720" anchor="ctr">
                    <a:solidFill>
                      <a:srgbClr val="151F28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6A4D6-BB50-45C3-A3C6-D8D905A9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Условные значения: B проверяет перспективную, но неопределённую область.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023EE-6B4B-4B5B-9A04-42A5EFFA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28 / 36</a:t>
            </a:r>
          </a:p>
        </p:txBody>
      </p:sp>
    </p:spTree>
    <p:extLst>
      <p:ext uri="{BB962C8B-B14F-4D97-AF65-F5344CB8AC3E}">
        <p14:creationId xmlns:p14="http://schemas.microsoft.com/office/powerpoint/2010/main" val="149151733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1958C-5B11-4ACB-9BCD-38B5C84C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Почему C исключён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698B5-7860-481B-9206-F35C5021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Ограничение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4F303-1A3D-40BE-AFFC-EE5281D4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Привлекательный прогноз не отменяет предел оборудования.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BE101-5970-484C-8E11-807236FE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Запись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84626-51F2-4D6B-A74B-447ED330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Причину исключения сохраняют вместе с кандидатом.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69B27-D4B6-4F26-92D2-AE8AF431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Альтернатива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B7FB0-54FC-451F-BDEF-8B49B759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Изучают ближайшую допустимую область после оценки риска.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85916-304A-4EE8-9B91-CEEE249B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29 / 36</a:t>
            </a:r>
          </a:p>
        </p:txBody>
      </p:sp>
    </p:spTree>
    <p:extLst>
      <p:ext uri="{BB962C8B-B14F-4D97-AF65-F5344CB8AC3E}">
        <p14:creationId xmlns:p14="http://schemas.microsoft.com/office/powerpoint/2010/main" val="15365419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B9A6A-4AAB-4F1A-8E69-9C27E899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Когда остановить серию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EA88E-CD15-4DBD-B0A9-14DAA729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Качество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CA6A6-0E60-4401-A30B-D8412C10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Режим устойчиво выполняет спецификацию с запасом.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5A96B-78FD-4239-A7E1-3D0FDE82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Знание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04E6A-81DD-4C39-A109-6CBDD94F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Очередная партия мало меняет решение относительно её цены.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EF6CA-D32E-4960-B51C-5F1F3834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Границы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B60E0-39A2-47AF-B379-EF77D3A3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Доказательства относятся к заданному сырью и масштабу.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A3F32-2650-41D9-A2B3-D51DD83F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30 / 36</a:t>
            </a:r>
          </a:p>
        </p:txBody>
      </p:sp>
    </p:spTree>
    <p:extLst>
      <p:ext uri="{BB962C8B-B14F-4D97-AF65-F5344CB8AC3E}">
        <p14:creationId xmlns:p14="http://schemas.microsoft.com/office/powerpoint/2010/main" val="83377648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84290-50D8-4CBD-B72A-C4721E15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Практика: сигнал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E6BDC-2F04-41FE-864A-F3DF8B47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Дано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E40CE-3448-4F4E-A1FB-D844D3D6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Таблица партий и датчики из первой части.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BCF04-832C-4961-B30F-3997937D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Задача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DA600-BEE7-44BD-B76E-BB2874D2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Отметить базовый период и построить временной график.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3D5E7-A066-4596-9C92-2636FB7F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AB8B6-99F9-4440-87BE-DC395A1F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Сопоставить с калибровками и сменой режима.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33D7E-2E8F-43EE-82AE-FB831DE0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31 / 36</a:t>
            </a:r>
          </a:p>
        </p:txBody>
      </p:sp>
    </p:spTree>
    <p:extLst>
      <p:ext uri="{BB962C8B-B14F-4D97-AF65-F5344CB8AC3E}">
        <p14:creationId xmlns:p14="http://schemas.microsoft.com/office/powerpoint/2010/main" val="115311522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6AD96-9A93-4E67-861D-6FF33B6C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Практика: схема двойника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E1562-7938-4338-9186-68313EC3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Состояние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DE187-1B11-4A83-9D9C-70B8A449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Предложить один баланс для своего процесса.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F06CE-8412-4909-94F7-52E6FDE6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Измерение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6DDB3-2E3A-4654-AA46-C6595698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Показать связь датчика с состоянием.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CA44C-F77A-47F4-98A7-EC02466D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Проверка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8665D-4008-4E7B-B0AA-516EDAD4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Выбрать независимый показатель качества и метрику ошибки.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33F82-C8C8-4C1D-A909-746BE105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32 / 36</a:t>
            </a:r>
          </a:p>
        </p:txBody>
      </p:sp>
    </p:spTree>
    <p:extLst>
      <p:ext uri="{BB962C8B-B14F-4D97-AF65-F5344CB8AC3E}">
        <p14:creationId xmlns:p14="http://schemas.microsoft.com/office/powerpoint/2010/main" val="201391029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E6BA9-CC07-49D0-8F46-F93DE806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Практика: следующий опыт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747BD-1589-44E1-A9F3-58052B25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Кандидаты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33AA9-5263-4841-BF4E-B824A22F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Назвать три режима внутри аппаратных ограничений.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DFABF-63D6-4009-BD13-44524B9D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Аргумент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4DECF-FE9E-4527-83FF-E5756D52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Сравнить прогноз, неопределённость и стоимость партии.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3DDEB-5BC5-403E-A464-FA5A31A5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Протокол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63BA0-6706-469C-86E1-C8890103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Записать решение, которое изменит результат опыта.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948E5-751F-4073-88F0-8981B712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33 / 36</a:t>
            </a:r>
          </a:p>
        </p:txBody>
      </p:sp>
    </p:spTree>
    <p:extLst>
      <p:ext uri="{BB962C8B-B14F-4D97-AF65-F5344CB8AC3E}">
        <p14:creationId xmlns:p14="http://schemas.microsoft.com/office/powerpoint/2010/main" val="157113030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C6B7E-BE1E-4299-9B6C-2A4835AE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Типичные ошибки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814BD-8A9F-4D22-B653-E9941DE6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Границы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58C1E-2F57-4155-9B23-8EFE3C41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Путать спецификацию и контрольную карту.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57836-3DB1-4DE5-B1E4-213C6E27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28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AB1F7-FAD4-4AEC-8F4B-7EB56678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Считать повторы одной пробы независимыми партиями.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B1976F-645F-4531-B978-B59DBC66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861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Модель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3AF9D-8C0E-4C65-A349-DFC5D65A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Проверять на партиях её настройки.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C5478-5799-4ABD-B255-1625C9D0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Эксперимент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F2251-347C-4D23-9B81-CE22A25F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43450"/>
            <a:ext cx="76771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Выбирать режим вне допустимой области.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9C8AD-F70E-4CE4-88DB-F9D0D9B6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34 / 36</a:t>
            </a:r>
          </a:p>
        </p:txBody>
      </p:sp>
    </p:spTree>
    <p:extLst>
      <p:ext uri="{BB962C8B-B14F-4D97-AF65-F5344CB8AC3E}">
        <p14:creationId xmlns:p14="http://schemas.microsoft.com/office/powerpoint/2010/main" val="590231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D56DF-4E02-43AA-83A3-2B072707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Главные выводы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DB625-C848-4E37-A104-787A9D8E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Мониторинг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18BE1-3C99-4E51-AF0B-7D905C5C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Сигнал требует проверки причины и качества измерения.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1108C-81A3-409A-BC3E-DDE7AFAD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Двойник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232CC-C954-47AA-9102-FA678594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Физическую модель обновляют данными и проверяют на новых партиях.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9E9D1-FD41-4824-A252-D402ED1E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Опыт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B139A-7D85-48E0-A0DB-4360B492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Новый режим выбирают с учётом неопределённости и ограничений.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9E8BC9-A512-4156-9D68-BD7DE30B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35 / 36</a:t>
            </a:r>
          </a:p>
        </p:txBody>
      </p:sp>
    </p:spTree>
    <p:extLst>
      <p:ext uri="{BB962C8B-B14F-4D97-AF65-F5344CB8AC3E}">
        <p14:creationId xmlns:p14="http://schemas.microsoft.com/office/powerpoint/2010/main" val="184944035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51F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160586-CE55-41FD-8E27-6421AC60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953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Источники и продолжение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6006B-9E6A-4EFD-9472-AF30CBF0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NIST e-Handbook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CBDD6-586E-4F6A-AF18-AC209EC7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Мониторинг и последовательный план опытов.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0901D-0A11-4CFB-8D32-32C17ECB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NIST Digital Twins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D9DBE-2880-46B1-99BE-B9EF2CCF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8607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Данные, модель и проверка на производстве.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1449F-085A-4CC3-85F4-8C1FB014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A0E6DC"/>
                </a:solidFill>
                <a:latin typeface="DejaVu Sans"/>
                <a:ea typeface="DejaVu Sans"/>
                <a:cs typeface="DejaVu Sans"/>
              </a:rPr>
              <a:t>Итоговый проект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6C76C-563C-44B0-BEE1-AF9FDF56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00525"/>
            <a:ext cx="76771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2F1E9"/>
                </a:solidFill>
                <a:latin typeface="DejaVu Sans"/>
                <a:ea typeface="DejaVu Sans"/>
                <a:cs typeface="DejaVu Sans"/>
              </a:rPr>
              <a:t>Применение к исследовательской теме обучающегося.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A6CDE-E8D1-48B4-9E98-DFE83B6C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63341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B6C3D0"/>
                </a:solidFill>
                <a:latin typeface="DejaVu Sans"/>
                <a:ea typeface="DejaVu Sans"/>
                <a:cs typeface="DejaVu Sans"/>
              </a:rPr>
              <a:t>36 / 36</a:t>
            </a:r>
          </a:p>
        </p:txBody>
      </p:sp>
    </p:spTree>
    <p:extLst>
      <p:ext uri="{BB962C8B-B14F-4D97-AF65-F5344CB8AC3E}">
        <p14:creationId xmlns:p14="http://schemas.microsoft.com/office/powerpoint/2010/main" val="1046625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2026-09-25T13:06:42.1270000Z</dcterms:created>
  <dcterms:modified xsi:type="dcterms:W3CDTF">2026-09-25T13:06:42.1270000Z</dcterms:modified>
</coreProperties>
</file>