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9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2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13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14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5.xml" ContentType="application/vnd.openxmlformats-officedocument.drawingml.chart+xml"/>
  <Override PartName="/ppt/notesSlides/notesSlide3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fbe54101a34468" /><Relationship Type="http://schemas.openxmlformats.org/officeDocument/2006/relationships/extended-properties" Target="/docProps/app.xml" Id="Rdb9142b91ed946e7" /><Relationship Type="http://schemas.openxmlformats.org/officeDocument/2006/relationships/officeDocument" Target="/ppt/presentation.xml" Id="Rb07b54da678046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0bfd4ca48c4ee1"/>
  </p:sldMasterIdLst>
  <p:notesMasterIdLst>
    <p:notesMasterId xmlns:r="http://schemas.openxmlformats.org/officeDocument/2006/relationships" r:id="R51aacda8e53c4083"/>
  </p:notesMasterIdLst>
  <p:sldIdLst>
    <p:sldId xmlns:r="http://schemas.openxmlformats.org/officeDocument/2006/relationships" id="256" r:id="Rb7c289aa51fd477c"/>
    <p:sldId xmlns:r="http://schemas.openxmlformats.org/officeDocument/2006/relationships" id="257" r:id="Re5868f38b96a4ce6"/>
    <p:sldId xmlns:r="http://schemas.openxmlformats.org/officeDocument/2006/relationships" id="258" r:id="R7119f58e6a314f89"/>
    <p:sldId xmlns:r="http://schemas.openxmlformats.org/officeDocument/2006/relationships" id="259" r:id="R7cf1931fc6154d1a"/>
    <p:sldId xmlns:r="http://schemas.openxmlformats.org/officeDocument/2006/relationships" id="260" r:id="R15d69c6d0d6443b8"/>
    <p:sldId xmlns:r="http://schemas.openxmlformats.org/officeDocument/2006/relationships" id="261" r:id="Rbe4ae39318354da5"/>
    <p:sldId xmlns:r="http://schemas.openxmlformats.org/officeDocument/2006/relationships" id="262" r:id="R9521c620b2194ff1"/>
    <p:sldId xmlns:r="http://schemas.openxmlformats.org/officeDocument/2006/relationships" id="263" r:id="R889dbdeea7814457"/>
    <p:sldId xmlns:r="http://schemas.openxmlformats.org/officeDocument/2006/relationships" id="264" r:id="Re447160fa7ea49fa"/>
    <p:sldId xmlns:r="http://schemas.openxmlformats.org/officeDocument/2006/relationships" id="265" r:id="Rea2e81a1361b44a7"/>
    <p:sldId xmlns:r="http://schemas.openxmlformats.org/officeDocument/2006/relationships" id="266" r:id="R53b81cf76b994933"/>
    <p:sldId xmlns:r="http://schemas.openxmlformats.org/officeDocument/2006/relationships" id="267" r:id="R2606cae643014f50"/>
    <p:sldId xmlns:r="http://schemas.openxmlformats.org/officeDocument/2006/relationships" id="268" r:id="Rae2fe56245db4006"/>
    <p:sldId xmlns:r="http://schemas.openxmlformats.org/officeDocument/2006/relationships" id="269" r:id="Rf4cd37a01c1e48f9"/>
    <p:sldId xmlns:r="http://schemas.openxmlformats.org/officeDocument/2006/relationships" id="270" r:id="R86fe8e8362ae4da1"/>
    <p:sldId xmlns:r="http://schemas.openxmlformats.org/officeDocument/2006/relationships" id="271" r:id="Raba416b538fd4218"/>
    <p:sldId xmlns:r="http://schemas.openxmlformats.org/officeDocument/2006/relationships" id="272" r:id="R23dbb478f48d4750"/>
    <p:sldId xmlns:r="http://schemas.openxmlformats.org/officeDocument/2006/relationships" id="273" r:id="R18d1d65174d6425d"/>
    <p:sldId xmlns:r="http://schemas.openxmlformats.org/officeDocument/2006/relationships" id="274" r:id="R390cc27ee7b44b77"/>
    <p:sldId xmlns:r="http://schemas.openxmlformats.org/officeDocument/2006/relationships" id="275" r:id="R48564be7f45c4f1b"/>
    <p:sldId xmlns:r="http://schemas.openxmlformats.org/officeDocument/2006/relationships" id="276" r:id="R875582a17cce4640"/>
    <p:sldId xmlns:r="http://schemas.openxmlformats.org/officeDocument/2006/relationships" id="277" r:id="R477d67eaf0b04e8e"/>
    <p:sldId xmlns:r="http://schemas.openxmlformats.org/officeDocument/2006/relationships" id="278" r:id="R5ffa157565274827"/>
    <p:sldId xmlns:r="http://schemas.openxmlformats.org/officeDocument/2006/relationships" id="279" r:id="R7f5f5b95ea604f1d"/>
    <p:sldId xmlns:r="http://schemas.openxmlformats.org/officeDocument/2006/relationships" id="280" r:id="Rf18ba92ca04b4967"/>
    <p:sldId xmlns:r="http://schemas.openxmlformats.org/officeDocument/2006/relationships" id="281" r:id="R8934af36446649fb"/>
    <p:sldId xmlns:r="http://schemas.openxmlformats.org/officeDocument/2006/relationships" id="282" r:id="Re5a02c32ceb94d44"/>
    <p:sldId xmlns:r="http://schemas.openxmlformats.org/officeDocument/2006/relationships" id="283" r:id="R243da0a61a4b4445"/>
    <p:sldId xmlns:r="http://schemas.openxmlformats.org/officeDocument/2006/relationships" id="284" r:id="Rfd61c491c67548ca"/>
    <p:sldId xmlns:r="http://schemas.openxmlformats.org/officeDocument/2006/relationships" id="285" r:id="R11e1ffb0248e49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8d936f48a845b5" /><Relationship Type="http://schemas.openxmlformats.org/officeDocument/2006/relationships/slideMaster" Target="/ppt/slideMasters/slideMaster1.xml" Id="R280bfd4ca48c4ee1" /><Relationship Type="http://schemas.openxmlformats.org/officeDocument/2006/relationships/notesMaster" Target="/ppt/notesMasters/notesMaster1.xml" Id="R51aacda8e53c4083" /><Relationship Type="http://schemas.openxmlformats.org/officeDocument/2006/relationships/presProps" Target="/ppt/presProps.xml" Id="R57c85e71a7694ca0" /><Relationship Type="http://schemas.openxmlformats.org/officeDocument/2006/relationships/tableStyles" Target="/ppt/tableStyles.xml" Id="R402d6439d0d8402f" /><Relationship Type="http://schemas.openxmlformats.org/officeDocument/2006/relationships/slide" Target="/ppt/slides/slide1.xml" Id="Rb7c289aa51fd477c" /><Relationship Type="http://schemas.openxmlformats.org/officeDocument/2006/relationships/slide" Target="/ppt/slides/slide2.xml" Id="Re5868f38b96a4ce6" /><Relationship Type="http://schemas.openxmlformats.org/officeDocument/2006/relationships/slide" Target="/ppt/slides/slide3.xml" Id="R7119f58e6a314f89" /><Relationship Type="http://schemas.openxmlformats.org/officeDocument/2006/relationships/slide" Target="/ppt/slides/slide4.xml" Id="R7cf1931fc6154d1a" /><Relationship Type="http://schemas.openxmlformats.org/officeDocument/2006/relationships/slide" Target="/ppt/slides/slide5.xml" Id="R15d69c6d0d6443b8" /><Relationship Type="http://schemas.openxmlformats.org/officeDocument/2006/relationships/slide" Target="/ppt/slides/slide6.xml" Id="Rbe4ae39318354da5" /><Relationship Type="http://schemas.openxmlformats.org/officeDocument/2006/relationships/slide" Target="/ppt/slides/slide7.xml" Id="R9521c620b2194ff1" /><Relationship Type="http://schemas.openxmlformats.org/officeDocument/2006/relationships/slide" Target="/ppt/slides/slide8.xml" Id="R889dbdeea7814457" /><Relationship Type="http://schemas.openxmlformats.org/officeDocument/2006/relationships/slide" Target="/ppt/slides/slide9.xml" Id="Re447160fa7ea49fa" /><Relationship Type="http://schemas.openxmlformats.org/officeDocument/2006/relationships/slide" Target="/ppt/slides/slide10.xml" Id="Rea2e81a1361b44a7" /><Relationship Type="http://schemas.openxmlformats.org/officeDocument/2006/relationships/slide" Target="/ppt/slides/slide11.xml" Id="R53b81cf76b994933" /><Relationship Type="http://schemas.openxmlformats.org/officeDocument/2006/relationships/slide" Target="/ppt/slides/slide12.xml" Id="R2606cae643014f50" /><Relationship Type="http://schemas.openxmlformats.org/officeDocument/2006/relationships/slide" Target="/ppt/slides/slide13.xml" Id="Rae2fe56245db4006" /><Relationship Type="http://schemas.openxmlformats.org/officeDocument/2006/relationships/slide" Target="/ppt/slides/slide14.xml" Id="Rf4cd37a01c1e48f9" /><Relationship Type="http://schemas.openxmlformats.org/officeDocument/2006/relationships/slide" Target="/ppt/slides/slide15.xml" Id="R86fe8e8362ae4da1" /><Relationship Type="http://schemas.openxmlformats.org/officeDocument/2006/relationships/slide" Target="/ppt/slides/slide16.xml" Id="Raba416b538fd4218" /><Relationship Type="http://schemas.openxmlformats.org/officeDocument/2006/relationships/slide" Target="/ppt/slides/slide17.xml" Id="R23dbb478f48d4750" /><Relationship Type="http://schemas.openxmlformats.org/officeDocument/2006/relationships/slide" Target="/ppt/slides/slide18.xml" Id="R18d1d65174d6425d" /><Relationship Type="http://schemas.openxmlformats.org/officeDocument/2006/relationships/slide" Target="/ppt/slides/slide19.xml" Id="R390cc27ee7b44b77" /><Relationship Type="http://schemas.openxmlformats.org/officeDocument/2006/relationships/slide" Target="/ppt/slides/slide20.xml" Id="R48564be7f45c4f1b" /><Relationship Type="http://schemas.openxmlformats.org/officeDocument/2006/relationships/slide" Target="/ppt/slides/slide21.xml" Id="R875582a17cce4640" /><Relationship Type="http://schemas.openxmlformats.org/officeDocument/2006/relationships/slide" Target="/ppt/slides/slide22.xml" Id="R477d67eaf0b04e8e" /><Relationship Type="http://schemas.openxmlformats.org/officeDocument/2006/relationships/slide" Target="/ppt/slides/slide23.xml" Id="R5ffa157565274827" /><Relationship Type="http://schemas.openxmlformats.org/officeDocument/2006/relationships/slide" Target="/ppt/slides/slide24.xml" Id="R7f5f5b95ea604f1d" /><Relationship Type="http://schemas.openxmlformats.org/officeDocument/2006/relationships/slide" Target="/ppt/slides/slide25.xml" Id="Rf18ba92ca04b4967" /><Relationship Type="http://schemas.openxmlformats.org/officeDocument/2006/relationships/slide" Target="/ppt/slides/slide26.xml" Id="R8934af36446649fb" /><Relationship Type="http://schemas.openxmlformats.org/officeDocument/2006/relationships/slide" Target="/ppt/slides/slide27.xml" Id="Re5a02c32ceb94d44" /><Relationship Type="http://schemas.openxmlformats.org/officeDocument/2006/relationships/slide" Target="/ppt/slides/slide28.xml" Id="R243da0a61a4b4445" /><Relationship Type="http://schemas.openxmlformats.org/officeDocument/2006/relationships/slide" Target="/ppt/slides/slide29.xml" Id="Rfd61c491c67548ca" /><Relationship Type="http://schemas.openxmlformats.org/officeDocument/2006/relationships/slide" Target="/ppt/slides/slide30.xml" Id="R11e1ffb0248e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4b417993df49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2a5e3b5b3c4563" /><Relationship Type="http://schemas.openxmlformats.org/officeDocument/2006/relationships/notesMaster" Target="/ppt/notesMasters/notesMaster1.xml" Id="R2808c462f3614a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9d7ea0648240e9" /><Relationship Type="http://schemas.openxmlformats.org/officeDocument/2006/relationships/notesMaster" Target="/ppt/notesMasters/notesMaster1.xml" Id="R63f4f832362d4e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84511400094f00" /><Relationship Type="http://schemas.openxmlformats.org/officeDocument/2006/relationships/notesMaster" Target="/ppt/notesMasters/notesMaster1.xml" Id="R8f211370b5fa48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eb7ed1cb68457c" /><Relationship Type="http://schemas.openxmlformats.org/officeDocument/2006/relationships/notesMaster" Target="/ppt/notesMasters/notesMaster1.xml" Id="Rde3ab487de384d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8a107f96454853" /><Relationship Type="http://schemas.openxmlformats.org/officeDocument/2006/relationships/notesMaster" Target="/ppt/notesMasters/notesMaster1.xml" Id="R215cc2c40f4845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be51e41854c29" /><Relationship Type="http://schemas.openxmlformats.org/officeDocument/2006/relationships/notesMaster" Target="/ppt/notesMasters/notesMaster1.xml" Id="Rb229c5d697ce4f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dd0f6342694158" /><Relationship Type="http://schemas.openxmlformats.org/officeDocument/2006/relationships/notesMaster" Target="/ppt/notesMasters/notesMaster1.xml" Id="R01b292af612341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c71d192d0f4de0" /><Relationship Type="http://schemas.openxmlformats.org/officeDocument/2006/relationships/notesMaster" Target="/ppt/notesMasters/notesMaster1.xml" Id="R946abd6e6088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4e9369ff854f8e" /><Relationship Type="http://schemas.openxmlformats.org/officeDocument/2006/relationships/notesMaster" Target="/ppt/notesMasters/notesMaster1.xml" Id="Rbc0cbb59d5854e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4303809c894d7c" /><Relationship Type="http://schemas.openxmlformats.org/officeDocument/2006/relationships/notesMaster" Target="/ppt/notesMasters/notesMaster1.xml" Id="Rfbfd00e1c25746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f1cf8e62414671" /><Relationship Type="http://schemas.openxmlformats.org/officeDocument/2006/relationships/notesMaster" Target="/ppt/notesMasters/notesMaster1.xml" Id="R5145eb8f0d934e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e51533e72c400a" /><Relationship Type="http://schemas.openxmlformats.org/officeDocument/2006/relationships/notesMaster" Target="/ppt/notesMasters/notesMaster1.xml" Id="R8fc918a4dd2e45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23ec6a69dc48c5" /><Relationship Type="http://schemas.openxmlformats.org/officeDocument/2006/relationships/notesMaster" Target="/ppt/notesMasters/notesMaster1.xml" Id="R232ed476cb3f4a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dea5cb642e436f" /><Relationship Type="http://schemas.openxmlformats.org/officeDocument/2006/relationships/notesMaster" Target="/ppt/notesMasters/notesMaster1.xml" Id="Rc79d291c5d984e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3f158726794869" /><Relationship Type="http://schemas.openxmlformats.org/officeDocument/2006/relationships/notesMaster" Target="/ppt/notesMasters/notesMaster1.xml" Id="R0c999d73c2684f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1f74cf0fa748e4" /><Relationship Type="http://schemas.openxmlformats.org/officeDocument/2006/relationships/notesMaster" Target="/ppt/notesMasters/notesMaster1.xml" Id="R1d4c05e611304b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2601974a3c4921" /><Relationship Type="http://schemas.openxmlformats.org/officeDocument/2006/relationships/notesMaster" Target="/ppt/notesMasters/notesMaster1.xml" Id="Rc27ac68a8d254a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c3e13c93994bde" /><Relationship Type="http://schemas.openxmlformats.org/officeDocument/2006/relationships/notesMaster" Target="/ppt/notesMasters/notesMaster1.xml" Id="R1afef4df84174c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2b99e10cbd4981" /><Relationship Type="http://schemas.openxmlformats.org/officeDocument/2006/relationships/notesMaster" Target="/ppt/notesMasters/notesMaster1.xml" Id="Rf8c19001535f47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6d1e03b5bd498a" /><Relationship Type="http://schemas.openxmlformats.org/officeDocument/2006/relationships/notesMaster" Target="/ppt/notesMasters/notesMaster1.xml" Id="Rf1c092b97b5e4d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157549647a42ca" /><Relationship Type="http://schemas.openxmlformats.org/officeDocument/2006/relationships/notesMaster" Target="/ppt/notesMasters/notesMaster1.xml" Id="R7bfa2378175746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1fc54abfe204440" /><Relationship Type="http://schemas.openxmlformats.org/officeDocument/2006/relationships/notesMaster" Target="/ppt/notesMasters/notesMaster1.xml" Id="Raf961ed0b4dd4f5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13b5a8a6f92463b" /><Relationship Type="http://schemas.openxmlformats.org/officeDocument/2006/relationships/notesMaster" Target="/ppt/notesMasters/notesMaster1.xml" Id="R6a304fab5e6441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258cf0a3114e02" /><Relationship Type="http://schemas.openxmlformats.org/officeDocument/2006/relationships/notesMaster" Target="/ppt/notesMasters/notesMaster1.xml" Id="Rd93b6441ee41408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6753b8e87f4ccd" /><Relationship Type="http://schemas.openxmlformats.org/officeDocument/2006/relationships/notesMaster" Target="/ppt/notesMasters/notesMaster1.xml" Id="Rc820ea96d5c648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25e684994948ff" /><Relationship Type="http://schemas.openxmlformats.org/officeDocument/2006/relationships/notesMaster" Target="/ppt/notesMasters/notesMaster1.xml" Id="Red366f287d2f4eb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bff3b4a0d914d01" /><Relationship Type="http://schemas.openxmlformats.org/officeDocument/2006/relationships/notesMaster" Target="/ppt/notesMasters/notesMaster1.xml" Id="R156ce9126af24e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d561ab20904674" /><Relationship Type="http://schemas.openxmlformats.org/officeDocument/2006/relationships/notesMaster" Target="/ppt/notesMasters/notesMaster1.xml" Id="Refb949f7e65d49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5e8c24bc14a4a22" /><Relationship Type="http://schemas.openxmlformats.org/officeDocument/2006/relationships/notesMaster" Target="/ppt/notesMasters/notesMaster1.xml" Id="R848b3a85ecc04f7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c6836af58d4866" /><Relationship Type="http://schemas.openxmlformats.org/officeDocument/2006/relationships/notesMaster" Target="/ppt/notesMasters/notesMaster1.xml" Id="R626e9e1979ec49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DOE overview and randomized blocks: https://www.itl.nist.gov/div898/handbook/pri/section3/pri3.htm ; https://www.itl.nist.gov/div898/handbook/pri/section3/pri332.htm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График иллюстративный. Рандомизация не устраняет дрейф, а уменьшает систематическое смешение эффекта с порядком выполнения.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Randomized Block Designs: https://www.itl.nist.gov/div898/handbook/pri/section3/pri332.htm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design selection workflow: https://www.itl.nist.gov/div898/handbook/pri/section3/pri33.htm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Full Factorial Designs: https://www.itl.nist.gov/div898/handbook/pri/section3/pri333.htm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DOE model guidance: https://www.itl.nist.gov/div898/handbook/pri/section4/pri43.htm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Fractional Factorial Designs: https://itl.nist.gov/div898/handbook/pri/section3/pri334.htm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Use of Fractional Factorial Designs: https://www.itl.nist.gov/div898/handbook/pri/section3/pri3345.htm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Response Surface Designs: https://www.itl.nist.gov/div898/handbook/pri/section3/pri336.htm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Иллюстративная модель: y=80+4x1+3x2−6x1²−5x2²+x1x2. Стационарная точка рассчитана из градиента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Central Composite Designs: https://www.itl.nist.gov/div898/handbook/pri/section3/pri3361.htm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Central Composite Designs compares circumscribed, inscribed and face-centered CCD: https://www.itl.nist.gov/div898/handbook/pri/section3/pri3361.htm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Mixture Designs: https://www.itl.nist.gov/div898/handbook/pri/section5/pri54.htm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Simplex-Centroid Designs: https://www.itl.nist.gov/div898/handbook/pri/section5/pri543.htm ; constrained mixtures: https://www.itl.nist.gov/div898/handbook/pri/section5/pri54.htm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on cases where classical designs do not work: https://itl.nist.gov/div898/handbook/pri/section5/pri51.htm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D-Optimal Designs: https://www.itl.nist.gov/div898/handbook/pri/section5/pri521.htm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Multiple Response Desirability: https://www.itl.nist.gov/div898/handbook/pri/section5/pri5522.htm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SciPy differential_evolution documentation: https://docs.scipy.org/doc/scipy/reference/generated/scipy.optimize.differential_evolution.html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Iterative Nature of DOE: https://www.itl.nist.gov/div898/handbook/pri/section2/pri223.htm ; steepest ascent step length: https://www.itl.nist.gov/div898/handbook/pri/section5/pri5513.htm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cautions that local model quality near design points does not guarantee distant extrapolation. Confirmation runs are required: https://itl.nist.gov/div898/handbook/pri/section5/pri5998.htm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097cc1b3e40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1332a0cca94bb6" /><Relationship Type="http://schemas.openxmlformats.org/officeDocument/2006/relationships/slideLayout" Target="/ppt/slideLayouts/slideLayout1.xml" Id="R10523f975efe45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23f975efe45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3a32ba66e4607" /><Relationship Type="http://schemas.openxmlformats.org/officeDocument/2006/relationships/notesSlide" Target="/ppt/notesSlides/notesSlide1.xml" Id="Rbe376aefdcf5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6d2dab1744520" /><Relationship Type="http://schemas.openxmlformats.org/officeDocument/2006/relationships/notesSlide" Target="/ppt/notesSlides/notesSlide2.xml" Id="Rcb987c59608f4b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929d8751d4a6c" /><Relationship Type="http://schemas.openxmlformats.org/officeDocument/2006/relationships/notesSlide" Target="/ppt/notesSlides/notesSlide3.xml" Id="R7b02e4b7645b43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59ebece442a8" /><Relationship Type="http://schemas.openxmlformats.org/officeDocument/2006/relationships/chart" Target="/ppt/slides/charts/chart1.xml" Id="R26d5c1216d7f4a0a" /><Relationship Type="http://schemas.openxmlformats.org/officeDocument/2006/relationships/notesSlide" Target="/ppt/notesSlides/notesSlide4.xml" Id="R47301c95a4ae41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79ceaa605411c" /><Relationship Type="http://schemas.openxmlformats.org/officeDocument/2006/relationships/notesSlide" Target="/ppt/notesSlides/notesSlide5.xml" Id="Rd34722ce3e0b46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77c4dc63b4f89" /><Relationship Type="http://schemas.openxmlformats.org/officeDocument/2006/relationships/chart" Target="/ppt/slides/charts/chart2.xml" Id="R132a4a2962e54bc4" /><Relationship Type="http://schemas.openxmlformats.org/officeDocument/2006/relationships/notesSlide" Target="/ppt/notesSlides/notesSlide6.xml" Id="R3af5e51dc7f142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a4bbabe7d45ec" /><Relationship Type="http://schemas.openxmlformats.org/officeDocument/2006/relationships/notesSlide" Target="/ppt/notesSlides/notesSlide7.xml" Id="Rbe041d6fd6f741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35bac7a354833" /><Relationship Type="http://schemas.openxmlformats.org/officeDocument/2006/relationships/notesSlide" Target="/ppt/notesSlides/notesSlide8.xml" Id="Re04a5f9157f743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9c1f0f7164122" /><Relationship Type="http://schemas.openxmlformats.org/officeDocument/2006/relationships/notesSlide" Target="/ppt/notesSlides/notesSlide9.xml" Id="R838f8323f8ea49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6508ed20e42ed" /><Relationship Type="http://schemas.openxmlformats.org/officeDocument/2006/relationships/chart" Target="/ppt/slides/charts/chart3.xml" Id="Ra00ec85a6cc34f71" /><Relationship Type="http://schemas.openxmlformats.org/officeDocument/2006/relationships/notesSlide" Target="/ppt/notesSlides/notesSlide10.xml" Id="Re9f001a6457846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2cc0cd3d24775" /><Relationship Type="http://schemas.openxmlformats.org/officeDocument/2006/relationships/notesSlide" Target="/ppt/notesSlides/notesSlide11.xml" Id="Rad2c79f7f3494e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9bd9bec264689" /><Relationship Type="http://schemas.openxmlformats.org/officeDocument/2006/relationships/notesSlide" Target="/ppt/notesSlides/notesSlide12.xml" Id="Rfd1352f06add48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820b23b30449e" /><Relationship Type="http://schemas.openxmlformats.org/officeDocument/2006/relationships/notesSlide" Target="/ppt/notesSlides/notesSlide13.xml" Id="Rcb833cb0e5164f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c05a9e5da4b02" /><Relationship Type="http://schemas.openxmlformats.org/officeDocument/2006/relationships/chart" Target="/ppt/slides/charts/chart4.xml" Id="Rdc6c6e8de0474603" /><Relationship Type="http://schemas.openxmlformats.org/officeDocument/2006/relationships/notesSlide" Target="/ppt/notesSlides/notesSlide14.xml" Id="R6f89eedb268c4f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854ed4d424cd8" /><Relationship Type="http://schemas.openxmlformats.org/officeDocument/2006/relationships/notesSlide" Target="/ppt/notesSlides/notesSlide15.xml" Id="Ra943ef636aae4e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3d2d635014482" /><Relationship Type="http://schemas.openxmlformats.org/officeDocument/2006/relationships/notesSlide" Target="/ppt/notesSlides/notesSlide16.xml" Id="Rbc1d755849e540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f7a73fa3142c3" /><Relationship Type="http://schemas.openxmlformats.org/officeDocument/2006/relationships/notesSlide" Target="/ppt/notesSlides/notesSlide17.xml" Id="R7a981f61cb794b2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b3b80f7574ee4" /><Relationship Type="http://schemas.openxmlformats.org/officeDocument/2006/relationships/notesSlide" Target="/ppt/notesSlides/notesSlide18.xml" Id="R6fb9b0bae1eb45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0d4b0d84f49a3" /><Relationship Type="http://schemas.openxmlformats.org/officeDocument/2006/relationships/chart" Target="/ppt/slides/charts/chart5.xml" Id="R6e389040f0524b87" /><Relationship Type="http://schemas.openxmlformats.org/officeDocument/2006/relationships/notesSlide" Target="/ppt/notesSlides/notesSlide19.xml" Id="Rfcf28190702b4f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b2016a5394e5f" /><Relationship Type="http://schemas.openxmlformats.org/officeDocument/2006/relationships/chart" Target="/ppt/slides/charts/chart6.xml" Id="R88ed6d5758664023" /><Relationship Type="http://schemas.openxmlformats.org/officeDocument/2006/relationships/chart" Target="/ppt/slides/charts/chart7.xml" Id="R8f8fda45bb714906" /><Relationship Type="http://schemas.openxmlformats.org/officeDocument/2006/relationships/chart" Target="/ppt/slides/charts/chart8.xml" Id="R8651bc60f658470c" /><Relationship Type="http://schemas.openxmlformats.org/officeDocument/2006/relationships/notesSlide" Target="/ppt/notesSlides/notesSlide20.xml" Id="R5f4090085da640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fbff1ccde4e92" /><Relationship Type="http://schemas.openxmlformats.org/officeDocument/2006/relationships/notesSlide" Target="/ppt/notesSlides/notesSlide21.xml" Id="R0555dec8b9a34b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19a01fa07430a" /><Relationship Type="http://schemas.openxmlformats.org/officeDocument/2006/relationships/notesSlide" Target="/ppt/notesSlides/notesSlide22.xml" Id="R79cea69f4deb42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694e1d5f34e9b" /><Relationship Type="http://schemas.openxmlformats.org/officeDocument/2006/relationships/chart" Target="/ppt/slides/charts/chart9.xml" Id="R2d24630b003f401b" /><Relationship Type="http://schemas.openxmlformats.org/officeDocument/2006/relationships/notesSlide" Target="/ppt/notesSlides/notesSlide23.xml" Id="R49bae66e672146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bb997479446c6" /><Relationship Type="http://schemas.openxmlformats.org/officeDocument/2006/relationships/chart" Target="/ppt/slides/charts/chart10.xml" Id="R298b634d709a4dc0" /><Relationship Type="http://schemas.openxmlformats.org/officeDocument/2006/relationships/chart" Target="/ppt/slides/charts/chart11.xml" Id="R2acac82ebd584855" /><Relationship Type="http://schemas.openxmlformats.org/officeDocument/2006/relationships/notesSlide" Target="/ppt/notesSlides/notesSlide24.xml" Id="R2b44e83c08014d5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05eb19c9441e7" /><Relationship Type="http://schemas.openxmlformats.org/officeDocument/2006/relationships/notesSlide" Target="/ppt/notesSlides/notesSlide25.xml" Id="Rb4895dee1b5d43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5ab6c14a1460a" /><Relationship Type="http://schemas.openxmlformats.org/officeDocument/2006/relationships/chart" Target="/ppt/slides/charts/chart12.xml" Id="Rc1447b267afc4dbd" /><Relationship Type="http://schemas.openxmlformats.org/officeDocument/2006/relationships/notesSlide" Target="/ppt/notesSlides/notesSlide26.xml" Id="Re95aeb5c2b7044f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9d3d7bcf94191" /><Relationship Type="http://schemas.openxmlformats.org/officeDocument/2006/relationships/chart" Target="/ppt/slides/charts/chart13.xml" Id="R02f14a278a7e4ad1" /><Relationship Type="http://schemas.openxmlformats.org/officeDocument/2006/relationships/notesSlide" Target="/ppt/notesSlides/notesSlide27.xml" Id="R41152002e62a4dd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d91f5e58c4145" /><Relationship Type="http://schemas.openxmlformats.org/officeDocument/2006/relationships/notesSlide" Target="/ppt/notesSlides/notesSlide28.xml" Id="R26c9a26043fd472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610b570224e14" /><Relationship Type="http://schemas.openxmlformats.org/officeDocument/2006/relationships/chart" Target="/ppt/slides/charts/chart14.xml" Id="R30d2427721ba422a" /><Relationship Type="http://schemas.openxmlformats.org/officeDocument/2006/relationships/notesSlide" Target="/ppt/notesSlides/notesSlide29.xml" Id="R07491cd9f1e24d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55fb087794431" /><Relationship Type="http://schemas.openxmlformats.org/officeDocument/2006/relationships/chart" Target="/ppt/slides/charts/chart15.xml" Id="R8f716c5383c246a9" /><Relationship Type="http://schemas.openxmlformats.org/officeDocument/2006/relationships/notesSlide" Target="/ppt/notesSlides/notesSlide30.xml" Id="R00b40bf33976451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дрейф процесса</c:v>
          </c:tx>
          <c:spPr>
            <a:ln xmlns:a="http://schemas.openxmlformats.org/drawingml/2006/main" w="38100">
              <a:solidFill>
                <a:srgbClr val="FF7B7B"/>
              </a:solidFill>
              <a:prstDash val="solid"/>
            </a:ln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</c:numCache>
            </c:numRef>
          </c:val>
          <c:smooth val="0"/>
        </c:ser>
        <c:ser>
          <c:idx val="1"/>
          <c:order val="1"/>
          <c:tx>
            <c:v>наблюдения после рандомизации</c:v>
          </c:tx>
          <c:spPr>
            <a:ln xmlns:a="http://schemas.openxmlformats.org/drawingml/2006/main" w="19050">
              <a:solidFill>
                <a:srgbClr val="4EA8D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EA8DE"/>
              </a:solidFill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61</c:v>
                </c:pt>
                <c:pt idx="1">
                  <c:v>65</c:v>
                </c:pt>
                <c:pt idx="2">
                  <c:v>63</c:v>
                </c:pt>
                <c:pt idx="3">
                  <c:v>69</c:v>
                </c:pt>
                <c:pt idx="4">
                  <c:v>62</c:v>
                </c:pt>
                <c:pt idx="5">
                  <c:v>67</c:v>
                </c:pt>
                <c:pt idx="6">
                  <c:v>70</c:v>
                </c:pt>
                <c:pt idx="7">
                  <c:v>64</c:v>
                </c:pt>
                <c:pt idx="8">
                  <c:v>68</c:v>
                </c:pt>
                <c:pt idx="9">
                  <c:v>66</c:v>
                </c:pt>
                <c:pt idx="10">
                  <c:v>72</c:v>
                </c:pt>
                <c:pt idx="11">
                  <c:v>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порядковый номер опыта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4"/>
          <c:min val="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отклик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относительная SE</c:v>
          </c:tx>
          <c:spPr>
            <a:ln xmlns:a="http://schemas.openxmlformats.org/drawingml/2006/main" w="38100">
              <a:solidFill>
                <a:srgbClr val="F9C74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9C74F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</c:v>
                </c:pt>
                <c:pt idx="1">
                  <c:v>0.707</c:v>
                </c:pt>
                <c:pt idx="2">
                  <c:v>0.577</c:v>
                </c:pt>
                <c:pt idx="3">
                  <c:v>0.5</c:v>
                </c:pt>
                <c:pt idx="4">
                  <c:v>0.408</c:v>
                </c:pt>
                <c:pt idx="5">
                  <c:v>0.354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число независимых повторов 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SE / 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 = −1</c:v>
          </c:tx>
          <c:spPr>
            <a:ln xmlns:a="http://schemas.openxmlformats.org/drawingml/2006/main" w="38100">
              <a:solidFill>
                <a:srgbClr val="4EA8D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EA8DE"/>
              </a:solidFill>
            </c:spPr>
          </c:marker>
          <c:cat>
            <c:strRef>
              <c:f>'Chart Data'!$A$2:$A$3</c:f>
              <c:strCache>
                <c:ptCount val="2"/>
                <c:pt idx="0">
                  <c:v>A = −1</c:v>
                </c:pt>
                <c:pt idx="1">
                  <c:v>A = +1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20</c:v>
                </c:pt>
                <c:pt idx="1">
                  <c:v>28</c:v>
                </c:pt>
              </c:numCache>
            </c:numRef>
          </c:val>
          <c:smooth val="0"/>
        </c:ser>
        <c:ser>
          <c:idx val="1"/>
          <c:order val="1"/>
          <c:tx>
            <c:v>B = +1</c:v>
          </c:tx>
          <c:spPr>
            <a:ln xmlns:a="http://schemas.openxmlformats.org/drawingml/2006/main" w="38100">
              <a:solidFill>
                <a:srgbClr val="FF7B7B"/>
              </a:solidFill>
              <a:prstDash val="solid"/>
            </a:ln>
          </c:spPr>
          <c:marker>
            <c:symbol val="square"/>
            <c:size val="8"/>
            <c:spPr>
              <a:solidFill xmlns:a="http://schemas.openxmlformats.org/drawingml/2006/main">
                <a:srgbClr val="FF7B7B"/>
              </a:solidFill>
            </c:spPr>
          </c:marker>
          <c:cat>
            <c:strRef>
              <c:f>'Chart Data'!$C$2:$C$3</c:f>
              <c:strCache>
                <c:ptCount val="2"/>
                <c:pt idx="0">
                  <c:v>A = −1</c:v>
                </c:pt>
                <c:pt idx="1">
                  <c:v>A = +1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30</c:v>
                </c:pt>
                <c:pt idx="1">
                  <c:v>22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уровень фактора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4"/>
          <c:min val="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средний отклик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линейная модель по краям</c:v>
          </c:tx>
          <c:spPr>
            <a:ln xmlns:a="http://schemas.openxmlformats.org/drawingml/2006/main" w="28575">
              <a:solidFill>
                <a:srgbClr val="A6B7C9"/>
              </a:solidFill>
              <a:prstDash val="dash"/>
            </a:ln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−1</c:v>
                </c:pt>
                <c:pt idx="1">
                  <c:v>−0,5</c:v>
                </c:pt>
                <c:pt idx="2">
                  <c:v>0</c:v>
                </c:pt>
                <c:pt idx="3">
                  <c:v>+0,5</c:v>
                </c:pt>
                <c:pt idx="4">
                  <c:v>+1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</c:numCache>
            </c:numRef>
          </c:val>
          <c:smooth val="0"/>
        </c:ser>
        <c:ser>
          <c:idx val="1"/>
          <c:order val="1"/>
          <c:tx>
            <c:v>фактическая кривизна</c:v>
          </c:tx>
          <c:spPr>
            <a:ln xmlns:a="http://schemas.openxmlformats.org/drawingml/2006/main" w="38100">
              <a:solidFill>
                <a:srgbClr val="F9C74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9C74F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−1</c:v>
                </c:pt>
                <c:pt idx="1">
                  <c:v>−0,5</c:v>
                </c:pt>
                <c:pt idx="2">
                  <c:v>0</c:v>
                </c:pt>
                <c:pt idx="3">
                  <c:v>+0,5</c:v>
                </c:pt>
                <c:pt idx="4">
                  <c:v>+1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70</c:v>
                </c:pt>
                <c:pt idx="1">
                  <c:v>79</c:v>
                </c:pt>
                <c:pt idx="2">
                  <c:v>84</c:v>
                </c:pt>
                <c:pt idx="3">
                  <c:v>79</c:v>
                </c:pt>
                <c:pt idx="4">
                  <c:v>70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кодированный фактор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8"/>
          <c:min val="6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отклик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факторные</c:v>
          </c:tx>
          <c:spPr>
            <a:solidFill xmlns:a="http://schemas.openxmlformats.org/drawingml/2006/main">
              <a:srgbClr val="4EA8DE"/>
            </a:solidFill>
            <a:ln xmlns:a="http://schemas.openxmlformats.org/drawingml/2006/main" w="9525">
              <a:solidFill>
                <a:srgbClr val="4EA8DE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-1</c:v>
                </c:pt>
                <c:pt idx="1">
                  <c:v>-1</c:v>
                </c:pt>
                <c:pt idx="2">
                  <c:v>1</c:v>
                </c:pt>
                <c:pt idx="3">
                  <c:v>1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-1</c:v>
                </c:pt>
                <c:pt idx="3">
                  <c:v>1</c:v>
                </c:pt>
              </c:numCache>
            </c:numRef>
          </c:yVal>
        </c:ser>
        <c:ser>
          <c:idx val="1"/>
          <c:order val="1"/>
          <c:tx>
            <c:v>звёздные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9525">
              <a:solidFill>
                <a:srgbClr val="F9C74F"/>
              </a:solidFill>
            </a:ln>
          </c:spPr>
          <c:marker>
            <c:symbol val="diamond"/>
            <c:size val="10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-1.414</c:v>
                </c:pt>
                <c:pt idx="1">
                  <c:v>1.414</c:v>
                </c:pt>
                <c:pt idx="2">
                  <c:v>0</c:v>
                </c:pt>
                <c:pt idx="3">
                  <c:v>0</c:v>
                </c:pt>
              </c:numCache>
            </c:numRef>
          </c:xVal>
          <c:yVal>
            <c:numRef>
              <c:f>'Chart Data'!$D$2:$D$5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-1.414</c:v>
                </c:pt>
                <c:pt idx="3">
                  <c:v>1.414</c:v>
                </c:pt>
              </c:numCache>
            </c:numRef>
          </c:yVal>
        </c:ser>
        <c:ser>
          <c:idx val="2"/>
          <c:order val="2"/>
          <c:tx>
            <c:v>центр</c:v>
          </c:tx>
          <c:spPr>
            <a:solidFill xmlns:a="http://schemas.openxmlformats.org/drawingml/2006/main">
              <a:srgbClr val="80ED99"/>
            </a:solidFill>
            <a:ln xmlns:a="http://schemas.openxmlformats.org/drawingml/2006/main" w="9525">
              <a:solidFill>
                <a:srgbClr val="80ED99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80ED99"/>
              </a:solidFill>
            </c:spPr>
          </c:marker>
          <c:xVal>
            <c:numRef>
              <c:f>'Chart Data'!$E$2:$E$5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xVal>
          <c:yVal>
            <c:numRef>
              <c:f>'Chart Data'!$F$2:$F$5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7"/>
          <c:min val="-1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.7"/>
          <c:min val="-1.7"/>
        </c:scaling>
        <c:delete val="0"/>
        <c:axPos val="b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факторные</c:v>
          </c:tx>
          <c:spPr>
            <a:solidFill xmlns:a="http://schemas.openxmlformats.org/drawingml/2006/main">
              <a:srgbClr val="A6B7C9"/>
            </a:solidFill>
            <a:ln xmlns:a="http://schemas.openxmlformats.org/drawingml/2006/main" w="9525">
              <a:solidFill>
                <a:srgbClr val="A6B7C9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A6B7C9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-1</c:v>
                </c:pt>
                <c:pt idx="1">
                  <c:v>-1</c:v>
                </c:pt>
                <c:pt idx="2">
                  <c:v>1</c:v>
                </c:pt>
                <c:pt idx="3">
                  <c:v>1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-1</c:v>
                </c:pt>
                <c:pt idx="3">
                  <c:v>1</c:v>
                </c:pt>
              </c:numCache>
            </c:numRef>
          </c:yVal>
        </c:ser>
        <c:ser>
          <c:idx val="1"/>
          <c:order val="1"/>
          <c:tx>
            <c:v>звёздные</c:v>
          </c:tx>
          <c:spPr>
            <a:solidFill xmlns:a="http://schemas.openxmlformats.org/drawingml/2006/main">
              <a:srgbClr val="4EA8DE"/>
            </a:solidFill>
            <a:ln xmlns:a="http://schemas.openxmlformats.org/drawingml/2006/main" w="9525">
              <a:solidFill>
                <a:srgbClr val="4EA8DE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-1.414</c:v>
                </c:pt>
                <c:pt idx="1">
                  <c:v>1.414</c:v>
                </c:pt>
                <c:pt idx="2">
                  <c:v>0</c:v>
                </c:pt>
                <c:pt idx="3">
                  <c:v>0</c:v>
                </c:pt>
              </c:numCache>
            </c:numRef>
          </c:xVal>
          <c:yVal>
            <c:numRef>
              <c:f>'Chart Data'!$D$2:$D$5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-1.414</c:v>
                </c:pt>
                <c:pt idx="3">
                  <c:v>1.414</c:v>
                </c:pt>
              </c:numCache>
            </c:numRef>
          </c:yVal>
        </c:ser>
        <c:ser>
          <c:idx val="2"/>
          <c:order val="2"/>
          <c:tx>
            <c:v>центр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9525">
              <a:solidFill>
                <a:srgbClr val="F9C74F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факторные</c:v>
          </c:tx>
          <c:spPr>
            <a:solidFill xmlns:a="http://schemas.openxmlformats.org/drawingml/2006/main">
              <a:srgbClr val="A6B7C9"/>
            </a:solidFill>
            <a:ln xmlns:a="http://schemas.openxmlformats.org/drawingml/2006/main" w="9525">
              <a:solidFill>
                <a:srgbClr val="A6B7C9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A6B7C9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-1</c:v>
                </c:pt>
                <c:pt idx="1">
                  <c:v>-1</c:v>
                </c:pt>
                <c:pt idx="2">
                  <c:v>1</c:v>
                </c:pt>
                <c:pt idx="3">
                  <c:v>1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-1</c:v>
                </c:pt>
                <c:pt idx="3">
                  <c:v>1</c:v>
                </c:pt>
              </c:numCache>
            </c:numRef>
          </c:yVal>
        </c:ser>
        <c:ser>
          <c:idx val="1"/>
          <c:order val="1"/>
          <c:tx>
            <c:v>звёздные</c:v>
          </c:tx>
          <c:spPr>
            <a:solidFill xmlns:a="http://schemas.openxmlformats.org/drawingml/2006/main">
              <a:srgbClr val="C4A7FF"/>
            </a:solidFill>
            <a:ln xmlns:a="http://schemas.openxmlformats.org/drawingml/2006/main" w="9525">
              <a:solidFill>
                <a:srgbClr val="C4A7FF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C4A7F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xVal>
          <c:yVal>
            <c:numRef>
              <c:f>'Chart Data'!$D$2:$D$5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-1</c:v>
                </c:pt>
                <c:pt idx="3">
                  <c:v>1</c:v>
                </c:pt>
              </c:numCache>
            </c:numRef>
          </c:yVal>
        </c:ser>
        <c:ser>
          <c:idx val="2"/>
          <c:order val="2"/>
          <c:tx>
            <c:v>центр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9525">
              <a:solidFill>
                <a:srgbClr val="F9C74F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факторные</c:v>
          </c:tx>
          <c:spPr>
            <a:solidFill xmlns:a="http://schemas.openxmlformats.org/drawingml/2006/main">
              <a:srgbClr val="A6B7C9"/>
            </a:solidFill>
            <a:ln xmlns:a="http://schemas.openxmlformats.org/drawingml/2006/main" w="9525">
              <a:solidFill>
                <a:srgbClr val="A6B7C9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A6B7C9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-1</c:v>
                </c:pt>
                <c:pt idx="1">
                  <c:v>-1</c:v>
                </c:pt>
                <c:pt idx="2">
                  <c:v>1</c:v>
                </c:pt>
                <c:pt idx="3">
                  <c:v>1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-1</c:v>
                </c:pt>
                <c:pt idx="3">
                  <c:v>1</c:v>
                </c:pt>
              </c:numCache>
            </c:numRef>
          </c:yVal>
        </c:ser>
        <c:ser>
          <c:idx val="1"/>
          <c:order val="1"/>
          <c:tx>
            <c:v>звёздные</c:v>
          </c:tx>
          <c:spPr>
            <a:solidFill xmlns:a="http://schemas.openxmlformats.org/drawingml/2006/main">
              <a:srgbClr val="80ED99"/>
            </a:solidFill>
            <a:ln xmlns:a="http://schemas.openxmlformats.org/drawingml/2006/main" w="9525">
              <a:solidFill>
                <a:srgbClr val="80ED99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80ED99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xVal>
          <c:yVal>
            <c:numRef>
              <c:f>'Chart Data'!$D$2:$D$5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-1</c:v>
                </c:pt>
                <c:pt idx="3">
                  <c:v>1</c:v>
                </c:pt>
              </c:numCache>
            </c:numRef>
          </c:yVal>
        </c:ser>
        <c:ser>
          <c:idx val="2"/>
          <c:order val="2"/>
          <c:tx>
            <c:v>центр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9525">
              <a:solidFill>
                <a:srgbClr val="F9C74F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граница</c:v>
          </c:tx>
          <c:spPr>
            <a:ln xmlns:a="http://schemas.openxmlformats.org/drawingml/2006/main" w="28575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0.5</c:v>
                </c:pt>
                <c:pt idx="3">
                  <c:v>0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0.866</c:v>
                </c:pt>
                <c:pt idx="3">
                  <c:v>0</c:v>
                </c:pt>
              </c:numCache>
            </c:numRef>
          </c:yVal>
        </c:ser>
        <c:ser>
          <c:idx val="1"/>
          <c:order val="1"/>
          <c:tx>
            <c:v>вершины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9525">
              <a:solidFill>
                <a:srgbClr val="F9C74F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0.5</c:v>
                </c:pt>
              </c:numCache>
            </c:numRef>
          </c:xVal>
          <c:yVal>
            <c:numRef>
              <c:f>'Chart Data'!$D$2:$D$4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0.866</c:v>
                </c:pt>
              </c:numCache>
            </c:numRef>
          </c:yVal>
        </c:ser>
        <c:ser>
          <c:idx val="2"/>
          <c:order val="2"/>
          <c:tx>
            <c:v>центр</c:v>
          </c:tx>
          <c:spPr>
            <a:solidFill xmlns:a="http://schemas.openxmlformats.org/drawingml/2006/main">
              <a:srgbClr val="4EA8DE"/>
            </a:solidFill>
            <a:ln xmlns:a="http://schemas.openxmlformats.org/drawingml/2006/main" w="9525">
              <a:solidFill>
                <a:srgbClr val="4EA8DE"/>
              </a:solidFill>
            </a:ln>
          </c:spPr>
          <c:marker>
            <c:symbol val="diamond"/>
            <c:size val="10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xVal>
          <c:yVal>
            <c:numRef>
              <c:f>'Chart Data'!$F$2:$F$2</c:f>
              <c:numCache>
                <c:formatCode>General</c:formatCode>
                <c:ptCount val="1"/>
                <c:pt idx="0">
                  <c:v>0.289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95"/>
          <c:min val="-0.08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0.1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граница</c:v>
          </c:tx>
          <c:spPr>
            <a:ln xmlns:a="http://schemas.openxmlformats.org/drawingml/2006/main" w="19050">
              <a:solidFill>
                <a:srgbClr val="607A92"/>
              </a:solidFill>
              <a:prstDash val="solid"/>
            </a:ln>
          </c:spPr>
          <c:marker>
            <c:symbol val="none"/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0.5</c:v>
                </c:pt>
                <c:pt idx="3">
                  <c:v>0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0.866</c:v>
                </c:pt>
                <c:pt idx="3">
                  <c:v>0</c:v>
                </c:pt>
              </c:numCache>
            </c:numRef>
          </c:yVal>
        </c:ser>
        <c:ser>
          <c:idx val="1"/>
          <c:order val="1"/>
          <c:tx>
            <c:v>simplex-centroid</c:v>
          </c:tx>
          <c:spPr>
            <a:solidFill xmlns:a="http://schemas.openxmlformats.org/drawingml/2006/main">
              <a:srgbClr val="4EA8DE"/>
            </a:solidFill>
            <a:ln xmlns:a="http://schemas.openxmlformats.org/drawingml/2006/main" w="9525">
              <a:solidFill>
                <a:srgbClr val="4EA8DE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0.5</c:v>
                </c:pt>
                <c:pt idx="3">
                  <c:v>0.5</c:v>
                </c:pt>
                <c:pt idx="4">
                  <c:v>0.25</c:v>
                </c:pt>
                <c:pt idx="5">
                  <c:v>0.75</c:v>
                </c:pt>
                <c:pt idx="6">
                  <c:v>0.5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0.866</c:v>
                </c:pt>
                <c:pt idx="3">
                  <c:v>0</c:v>
                </c:pt>
                <c:pt idx="4">
                  <c:v>0.433</c:v>
                </c:pt>
                <c:pt idx="5">
                  <c:v>0.433</c:v>
                </c:pt>
                <c:pt idx="6">
                  <c:v>0.289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95"/>
          <c:min val="-0.08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0.1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допустимая граница</c:v>
          </c:tx>
          <c:spPr>
            <a:ln xmlns:a="http://schemas.openxmlformats.org/drawingml/2006/main" w="28575">
              <a:solidFill>
                <a:srgbClr val="80ED99"/>
              </a:solidFill>
              <a:prstDash val="solid"/>
            </a:ln>
          </c:spPr>
          <c:marker>
            <c:symbol val="none"/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0.24</c:v>
                </c:pt>
                <c:pt idx="1">
                  <c:v>0.76</c:v>
                </c:pt>
                <c:pt idx="2">
                  <c:v>0.68</c:v>
                </c:pt>
                <c:pt idx="3">
                  <c:v>0.46</c:v>
                </c:pt>
                <c:pt idx="4">
                  <c:v>0.24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0.12</c:v>
                </c:pt>
                <c:pt idx="1">
                  <c:v>0.12</c:v>
                </c:pt>
                <c:pt idx="2">
                  <c:v>0.52</c:v>
                </c:pt>
                <c:pt idx="3">
                  <c:v>0.69</c:v>
                </c:pt>
                <c:pt idx="4">
                  <c:v>0.12</c:v>
                </c:pt>
              </c:numCache>
            </c:numRef>
          </c:yVal>
        </c:ser>
        <c:ser>
          <c:idx val="1"/>
          <c:order val="1"/>
          <c:tx>
            <c:v>точки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9525">
              <a:solidFill>
                <a:srgbClr val="F9C74F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0.24</c:v>
                </c:pt>
                <c:pt idx="1">
                  <c:v>0.76</c:v>
                </c:pt>
                <c:pt idx="2">
                  <c:v>0.68</c:v>
                </c:pt>
                <c:pt idx="3">
                  <c:v>0.46</c:v>
                </c:pt>
                <c:pt idx="4">
                  <c:v>0.36</c:v>
                </c:pt>
                <c:pt idx="5">
                  <c:v>0.56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0.12</c:v>
                </c:pt>
                <c:pt idx="1">
                  <c:v>0.12</c:v>
                </c:pt>
                <c:pt idx="2">
                  <c:v>0.52</c:v>
                </c:pt>
                <c:pt idx="3">
                  <c:v>0.69</c:v>
                </c:pt>
                <c:pt idx="4">
                  <c:v>0.28</c:v>
                </c:pt>
                <c:pt idx="5">
                  <c:v>0.32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95"/>
          <c:min val="-0.08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1.1"/>
          <c:min val="-0.1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candidate set</c:v>
          </c:tx>
          <c:spPr>
            <a:solidFill xmlns:a="http://schemas.openxmlformats.org/drawingml/2006/main">
              <a:srgbClr val="607A92"/>
            </a:solidFill>
            <a:ln xmlns:a="http://schemas.openxmlformats.org/drawingml/2006/main" w="9525">
              <a:solidFill>
                <a:srgbClr val="607A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607A92"/>
              </a:solidFill>
            </c:spPr>
          </c:marker>
          <c:xVal>
            <c:numRef>
              <c:f>'Chart Data'!$A$2:$A$26</c:f>
              <c:numCache>
                <c:formatCode>General</c:formatCode>
                <c:ptCount val="25"/>
                <c:pt idx="0">
                  <c:v>-1</c:v>
                </c:pt>
                <c:pt idx="1">
                  <c:v>-0.5</c:v>
                </c:pt>
                <c:pt idx="2">
                  <c:v>0</c:v>
                </c:pt>
                <c:pt idx="3">
                  <c:v>0.5</c:v>
                </c:pt>
                <c:pt idx="4">
                  <c:v>1</c:v>
                </c:pt>
                <c:pt idx="5">
                  <c:v>-1</c:v>
                </c:pt>
                <c:pt idx="6">
                  <c:v>-0.5</c:v>
                </c:pt>
                <c:pt idx="7">
                  <c:v>0</c:v>
                </c:pt>
                <c:pt idx="8">
                  <c:v>0.5</c:v>
                </c:pt>
                <c:pt idx="9">
                  <c:v>1</c:v>
                </c:pt>
                <c:pt idx="10">
                  <c:v>-1</c:v>
                </c:pt>
                <c:pt idx="11">
                  <c:v>-0.5</c:v>
                </c:pt>
                <c:pt idx="12">
                  <c:v>0</c:v>
                </c:pt>
                <c:pt idx="13">
                  <c:v>0.5</c:v>
                </c:pt>
                <c:pt idx="14">
                  <c:v>1</c:v>
                </c:pt>
                <c:pt idx="15">
                  <c:v>-1</c:v>
                </c:pt>
                <c:pt idx="16">
                  <c:v>-0.5</c:v>
                </c:pt>
                <c:pt idx="17">
                  <c:v>0</c:v>
                </c:pt>
                <c:pt idx="18">
                  <c:v>0.5</c:v>
                </c:pt>
                <c:pt idx="19">
                  <c:v>1</c:v>
                </c:pt>
                <c:pt idx="20">
                  <c:v>-1</c:v>
                </c:pt>
                <c:pt idx="21">
                  <c:v>-0.5</c:v>
                </c:pt>
                <c:pt idx="22">
                  <c:v>0</c:v>
                </c:pt>
                <c:pt idx="23">
                  <c:v>0.5</c:v>
                </c:pt>
                <c:pt idx="24">
                  <c:v>1</c:v>
                </c:pt>
              </c:numCache>
            </c:numRef>
          </c:xVal>
          <c:yVal>
            <c:numRef>
              <c:f>'Chart Data'!$B$2:$B$26</c:f>
              <c:numCache>
                <c:formatCode>General</c:formatCode>
                <c:ptCount val="25"/>
                <c:pt idx="0">
                  <c:v>-1</c:v>
                </c:pt>
                <c:pt idx="1">
                  <c:v>-1</c:v>
                </c:pt>
                <c:pt idx="2">
                  <c:v>-1</c:v>
                </c:pt>
                <c:pt idx="3">
                  <c:v>-1</c:v>
                </c:pt>
                <c:pt idx="4">
                  <c:v>-1</c:v>
                </c:pt>
                <c:pt idx="5">
                  <c:v>-0.5</c:v>
                </c:pt>
                <c:pt idx="6">
                  <c:v>-0.5</c:v>
                </c:pt>
                <c:pt idx="7">
                  <c:v>-0.5</c:v>
                </c:pt>
                <c:pt idx="8">
                  <c:v>-0.5</c:v>
                </c:pt>
                <c:pt idx="9">
                  <c:v>-0.5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</c:numCache>
            </c:numRef>
          </c:yVal>
        </c:ser>
        <c:ser>
          <c:idx val="1"/>
          <c:order val="1"/>
          <c:tx>
            <c:v>выбранные точки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9525">
              <a:solidFill>
                <a:srgbClr val="F9C74F"/>
              </a:solidFill>
            </a:ln>
          </c:spPr>
          <c:marker>
            <c:symbol val="diamond"/>
            <c:size val="10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Data'!$C$2:$C$9</c:f>
              <c:numCache>
                <c:formatCode>General</c:formatCode>
                <c:ptCount val="8"/>
                <c:pt idx="0">
                  <c:v>-1</c:v>
                </c:pt>
                <c:pt idx="1">
                  <c:v>1</c:v>
                </c:pt>
                <c:pt idx="2">
                  <c:v>-1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-1</c:v>
                </c:pt>
                <c:pt idx="7">
                  <c:v>1</c:v>
                </c:pt>
              </c:numCache>
            </c:numRef>
          </c:xVal>
          <c:yVal>
            <c:numRef>
              <c:f>'Chart Data'!$D$2:$D$9</c:f>
              <c:numCache>
                <c:formatCode>General</c:formatCode>
                <c:ptCount val="8"/>
                <c:pt idx="0">
                  <c:v>-1</c:v>
                </c:pt>
                <c:pt idx="1">
                  <c:v>-1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-1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-1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.2"/>
          <c:min val="-1.2"/>
        </c:scaling>
        <c:delete val="0"/>
        <c:axPos val="b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допустимые режимы</c:v>
          </c:tx>
          <c:spPr>
            <a:solidFill xmlns:a="http://schemas.openxmlformats.org/drawingml/2006/main">
              <a:srgbClr val="4EA8DE"/>
            </a:solidFill>
            <a:ln xmlns:a="http://schemas.openxmlformats.org/drawingml/2006/main" w="9525">
              <a:solidFill>
                <a:srgbClr val="4EA8D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4EA8DE"/>
              </a:solidFill>
            </c:spPr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12</c:v>
                </c:pt>
                <c:pt idx="1">
                  <c:v>14</c:v>
                </c:pt>
                <c:pt idx="2">
                  <c:v>15</c:v>
                </c:pt>
                <c:pt idx="3">
                  <c:v>17</c:v>
                </c:pt>
                <c:pt idx="4">
                  <c:v>18</c:v>
                </c:pt>
                <c:pt idx="5">
                  <c:v>20</c:v>
                </c:pt>
                <c:pt idx="6">
                  <c:v>21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28</c:v>
                </c:pt>
                <c:pt idx="11">
                  <c:v>30</c:v>
                </c:pt>
              </c:numCache>
            </c:numRef>
          </c:xVal>
          <c:yVal>
            <c:numRef>
              <c:f>'Chart Data'!$B$2:$B$13</c:f>
              <c:numCache>
                <c:formatCode>General</c:formatCode>
                <c:ptCount val="12"/>
                <c:pt idx="0">
                  <c:v>74</c:v>
                </c:pt>
                <c:pt idx="1">
                  <c:v>77</c:v>
                </c:pt>
                <c:pt idx="2">
                  <c:v>79</c:v>
                </c:pt>
                <c:pt idx="3">
                  <c:v>80</c:v>
                </c:pt>
                <c:pt idx="4">
                  <c:v>82</c:v>
                </c:pt>
                <c:pt idx="5">
                  <c:v>83</c:v>
                </c:pt>
                <c:pt idx="6">
                  <c:v>84</c:v>
                </c:pt>
                <c:pt idx="7">
                  <c:v>85</c:v>
                </c:pt>
                <c:pt idx="8">
                  <c:v>86</c:v>
                </c:pt>
                <c:pt idx="9">
                  <c:v>86.5</c:v>
                </c:pt>
                <c:pt idx="10">
                  <c:v>87</c:v>
                </c:pt>
                <c:pt idx="11">
                  <c:v>87.2</c:v>
                </c:pt>
              </c:numCache>
            </c:numRef>
          </c:yVal>
        </c:ser>
        <c:ser>
          <c:idx val="1"/>
          <c:order val="1"/>
          <c:tx>
            <c:v>граница Парето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28575">
              <a:solidFill>
                <a:srgbClr val="F9C74F"/>
              </a:solidFill>
              <a:prstDash val="solid"/>
            </a:ln>
          </c:spPr>
          <c:marker>
            <c:symbol val="diamond"/>
            <c:size val="9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12</c:v>
                </c:pt>
                <c:pt idx="1">
                  <c:v>14</c:v>
                </c:pt>
                <c:pt idx="2">
                  <c:v>17</c:v>
                </c:pt>
                <c:pt idx="3">
                  <c:v>20</c:v>
                </c:pt>
                <c:pt idx="4">
                  <c:v>24</c:v>
                </c:pt>
                <c:pt idx="5">
                  <c:v>28</c:v>
                </c:pt>
                <c:pt idx="6">
                  <c:v>30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74</c:v>
                </c:pt>
                <c:pt idx="1">
                  <c:v>77</c:v>
                </c:pt>
                <c:pt idx="2">
                  <c:v>80</c:v>
                </c:pt>
                <c:pt idx="3">
                  <c:v>83</c:v>
                </c:pt>
                <c:pt idx="4">
                  <c:v>86</c:v>
                </c:pt>
                <c:pt idx="5">
                  <c:v>87</c:v>
                </c:pt>
                <c:pt idx="6">
                  <c:v>87.2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9"/>
          <c:min val="72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выход продукта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32"/>
          <c:min val="10"/>
        </c:scaling>
        <c:delete val="0"/>
        <c:axPos val="b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энергозатраты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путь уточнения</c:v>
          </c:tx>
          <c:spPr>
            <a:solidFill xmlns:a="http://schemas.openxmlformats.org/drawingml/2006/main">
              <a:srgbClr val="F9C74F"/>
            </a:solidFill>
            <a:ln xmlns:a="http://schemas.openxmlformats.org/drawingml/2006/main" w="38100">
              <a:solidFill>
                <a:srgbClr val="F9C74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F9C74F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-1.2</c:v>
                </c:pt>
                <c:pt idx="1">
                  <c:v>-0.8</c:v>
                </c:pt>
                <c:pt idx="2">
                  <c:v>-0.35</c:v>
                </c:pt>
                <c:pt idx="3">
                  <c:v>0.1</c:v>
                </c:pt>
                <c:pt idx="4">
                  <c:v>0.35</c:v>
                </c:pt>
                <c:pt idx="5">
                  <c:v>0.42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-0.9</c:v>
                </c:pt>
                <c:pt idx="1">
                  <c:v>-0.5</c:v>
                </c:pt>
                <c:pt idx="2">
                  <c:v>-0.2</c:v>
                </c:pt>
                <c:pt idx="3">
                  <c:v>0.12</c:v>
                </c:pt>
                <c:pt idx="4">
                  <c:v>0.28</c:v>
                </c:pt>
                <c:pt idx="5">
                  <c:v>0.32</c:v>
                </c:pt>
              </c:numCache>
            </c:numRef>
          </c:yVal>
        </c:ser>
        <c:ser>
          <c:idx val="1"/>
          <c:order val="1"/>
          <c:tx>
            <c:v>локальный CCD</c:v>
          </c:tx>
          <c:spPr>
            <a:solidFill xmlns:a="http://schemas.openxmlformats.org/drawingml/2006/main">
              <a:srgbClr val="C4A7FF"/>
            </a:solidFill>
            <a:ln xmlns:a="http://schemas.openxmlformats.org/drawingml/2006/main" w="9525">
              <a:solidFill>
                <a:srgbClr val="C4A7FF"/>
              </a:solidFill>
            </a:ln>
          </c:spPr>
          <c:marker>
            <c:symbol val="diamond"/>
            <c:size val="9"/>
            <c:spPr>
              <a:solidFill xmlns:a="http://schemas.openxmlformats.org/drawingml/2006/main">
                <a:srgbClr val="C4A7FF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-0.2</c:v>
                </c:pt>
                <c:pt idx="1">
                  <c:v>1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0.32</c:v>
                </c:pt>
                <c:pt idx="1">
                  <c:v>0.32</c:v>
                </c:pt>
                <c:pt idx="2">
                  <c:v>-0.28</c:v>
                </c:pt>
                <c:pt idx="3">
                  <c:v>0.92</c:v>
                </c:pt>
                <c:pt idx="4">
                  <c:v>0.32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2"/>
          <c:min val="-1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x₂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.3"/>
          <c:min val="-1.5"/>
        </c:scaling>
        <c:delete val="0"/>
        <c:axPos val="b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x₁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модель</c:v>
          </c:tx>
          <c:spPr>
            <a:ln xmlns:a="http://schemas.openxmlformats.org/drawingml/2006/main" w="38100">
              <a:solidFill>
                <a:srgbClr val="F9C74F"/>
              </a:solidFill>
              <a:prstDash val="solid"/>
            </a:ln>
          </c:spPr>
          <c:marker>
            <c:symbol val="none"/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-2</c:v>
                </c:pt>
                <c:pt idx="1">
                  <c:v>-1.5</c:v>
                </c:pt>
                <c:pt idx="2">
                  <c:v>-1</c:v>
                </c:pt>
                <c:pt idx="3">
                  <c:v>-0.5</c:v>
                </c:pt>
                <c:pt idx="4">
                  <c:v>0</c:v>
                </c:pt>
                <c:pt idx="5">
                  <c:v>0.5</c:v>
                </c:pt>
                <c:pt idx="6">
                  <c:v>1</c:v>
                </c:pt>
                <c:pt idx="7">
                  <c:v>1.5</c:v>
                </c:pt>
                <c:pt idx="8">
                  <c:v>2</c:v>
                </c:pt>
              </c:numCache>
            </c:numRef>
          </c:xVal>
          <c:yVal>
            <c:numRef>
              <c:f>'Chart Data'!$B$2:$B$10</c:f>
              <c:numCache>
                <c:formatCode>General</c:formatCode>
                <c:ptCount val="9"/>
                <c:pt idx="0">
                  <c:v>52</c:v>
                </c:pt>
                <c:pt idx="1">
                  <c:v>64</c:v>
                </c:pt>
                <c:pt idx="2">
                  <c:v>74</c:v>
                </c:pt>
                <c:pt idx="3">
                  <c:v>80</c:v>
                </c:pt>
                <c:pt idx="4">
                  <c:v>82</c:v>
                </c:pt>
                <c:pt idx="5">
                  <c:v>80</c:v>
                </c:pt>
                <c:pt idx="6">
                  <c:v>74</c:v>
                </c:pt>
                <c:pt idx="7">
                  <c:v>64</c:v>
                </c:pt>
                <c:pt idx="8">
                  <c:v>52</c:v>
                </c:pt>
              </c:numCache>
            </c:numRef>
          </c:yVal>
        </c:ser>
        <c:ser>
          <c:idx val="1"/>
          <c:order val="1"/>
          <c:tx>
            <c:v>область данных</c:v>
          </c:tx>
          <c:spPr>
            <a:ln xmlns:a="http://schemas.openxmlformats.org/drawingml/2006/main" w="66675">
              <a:solidFill>
                <a:srgbClr val="80ED9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80ED99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-1</c:v>
                </c:pt>
                <c:pt idx="1">
                  <c:v>-0.5</c:v>
                </c:pt>
                <c:pt idx="2">
                  <c:v>0</c:v>
                </c:pt>
                <c:pt idx="3">
                  <c:v>0.5</c:v>
                </c:pt>
                <c:pt idx="4">
                  <c:v>1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74</c:v>
                </c:pt>
                <c:pt idx="1">
                  <c:v>80</c:v>
                </c:pt>
                <c:pt idx="2">
                  <c:v>82</c:v>
                </c:pt>
                <c:pt idx="3">
                  <c:v>80</c:v>
                </c:pt>
                <c:pt idx="4">
                  <c:v>74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6"/>
          <c:min val="48"/>
        </c:scaling>
        <c:delete val="0"/>
        <c:axPos val="l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прогноз отклика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8"/>
      </c:valAx>
      <c:valAx>
        <c:axId val="48650112"/>
        <c:scaling>
          <c:orientation val="minMax"/>
          <c:max val="2.2"/>
          <c:min val="-2.2"/>
        </c:scaling>
        <c:delete val="0"/>
        <c:axPos val="b"/>
        <c:majorGridlines>
          <c:spPr>
            <a:ln xmlns:a="http://schemas.openxmlformats.org/drawingml/2006/main" w="9525">
              <a:solidFill>
                <a:srgbClr val="20354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A6B7C9"/>
                    </a:solidFill>
                    <a:latin typeface="Arial"/>
                    <a:ea typeface="Arial"/>
                    <a:cs typeface="Arial"/>
                  </a:rPr>
                  <a:t>кодированный фактор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A6B7C9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844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5"/>
      </c:valAx>
      <c:spPr>
        <a:solidFill xmlns:a="http://schemas.openxmlformats.org/drawingml/2006/main">
          <a:srgbClr val="0C1B2D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A6B7C9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C1B2D"/>
    </a:solidFill>
    <a:ln xmlns:a="http://schemas.openxmlformats.org/drawingml/2006/main" w="9525">
      <a:solidFill>
        <a:srgbClr val="28445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A15D3-ACCC-4253-A323-39CECF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8322F-3085-4F4E-A75E-69B26238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9297E-6443-4124-A36D-37955126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DOE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783E7-C965-4407-9B09-D7BD06D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8110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Планирование</a:t>
            </a:r>
          </a:p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эксперимента</a:t>
            </a:r>
          </a:p>
          <a:p xmlns:a="http://schemas.openxmlformats.org/drawingml/2006/main">
            <a:pPr algn="l">
              <a:defRPr sz="43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и оптимизация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D57F0-E1DA-4989-B7CF-E04835F0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От факторного скрининга до подтверждения оптимума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CF8C9-3B24-4BAB-9FB4-86484C45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051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006B5-5935-4E19-95B8-04095A3E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105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x → эксперимент → модель → решение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DD4EA-E164-4AFD-B1FA-7BD22FB7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Лекция · 30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144557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407BB-0C23-4CBF-A0BE-624F4856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B1E0F-513B-4304-9F0C-8056B558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E1522-8816-4C9E-88DD-BDD19A1C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ВВЕДЕНИЕ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FE3B3-76BD-41F6-A584-1221542E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КАРТА ЛЕКЦИИ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FF091-B685-4026-BB80-5134B264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Цикл планирования эксперимента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C2BF0-0998-4195-9E52-0FF074A8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9EA84-F588-4966-AF15-9B516B65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Надёжность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17CE5-EBA2-4063-ADFA-3CD88FE5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305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рандомизация, блоки, повторы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2A664-4DDE-425C-8F7D-B3CE43B7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4203E-8E8C-4C51-8C81-E98DE9AD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57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B48EE-7953-4CD3-9F0E-4D2F8C3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Скрининг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27ABC-B176-4432-8411-3D412B34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305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полные и дробные факторные планы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EDE72-9846-4239-98E1-9255AD7E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624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D60E6-2374-418D-8A5C-ED9F7549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FCEE3-5FFE-4C97-917B-13BDBE09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Локальная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659C3-FD64-4755-B91D-ED5E1B6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2305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поверхность отклика и CCD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EA3DE-B4F4-4B41-BAF5-932A861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CD767-0B93-4305-A530-57ED6746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4B6E4-1C24-4089-A38F-E3E850D3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0B7B2-37DF-4B2B-9EBE-95A26495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57550"/>
            <a:ext cx="2305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ограничения и несколько откликов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84396-27E1-433F-9B33-7741D97E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624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E3C8B-9CA7-4943-9069-3F170DE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90297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3DF7B-5BA2-4FBC-86A4-2E1B09CB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902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Каждая модель действует в области, которую покрывают экспериментальные точки</a:t>
            </a:r>
          </a:p>
        </p:txBody>
      </p:sp>
    </p:spTree>
    <p:extLst>
      <p:ext uri="{BB962C8B-B14F-4D97-AF65-F5344CB8AC3E}">
        <p14:creationId xmlns:p14="http://schemas.microsoft.com/office/powerpoint/2010/main" val="902156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CE457-6267-470C-81C0-C3886C78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96410-110E-494B-A6C3-C4AAC1B8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9546B-9EC0-4E69-8903-4CCE90A4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CDBD1-A840-42EE-96BD-0953ECA0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ТРИ ИСТОЧНИКА НАДЁЖНОСТИ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0FE4F-C67B-4D8E-883D-961F08E2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Рандомизация, блокирование и повторности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9CF6A-C112-4563-BDF6-0584860D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FB51F-B538-481D-ACBB-0761C1D9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Рандомизация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C731F-2CE5-4631-8A59-DC2787E1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Ослабляет связь эффекта с неизвестными временными и пространственными трендами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FFD50-E1C5-45E4-8C43-AA3FC0C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22C71-7AAE-4AEF-A900-FBB9DA76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BE807-D89B-4C10-95B3-BE5DD2EA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Блокирование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46EF3-DDD0-4DF0-BE4C-9290B02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Выносит известный источник неоднородности из остаточной ошибки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46E5B-6E5F-4F14-B6DF-F8341629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AED6F-E5F1-40B5-A90A-630B2AD7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D1B48-8AAC-4236-B197-B4C263D8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Повторности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E90B9-8BD0-48C3-8124-0026BE41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Дают оценку чистой ошибки и повышают точность оценок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6568E-2109-44D8-BEB5-5A9AE885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761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5277F-471A-4A84-B330-B603E42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5710C-6E2C-4B22-9E51-B6007BD3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6ABD9-793C-419B-A55D-E477B681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E3EAE-F29E-4823-A195-77F1AA39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ПОРЯДОК ОПЫТОВ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19C88-9BFD-4C45-96E5-67C6E730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Рандомизация защищает от тренда выполнения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d5c1216d7f4a0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BF180-9983-4924-A1B2-7BC3669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33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Фиксированный порядок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634B2-25CB-4AD2-8C7C-F210AFC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571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Эффект фактора может совпасть с прогревом оборудования или изменением сырья.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8D60D-49B2-498C-B149-558F1D4F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Случайный порядок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284C6-F901-4232-BE37-547EEEC7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148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Дрейф распределяется между комбинациями факторов и проявляется в остатках.</a:t>
            </a:r>
          </a:p>
        </p:txBody>
      </p:sp>
    </p:spTree>
    <p:extLst>
      <p:ext uri="{BB962C8B-B14F-4D97-AF65-F5344CB8AC3E}">
        <p14:creationId xmlns:p14="http://schemas.microsoft.com/office/powerpoint/2010/main" val="1756369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83102-7AE2-4266-B571-25917FD4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79DDF-C121-4773-8CEC-83FFAC09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DCF3F-A4FA-4B1C-9C6A-CE45F118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D4856-2FE5-47A7-B2F9-02040AD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ИЗВЕСТНАЯ НЕОДНОРОДНОСТЬ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E1486-B85B-42E0-A831-F4BC6B2B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Блокирование использует сравнения внутри однородных групп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C4729-FBE5-48DF-9A4B-0BF8C67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352550"/>
            <a:ext cx="89154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7067C-78F9-44FA-A6A5-70C41BF5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352550"/>
            <a:ext cx="8915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yᵢⱼ = μ + τᵢ + bⱼ + εᵢⱼ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B41B8-69E9-439C-B958-384B8531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5143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5D74E-B325-473D-9A92-D855D158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1435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904FF-3A35-42A8-A73D-0866603F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Кандидаты в блоки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16C54-8621-41B6-B100-F5357040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908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Правило анализа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0554A-F615-4B00-A9EC-D12FA8BA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4457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день или смена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партия сырья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оператор или участок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3E7C3-BB13-4184-81C6-B72C8D4B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457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каждое лечение присутствует в каждом блоке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порядок внутри блока случаен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сравнение лечения учитывает эффект блока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AF13E-EC84-4282-BA75-7C1C151A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38800"/>
            <a:ext cx="8839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3BCA5-008A-40FD-A49C-B439A619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38800"/>
            <a:ext cx="883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Блокирование уменьшает MSE только тогда, когда блок действительно объясняет вариацию</a:t>
            </a:r>
          </a:p>
        </p:txBody>
      </p:sp>
    </p:spTree>
    <p:extLst>
      <p:ext uri="{BB962C8B-B14F-4D97-AF65-F5344CB8AC3E}">
        <p14:creationId xmlns:p14="http://schemas.microsoft.com/office/powerpoint/2010/main" val="1208029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95900-5D81-4FCF-ACEB-E4C38DB0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FF63-6770-4E63-924E-8C22792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33C17-757B-476B-A437-CA612D86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FE81F-2FBD-4426-AD6D-F8B989F8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ПОВТОРНЫЙ ОПЫТ ИЛИ ПОВТОРНОЕ ИЗМЕРЕНИЕ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53C00-C91B-46C5-9536-589D4C5A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Повторности оценивают ошибку и повышают точность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6477000" cy="3848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2a4a2962e54bc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CA607-CEF0-4C76-8F52-772D963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76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Независимый повтор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80F1-EF45-40F9-A281-9ABD1306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241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Процесс запускают заново. Такой повтор отражает воспроизводимость эксперимента.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C59B9-E16D-4439-927C-626BC984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Технический дубль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972FE-1689-42C5-AE71-447A4858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24350"/>
            <a:ext cx="3333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Одну пробу измеряют несколько раз. Это оценивает измерительную ошибку, но не заменяет независимый повтор.</a:t>
            </a:r>
          </a:p>
        </p:txBody>
      </p:sp>
    </p:spTree>
    <p:extLst>
      <p:ext uri="{BB962C8B-B14F-4D97-AF65-F5344CB8AC3E}">
        <p14:creationId xmlns:p14="http://schemas.microsoft.com/office/powerpoint/2010/main" val="5277743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F664D-EFD1-4F9E-A75C-5295BAD4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72AAA-7781-4954-A217-2CE8112B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EA9D1-F709-42C1-AAFF-1C785F95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36365-6C1B-429F-AE3C-C71C7AA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РАБОЧАЯ ПОСЛЕДОВАТЕЛЬНОСТЬ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2E881-E933-49A7-80E7-0565EAC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План начинается с цели и области факторов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35260-2E2E-4B0D-8446-65A24C86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D9095-EB8B-4E99-BF3B-E623BA57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38AEA-1E58-4EF2-A192-24656686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сравнение, скрининг или оптимизация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18248-D8F5-4FEE-865F-017FB47B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621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7047C-94EE-4870-BC55-11A7CE58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Факторы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59D42-1B39-4DB6-8B5C-D311FB40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38500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диапазоны, ограничения, управляемость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AFC8D-1820-4BB1-BB80-A5B743BD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35781-3FF9-46F0-97A0-DBB6671C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План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76B1F-4AA5-4807-BC29-9688D11B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структура точек, блоки, повторы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90C00-4AEF-4143-AA28-E2CABC52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621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2501A-26CC-4167-BE7D-4A95108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64AC4-0C62-4173-9AC7-886B7DDD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362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модель, остатки, подтверждающие опыты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5FED8-9A3A-47F3-8776-11F86429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62500"/>
            <a:ext cx="64008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C1223-1854-4377-8B47-FB7AA3A3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62500"/>
            <a:ext cx="6400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xᵢ = (Xᵢ − X₀) / ΔX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09479-2A39-4716-A907-BA3C984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72150"/>
            <a:ext cx="735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Кодированные уровни упрощают сравнение эффектов и построение плана.</a:t>
            </a:r>
          </a:p>
        </p:txBody>
      </p:sp>
    </p:spTree>
    <p:extLst>
      <p:ext uri="{BB962C8B-B14F-4D97-AF65-F5344CB8AC3E}">
        <p14:creationId xmlns:p14="http://schemas.microsoft.com/office/powerpoint/2010/main" val="1367767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00C70-4924-4576-B432-CF4E3BFC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BF078-32EA-4ADE-85B9-A1ECEA96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FEEB5-BDF2-44C4-B7B0-C1BE51A2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949CF-582F-44EB-8C43-8C754474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133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4D84B-8BA0-4CF5-92B2-0921573E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Факторные планы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F8A73-FAD6-499D-AEA6-578DFFE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Полный перебор комбинаций и экономные дробные планы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C7A01-462F-4F34-B033-39FB98EC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77706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1165C-8165-466F-B805-75C548D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E5FEA-3BFF-40AF-AA75-8111DCBB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46583-B8AE-430F-8D20-9151976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ФАКТОРНЫЕ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65CDA-3F63-4DD1-B5E2-F9CE682B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ВСЕ КОМБИНАЦИИ ТРЁХ ФАКТОРОВ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C4392-F31A-43BA-8132-35F839CD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Полный факторный эксперимент 2³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78105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76313"/>
                <a:gridCol w="976313"/>
                <a:gridCol w="976313"/>
                <a:gridCol w="976313"/>
                <a:gridCol w="976313"/>
                <a:gridCol w="976313"/>
                <a:gridCol w="976313"/>
                <a:gridCol w="976313"/>
              </a:tblGrid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Опыт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AB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AC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BC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ABC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463550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6EDD3-4A96-4F1A-AA7F-1BA4DF4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Что оценивается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C4329-377D-46D2-8333-BF2835C2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171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3 главных эффекта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3 двухфакторных взаимодействия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1 трёхфакторное взаимодействие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95780-5A1D-4431-B71F-C78FCA7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11F75-3F1B-461E-AB29-70044288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Число опытов: 2ᵏ</a:t>
            </a:r>
          </a:p>
        </p:txBody>
      </p:sp>
    </p:spTree>
    <p:extLst>
      <p:ext uri="{BB962C8B-B14F-4D97-AF65-F5344CB8AC3E}">
        <p14:creationId xmlns:p14="http://schemas.microsoft.com/office/powerpoint/2010/main" val="1705869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AF18E-3A2B-4343-A859-CAB1019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2DACE-77BB-4ABC-910F-204CCE4A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43A92-2186-4F0D-A54F-47E2D7C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ФАКТОРНЫЕ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67512-AA5D-4920-B052-BEABF03B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НЕПАРАЛЛЕЛЬНЫЕ ЛИНИИ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FF681-45A3-4954-83D4-A4D53E9D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Взаимодействие меняет эффект одного фактора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62000" y="1466850"/>
          <a:ext xmlns:a="http://schemas.openxmlformats.org/drawingml/2006/main" cx="6762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0ec85a6cc34f7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69A62-ED6E-4E35-972C-C681A2BB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При B = −1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A8358-DB6F-4F75-B733-8ABE0F58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Переход A от −1 к +1 увеличивает отклик на 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2AEA5-7EA7-4DE3-8C7E-6E247846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При B = +1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857C7-8C54-45F7-A454-85606E9A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Тот же переход уменьшает отклик на 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209D0-1EFE-4710-8606-039DF833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3810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B2B74-1CD8-401C-AC04-F8C19BAF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Главный эффект A без AB описывает данные неполно</a:t>
            </a:r>
          </a:p>
        </p:txBody>
      </p:sp>
    </p:spTree>
    <p:extLst>
      <p:ext uri="{BB962C8B-B14F-4D97-AF65-F5344CB8AC3E}">
        <p14:creationId xmlns:p14="http://schemas.microsoft.com/office/powerpoint/2010/main" val="11932281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632C6-EE79-410D-916B-D8F7CA6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CD030-5E68-456E-8400-20C04447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0826D-A0A5-43EB-8DF1-0A474771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ФАКТОРНЫЕ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4A070-F0D1-4945-8106-88F87C94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ИЕРАРХИЯ ЭФФЕКТОВ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F5BD8-70D6-4314-8B84-141BE857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Модель факторного эксперимента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21472-918B-4A33-8CF7-61BF7AD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6299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6725-4233-495F-A18F-63D6A826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62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y = β₀ + β_A A + β_B B + β_C C + β_AB AB + β_AC AC + β_BC BC + β_ABC ABC + 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1247F-DF6C-4AEA-8A71-E0BE3262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5143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4EA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75F4F-8680-43E0-A10C-F2865772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5143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2C205-BF2A-44A4-94BC-727E0B43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Иерархический принцип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056BD-8165-45F6-99D3-FC3B661F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Проверка модели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30FC2-6B7C-43DB-BA12-A2015242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4457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если AB остаётся в модели, A и B тоже остаются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слабые главные эффекты не отменяют сильное взаимодействие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66321-53A7-4C43-B2E2-3859413A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457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остатки без структуры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оценка чистой ошибки из повторов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lack of fit отделён от случайной ошибки</a:t>
            </a:r>
          </a:p>
        </p:txBody>
      </p:sp>
    </p:spTree>
    <p:extLst>
      <p:ext uri="{BB962C8B-B14F-4D97-AF65-F5344CB8AC3E}">
        <p14:creationId xmlns:p14="http://schemas.microsoft.com/office/powerpoint/2010/main" val="16842704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DDA48-DDD6-45E7-8E65-C7127CC8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3786D-A01B-479A-8F75-7157C4EC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B8994-D368-44FE-A600-3DE513C8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ФАКТОРНЫЕ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238D0-3105-44DB-B5CF-B1A7B485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ГЕНЕРАТОР C = 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B95B5-6EB8-4060-9D6F-496FBFB9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Полуреплика 2³⁻¹ экономит опыты ценой смешения эффектов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0E2E5-C89B-4A81-8853-E2FC8BC3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52550"/>
            <a:ext cx="34290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C6464-729D-4397-8612-1CAAB03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525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3600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I = ABC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53EBA-3097-4F61-BA2C-E3BAAD5E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52550"/>
            <a:ext cx="49530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B178B-6B18-42E8-B930-782CA9D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5255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A ↔ BC     B ↔ AC     C ↔ 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44443-49F8-4DFC-B25F-C78AC186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Полный 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2D360-C3A9-42BD-9F87-6BC36298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8 опытов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B0B33-2F9E-4609-BE78-33BA5BD8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Полуреплика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A9B2B-D387-49A5-805D-1FB3F28B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4 опыта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09B48-ECCC-464F-93D5-A7689B26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Цена экономии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DCF75-B3A4-437B-9D36-FF01C2D8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2590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Эффекты в одной alias-группе нельзя разделить без дополнительных опытов.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B90F5-1FC2-4B16-8B94-7B81582C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38750"/>
            <a:ext cx="92583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E9149-AEA3-455C-913A-1BEAD24E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38750"/>
            <a:ext cx="925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Дробный план требует содержательного предположения о пренебрежимо малых взаимодействиях</a:t>
            </a:r>
          </a:p>
        </p:txBody>
      </p:sp>
    </p:spTree>
    <p:extLst>
      <p:ext uri="{BB962C8B-B14F-4D97-AF65-F5344CB8AC3E}">
        <p14:creationId xmlns:p14="http://schemas.microsoft.com/office/powerpoint/2010/main" val="18886219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E836C-75FE-4AD8-B3A4-057A71C5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64CBE-6B45-4F09-A5E1-C0AF7AC3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D9272-36ED-4B21-ABA6-B0E6B49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ФАКТОРНЫЕ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1A058-CD3E-4E97-8953-FA41F400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ДРОБНЫЕ ПЛАНЫ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C27FC-1846-4658-87CB-43EBD26F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Разрешение определяет допустимую интерпретацию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04850" y="1581150"/>
          <a:ext xmlns:a="http://schemas.openxmlformats.org/drawingml/2006/main" cx="107823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2695575"/>
                <a:gridCol w="2695575"/>
                <a:gridCol w="2695575"/>
              </a:tblGrid>
              <a:tr h="752475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Разрешение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Главные эффекты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Двухфакторные взаимодействия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Основное применение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752475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III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смешаны с 2FI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смешаны с главными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быстрый скрининг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752475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IV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не смешаны с 2FI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2FI смешаны друг с другом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скрининг с защитой главных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</a:tr>
              <a:tr h="752475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не смешаны с 2FI и 3FI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2FI разделимы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изучение взаимодействий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827C9-4049-41AA-95AB-B0F148B0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81600"/>
            <a:ext cx="9067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C8E64-3F4F-4C5F-BF90-52C29A4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81600"/>
            <a:ext cx="906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Для оптимизации обычно нужен план, который допускает переход к квадратичной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9939823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C21B3-8144-4857-B7E5-F368E0A6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D806E-0AFC-4B7F-BEF9-95CB019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AB48C-8522-4B84-ABB1-198D77A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ФАКТОРНЫЕ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818EC-BF11-499A-ABD9-80315686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ПЕРЕХОД К ПОВЕРХНОСТИ ОТКЛИКА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9F48E-2EAE-413C-81EC-041ABFE8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Центральные точки обнаруживают кривизну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81050" y="1428750"/>
          <a:ext xmlns:a="http://schemas.openxmlformats.org/drawingml/2006/main" cx="6953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6c6e8de047460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51110-6227-49BD-B82A-AB2CEF14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Повторы в центре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870BF-8B38-4125-A2EC-122CD437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266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оценивают чистую ошибку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проверяют кривизну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дают устойчивую базовую точку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153BA-D86E-45F5-89AA-6F82F1B6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4861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D52D4-AE38-4681-9CFD-D0740FF1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48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Значимая кривизна означает, что модель первого порядка недостаточна</a:t>
            </a:r>
          </a:p>
        </p:txBody>
      </p:sp>
    </p:spTree>
    <p:extLst>
      <p:ext uri="{BB962C8B-B14F-4D97-AF65-F5344CB8AC3E}">
        <p14:creationId xmlns:p14="http://schemas.microsoft.com/office/powerpoint/2010/main" val="12414510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17A0C-F665-4675-BE92-E061AEFA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88C63-E33E-4875-A373-4FD537A9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63544-AB1F-4378-8F92-6378D98F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ФАКТОРНЫЕ ПЛАНЫ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A54CD-4F17-4BAF-BC6F-BF5EBBCB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ITERTOOLS + STATSMODELS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F975E-4561-4EBC-9FE0-4D110662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полный факторный план и модель взаимодействий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170AA-01A8-40ED-9332-23605EE9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7239000" cy="4514850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itertools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product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pandas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pd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statsmodels.formula.api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smf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design = pd.DataFrame(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product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([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-1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], repeat=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3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columns=[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'A'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'B'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'C'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run_order = pd.concat([design, design], ignore_index=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True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run_order = run_order.sample(frac=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random_state=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42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run_order[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'y'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 = y_obs  </a:t>
            </a:r>
            <a:r>
              <a:rPr>
                <a:solidFill>
                  <a:srgbClr val="80ED99"/>
                </a:solidFill>
                <a:latin typeface="Menlo"/>
                <a:ea typeface="Menlo"/>
                <a:cs typeface="Menlo"/>
              </a:rPr>
              <a:t># результаты 16 опытов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model = smf.ols(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'y ~ A * B * C'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data=run_order).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fit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print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(model.summary())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08CAC-4C38-4D28-8677-B4E43003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Перед запуском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DB963-9491-44DF-9E32-6B475B6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381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перемешать строки плана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добавить столбец блока при необходимости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заранее определить повторы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A14AC-2D3B-4A48-8852-5D2D686D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02114-C2E3-428D-8744-8E1E3F7A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3181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Код строит матрицу плана. Физический эксперимент по-прежнему требует рандомизации</a:t>
            </a:r>
          </a:p>
        </p:txBody>
      </p:sp>
    </p:spTree>
    <p:extLst>
      <p:ext uri="{BB962C8B-B14F-4D97-AF65-F5344CB8AC3E}">
        <p14:creationId xmlns:p14="http://schemas.microsoft.com/office/powerpoint/2010/main" val="17518446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9EB37-DF4E-472D-8864-C9C089F3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3EC90-9F18-4951-A1BA-5BBBBA2C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C2319-AA9C-4645-9AD8-AA5A041C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270A4-F5CB-452A-8AB8-99AC9BC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133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3A202-216B-42D3-98BA-EF8F0E3F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Поверхности отклика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A7FF5-99DC-4E28-9F64-B4FD438B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Квадратичные модели и центрально-композиционные планы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13EA9-204C-48CD-A980-5A191B5D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809709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71E0A-708C-43B0-87DA-1705FEC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05071-C8EA-4738-A14A-6159808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107DB-8B2A-4197-85B8-E5361F80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ПОВЕРХНОСТИ ОТКЛИКА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7E57F-C225-4D92-BB5C-E55C4442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ВТОРОЙ ПОРЯДОК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76B3F-7974-4991-9C2E-6AB1A01B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Квадратичная модель описывает локальную кривизну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485E3-5144-40E7-AD28-74179AA3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71600"/>
            <a:ext cx="10134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BB425-D19A-464B-8656-1E54DC29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71600"/>
            <a:ext cx="10134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ŷ = β₀ + Σβᵢxᵢ + Σβᵢᵢxᵢ² + Σβᵢⱼxᵢxⱼ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9B663-E769-41A4-817B-58403D72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βᵢ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82B4A-81D3-4F5D-A152-86A57FC0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575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наклон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7FB39-1DBA-496D-AD8C-64CF4120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направление локального изменения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D4D3B-C4B3-4696-9A5C-B87D172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βᵢᵢ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FE87D-8CF2-4095-8859-851B9360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575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кривизна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6C7C9-2A5F-49E4-85A9-7D9A6660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наличие максимума, минимума или седла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D40E6-8119-41A3-A139-5AAB65B4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βᵢⱼ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D1528-1B0A-4031-9BD0-E6AF104A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взаимодействие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D84C5-8B85-4FF4-856E-1CDF9CC1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поворот контуров относительно осей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69F79-5B2F-44C7-BDAC-A24E18EF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10200"/>
            <a:ext cx="82677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664F57-A1C0-4249-9E9B-934284FD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10200"/>
            <a:ext cx="8267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Полином второго порядка служит локальным приближением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297519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E303B-C074-4663-8048-BEEF5AC2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FF271-3A7B-4C8F-B715-4C548004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E067F-563F-4755-A1A5-FC352BB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ПОВЕРХНОСТИ ОТКЛИКА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50E62-1A5C-446B-AD6F-E48721E5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ПРИМЕР ПОВЕРХНОСТИ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06D12-1F95-4C03-8597-38AF1C90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Контуры показывают направление улучшения и положение стационарной точки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23900" y="1428750"/>
          <a:ext xmlns:a="http://schemas.openxmlformats.org/drawingml/2006/main" cx="733425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16781"/>
                <a:gridCol w="916781"/>
                <a:gridCol w="916781"/>
                <a:gridCol w="916781"/>
                <a:gridCol w="916781"/>
                <a:gridCol w="916781"/>
                <a:gridCol w="916781"/>
                <a:gridCol w="916781"/>
              </a:tblGrid>
              <a:tr h="540544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x₂\x₁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-1.5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-0.5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A6B7C9"/>
                          </a:solidFill>
                          <a:latin typeface="Arial"/>
                          <a:ea typeface="Arial"/>
                          <a:cs typeface="Arial"/>
                        </a:rPr>
                        <a:t>1.5</a:t>
                      </a:r>
                    </a:p>
                  </a:txBody>
                  <a:tcPr marL="91440" marR="91440" marT="45720" marB="45720" anchor="ctr">
                    <a:solidFill>
                      <a:srgbClr val="1A3149"/>
                    </a:solidFill>
                  </a:tcPr>
                </a:tc>
              </a:tr>
              <a:tr h="540544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1.5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51.5</a:t>
                      </a:r>
                    </a:p>
                  </a:txBody>
                  <a:tcPr marL="91440" marR="91440" marT="45720" marB="45720" anchor="ctr">
                    <a:solidFill>
                      <a:srgbClr val="15496E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61.8</a:t>
                      </a:r>
                    </a:p>
                  </a:txBody>
                  <a:tcPr marL="91440" marR="91440" marT="45720" marB="45720" anchor="ctr">
                    <a:solidFill>
                      <a:srgbClr val="5F725F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69.0</a:t>
                      </a:r>
                    </a:p>
                  </a:txBody>
                  <a:tcPr marL="91440" marR="91440" marT="45720" marB="45720" anchor="ctr">
                    <a:solidFill>
                      <a:srgbClr val="969054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73.3</a:t>
                      </a:r>
                    </a:p>
                  </a:txBody>
                  <a:tcPr marL="91440" marR="91440" marT="45720" marB="45720" anchor="ctr">
                    <a:solidFill>
                      <a:srgbClr val="B7A24D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74.5</a:t>
                      </a:r>
                    </a:p>
                  </a:txBody>
                  <a:tcPr marL="91440" marR="91440" marT="45720" marB="45720" anchor="ctr">
                    <a:solidFill>
                      <a:srgbClr val="C0A84C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72.8</a:t>
                      </a:r>
                    </a:p>
                  </a:txBody>
                  <a:tcPr marL="91440" marR="91440" marT="45720" marB="45720" anchor="ctr">
                    <a:solidFill>
                      <a:srgbClr val="B3A04E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68.0</a:t>
                      </a:r>
                    </a:p>
                  </a:txBody>
                  <a:tcPr marL="91440" marR="91440" marT="45720" marB="45720" anchor="ctr">
                    <a:solidFill>
                      <a:srgbClr val="8F8C55"/>
                    </a:solidFill>
                  </a:tcPr>
                </a:tc>
              </a:tr>
              <a:tr h="540544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57.0</a:t>
                      </a:r>
                    </a:p>
                  </a:txBody>
                  <a:tcPr marL="91440" marR="91440" marT="45720" marB="45720" anchor="ctr">
                    <a:solidFill>
                      <a:srgbClr val="3B5E66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67.0</a:t>
                      </a:r>
                    </a:p>
                  </a:txBody>
                  <a:tcPr marL="91440" marR="91440" marT="45720" marB="45720" anchor="ctr">
                    <a:solidFill>
                      <a:srgbClr val="878857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74.0</a:t>
                      </a:r>
                    </a:p>
                  </a:txBody>
                  <a:tcPr marL="91440" marR="91440" marT="45720" marB="45720" anchor="ctr">
                    <a:solidFill>
                      <a:srgbClr val="BCA54C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78.0</a:t>
                      </a:r>
                    </a:p>
                  </a:txBody>
                  <a:tcPr marL="91440" marR="91440" marT="45720" marB="45720" anchor="ctr">
                    <a:solidFill>
                      <a:srgbClr val="DBB646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79.0</a:t>
                      </a:r>
                    </a:p>
                  </a:txBody>
                  <a:tcPr marL="91440" marR="91440" marT="45720" marB="45720" anchor="ctr">
                    <a:solidFill>
                      <a:srgbClr val="E2BA45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77.0</a:t>
                      </a:r>
                    </a:p>
                  </a:txBody>
                  <a:tcPr marL="91440" marR="91440" marT="45720" marB="45720" anchor="ctr">
                    <a:solidFill>
                      <a:srgbClr val="D3B248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72.0</a:t>
                      </a:r>
                    </a:p>
                  </a:txBody>
                  <a:tcPr marL="91440" marR="91440" marT="45720" marB="45720" anchor="ctr">
                    <a:solidFill>
                      <a:srgbClr val="AD9D4F"/>
                    </a:solidFill>
                  </a:tcPr>
                </a:tc>
              </a:tr>
              <a:tr h="540544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60.0</a:t>
                      </a:r>
                    </a:p>
                  </a:txBody>
                  <a:tcPr marL="91440" marR="91440" marT="45720" marB="45720" anchor="ctr">
                    <a:solidFill>
                      <a:srgbClr val="526B62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69.8</a:t>
                      </a:r>
                    </a:p>
                  </a:txBody>
                  <a:tcPr marL="91440" marR="91440" marT="45720" marB="45720" anchor="ctr">
                    <a:solidFill>
                      <a:srgbClr val="9C9453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76.5</a:t>
                      </a:r>
                    </a:p>
                  </a:txBody>
                  <a:tcPr marL="91440" marR="91440" marT="45720" marB="45720" anchor="ctr">
                    <a:solidFill>
                      <a:srgbClr val="CFB048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80.3</a:t>
                      </a:r>
                    </a:p>
                  </a:txBody>
                  <a:tcPr marL="91440" marR="91440" marT="45720" marB="45720" anchor="ctr">
                    <a:solidFill>
                      <a:srgbClr val="ECC043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81.0</a:t>
                      </a:r>
                    </a:p>
                  </a:txBody>
                  <a:tcPr marL="91440" marR="91440" marT="45720" marB="45720" anchor="ctr">
                    <a:solidFill>
                      <a:srgbClr val="F1C342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78.8</a:t>
                      </a:r>
                    </a:p>
                  </a:txBody>
                  <a:tcPr marL="91440" marR="91440" marT="45720" marB="45720" anchor="ctr">
                    <a:solidFill>
                      <a:srgbClr val="E1BA45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73.5</a:t>
                      </a:r>
                    </a:p>
                  </a:txBody>
                  <a:tcPr marL="91440" marR="91440" marT="45720" marB="45720" anchor="ctr">
                    <a:solidFill>
                      <a:srgbClr val="B8A34D"/>
                    </a:solidFill>
                  </a:tcPr>
                </a:tc>
              </a:tr>
              <a:tr h="540544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60.5</a:t>
                      </a:r>
                    </a:p>
                  </a:txBody>
                  <a:tcPr marL="91440" marR="91440" marT="45720" marB="45720" anchor="ctr">
                    <a:solidFill>
                      <a:srgbClr val="566D61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70.0</a:t>
                      </a:r>
                    </a:p>
                  </a:txBody>
                  <a:tcPr marL="91440" marR="91440" marT="45720" marB="45720" anchor="ctr">
                    <a:solidFill>
                      <a:srgbClr val="9E9552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76.5</a:t>
                      </a:r>
                    </a:p>
                  </a:txBody>
                  <a:tcPr marL="91440" marR="91440" marT="45720" marB="45720" anchor="ctr">
                    <a:solidFill>
                      <a:srgbClr val="CFB048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80.0</a:t>
                      </a:r>
                    </a:p>
                  </a:txBody>
                  <a:tcPr marL="91440" marR="91440" marT="45720" marB="45720" anchor="ctr">
                    <a:solidFill>
                      <a:srgbClr val="EABF43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80.5</a:t>
                      </a:r>
                    </a:p>
                  </a:txBody>
                  <a:tcPr marL="91440" marR="91440" marT="45720" marB="45720" anchor="ctr">
                    <a:solidFill>
                      <a:srgbClr val="EEC142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78.0</a:t>
                      </a:r>
                    </a:p>
                  </a:txBody>
                  <a:tcPr marL="91440" marR="91440" marT="45720" marB="45720" anchor="ctr">
                    <a:solidFill>
                      <a:srgbClr val="DBB646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72.5</a:t>
                      </a:r>
                    </a:p>
                  </a:txBody>
                  <a:tcPr marL="91440" marR="91440" marT="45720" marB="45720" anchor="ctr">
                    <a:solidFill>
                      <a:srgbClr val="B19F4F"/>
                    </a:solidFill>
                  </a:tcPr>
                </a:tc>
              </a:tr>
              <a:tr h="540544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-0.5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58.5</a:t>
                      </a:r>
                    </a:p>
                  </a:txBody>
                  <a:tcPr marL="91440" marR="91440" marT="45720" marB="45720" anchor="ctr">
                    <a:solidFill>
                      <a:srgbClr val="466464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67.8</a:t>
                      </a:r>
                    </a:p>
                  </a:txBody>
                  <a:tcPr marL="91440" marR="91440" marT="45720" marB="45720" anchor="ctr">
                    <a:solidFill>
                      <a:srgbClr val="8D8B56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74.0</a:t>
                      </a:r>
                    </a:p>
                  </a:txBody>
                  <a:tcPr marL="91440" marR="91440" marT="45720" marB="45720" anchor="ctr">
                    <a:solidFill>
                      <a:srgbClr val="BCA54C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77.3</a:t>
                      </a:r>
                    </a:p>
                  </a:txBody>
                  <a:tcPr marL="91440" marR="91440" marT="45720" marB="45720" anchor="ctr">
                    <a:solidFill>
                      <a:srgbClr val="D5B347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77.5</a:t>
                      </a:r>
                    </a:p>
                  </a:txBody>
                  <a:tcPr marL="91440" marR="91440" marT="45720" marB="45720" anchor="ctr">
                    <a:solidFill>
                      <a:srgbClr val="D7B447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74.8</a:t>
                      </a:r>
                    </a:p>
                  </a:txBody>
                  <a:tcPr marL="91440" marR="91440" marT="45720" marB="45720" anchor="ctr">
                    <a:solidFill>
                      <a:srgbClr val="C2A94B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69.0</a:t>
                      </a:r>
                    </a:p>
                  </a:txBody>
                  <a:tcPr marL="91440" marR="91440" marT="45720" marB="45720" anchor="ctr">
                    <a:solidFill>
                      <a:srgbClr val="969054"/>
                    </a:solidFill>
                  </a:tcPr>
                </a:tc>
              </a:tr>
              <a:tr h="540544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0C1B2D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54.0</a:t>
                      </a:r>
                    </a:p>
                  </a:txBody>
                  <a:tcPr marL="91440" marR="91440" marT="45720" marB="45720" anchor="ctr">
                    <a:solidFill>
                      <a:srgbClr val="24516B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63.0</a:t>
                      </a:r>
                    </a:p>
                  </a:txBody>
                  <a:tcPr marL="91440" marR="91440" marT="45720" marB="45720" anchor="ctr">
                    <a:solidFill>
                      <a:srgbClr val="69775D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69.0</a:t>
                      </a:r>
                    </a:p>
                  </a:txBody>
                  <a:tcPr marL="91440" marR="91440" marT="45720" marB="45720" anchor="ctr">
                    <a:solidFill>
                      <a:srgbClr val="969054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72.0</a:t>
                      </a:r>
                    </a:p>
                  </a:txBody>
                  <a:tcPr marL="91440" marR="91440" marT="45720" marB="45720" anchor="ctr">
                    <a:solidFill>
                      <a:srgbClr val="AD9D4F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72.0</a:t>
                      </a:r>
                    </a:p>
                  </a:txBody>
                  <a:tcPr marL="91440" marR="91440" marT="45720" marB="45720" anchor="ctr">
                    <a:solidFill>
                      <a:srgbClr val="AD9D4F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7111F"/>
                          </a:solidFill>
                          <a:latin typeface="Arial"/>
                          <a:ea typeface="Arial"/>
                          <a:cs typeface="Arial"/>
                        </a:rPr>
                        <a:t>69.0</a:t>
                      </a:r>
                    </a:p>
                  </a:txBody>
                  <a:tcPr marL="91440" marR="91440" marT="45720" marB="45720" anchor="ctr">
                    <a:solidFill>
                      <a:srgbClr val="969054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63.0</a:t>
                      </a:r>
                    </a:p>
                  </a:txBody>
                  <a:tcPr marL="91440" marR="91440" marT="45720" marB="45720" anchor="ctr">
                    <a:solidFill>
                      <a:srgbClr val="69775D"/>
                    </a:solidFill>
                  </a:tcPr>
                </a:tc>
              </a:tr>
              <a:tr h="540544">
                <a:tc>
                  <a:txBody>
                    <a:bodyPr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-1.5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47.0</a:t>
                      </a:r>
                    </a:p>
                  </a:txBody>
                  <a:tcPr marL="91440" marR="91440" marT="45720" marB="45720" anchor="ctr">
                    <a:solidFill>
                      <a:srgbClr val="15496E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55.8</a:t>
                      </a:r>
                    </a:p>
                  </a:txBody>
                  <a:tcPr marL="91440" marR="91440" marT="45720" marB="45720" anchor="ctr">
                    <a:solidFill>
                      <a:srgbClr val="325968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61.5</a:t>
                      </a:r>
                    </a:p>
                  </a:txBody>
                  <a:tcPr marL="91440" marR="91440" marT="45720" marB="45720" anchor="ctr">
                    <a:solidFill>
                      <a:srgbClr val="5D715F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64.3</a:t>
                      </a:r>
                    </a:p>
                  </a:txBody>
                  <a:tcPr marL="91440" marR="91440" marT="45720" marB="45720" anchor="ctr">
                    <a:solidFill>
                      <a:srgbClr val="727D5B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64.0</a:t>
                      </a:r>
                    </a:p>
                  </a:txBody>
                  <a:tcPr marL="91440" marR="91440" marT="45720" marB="45720" anchor="ctr">
                    <a:solidFill>
                      <a:srgbClr val="707B5C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60.8</a:t>
                      </a:r>
                    </a:p>
                  </a:txBody>
                  <a:tcPr marL="91440" marR="91440" marT="45720" marB="45720" anchor="ctr">
                    <a:solidFill>
                      <a:srgbClr val="586E61"/>
                    </a:solidFill>
                  </a:tcPr>
                </a:tc>
                <a:tc>
                  <a:txBody>
                    <a:bodyPr lIns="47625" tIns="38100" rIns="47625" bIns="38100">
                      <a:no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F4F7FB"/>
                          </a:solidFill>
                          <a:latin typeface="Arial"/>
                          <a:ea typeface="Arial"/>
                          <a:cs typeface="Arial"/>
                        </a:rPr>
                        <a:t>54.5</a:t>
                      </a:r>
                    </a:p>
                  </a:txBody>
                  <a:tcPr marL="91440" marR="91440" marT="45720" marB="45720" anchor="ctr">
                    <a:solidFill>
                      <a:srgbClr val="28546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76601-C44E-45C2-B7BA-C895779D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Стационарная точка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B41CD-DFF2-417C-A721-82B39F80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3431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93B12-A54D-4EC1-A987-DD9EEEE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343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x₁* = 0,36</a:t>
            </a:r>
          </a:p>
          <a:p xmlns:a="http://schemas.openxmlformats.org/drawingml/2006/main">
            <a:pPr algn="ctr">
              <a:defRPr sz="2325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x₂* = 0,34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89031-8527-41DF-BCEF-64C10FC9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Прогноз максимума</a:t>
            </a:r>
          </a:p>
          <a:p xmlns:a="http://schemas.openxmlformats.org/drawingml/2006/main">
            <a:pPr algn="ctr">
              <a:defRPr sz="18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ŷ ≈ 81,23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15F5E-A263-414D-A93F-88AF819B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29146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6928A-10DF-440D-8978-DD98A474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Подтверждающий опыт нужен даже для внутренней точки</a:t>
            </a:r>
          </a:p>
        </p:txBody>
      </p:sp>
    </p:spTree>
    <p:extLst>
      <p:ext uri="{BB962C8B-B14F-4D97-AF65-F5344CB8AC3E}">
        <p14:creationId xmlns:p14="http://schemas.microsoft.com/office/powerpoint/2010/main" val="17884422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D2D58-0210-4F29-B7D0-1E4F9FF7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AC65D-3005-4902-A4F5-BD136D64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B17CE-50BF-470A-BDE9-12BA3B33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ПОВЕРХНОСТИ ОТКЛИКА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6B067-470F-4DA3-842B-305BBA26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ФАКТОРНЫЕ, ЗВЁЗДНЫЕ И ЦЕНТРАЛЬНЫЕ ТОЧКИ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386F0-31A0-4EA4-B4B5-0C705614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Центрально-композиционный план добавляет точки для оценки кривизны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68580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389040f0524b8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F60B1-39F7-427B-A52C-06A58F4D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573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Состав CCD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6A5A6-5AF7-42EB-936B-5644133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705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факторная часть оценивает линейные эффекты и взаимодействия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звёздные точки оценивают квадратичные члены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центральные повторы дают чистую ошибку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22D15-84D3-463D-A0A9-3EF905AB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429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98CC5-BA22-47BC-9E9A-F374150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Для ротатабельного полного CCD: α = (2ᵏ)¹⁄⁴</a:t>
            </a:r>
          </a:p>
        </p:txBody>
      </p:sp>
    </p:spTree>
    <p:extLst>
      <p:ext uri="{BB962C8B-B14F-4D97-AF65-F5344CB8AC3E}">
        <p14:creationId xmlns:p14="http://schemas.microsoft.com/office/powerpoint/2010/main" val="6534967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DFCB7-44FF-49E3-BA28-7683C4F0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61EB2-9FC2-41C6-93F5-58665C77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92819-B603-4639-8E7C-29529669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ПОВЕРХНОСТИ ОТКЛИКА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649E6-8331-45CE-A110-A9169C30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CCC, CCI И CCF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1A0D0-063D-4732-8BD4-13653D3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Вариант CCD выбирают по допустимой области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52450" y="1600200"/>
          <a:ext xmlns:a="http://schemas.openxmlformats.org/drawingml/2006/main" cx="3238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ed6d575866402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26216-D2A7-4FB6-888E-ADCC6FF8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CCC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31FB5-A436-42F5-A5DE-EC4802BF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звёздные точки за кубом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229100" y="1600200"/>
          <a:ext xmlns:a="http://schemas.openxmlformats.org/drawingml/2006/main" cx="3238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8fda45bb71490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463CF-8EDD-469D-B2FC-4365228A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05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CCI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C9E9E-0846-4867-A545-3EF362AB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197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факторная часть сжата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905750" y="1600200"/>
          <a:ext xmlns:a="http://schemas.openxmlformats.org/drawingml/2006/main" cx="3238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51bc60f658470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C2A40-A88F-4083-8C8B-1D418BD9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CCF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82AB8-51D6-4CBB-BA8A-6D9D5C76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звёздные точки на гранях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639A7-D098-4B81-90E4-DD49B280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05500"/>
            <a:ext cx="944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CCC покрывает больше пространства. CCI и CCF применяют, когда выход за исходные границы невозможен.</a:t>
            </a:r>
          </a:p>
        </p:txBody>
      </p:sp>
    </p:spTree>
    <p:extLst>
      <p:ext uri="{BB962C8B-B14F-4D97-AF65-F5344CB8AC3E}">
        <p14:creationId xmlns:p14="http://schemas.microsoft.com/office/powerpoint/2010/main" val="15015872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58798-24C1-4E82-A9F8-80914C19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9843A-15EA-4712-9033-622FDC1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77E76-66D4-4BB6-952B-D9D50FBF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ПОВЕРХНОСТИ ОТКЛИКА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EDD42-41A0-4AF5-AEA6-AFA825DA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STATSMODELS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D3004-2132-4FE3-944C-5C5E390B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квадратичная модель и прогноз на сетке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678BA-B983-49DD-935B-3406791C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76200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statsmodels.formula.api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smf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model = smf.ols(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'y ~ x1 + x2 + I(x1**2) + I(x2**2) + x1:x2'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data=df,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fit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()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grid[</a:t>
            </a:r>
            <a:r>
              <a:rPr>
                <a:solidFill>
                  <a:srgbClr val="FF7B7B"/>
                </a:solidFill>
                <a:latin typeface="Menlo"/>
                <a:ea typeface="Menlo"/>
                <a:cs typeface="Menlo"/>
              </a:rPr>
              <a:t>'y_hat'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] = model.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predict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(grid)</a:t>
            </a:r>
          </a:p>
          <a:p xmlns:a="http://schemas.openxmlformats.org/drawingml/2006/main">
            <a:pPr>
              <a:defRPr sz="150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prediction = model.get_prediction(grid).summary_frame()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B9CC0-FD95-43C1-9E98-87B5714A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52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Что 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9EC8C-ED1C-4B58-9E78-D9CFBA6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247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остатки и lack of fit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ширину интервала прогноза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положение точки относительно области плана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C6B44-5CAE-410A-AD57-C56048F0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9718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374B1-C04F-48B1-B312-ABE291F6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Оптимизатор должен получать прогноз модели, а не сырые коэффициенты</a:t>
            </a:r>
          </a:p>
        </p:txBody>
      </p:sp>
    </p:spTree>
    <p:extLst>
      <p:ext uri="{BB962C8B-B14F-4D97-AF65-F5344CB8AC3E}">
        <p14:creationId xmlns:p14="http://schemas.microsoft.com/office/powerpoint/2010/main" val="5074692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362F6-A4AC-406B-90A2-B4AF0044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0F166-9DA4-4CB2-8226-8C2CB576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31C9B-044A-42BF-8E24-2699AF02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РАЗДЕЛ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27909-CE1E-4633-8E02-E3992707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2133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BC37B-51A2-404F-82DC-27AA0EB5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Специальные планы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64050-678E-49FF-9918-6B3E53B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Смеси, ограничения и алгоритмический выбор точек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B4C45-F7FE-458B-ABD4-7C5A3D2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14800"/>
            <a:ext cx="590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015808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65DB7-A84A-422B-BC40-0EC3BFC4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2A0D9-DE95-43B6-8C77-F241AFAC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3288F-9E4A-44E8-9F64-158FB4C1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ПЛАНЫ ДЛЯ СМЕСЕЙ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01FB8-F1D4-4FBC-A0D7-FA7B905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ТРЕУГОЛЬНАЯ ОБЛАСТЬ ДЛЯ ТРЁХ КОМПОНЕНТОВ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A43AA-2FED-4A7E-8CAA-31C972AF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 смеси компоненты связаны условием суммы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1390650"/>
          <a:ext xmlns:a="http://schemas.openxmlformats.org/drawingml/2006/main" cx="63817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24630b003f401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0EE06-1184-4FBC-B7CF-11F3F2D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33337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FD858-98D7-4CEF-B49B-39CAE9B6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x₁ + x₂ + x₃ = 1</a:t>
            </a:r>
          </a:p>
          <a:p xmlns:a="http://schemas.openxmlformats.org/drawingml/2006/main">
            <a:pPr algn="ctr">
              <a:defRPr sz="2550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0 ≤ xᵢ ≤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12D44-CF0E-4022-A705-055F9009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36385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23BD1-CEAE-4EBF-9811-337E1250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3638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E(y) = Σβᵢxᵢ + Σβᵢⱼxᵢxⱼ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E434D-7ED7-4411-9B9F-B6C7F1D9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24400"/>
            <a:ext cx="320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В обычной смеси свободный интерсепт не оценивается отдельно, потому что сумма долей постоянна.</a:t>
            </a:r>
          </a:p>
        </p:txBody>
      </p:sp>
    </p:spTree>
    <p:extLst>
      <p:ext uri="{BB962C8B-B14F-4D97-AF65-F5344CB8AC3E}">
        <p14:creationId xmlns:p14="http://schemas.microsoft.com/office/powerpoint/2010/main" val="20820409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8113D-EE50-4986-B23C-59EEAC9C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82772-080A-4C9C-96F0-335F6463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6431E-BA8B-4124-9084-25EFF922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ПЛАНЫ ДЛЯ СМЕСЕЙ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927AF-3ABC-4301-BF64-438AF8F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ВЫБОР ТОЧЕК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96C47-086C-4428-BF24-4F7380D5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Simplex-centroid и constrained mixture покрывают разные области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485900"/>
          <a:ext xmlns:a="http://schemas.openxmlformats.org/drawingml/2006/main" cx="5429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8b634d709a4dc0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381750" y="1485900"/>
          <a:ext xmlns:a="http://schemas.openxmlformats.org/drawingml/2006/main" cx="5143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cac82ebd58485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6907C-2714-42D2-B062-DE6519CB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Simplex-centroid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7061A-42E9-4734-B1AC-A30F351B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Ограниченная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13595240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DDC9F-B934-40A9-9EDC-511DB003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8532A-9905-45F7-B37C-A70B94E0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928D5-8CE2-4E3A-BAA9-0424EA2C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ОГРАНИЧЕННЫЕ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D4E23-CFCB-4465-B342-430573B7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НЕДОПУСТИМЫЕ КОМБИНАЦИИ ИСКЛЮЧАЮТСЯ ДО ОПТИМИЗАЦИИ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3C333-75AD-48FC-8A4D-E0DA7B4D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Ограничения формируют фактическую область эксперимента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26B5C-28C7-4BE7-9398-23562F95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1435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7E10A-7F00-4B3C-A21E-8FCEC1A7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66850"/>
            <a:ext cx="51435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E13F2-7376-4139-90F5-74C3EECC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Типичные ограничения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D53F8-E7C3-439C-A73E-840532C4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335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Последствия для плана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5B35C-3BA7-4065-836F-3063175A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4457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нижние и верхние границы факторов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сумма ресурсов или долей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безопасность и технологическая совместимость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дискретные настройки оборудования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A4A84-D0D1-43E6-96C8-1697801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4457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классическая ортогональность может исчезнуть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часть эффектов оценивается коррелированно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нужен явный candidate set</a:t>
            </a:r>
          </a:p>
          <a:p xmlns:a="http://schemas.openxmlformats.org/drawingml/2006/main">
            <a:pPr marL="279400" indent="-139700">
              <a:spcAft>
                <a:spcPts val="1300"/>
              </a:spcAft>
              <a:buChar char="•"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проверяется точность прогноза во всей области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8564D-60EA-474E-A2C4-EC8012C6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62600"/>
            <a:ext cx="76581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9C7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18A27-CDF2-4175-934F-E0227250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62600"/>
            <a:ext cx="765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Оптимум модели имеет смысл только внутри допустимой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19975210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A866F-8840-451C-A371-9F9CB5FF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B5DE2-3CD9-4BE1-BFBB-32017B1C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07077-7F1A-4373-80FE-DCFBF7E9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ОПТИМАЛЬНЫЕ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58DEA-AF41-4549-A48E-688AE56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ПРИКЛАДНАЯ ЛОГИКА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AC609-329F-44BE-8B64-38205495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D-оптимальный план выбирает информативное подмножество кандидатов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64770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447b267afc4db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1ABAF-E642-417E-8D11-75E63346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0200"/>
            <a:ext cx="3143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4D269-FA45-49DC-B861-6128A068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020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3000" b="0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max det(XᵀX)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65276-A2EA-4849-8F7D-FC238EC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2194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сначала задают модель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далее формируют допустимый набор кандидатов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алгоритм выбирает заданное число опытов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результат зависит от модели и candidate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3A91F-3626-4E92-BBA3-F5784C7B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57800"/>
            <a:ext cx="37909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80ED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9E9A6-4BD3-4B0F-83E8-09FD9E6B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57800"/>
            <a:ext cx="3790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D-оптимальность уменьшает обобщённую дисперсию оценок коэффициентов</a:t>
            </a:r>
          </a:p>
        </p:txBody>
      </p:sp>
    </p:spTree>
    <p:extLst>
      <p:ext uri="{BB962C8B-B14F-4D97-AF65-F5344CB8AC3E}">
        <p14:creationId xmlns:p14="http://schemas.microsoft.com/office/powerpoint/2010/main" val="486121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D8F04-35CE-40BF-9C5E-E8B52874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5F349-BA60-412A-9E0E-9084109E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0E459-BB5F-400E-A974-E7CB528A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МНОГОКРИТЕРИАЛЬНАЯ ОПТИМИЗАЦИЯ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5A715-AD96-4CF8-906B-13539D6E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ЖЕЛАТЕЛЬНОСТЬ И ГРАНИЦА ПАРЕТО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3709A-7443-4C26-A3C5-CF9B1EC6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Несколько откликов создают компромисс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6572250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f14a278a7e4ad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A8416-2AB1-483C-AD76-E4D9565E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62100"/>
            <a:ext cx="37147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F6AF0-CFA0-4BBD-B8AA-718C8D3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621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D = (d₁ᵂ¹ · d₂ᵂ² · … · dₘᵂᵐ)¹⁄Σʷ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ED563-04A2-49FD-AD12-7282318E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Желательность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33525-1DEA-4387-AA96-5042AE8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385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Каждый отклик переводится в шкалу 0…1. Геометрическое среднее обнуляется, если один критерий неприемлем.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E5160-105B-49B2-BBA0-0EB829CD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30861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0DBB3-0CFB-4242-B65F-D01DB92E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Веса и пороги задаются до поиска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832660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A591E-CE49-4FA4-A93D-7D679CE1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0AA56-489E-4BE7-A1F5-76F1CE13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F1DE0-8186-4B7C-A80B-1D62DB83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ОПТИМИЗАЦИЯ ·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6D6B5-558A-4F89-8F17-2A00EE32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SCIPY.OPTIMIZE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D72C1-4B9C-4758-BB04-0D5052E5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Python: оптимизация желательности в границах плана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D77F9-5F9B-4013-A078-DD407340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8096250" cy="5010150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28445F"/>
            </a:solidFill>
            <a:prstDash val="solid"/>
          </a:ln>
        </p:spPr>
        <p:txBody>
          <a:bodyPr xmlns:a="http://schemas.openxmlformats.org/drawingml/2006/main" wrap="none" lIns="190500" tIns="171450" rIns="190500" bIns="13335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numpy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as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np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from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scipy.optimize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import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differential_evolution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def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desirability(x):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y1 = model_yield.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predict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(x)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y2 = model_energy.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predict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(x)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d1 = np.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clip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((y1 -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75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 / 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85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-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75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d2 = np.</a:t>
            </a:r>
            <a:r>
              <a:rPr>
                <a:solidFill>
                  <a:srgbClr val="4EA8DE"/>
                </a:solidFill>
                <a:latin typeface="Menlo"/>
                <a:ea typeface="Menlo"/>
                <a:cs typeface="Menlo"/>
              </a:rPr>
              <a:t>clip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((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30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- y2) / 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30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-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15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0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return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np.sqrt(d1 * d2)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result = differential_evolution(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</a:t>
            </a:r>
            <a:r>
              <a:rPr>
                <a:solidFill>
                  <a:srgbClr val="C4A7FF"/>
                </a:solidFill>
                <a:latin typeface="Menlo"/>
                <a:ea typeface="Menlo"/>
                <a:cs typeface="Menlo"/>
              </a:rPr>
              <a:t>lambda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x: -desirability(x),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bounds=[(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-1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), (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-1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 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1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)],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    rng=</a:t>
            </a:r>
            <a:r>
              <a:rPr>
                <a:solidFill>
                  <a:srgbClr val="F9C74F"/>
                </a:solidFill>
                <a:latin typeface="Menlo"/>
                <a:ea typeface="Menlo"/>
                <a:cs typeface="Menlo"/>
              </a:rPr>
              <a:t>42</a:t>
            </a: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,</a:t>
            </a:r>
          </a:p>
          <a:p xmlns:a="http://schemas.openxmlformats.org/drawingml/2006/main">
            <a:pPr>
              <a:defRPr sz="1350">
                <a:solidFill>
                  <a:srgbClr val="F4F7FB"/>
                </a:solidFill>
                <a:latin typeface="Menlo"/>
                <a:ea typeface="Menlo"/>
                <a:cs typeface="Menlo"/>
              </a:defRPr>
            </a:pPr>
            <a:r>
              <a:rPr>
                <a:solidFill>
                  <a:srgbClr val="F4F7FB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B4A4B-DAE5-4C4A-A668-64285AAA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764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FE059-F359-466A-9F13-525D91E0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2343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bounds совпадают с исследованной областью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недопустимые режимы исключаются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4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решение проверяется подтверждающим опытом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03BBF-18BF-4272-8FD0-96D004F5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24574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F7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604BC-435A-47B8-8CF9-445F1834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Оптимизируется прогноз, поэтому ошибка модели остаётся частью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0964174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AE292-955C-44CF-88EC-E59844AB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708BF-D44B-4659-9587-011E0A59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BA2E4-8229-40D6-8D96-36AAF836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ПОСЛЕДОВАТЕЛЬНЫЙ ЭКСПЕРИМЕНТ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7CEE9-9DD7-4A42-A3B1-D099BB43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СКРИНИНГ, ДВИЖЕНИЕ И ЛОКАЛЬНАЯ 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25A91-D440-487E-9018-ADB1C376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Область оптимума уточняется последовательностью небольших экспериментов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6667500" cy="413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d2427721ba422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926BC-DF12-41FA-A7D4-C0DF7D60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4EA8D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4EA8D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048E3-76E7-4E29-884C-957B6018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Скрининг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8CA94-5BBF-4A63-8082-A1381FB9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выбрать важные факторы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55145-FA4E-4476-87B2-30157FB4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955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9C74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9C74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0F2C4-B145-43E3-B6B8-31A0997B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Первый порядок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F5877-FFD0-4EE0-96CC-3C63CAE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оценить направление улучшения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B6524-912A-4917-9E6D-2C84FC4C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4A7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4A7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1FA21-DCF7-49DA-B391-F1F12929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Новая область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A51E4-6C1E-47FF-81AD-E47E51F7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перенести центр и построить CCD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7D890-49ED-4FCB-B68A-4649B73B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2654D-8B21-43A9-A2C5-34929074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647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1C40F-8F7F-4C53-B13E-808FE5F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292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проверить режим независимыми опытами</a:t>
            </a:r>
          </a:p>
        </p:txBody>
      </p:sp>
    </p:spTree>
    <p:extLst>
      <p:ext uri="{BB962C8B-B14F-4D97-AF65-F5344CB8AC3E}">
        <p14:creationId xmlns:p14="http://schemas.microsoft.com/office/powerpoint/2010/main" val="7851276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09982-98C9-461A-84FA-400B666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5550D-37F7-4C6C-96F9-ACCABD0C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44C10-AB6B-488A-8B0D-27B578F4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07A9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A92"/>
                </a:solidFill>
                <a:latin typeface="Arial"/>
                <a:ea typeface="Arial"/>
                <a:cs typeface="Arial"/>
              </a:rPr>
              <a:t>ИНТЕРПРЕТАЦИЯ 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F98BA-A50B-42EE-B62E-163042B3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ИНТЕРПОЛЯЦИЯ И ЭКСТРАПОЛЯЦИЯ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401C4-3676-4050-8090-FF378156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Прогноз вне исследованной области требует нового эксперимента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8580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716c5383c246a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8DEC9-3169-495E-9CB9-F5297BF1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0ED9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ED99"/>
                </a:solidFill>
                <a:latin typeface="Arial"/>
                <a:ea typeface="Arial"/>
                <a:cs typeface="Arial"/>
              </a:rPr>
              <a:t>Внутри области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85BD0-97D6-40D7-8B68-1F1D6F0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264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Интерполяция опирается на точки вокруг прогноза. Неопределённость всё равно нужно учитывать.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67D5E-9FF4-4F34-BE26-9916299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7B7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7B7B"/>
                </a:solidFill>
                <a:latin typeface="Arial"/>
                <a:ea typeface="Arial"/>
                <a:cs typeface="Arial"/>
              </a:rPr>
              <a:t>За границей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85F95-A1D2-448B-B964-C7FD68B4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2647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6B7C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6B7C9"/>
                </a:solidFill>
                <a:latin typeface="Arial"/>
                <a:ea typeface="Arial"/>
                <a:cs typeface="Arial"/>
              </a:rPr>
              <a:t>Экстраполяция продолжает форму полинома без экспериментальной опоры. Такой режим считается гипотезой.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4FA9A-5810-4B1D-BA8E-1096F2EA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48CA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59EEC-7F4A-4685-8996-559C751A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95250" rIns="1714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8CAE4"/>
                </a:solidFill>
                <a:latin typeface="Arial"/>
                <a:ea typeface="Arial"/>
                <a:cs typeface="Arial"/>
              </a:rPr>
              <a:t>Новый режим подтверждается независимыми опытами и становится центром следующего плана</a:t>
            </a:r>
          </a:p>
        </p:txBody>
      </p:sp>
    </p:spTree>
    <p:extLst>
      <p:ext uri="{BB962C8B-B14F-4D97-AF65-F5344CB8AC3E}">
        <p14:creationId xmlns:p14="http://schemas.microsoft.com/office/powerpoint/2010/main" val="413757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2026-09-22T21:44:48.6660000Z</dcterms:created>
  <dcterms:modified xsi:type="dcterms:W3CDTF">2026-09-22T21:44:48.6660000Z</dcterms:modified>
</coreProperties>
</file>